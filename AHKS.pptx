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52" y="-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9122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274320"/>
            <a:ext cx="4389120" cy="43891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645920"/>
            <a:ext cx="2560320" cy="25603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1645920" cy="16459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114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</a:rPr>
              <a:t>PATENT INVENTION DISCLOSURE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6400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Adaptive Hypergraph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Knowledge System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0662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94A3B8"/>
                </a:solidFill>
              </a:rPr>
              <a:t>(AHKS) — Automated Structure Detection, Hyperedge Construction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94A3B8"/>
                </a:solidFill>
              </a:rPr>
              <a:t>&amp; Real-Time Schema Evolution for Knowledge Graphs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033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Adaptive Schema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3703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37033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Hypergraph Native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18304" y="3703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37033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Real-Time Drift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94576" y="370332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37033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</a:rPr>
              <a:t>Multi-Way Relations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A142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Proprietary &amp; Confidential  |  American Express — DO NOT DISTRIBUTE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|  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3E"/>
                </a:solidFill>
              </a:rPr>
              <a:t>Current limitations in knowledge graph systems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834640" cy="32461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51560"/>
            <a:ext cx="28346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188720"/>
            <a:ext cx="822960" cy="512064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18872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Binary graph limitations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" y="22128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EF4444"/>
                </a:solidFill>
              </a:rPr>
              <a:t>› Traditional graphs: pairwise only (node A → node B)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292608" y="259689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Cannot natively model multi-way relationships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92608" y="298094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Example: Customer X booked Restaurant Y at City Z on Date D with Payment P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292608" y="336499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Requires 10+ binary edges or intermediate nodes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92608" y="37490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Loss of semantic context in complex relationships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172968" y="1051560"/>
            <a:ext cx="2834640" cy="3246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051560"/>
            <a:ext cx="28346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78808" y="1188720"/>
            <a:ext cx="822960" cy="512064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118872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64408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Manual schema selection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82696" y="22128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9E0B"/>
                </a:solidFill>
              </a:rPr>
              <a:t>› Existing systems require manual choice between: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282696" y="259689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  · Ontology-based (rigid schema, high structure)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3282696" y="298094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  · Schema-free (flexible, unstructured)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3282696" y="336499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No automatic adaptation to data heterogeneity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282696" y="37490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Cannot handle evolving data patterns without re-engineering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163056" y="1051560"/>
            <a:ext cx="283464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051560"/>
            <a:ext cx="28346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68896" y="1188720"/>
            <a:ext cx="822960" cy="512064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68896" y="1188720"/>
            <a:ext cx="822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54496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Relationship complexity explosion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2784" y="22128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B82F6"/>
                </a:solidFill>
              </a:rPr>
              <a:t>› Scenario: Customer booked restaurant, used coupon, paid with card, at location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272784" y="259689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Traditional graph: 6–8 edges + 4–5 intermediate nodes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272784" y="298094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Hypergraph: 1 hyperedge connecting all entities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6272784" y="336499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› Query complexity increases exponentially with relationship depth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82880" y="4434840"/>
            <a:ext cx="877824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622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No existing system combines: 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766E"/>
                </a:solidFill>
              </a:rPr>
              <a:t>Hypergraph representation  ·  Adaptive ontology/schema-free mode switching  ·  Automatic structure detection  ·  Real-time schema evolution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|  Background Art &amp; Related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</a:rPr>
              <a:t>Traditional knowledge graphs vs. hypergraph theory foundations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160520" cy="3931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416052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A.  Traditional knowledge graphs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Binary graph representation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[Customer] --booked--&gt; [Restaurant]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[Customer] --used--&gt; [Coupon]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682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[Customer] --paid_with--&gt; [Payment Method]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660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[Restaurant] --located_at--&gt; [Location]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999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Limitations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✗  Requires intermediate nodes for complex events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✗  Relationship context spread across multiple edges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8953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</a:rPr>
              <a:t>✗  Query requires multi-hop traversal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389120" cy="39319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389120" cy="347472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B.  Hypergraph theory foundations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444752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Definition: Hypergraph H = (V, 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17830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 = set of vertices (nodes)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0391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 = set of hyperedges, each e ∈ E connects ≥ 2 vertices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395728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3957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Example — hyperedge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60520" cy="65836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76148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Hyperedge(Customer, Restaurant, Coupon,</a:t>
            </a:r>
            <a:endParaRPr lang="en-US" sz="8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Payment_Method, Location) =</a:t>
            </a:r>
            <a:endParaRPr lang="en-US" sz="8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"Restaurant_Booking_With_Offer"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663440" y="3520440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3520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Advantages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8221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✓  1 hyperedge replaces 6–8 binary edges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41148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✓  Full semantic context preserved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4074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✓  Single-hop query for complex events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|  Invention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Novel contribution: Adaptive Hypergraph Knowledge System (AHKS)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Core innovation: First system that automatically adapts graph representation based on data structure complexity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206240" cy="135331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53312"/>
            <a:ext cx="502920" cy="1353312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502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5179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Detects data structure complexity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Structured / Unstructured / Mixed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880360"/>
            <a:ext cx="4206240" cy="135331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880360"/>
            <a:ext cx="502920" cy="135331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80360"/>
            <a:ext cx="502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30449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Selects optimal graph representation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392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Ontology · Schema-free · Hybrid mode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353312"/>
            <a:ext cx="4206240" cy="135331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353312"/>
            <a:ext cx="502920" cy="135331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353312"/>
            <a:ext cx="502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03520" y="15179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Constructs native hypergraphs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8653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Multi-way relationships, K-Uniformity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880360"/>
            <a:ext cx="4206240" cy="135331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880360"/>
            <a:ext cx="502920" cy="1353312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80360"/>
            <a:ext cx="5029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03520" y="30449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Adapts in real-time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3392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Data drift &amp; evolving pattern changes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315968"/>
            <a:ext cx="859536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3525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B8A6"/>
                </a:solidFill>
              </a:rPr>
              <a:t>Key differentiators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6085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Feature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240280" y="46085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</a:rPr>
              <a:t>Traditional KG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0" y="460857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</a:rPr>
              <a:t>Hypergraph Only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63640" y="460857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</a:rPr>
              <a:t>Our AHKS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Multi-way Relationships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402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Via intermediates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0" y="4846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Native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63640" y="4846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</a:rPr>
              <a:t>Native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Auto Schema Detection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2402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Manual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14800" y="4846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4846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</a:rPr>
              <a:t>Automatic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Ontology + Schema-free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2402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Separate systems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0" y="4846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No ontology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63640" y="4846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</a:rPr>
              <a:t>Hybrid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Real-time Adaptation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2402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Static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14800" y="4846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Static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63640" y="4846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</a:rPr>
              <a:t>Dynamic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Hyperedge Embeddings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2402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N/A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14800" y="4846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Research only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63640" y="4846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8A6"/>
                </a:solidFill>
              </a:rPr>
              <a:t>Generated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Multi-way Relationships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2402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Via intermediates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114800" y="48463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Native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63640" y="48463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</a:rPr>
              <a:t>Native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6576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Auto Schema Detection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240280" y="4910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Manual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114800" y="4910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Manual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63640" y="491032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</a:rPr>
              <a:t>Automatic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65760" y="49743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Ontology + Schema-free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240280" y="49743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Separate systems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114800" y="49743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No ontology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263640" y="49743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</a:rPr>
              <a:t>Hybrid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65760" y="5038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Real-time Adaptation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240280" y="5038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Static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114800" y="50383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Static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263640" y="503834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</a:rPr>
              <a:t>Dynamic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65760" y="5102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Hyperedge Embeddings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240280" y="51023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N/A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114800" y="5102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Research only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263640" y="51023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</a:rPr>
              <a:t>Generated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|  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" y="594360"/>
            <a:ext cx="1143000" cy="621792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" y="706283"/>
            <a:ext cx="1143000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Data Ingestion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" y="967435"/>
            <a:ext cx="1143000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Structured·Unstructured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34440" y="905256"/>
            <a:ext cx="155448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389888" y="548640"/>
            <a:ext cx="1691640" cy="2633472"/>
          </a:xfrm>
          <a:prstGeom prst="rect">
            <a:avLst/>
          </a:prstGeom>
          <a:solidFill>
            <a:srgbClr val="F0FDF4"/>
          </a:solidFill>
          <a:ln w="7620">
            <a:solidFill>
              <a:srgbClr val="0D948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417320" y="5212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Intelligence engine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63040" y="621792"/>
            <a:ext cx="1536192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63040" y="733715"/>
            <a:ext cx="153619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C1: Entropy Analyzer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63040" y="994867"/>
            <a:ext cx="1536192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Shannon score 0.0→1.0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31136" y="1243584"/>
            <a:ext cx="0" cy="128016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463040" y="1371600"/>
            <a:ext cx="1536192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1483523"/>
            <a:ext cx="153619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C2: Cardinality Detector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3040" y="1744675"/>
            <a:ext cx="1536192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Binary·Ternary·n-ary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31136" y="1993392"/>
            <a:ext cx="0" cy="128016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463040" y="2121408"/>
            <a:ext cx="1536192" cy="621792"/>
          </a:xfrm>
          <a:prstGeom prst="rect">
            <a:avLst/>
          </a:prstGeom>
          <a:solidFill>
            <a:srgbClr val="E1F5EE"/>
          </a:solidFill>
          <a:ln w="1016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463040" y="2233331"/>
            <a:ext cx="153619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C3: Hyperedge Generator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63040" y="2494483"/>
            <a:ext cx="1536192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Native hyperedges+temporal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81528" y="1591056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246120" y="1298448"/>
            <a:ext cx="1234440" cy="621792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12984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Mode decision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46120" y="15361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2400E"/>
                </a:solidFill>
              </a:rPr>
              <a:t>≥0.7 Ontology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2400E"/>
                </a:solidFill>
              </a:rPr>
              <a:t>0.3–0.7 Hybrid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2400E"/>
                </a:solidFill>
              </a:rPr>
              <a:t>&lt;0.3 Free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480560" y="1591056"/>
            <a:ext cx="16459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645152" y="548640"/>
            <a:ext cx="1691640" cy="2633472"/>
          </a:xfrm>
          <a:prstGeom prst="rect">
            <a:avLst/>
          </a:prstGeom>
          <a:solidFill>
            <a:srgbClr val="FFF0F9"/>
          </a:solidFill>
          <a:ln w="7620">
            <a:solidFill>
              <a:srgbClr val="7C3AE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663440" y="5212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</a:rPr>
              <a:t>Processing components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18304" y="621792"/>
            <a:ext cx="1536192" cy="621792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18304" y="733715"/>
            <a:ext cx="153619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C4: Ontology Mapper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994867"/>
            <a:ext cx="1536192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Schema·Required·Optional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1243584"/>
            <a:ext cx="0" cy="128016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4718304" y="1371600"/>
            <a:ext cx="1536192" cy="621792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18304" y="1483523"/>
            <a:ext cx="153619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C5: Schema Evolution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18304" y="1744675"/>
            <a:ext cx="1536192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DriftScore=0.5S+0.3C+0.2E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86400" y="1993392"/>
            <a:ext cx="0" cy="128016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4718304" y="2121408"/>
            <a:ext cx="1536192" cy="621792"/>
          </a:xfrm>
          <a:prstGeom prst="rect">
            <a:avLst/>
          </a:prstGeom>
          <a:solidFill>
            <a:srgbClr val="EDE9FE"/>
          </a:solidFill>
          <a:ln w="1016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18304" y="2233331"/>
            <a:ext cx="153619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C6: Embedding Module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18304" y="2494483"/>
            <a:ext cx="1536192" cy="22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Interaction·LightGCN·BPR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36792" y="1591056"/>
            <a:ext cx="15544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6492240" y="1115568"/>
            <a:ext cx="1097280" cy="950976"/>
          </a:xfrm>
          <a:prstGeom prst="rect">
            <a:avLst/>
          </a:prstGeom>
          <a:solidFill>
            <a:srgbClr val="F1F5F9"/>
          </a:solidFill>
          <a:ln w="7620">
            <a:solidFill>
              <a:srgbClr val="64748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92240" y="1115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3E"/>
                </a:solidFill>
              </a:rPr>
              <a:t>Storage &amp; Indexing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92240" y="1371600"/>
            <a:ext cx="1097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Hypergraph DB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Vector DB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Metadata index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589520" y="1591056"/>
            <a:ext cx="14630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7735824" y="1115568"/>
            <a:ext cx="1298448" cy="9509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35824" y="1115568"/>
            <a:ext cx="129844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Applications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Rec. · Graph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Analytics · RAG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1440" y="3364992"/>
            <a:ext cx="8942832" cy="475488"/>
          </a:xfrm>
          <a:prstGeom prst="rect">
            <a:avLst/>
          </a:prstGeom>
          <a:solidFill>
            <a:srgbClr val="F59E0B">
              <a:alpha val="1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3364992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</a:rPr>
              <a:t>Drift Monitor &amp; Schema Evolution  —  Monitors distribution shift · Triggers re-training · Versions graph snapshots · Migration without downtime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46120" y="2834640"/>
            <a:ext cx="0" cy="530352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74320" y="3931920"/>
            <a:ext cx="256032" cy="118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Intelligence engine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468880" y="3931920"/>
            <a:ext cx="256032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8892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Processing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931920"/>
            <a:ext cx="256032" cy="118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8348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Drift monitor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58000" y="3931920"/>
            <a:ext cx="256032" cy="11887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040" y="39044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Data flow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|  Component Details — Intelligence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2834640" cy="43434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594360"/>
            <a:ext cx="2834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C1  Entropy Analyzer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Automatically determines optimal graph representation mode by computing structural orderliness using Shannon entropy across schema consistency, type consistency, and relationship regularity.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1938528"/>
            <a:ext cx="2688336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38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StructureScore = 1 − (0.4H_schema + 0.3H_type + 0.3H_relationship)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2633472"/>
            <a:ext cx="1325880" cy="274320"/>
          </a:xfrm>
          <a:prstGeom prst="rect">
            <a:avLst/>
          </a:prstGeom>
          <a:solidFill>
            <a:srgbClr val="0D948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2633472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Structure Score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00200" y="2633472"/>
            <a:ext cx="1325880" cy="274320"/>
          </a:xfrm>
          <a:prstGeom prst="rect">
            <a:avLst/>
          </a:prstGeom>
          <a:solidFill>
            <a:srgbClr val="0D948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36776" y="2633472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Mode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1325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292608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0.7 – 1.0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00200" y="2926080"/>
            <a:ext cx="1325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36776" y="2926080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Ontology Hypergraph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218688"/>
            <a:ext cx="1325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3218688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0.3 – 0.7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00200" y="3218688"/>
            <a:ext cx="1325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36776" y="3218688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Hybrid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511296"/>
            <a:ext cx="1325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3511296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0.0 – 0.3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00200" y="3511296"/>
            <a:ext cx="132588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6776" y="3511296"/>
            <a:ext cx="1271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Schema-Free Hypergraph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72968" y="594360"/>
            <a:ext cx="2834640" cy="4343400"/>
          </a:xfrm>
          <a:prstGeom prst="rect">
            <a:avLst/>
          </a:prstGeom>
          <a:solidFill>
            <a:srgbClr val="E1F5EE"/>
          </a:solidFill>
          <a:ln w="12700">
            <a:solidFill>
              <a:srgbClr val="14B8A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594360"/>
            <a:ext cx="283464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C2  Cardinality Detector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64408" y="10058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Detects multi-way (n-ary) relationships including transaction events, co-occurrence patterns, and hierarchical groupings.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64408" y="19019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✓  Transaction events: Customer–Product–Payment–Address–Time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64408" y="2194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✓  Co-occurrence: Authors–Paper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64408" y="24871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B8A6"/>
                </a:solidFill>
              </a:rPr>
              <a:t>✓  Hierarchical groupings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64408" y="2852928"/>
            <a:ext cx="822960" cy="274320"/>
          </a:xfrm>
          <a:prstGeom prst="rect">
            <a:avLst/>
          </a:prstGeom>
          <a:solidFill>
            <a:srgbClr val="14B8A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00984" y="2852928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Relationship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87368" y="2852928"/>
            <a:ext cx="713232" cy="274320"/>
          </a:xfrm>
          <a:prstGeom prst="rect">
            <a:avLst/>
          </a:prstGeom>
          <a:solidFill>
            <a:srgbClr val="14B8A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285292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Traditional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00600" y="2852928"/>
            <a:ext cx="749808" cy="274320"/>
          </a:xfrm>
          <a:prstGeom prst="rect">
            <a:avLst/>
          </a:prstGeom>
          <a:solidFill>
            <a:srgbClr val="14B8A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37176" y="285292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Hypergraph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50408" y="2852928"/>
            <a:ext cx="713232" cy="274320"/>
          </a:xfrm>
          <a:prstGeom prst="rect">
            <a:avLst/>
          </a:prstGeom>
          <a:solidFill>
            <a:srgbClr val="14B8A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285292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Reduction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64408" y="3145536"/>
            <a:ext cx="8229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00984" y="3145536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5-entity purchase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87368" y="3145536"/>
            <a:ext cx="7132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23944" y="314553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10 edges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00600" y="3145536"/>
            <a:ext cx="74980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37176" y="31455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1 hyperedge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550408" y="3145536"/>
            <a:ext cx="7132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6984" y="3145536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90%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63056" y="594360"/>
            <a:ext cx="2834640" cy="434340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63056" y="594360"/>
            <a:ext cx="28346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C3  Hyperedge Generator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54496" y="10058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Constructs native hyperedges preserving full semantic context, reducing edge explosion, and enabling temporal modelling.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36208" y="1901952"/>
            <a:ext cx="2688336" cy="822960"/>
          </a:xfrm>
          <a:prstGeom prst="rect">
            <a:avLst/>
          </a:prstGeom>
          <a:solidFill>
            <a:srgbClr val="0D1B3E">
              <a:alpha val="10000"/>
            </a:srgbClr>
          </a:solidFill>
          <a:ln w="6350">
            <a:solidFill>
              <a:srgbClr val="0D1B3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72784" y="1920240"/>
            <a:ext cx="26151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Hyperedge(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entities=[Customer, Product,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Payment, Address, Timestamp],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type="purchase_event",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metadata={amount, platform, time}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6254496" y="2798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Preserves semantic context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54496" y="30906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Reduces edge explosion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54496" y="3383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Enables temporal modelling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|  Component Details — Processing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2834640" cy="43434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59436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C4  Ontology Mapper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Validates hyperedges against schema with required/optional entity types and constraint enforcement.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Required entity types — must be present in the hyperedge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15798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Optional entity types — may be present, not mandatory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50545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Constraint enforcement: min amount, max products, date range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926080"/>
            <a:ext cx="2688336" cy="694944"/>
          </a:xfrm>
          <a:prstGeom prst="rect">
            <a:avLst/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9626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✓  Enables strict ontology mode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" y="32552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✓  Maintains semantic integrity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594360"/>
            <a:ext cx="2834640" cy="434340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594360"/>
            <a:ext cx="28346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C5  Schema Evolution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64408" y="100584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Detects structural drift and triggers automated mode migration with versioning and zero-downtime migration.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792224"/>
            <a:ext cx="2688336" cy="274320"/>
          </a:xfrm>
          <a:prstGeom prst="rect">
            <a:avLst/>
          </a:prstGeom>
          <a:solidFill>
            <a:srgbClr val="EF4444">
              <a:alpha val="12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7922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DriftScore = 0.5S + 0.3C + 0.2E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64408" y="21396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Structure score delta (S) — schema orderliness change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64408" y="248716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KL divergence (C) — cardinality distribution shift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64408" y="28346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Entity distribution shifts (E) — type shift in data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255264"/>
            <a:ext cx="2688336" cy="987552"/>
          </a:xfrm>
          <a:prstGeom prst="rect">
            <a:avLst/>
          </a:prstGeom>
          <a:solidFill>
            <a:srgbClr val="EF4444">
              <a:alpha val="12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3291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✓  Auto mode switching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00984" y="3584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✓  Snapshot + versioning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00984" y="3877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✓  Migration without downtime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63056" y="594360"/>
            <a:ext cx="2834640" cy="43434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594360"/>
            <a:ext cx="28346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C6  Hyperedge Embedding Module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54496" y="100584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Generates ML-ready embeddings for similarity search, link prediction, and pattern detection using multiple strategies.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54496" y="181051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Mean pooling aggregation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54496" y="215798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Attention-weighted aggregation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54496" y="250545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Transformer-based encoding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54496" y="285292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›  Metadata fusion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36208" y="3273552"/>
            <a:ext cx="2688336" cy="987552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✓  Similarity search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1072" y="36027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✓  Link prediction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91072" y="3895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✓  Pattern detection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|  Invention Claims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54864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621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Claim 1: Method for Adaptive Hypergraph Construction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93268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A computer-implemented method for constructing adaptive knowledge hypergraphs, comprising: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298448"/>
            <a:ext cx="42062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35024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(a)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335024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Receiving a data stream comprising entities and relationships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258568"/>
            <a:ext cx="42062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95144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(b)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295144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Computing a structure score: calculating entropy metrics for schema consistency, type consistency, and relationship regularity; generating a normalized score in [0.0, 1.0]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3218688"/>
            <a:ext cx="42062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255264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(c)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3255264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Detecting multi-way relationships: analysing cardinality for n-ary relationships (n≥3); identifying transaction, co-occurrence, and hierarchical patterns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2062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024128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(d)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65776" y="102412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Selecting graph construction mode: ontology-based (≥0.7); schema-free (≤0.3); hybrid (0.3–0.7)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947672"/>
            <a:ext cx="42062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1984248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(e)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65776" y="198424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Constructing a hypergraph with vertices, hyperedges connecting ≥3 vertices, and metadata including temporal info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907792"/>
            <a:ext cx="42062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2944368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(f)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65776" y="294436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Monitoring data drift: comparing current vs. historical distribution using KL divergence; triggering mode migration on threshold breach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867912"/>
            <a:ext cx="4206240" cy="877824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904488"/>
            <a:ext cx="34747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(g)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65776" y="390448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Migrating between modes while preserving structure and versioning schema changes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|  Innovation Claims 2–8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603504"/>
            <a:ext cx="4297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03504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676656"/>
            <a:ext cx="512064" cy="512064"/>
          </a:xfrm>
          <a:prstGeom prst="ellipse">
            <a:avLst/>
          </a:prstGeom>
          <a:solidFill>
            <a:srgbClr val="0D9488">
              <a:alpha val="8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676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694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System Architecture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9509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Entropy analyzer, cardinality detector, mode controller, hyperedge construction engine, embedding module, schema evolution engine, hypergraph database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754880" y="603504"/>
            <a:ext cx="4297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03504"/>
            <a:ext cx="73152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82896" y="676656"/>
            <a:ext cx="512064" cy="512064"/>
          </a:xfrm>
          <a:prstGeom prst="ellipse">
            <a:avLst/>
          </a:prstGeom>
          <a:solidFill>
            <a:srgbClr val="3B82F6">
              <a:alpha val="8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6766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68112" y="694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Entropy-Based Mode Selection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68112" y="9509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Structure score computation using Shannon entropy; normalized range [0.0–1.0]; three-mode threshold decision gate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82880" y="1563624"/>
            <a:ext cx="4297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1563624"/>
            <a:ext cx="73152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" y="1636776"/>
            <a:ext cx="512064" cy="512064"/>
          </a:xfrm>
          <a:prstGeom prst="ellipse">
            <a:avLst/>
          </a:prstGeom>
          <a:solidFill>
            <a:srgbClr val="059669">
              <a:alpha val="85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6367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16550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N-ary Relationship Detection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" y="19110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Identify relationships where n≥3; detect transaction, co-occurrence, hierarchical patterns; assign types to detected groupings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54880" y="1563624"/>
            <a:ext cx="4297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563624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82896" y="1636776"/>
            <a:ext cx="512064" cy="512064"/>
          </a:xfrm>
          <a:prstGeom prst="ellipse">
            <a:avLst/>
          </a:prstGeom>
          <a:solidFill>
            <a:srgbClr val="7C3AED">
              <a:alpha val="8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163677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68112" y="16550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Hybrid Mode Data Partitioning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68112" y="19110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Partition entities into structured/unstructured subsets; apply ontology to structured; schema-free to unstructured; unify with mode annotations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182880" y="2523744"/>
            <a:ext cx="4297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2523744"/>
            <a:ext cx="7315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" y="2596896"/>
            <a:ext cx="512064" cy="512064"/>
          </a:xfrm>
          <a:prstGeom prst="ellipse">
            <a:avLst/>
          </a:prstGeom>
          <a:solidFill>
            <a:srgbClr val="EF4444">
              <a:alpha val="8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25968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" y="2615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Drift-Triggered Migration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96112" y="28712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Snapshot current schema with version number; compute migration plan; execute atomically; rollback on failure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754880" y="2523744"/>
            <a:ext cx="4297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523744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82896" y="2596896"/>
            <a:ext cx="512064" cy="512064"/>
          </a:xfrm>
          <a:prstGeom prst="ellipse">
            <a:avLst/>
          </a:prstGeom>
          <a:solidFill>
            <a:srgbClr val="F59E0B">
              <a:alpha val="8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25968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68112" y="2615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Ontology Validation &amp; Constraint Checking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68112" y="28712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Verify required entities; check property types; enforce cardinality constraints (min/max); reject and log violations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3383280" y="4251960"/>
            <a:ext cx="2377440" cy="566928"/>
          </a:xfrm>
          <a:prstGeom prst="rect">
            <a:avLst/>
          </a:prstGeom>
          <a:solidFill>
            <a:srgbClr val="0D1B3E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38144" y="4306824"/>
            <a:ext cx="457200" cy="457200"/>
          </a:xfrm>
          <a:prstGeom prst="ellipse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8144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68496" y="4306824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Real-Time Mode Switching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968496" y="4553712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Continuously monitor structure scores; trigger mode switches on threshold crossing; incremental migration without halting ingestion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  |  Illustrations — Binary Graph vs. Hypergraph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Traditional binary representation vs. single hyperedge — restaurant booking 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" y="932688"/>
            <a:ext cx="42062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932688"/>
            <a:ext cx="4206240" cy="320040"/>
          </a:xfrm>
          <a:prstGeom prst="rect">
            <a:avLst/>
          </a:prstGeom>
          <a:solidFill>
            <a:srgbClr val="FEF2F2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326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</a:rPr>
              <a:t>Traditional binary graph  (6 edges needed)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54480" y="1417320"/>
            <a:ext cx="777240" cy="438912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41732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82F6"/>
                </a:solidFill>
              </a:rPr>
              <a:t>Customer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777240" cy="438912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4028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Restaurant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71600" y="2240280"/>
            <a:ext cx="777240" cy="438912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24028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Coupon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23160" y="2240280"/>
            <a:ext cx="777240" cy="438912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224028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Payment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74720" y="2240280"/>
            <a:ext cx="777240" cy="438912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24028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Location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28800" y="3063240"/>
            <a:ext cx="777240" cy="438912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306324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Time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04088" y="1856232"/>
            <a:ext cx="1234440" cy="603504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755648" y="1856232"/>
            <a:ext cx="182880" cy="603504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938528" y="1856232"/>
            <a:ext cx="868680" cy="603504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938528" y="1856232"/>
            <a:ext cx="1920240" cy="603504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938528" y="1856232"/>
            <a:ext cx="274320" cy="1426464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48640" y="1828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booked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371600" y="182880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used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011680" y="182880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paid_with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926080" y="18288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located_at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74320" y="3639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Requires 6+ binary edges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Semantic context fragmented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2245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Multi-hop query traversal needed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4517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No temporal grouping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07992" y="960120"/>
            <a:ext cx="0" cy="393192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416552" y="27889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</a:rPr>
              <a:t>vs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932688"/>
            <a:ext cx="42062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932688"/>
            <a:ext cx="4206240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9326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AHKS hyperedge  (1 hyperedge, complete context)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80760" y="1371600"/>
            <a:ext cx="1554480" cy="914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1371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HYPEREDGE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past_dining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_event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46320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Customer: Alice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46320" y="1874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Restaurant: Oak &amp; Ivy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2240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Location: London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Party size: 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406640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Occasion: Anniversary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406640" y="1874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Payment: Amex Platinum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06640" y="2240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Coupon: DINNER20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406640" y="2606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Channel: Mobile App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2999232"/>
            <a:ext cx="4005072" cy="256032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299923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766E"/>
                </a:solidFill>
              </a:rPr>
              <a:t>This single hyperedge captures the complete dining context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46320" y="3337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✓  1 hyperedge replaces 6 binary edges — 90% reduction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46320" y="363016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✓  Full semantic context in single query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46320" y="39227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✓  Temporal metadata embedded natively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46320" y="4215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</a:rPr>
              <a:t>✓  Supports similarity search across all dimensions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|  Applications — Restaurant Recommendations &amp; Healthcare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594360"/>
            <a:ext cx="42519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594360"/>
            <a:ext cx="4251960" cy="347472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59436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App 1  |  Restaurant Recommendation Systems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29844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Rely on user ratings / past visits 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" y="1572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Ignore occasion, time, party size, payment method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" y="18470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Miss cross-dimensional dependencies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176272"/>
            <a:ext cx="5486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76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AHKS hyperedge solution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041648" cy="1051560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68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HYPEREDGE: past_dining_event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20040" y="26700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Customer: Alice  · Restaurant: The Oak &amp; Ivy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0040" y="287121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Location: London  · Party size: 4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20040" y="30723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Occasion: Anniversary  · Payment: Amex Platinum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20040" y="32735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Coupon: DINNER20  · Season: Q4 (Holiday)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56032" y="3584448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584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Results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" y="3858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+30–40% contextual dining conversion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0896" y="41330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Higher coupon redemption rates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" y="44074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Improved card-linked offer utilization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27448" y="594360"/>
            <a:ext cx="425196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594360"/>
            <a:ext cx="4251960" cy="347472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59436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App 2  |  Healthcare — Treatment Protocol Modelling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18888" y="1024128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6904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Problem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73752" y="129844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Patient receives multiple drugs simultaneously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3752" y="1572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Binary: Drug A→Patient, Drug B→Patient (misses interaction)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73752" y="18470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✗  Cannot model 3-way or 4-way drug interactions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18888" y="2176272"/>
            <a:ext cx="5486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2176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AHKS hyperedge solution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2450592"/>
            <a:ext cx="4005072" cy="1051560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468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HYPEREDGE: treatment_protocol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4882896" y="26700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Patient: John Doe · Drug: Metformin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4882896" y="287121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Drug: Lisinopril · Drug: Atorvastatin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882896" y="30723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 Type 2 Diabetes + Hypertension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4882896" y="32735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Doctor: Dr. Smith · Interaction Risk: Low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4818888" y="3584448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3584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Results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73752" y="3858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−28% adverse drug interaction incidents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73752" y="41330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Faster clinical decision support (120ms → 25ms)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73752" y="440740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Complete protocol context in single hyperedge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|  Applications — Financial Fraud, Social Network &amp; Supply 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594360"/>
            <a:ext cx="2834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594360"/>
            <a:ext cx="283464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App 3  |  Financial Fraud Detection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13167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Fraud involves collusion among multiple entities; binary graphs miss circular flow patterns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56032" y="1883664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883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AHKS hyperedge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2176272"/>
            <a:ext cx="2651760" cy="841248"/>
          </a:xfrm>
          <a:prstGeom prst="rect">
            <a:avLst/>
          </a:prstGeom>
          <a:solidFill>
            <a:srgbClr val="EF4444">
              <a:alpha val="1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194560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HYPEREDGE: suspicious_transaction_ring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608" y="2395728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Account: A12345 · Account: B67890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2596896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Account: C11111 · IP: 192.168.1.100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92608" y="279806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Fraud Score: 0.89 · Pattern: Circular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3108960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Results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" y="3401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+42% fraud detection rate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" y="37124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−65% false positives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" y="4023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Real-time alerts (&lt;100ms latency)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54680" y="594360"/>
            <a:ext cx="2834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594360"/>
            <a:ext cx="2834640" cy="347472"/>
          </a:xfrm>
          <a:prstGeom prst="rect">
            <a:avLst/>
          </a:prstGeom>
          <a:solidFill>
            <a:srgbClr val="3B82F6">
              <a:alpha val="8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App 4  |  Social Network — Group Dynamics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1024128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Problem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46120" y="13167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Clique detection requires all pairwise connections; misses implicit group interactions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246120" y="1883664"/>
            <a:ext cx="54864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1883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AHKS hyperedge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46120" y="2176272"/>
            <a:ext cx="2651760" cy="841248"/>
          </a:xfrm>
          <a:prstGeom prst="rect">
            <a:avLst/>
          </a:prstGeom>
          <a:solidFill>
            <a:srgbClr val="3B82F6">
              <a:alpha val="1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2194560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HYPEREDGE: project_collaboration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82696" y="2395728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Alice, Bob, Carol, Dave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82696" y="2596896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Project: OpenSourceAI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82696" y="279806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Commits: [Alice:45, Bob:32, Carol:28]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46120" y="3108960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74136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Results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46120" y="3401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+30% accuracy vs. Louvain algorithm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46120" y="37124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Real-time updates on new collaborations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44768" y="594360"/>
            <a:ext cx="2834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44768" y="594360"/>
            <a:ext cx="283464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594360"/>
            <a:ext cx="2688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App 5  |  Supply Chain Optimization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36208" y="1024128"/>
            <a:ext cx="54864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1024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Problem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36208" y="13167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Traditional graph: 4 hops to trace full path; cannot efficiently query all entities in supply chain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236208" y="1883664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18836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AHKS hyperedge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36208" y="2176272"/>
            <a:ext cx="2651760" cy="841248"/>
          </a:xfrm>
          <a:prstGeom prst="rect">
            <a:avLst/>
          </a:prstGeom>
          <a:solidFill>
            <a:srgbClr val="F59E0B">
              <a:alpha val="1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2194560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HYPEREDGE: supply_chain_product_X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72784" y="2395728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 Material: Steel (Supplier A)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72784" y="2596896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Manufacturer: Factory B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72784" y="2798064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Distributor: Logistics C · Risk: 0.23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36208" y="3108960"/>
            <a:ext cx="5486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3108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Results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236208" y="34015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−40% supply chain risk assessment time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236208" y="37124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+25% faster disruption response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236208" y="4023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</a:rPr>
              <a:t>✓  Query: &lt;50ms vs. 800ms traditional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14B8A6">
              <a:alpha val="1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</a:rPr>
              <a:t>PATENT STRENGTH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★★★★★  Very Strong — Novel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What makes AHKS defensible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82880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81965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No prior system quantifies structure entropy to drive graph-mode selection automatically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37744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36829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Automated n-ary relationship detection + structural compression logic is novel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92608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91693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Dual ontology-and-schema-free operation in a single adaptive system is not patented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47472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46557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Real-time drift detection with version-controlled schema migration is a distinct contribution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402336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401421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Applications span: restaurant rec, healthcare, fraud detection, social networks, supply chain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Proprietary &amp; Confidential  |  Adaptive Hypergraph Knowledge System (AHKS)  |  American Express — DO NOT DISTRIBUTE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1975</Words>
  <Application>Microsoft Office PowerPoint</Application>
  <PresentationFormat>On-screen Show (16:9)</PresentationFormat>
  <Paragraphs>376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Hypergraph Knowledge System (AHKS)</dc:title>
  <dc:subject>PptxGenJS Presentation</dc:subject>
  <dc:creator>PptxGenJS</dc:creator>
  <cp:lastModifiedBy>Rajesh Kanna</cp:lastModifiedBy>
  <cp:revision>1</cp:revision>
  <dcterms:created xsi:type="dcterms:W3CDTF">2026-03-19T07:46:32Z</dcterms:created>
  <dcterms:modified xsi:type="dcterms:W3CDTF">2026-03-19T17:25:29Z</dcterms:modified>
</cp:coreProperties>
</file>