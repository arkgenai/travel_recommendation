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1" d="100"/>
          <a:sy n="101" d="100"/>
        </p:scale>
        <p:origin x="2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5818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65760"/>
            <a:ext cx="2011680" cy="2011680"/>
          </a:xfrm>
          <a:prstGeom prst="ellipse">
            <a:avLst/>
          </a:prstGeom>
          <a:solidFill>
            <a:srgbClr val="0D9488">
              <a:alpha val="20000"/>
            </a:srgbClr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1371600"/>
            <a:ext cx="1280160" cy="1280160"/>
          </a:xfrm>
          <a:prstGeom prst="ellipse">
            <a:avLst/>
          </a:prstGeom>
          <a:solidFill>
            <a:srgbClr val="0D9488">
              <a:alpha val="20000"/>
            </a:srgbClr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2194560"/>
            <a:ext cx="914400" cy="914400"/>
          </a:xfrm>
          <a:prstGeom prst="ellipse">
            <a:avLst/>
          </a:prstGeom>
          <a:solidFill>
            <a:srgbClr val="0D9488">
              <a:alpha val="20000"/>
            </a:srgbClr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1005840"/>
            <a:ext cx="731520" cy="640080"/>
          </a:xfrm>
          <a:prstGeom prst="line">
            <a:avLst/>
          </a:prstGeom>
          <a:noFill/>
          <a:ln w="12700">
            <a:solidFill>
              <a:srgbClr val="14B8A6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8686800" y="2011680"/>
            <a:ext cx="0" cy="548640"/>
          </a:xfrm>
          <a:prstGeom prst="line">
            <a:avLst/>
          </a:prstGeom>
          <a:noFill/>
          <a:ln w="12700">
            <a:solidFill>
              <a:srgbClr val="14B8A6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65760" y="45720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14B8A6"/>
                </a:solidFill>
              </a:rPr>
              <a:t>PATENT INVENTION DISCLOSURE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914400"/>
            <a:ext cx="6583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Intent-Aware Multi-Behavioral</a:t>
            </a:r>
            <a:endParaRPr lang="en-US" sz="3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Graph Embedding System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365760" y="2606040"/>
            <a:ext cx="47548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69748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94A3B8"/>
                </a:solidFill>
              </a:rPr>
              <a:t>Incorporating Positive &amp; Negative Behavioral Signals</a:t>
            </a:r>
            <a:endParaRPr lang="en-US" sz="15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94A3B8"/>
                </a:solidFill>
              </a:rPr>
              <a:t>with Temporal Weighting &amp; Intent Classification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374904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749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</a:rPr>
              <a:t>Patent Idea #2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42032" y="374904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3749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</a:rPr>
              <a:t>Patent Idea #5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18304" y="374904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3749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</a:rPr>
              <a:t>Graph Neural Network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94576" y="374904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94576" y="3749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</a:rPr>
              <a:t>Very Strong – Novel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solidFill>
            <a:srgbClr val="0A142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Proprietary &amp; Confidential  |  Combined Innovation Disclosure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  |  Problem Statement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3E"/>
                </a:solidFill>
              </a:rPr>
              <a:t>What existing systems fail to capture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743200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1371600"/>
            <a:ext cx="731520" cy="731520"/>
          </a:xfrm>
          <a:prstGeom prst="ellipse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✗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2240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</a:rPr>
              <a:t>Positive-only signals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65176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Traditional systems rely solely on clicks, purchases, and saves — ignoring what users actively avoided.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188720"/>
            <a:ext cx="27432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1371600"/>
            <a:ext cx="731520" cy="731520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≠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37560" y="2240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</a:rPr>
              <a:t>Uniform interaction weight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265176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All interactions treated equally. A 2-second browse and a completed purchase carry the same signal.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18872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188720"/>
            <a:ext cx="2743200" cy="1097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0" y="1371600"/>
            <a:ext cx="731520" cy="731520"/>
          </a:xfrm>
          <a:prstGeom prst="ellipse">
            <a:avLst/>
          </a:prstGeom>
          <a:solidFill>
            <a:srgbClr val="3B82F6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?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09360" y="2240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</a:rPr>
              <a:t>Static, intent-blind models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5080" y="265176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No distinction between exploratory browsing and high-intent purchase behavior in candidate generation.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526280"/>
            <a:ext cx="8595360" cy="45720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766E"/>
                </a:solidFill>
              </a:rPr>
              <a:t>Result: Suboptimal recommendations, missed revenue signals, and poor personalization quality at scale.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  |  Background Art &amp; Related Work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3E"/>
                </a:solidFill>
              </a:rPr>
              <a:t>Prior art limitations — existing patents leave critical gaps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20116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Patent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31720" y="1143000"/>
            <a:ext cx="12801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Owner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0" y="1143000"/>
            <a:ext cx="43891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Limitation / Gap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92440" y="1143000"/>
            <a:ext cx="10972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Coverage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490472"/>
            <a:ext cx="85953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90472"/>
            <a:ext cx="20116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US11120085B2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31720" y="1490472"/>
            <a:ext cx="12801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Pinterest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1490472"/>
            <a:ext cx="43891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Positive signals only — no negative signal handling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1490472"/>
            <a:ext cx="10972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Partial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92440" y="1563624"/>
            <a:ext cx="1005840" cy="310896"/>
          </a:xfrm>
          <a:prstGeom prst="roundRect">
            <a:avLst>
              <a:gd name="adj" fmla="val 14706"/>
            </a:avLst>
          </a:prstGeom>
          <a:solidFill>
            <a:srgbClr val="F59E0B">
              <a:alpha val="8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92440" y="1563624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2400E"/>
                </a:solidFill>
              </a:rPr>
              <a:t>Partial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1965960"/>
            <a:ext cx="8595360" cy="45720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965960"/>
            <a:ext cx="20116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US10970768B2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31720" y="1965960"/>
            <a:ext cx="12801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Alibaba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0" y="1965960"/>
            <a:ext cx="43891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Session-based recommendations but zero negative signals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92440" y="1965960"/>
            <a:ext cx="10972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Partial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92440" y="2039112"/>
            <a:ext cx="1005840" cy="310896"/>
          </a:xfrm>
          <a:prstGeom prst="roundRect">
            <a:avLst>
              <a:gd name="adj" fmla="val 14706"/>
            </a:avLst>
          </a:prstGeom>
          <a:solidFill>
            <a:srgbClr val="F59E0B">
              <a:alpha val="8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92440" y="2039112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2400E"/>
                </a:solidFill>
              </a:rPr>
              <a:t>Partial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441448"/>
            <a:ext cx="85953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441448"/>
            <a:ext cx="20116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US10956485B2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331720" y="2441448"/>
            <a:ext cx="12801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Meta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0" y="2441448"/>
            <a:ext cx="43891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Single-behavior graph embeddings, no multi-modal signals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92440" y="2441448"/>
            <a:ext cx="10972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Partial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92440" y="2514600"/>
            <a:ext cx="1005840" cy="310896"/>
          </a:xfrm>
          <a:prstGeom prst="roundRect">
            <a:avLst>
              <a:gd name="adj" fmla="val 14706"/>
            </a:avLst>
          </a:prstGeom>
          <a:solidFill>
            <a:srgbClr val="F59E0B">
              <a:alpha val="8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92440" y="251460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2400E"/>
                </a:solidFill>
              </a:rPr>
              <a:t>Partial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2916936"/>
            <a:ext cx="8595360" cy="45720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2916936"/>
            <a:ext cx="20116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US11138285B2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331720" y="2916936"/>
            <a:ext cx="12801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Uber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0" y="2916936"/>
            <a:ext cx="43891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Temporal awareness but only for single behavior type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092440" y="2916936"/>
            <a:ext cx="10972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Partial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092440" y="2990088"/>
            <a:ext cx="1005840" cy="310896"/>
          </a:xfrm>
          <a:prstGeom prst="roundRect">
            <a:avLst>
              <a:gd name="adj" fmla="val 14706"/>
            </a:avLst>
          </a:prstGeom>
          <a:solidFill>
            <a:srgbClr val="F59E0B">
              <a:alpha val="8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92440" y="299008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2400E"/>
                </a:solidFill>
              </a:rPr>
              <a:t>Partial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4069080"/>
            <a:ext cx="859536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Research Gap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43891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3A5F"/>
                </a:solidFill>
              </a:rPr>
              <a:t>No existing patent combines: (1) dual positive/negative graph architecture, (2) behavioral intent classification, and (3) temporal signal weighting in a unified graph embedding system for candidate generation.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  |  Invention 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CBD5E1"/>
                </a:solidFill>
              </a:rPr>
              <a:t>First system to unify negative signals, intent classification &amp; temporal weighting in graph-based recommendations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20624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25880"/>
            <a:ext cx="502920" cy="1463040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25880"/>
            <a:ext cx="502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4630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Negative Signal Taxonomy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7830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Classifies signals as strong negative (blocked, reported) vs weak negative (skipped, bounced). Encodes each type with distinct edge weights.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3017520"/>
            <a:ext cx="420624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3017520"/>
            <a:ext cx="502920" cy="1463040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3017520"/>
            <a:ext cx="502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31546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Intent Classification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4747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Behavioral sequence modeling differentiates exploratory browsing from high-intent purchase sessions using temporal pattern analysis.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1325880"/>
            <a:ext cx="420624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1325880"/>
            <a:ext cx="502920" cy="1463040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325880"/>
            <a:ext cx="502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03520" y="14630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Dual-Graph Architecture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0" y="17830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Constructs separate positive and negative edge graphs. Contrastive learning trains against both simultaneously for superior candidate ranking.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3017520"/>
            <a:ext cx="420624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3017520"/>
            <a:ext cx="502920" cy="1463040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3017520"/>
            <a:ext cx="502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03520" y="31546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Temporal Decay Weighting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0" y="34747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Exponential &amp; polynomial decay functions ensure recent interactions carry stronger signal. Cross-platform normalization (web vs mobile).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  |  System Architecture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7160" y="594360"/>
            <a:ext cx="1371600" cy="640080"/>
          </a:xfrm>
          <a:prstGeom prst="rect">
            <a:avLst/>
          </a:prstGeom>
          <a:solidFill>
            <a:srgbClr val="CCFBF1"/>
          </a:solidFill>
          <a:ln w="10160">
            <a:solidFill>
              <a:srgbClr val="0D948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" y="735178"/>
            <a:ext cx="1371600" cy="2688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</a:rPr>
              <a:t>User Behavior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37160" y="965606"/>
            <a:ext cx="1371600" cy="2432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Streams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91640" y="566928"/>
            <a:ext cx="2011680" cy="1417320"/>
          </a:xfrm>
          <a:prstGeom prst="rect">
            <a:avLst/>
          </a:prstGeom>
          <a:solidFill>
            <a:srgbClr val="FFF7ED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1640" y="57607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2400E"/>
                </a:solidFill>
              </a:rPr>
              <a:t>Signal Taxonomy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37360" y="86868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B82F6"/>
                </a:solidFill>
              </a:rPr>
              <a:t>+ High: Purchased, Booked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0D9488"/>
                </a:solidFill>
              </a:rPr>
              <a:t>+ Med: Saved, Cart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EF4444"/>
                </a:solidFill>
              </a:rPr>
              <a:t>- Strong: Blocked, Reported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F97316"/>
                </a:solidFill>
              </a:rPr>
              <a:t>- Weak: Skipped, Bounced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508760" y="914400"/>
            <a:ext cx="18288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886200" y="566928"/>
            <a:ext cx="1554480" cy="685800"/>
          </a:xfrm>
          <a:prstGeom prst="rect">
            <a:avLst/>
          </a:prstGeom>
          <a:solidFill>
            <a:srgbClr val="EFF6FF"/>
          </a:solidFill>
          <a:ln w="10160">
            <a:solidFill>
              <a:srgbClr val="3B82F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86200" y="717804"/>
            <a:ext cx="155448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</a:rPr>
              <a:t>Intent Classifier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86200" y="964692"/>
            <a:ext cx="155448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Behavioral seq. model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86200" y="1298448"/>
            <a:ext cx="1554480" cy="685800"/>
          </a:xfrm>
          <a:prstGeom prst="rect">
            <a:avLst/>
          </a:prstGeom>
          <a:solidFill>
            <a:srgbClr val="CCFBF1"/>
          </a:solidFill>
          <a:ln w="10160">
            <a:solidFill>
              <a:srgbClr val="0D948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86200" y="1449324"/>
            <a:ext cx="155448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</a:rPr>
              <a:t>Temporal Weighter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86200" y="1696212"/>
            <a:ext cx="155448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Decay functions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703320" y="594360"/>
            <a:ext cx="182880" cy="0"/>
          </a:xfrm>
          <a:prstGeom prst="line">
            <a:avLst/>
          </a:prstGeom>
          <a:noFill/>
          <a:ln w="15240">
            <a:solidFill>
              <a:srgbClr val="3B82F6"/>
            </a:solidFill>
            <a:prstDash val="solid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3703320" y="960120"/>
            <a:ext cx="182880" cy="41148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3703320" y="960120"/>
            <a:ext cx="182880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5623560" y="566928"/>
            <a:ext cx="1463040" cy="685800"/>
          </a:xfrm>
          <a:prstGeom prst="rect">
            <a:avLst/>
          </a:prstGeom>
          <a:solidFill>
            <a:srgbClr val="EFF6FF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3560" y="566928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</a:rPr>
              <a:t>+ Positive Graph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23560" y="1298448"/>
            <a:ext cx="1463040" cy="685800"/>
          </a:xfrm>
          <a:prstGeom prst="rect">
            <a:avLst/>
          </a:prstGeom>
          <a:solidFill>
            <a:srgbClr val="FEF2F2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23560" y="1298448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</a:rPr>
              <a:t>– Negative Graph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40680" y="886968"/>
            <a:ext cx="182880" cy="0"/>
          </a:xfrm>
          <a:prstGeom prst="line">
            <a:avLst/>
          </a:prstGeom>
          <a:noFill/>
          <a:ln w="15240">
            <a:solidFill>
              <a:srgbClr val="3B82F6"/>
            </a:solidFill>
            <a:prstDash val="solid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5440680" y="1645920"/>
            <a:ext cx="182880" cy="0"/>
          </a:xfrm>
          <a:prstGeom prst="line">
            <a:avLst/>
          </a:prstGeom>
          <a:noFill/>
          <a:ln w="15240">
            <a:solidFill>
              <a:srgbClr val="EF4444"/>
            </a:solidFill>
            <a:prstDash val="solid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7269480" y="566928"/>
            <a:ext cx="1554480" cy="1417320"/>
          </a:xfrm>
          <a:prstGeom prst="rect">
            <a:avLst/>
          </a:prstGeom>
          <a:solidFill>
            <a:srgbClr val="EDE9FE"/>
          </a:solidFill>
          <a:ln w="10160">
            <a:solidFill>
              <a:srgbClr val="7C3AE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269480" y="878738"/>
            <a:ext cx="1554480" cy="5952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B0764"/>
                </a:solidFill>
              </a:rPr>
              <a:t>Contrastive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3B0764"/>
                </a:solidFill>
              </a:rPr>
              <a:t>Learning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269480" y="1388974"/>
            <a:ext cx="1554480" cy="5385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GNN + Loss fn.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086600" y="886968"/>
            <a:ext cx="182880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7086600" y="1645920"/>
            <a:ext cx="182880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8046720" y="1984248"/>
            <a:ext cx="0" cy="347472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137160" y="2331720"/>
            <a:ext cx="1463040" cy="658368"/>
          </a:xfrm>
          <a:prstGeom prst="rect">
            <a:avLst/>
          </a:prstGeom>
          <a:solidFill>
            <a:srgbClr val="CCFBF1"/>
          </a:solidFill>
          <a:ln w="10160">
            <a:solidFill>
              <a:srgbClr val="0D948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37160" y="2476561"/>
            <a:ext cx="1463040" cy="2765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</a:rPr>
              <a:t>Embedding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</a:rPr>
              <a:t>Store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37160" y="2713573"/>
            <a:ext cx="1463040" cy="250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Vector index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783080" y="2331720"/>
            <a:ext cx="1737360" cy="658368"/>
          </a:xfrm>
          <a:prstGeom prst="rect">
            <a:avLst/>
          </a:prstGeom>
          <a:solidFill>
            <a:srgbClr val="EFF6FF"/>
          </a:solidFill>
          <a:ln w="10160">
            <a:solidFill>
              <a:srgbClr val="3B82F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783080" y="2476561"/>
            <a:ext cx="1737360" cy="2765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</a:rPr>
              <a:t>Candidate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</a:rPr>
              <a:t>Generator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783080" y="2713573"/>
            <a:ext cx="1737360" cy="250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Top-K retrieval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703320" y="2331720"/>
            <a:ext cx="1737360" cy="658368"/>
          </a:xfrm>
          <a:prstGeom prst="rect">
            <a:avLst/>
          </a:prstGeom>
          <a:solidFill>
            <a:srgbClr val="FEF2F2"/>
          </a:solidFill>
          <a:ln w="10160">
            <a:solidFill>
              <a:srgbClr val="EF444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703320" y="2476561"/>
            <a:ext cx="1737360" cy="2765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</a:rPr>
              <a:t>Re-ranker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703320" y="2713573"/>
            <a:ext cx="1737360" cy="250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Contrastive score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623560" y="2331720"/>
            <a:ext cx="1463040" cy="658368"/>
          </a:xfrm>
          <a:prstGeom prst="rect">
            <a:avLst/>
          </a:prstGeom>
          <a:solidFill>
            <a:srgbClr val="CCFBF1"/>
          </a:solidFill>
          <a:ln w="10160">
            <a:solidFill>
              <a:srgbClr val="0D948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623560" y="2476561"/>
            <a:ext cx="1463040" cy="2765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</a:rPr>
              <a:t>Intent Router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623560" y="2713573"/>
            <a:ext cx="1463040" cy="250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Mode selection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269480" y="2331720"/>
            <a:ext cx="1554480" cy="658368"/>
          </a:xfrm>
          <a:prstGeom prst="rect">
            <a:avLst/>
          </a:prstGeom>
          <a:solidFill>
            <a:srgbClr val="0D1B3E"/>
          </a:solidFill>
          <a:ln w="1016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269480" y="2476561"/>
            <a:ext cx="1554480" cy="2765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Recommender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Output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269480" y="2713573"/>
            <a:ext cx="1554480" cy="250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Ranked results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8046720" y="1984248"/>
            <a:ext cx="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868680" y="1984248"/>
            <a:ext cx="0" cy="347472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1600200" y="2651760"/>
            <a:ext cx="18288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3520440" y="2651760"/>
            <a:ext cx="18288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none"/>
          </a:ln>
        </p:spPr>
      </p:sp>
      <p:sp>
        <p:nvSpPr>
          <p:cNvPr id="51" name="Shape 49"/>
          <p:cNvSpPr/>
          <p:nvPr/>
        </p:nvSpPr>
        <p:spPr>
          <a:xfrm>
            <a:off x="5440680" y="2651760"/>
            <a:ext cx="18288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none"/>
          </a:ln>
        </p:spPr>
      </p:sp>
      <p:sp>
        <p:nvSpPr>
          <p:cNvPr id="52" name="Shape 50"/>
          <p:cNvSpPr/>
          <p:nvPr/>
        </p:nvSpPr>
        <p:spPr>
          <a:xfrm>
            <a:off x="7086600" y="2651760"/>
            <a:ext cx="18288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137160" y="3246120"/>
            <a:ext cx="8686800" cy="548640"/>
          </a:xfrm>
          <a:prstGeom prst="rect">
            <a:avLst/>
          </a:prstGeom>
          <a:solidFill>
            <a:srgbClr val="FFFBEB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28600" y="324612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2400E"/>
                </a:solidFill>
              </a:rPr>
              <a:t>Drift Monitor &amp; Schema Evolution  —  Monitors behavioral distribution shift · Triggers model re-training · Versions graph snapshots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023360" y="2990088"/>
            <a:ext cx="0" cy="256032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274320" y="3931920"/>
            <a:ext cx="274320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1792" y="39044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Positive signal flow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468880" y="3931920"/>
            <a:ext cx="274320" cy="12801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816352" y="39044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Negative signal flow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663440" y="3931920"/>
            <a:ext cx="274320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10912" y="39044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Graph processing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858000" y="3931920"/>
            <a:ext cx="274320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205472" y="39044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Output pipeline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  |  Component Details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640080"/>
            <a:ext cx="4297680" cy="196596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640080"/>
            <a:ext cx="429768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400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C1  Signal Taxonomy Engine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</a:rPr>
              <a:t>›  Strong negative: Explicitly disliked, reported, blocked — edge weight: –1.0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14173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›  Weak negative: Skipped, short dwell, bounced — edge weight: –0.3 to –0.7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17830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›  High intent positive: Booked, purchased — edge weight: +1.0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2148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›  Medium/Low positive: Saved, searched — weighted +0.4 to +0.8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2880" y="2834640"/>
            <a:ext cx="4297680" cy="196596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2834640"/>
            <a:ext cx="429768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8346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C2  Intent Classifier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3246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B82F6"/>
                </a:solidFill>
              </a:rPr>
              <a:t>›  Behavioral sequence modeling via attention-based encoder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" y="36118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›  Classifies session as: Exploratory Browse vs Purchase-Intent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0040" y="39776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›  Routes candidate generation strategy based on detected intent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040" y="43434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›  Temporal window segmentation for session boundary detection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640080"/>
            <a:ext cx="4297680" cy="196596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640080"/>
            <a:ext cx="42976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6400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C3  Dual-Graph Constructor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10515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3AED"/>
                </a:solidFill>
              </a:rPr>
              <a:t>›  Positive edge graph: User–item edges weighted by intent &amp; recency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00600" y="14173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›  Negative edge graph: User–item edges with negative weights per taxonomy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00600" y="17830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›  K-Uniformity property for hyperedge support (multi-entity relationships)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00600" y="2148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›  Graph snapshots versioned on distribution shift detection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2834640"/>
            <a:ext cx="4297680" cy="196596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834640"/>
            <a:ext cx="42976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8346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C4  Temporal Decay Module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3246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</a:rPr>
              <a:t>›  Exponential decay: w(t) = w₀ · e^(–λt) for high-velocity signals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00600" y="36118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›  Polynomial decay: w(t) = w₀ / (1 + αt)^β for long-tail behaviors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00600" y="39776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›  Cross-platform normalization: Web vs Mobile behavioral differences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00600" y="43434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›  Recency score merged with graph edge weights before embedding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  |  Invention Claims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Key Patent Claims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1069848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698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051560"/>
            <a:ext cx="8092440" cy="68580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08813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Negative signal taxonomy method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380744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A method for classifying and incorporating negative user behavioral signals (strong vs weak) into graph-based recommendation systems using weighted negative edges.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1847088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8470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1828800"/>
            <a:ext cx="8092440" cy="68580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865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Intent classification algorithm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2157984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An algorithm for real-time classification of user session intent (exploratory vs purchase-intent) from behavioral event sequences using temporal attention encoding.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624328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26243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2606040"/>
            <a:ext cx="8092440" cy="68580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64261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Dual-graph neural network architecture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935224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A graph neural network architecture that simultaneously trains on both positive and negative edge graphs to produce contrastively-improved candidate embeddings.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3401568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34015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" y="3383280"/>
            <a:ext cx="8092440" cy="68580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41985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Contrastive loss function for ranking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3712464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A contrastive loss function that penalizes high similarity to negatively-signaled items while rewarding similarity to positively-signaled items in candidate ranking.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" y="4178808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41788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22960" y="4160520"/>
            <a:ext cx="8092440" cy="68580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19709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Temporal decay embedding method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4489704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A method for applying exponential and polynomial temporal decay functions to behavioral signal weights before graph embedding, with cross-platform normalization.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  |  Illustrations — Signal Flow &amp; Dual Graph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594360"/>
            <a:ext cx="3931920" cy="434340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594360"/>
            <a:ext cx="3931920" cy="347472"/>
          </a:xfrm>
          <a:prstGeom prst="rect">
            <a:avLst/>
          </a:prstGeom>
          <a:solidFill>
            <a:srgbClr val="FEF2F2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5943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</a:rPr>
              <a:t>Traditional System  (positive signals only)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325880" y="1097280"/>
            <a:ext cx="822960" cy="457200"/>
          </a:xfrm>
          <a:prstGeom prst="ellipse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0972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82F6"/>
                </a:solidFill>
              </a:rPr>
              <a:t>User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" cy="457200"/>
          </a:xfrm>
          <a:prstGeom prst="ellipse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116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82F6"/>
                </a:solidFill>
              </a:rPr>
              <a:t>Item 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554480" y="2011680"/>
            <a:ext cx="822960" cy="457200"/>
          </a:xfrm>
          <a:prstGeom prst="ellipse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20116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82F6"/>
                </a:solidFill>
              </a:rPr>
              <a:t>Item B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651760" y="2011680"/>
            <a:ext cx="822960" cy="457200"/>
          </a:xfrm>
          <a:prstGeom prst="ellipse">
            <a:avLst/>
          </a:prstGeom>
          <a:solidFill>
            <a:srgbClr val="64748B">
              <a:alpha val="8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20116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</a:rPr>
              <a:t>Item C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719072" y="1325880"/>
            <a:ext cx="0" cy="68580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737360" y="1325880"/>
            <a:ext cx="182880" cy="68580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1828800" y="1325880"/>
            <a:ext cx="1280160" cy="68580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320040" y="27432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</a:rPr>
              <a:t>✗  Skipped, bounced interactions IGNORED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" y="30906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</a:rPr>
              <a:t>✗  All clicks treated with equal weight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" y="343814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</a:rPr>
              <a:t>✗  No session intent context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" y="40690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2400E"/>
                </a:solidFill>
              </a:rPr>
              <a:t>Result: Item C recommended despite 3× bounces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251960" y="640080"/>
            <a:ext cx="0" cy="429768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4206240" y="26517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</a:rPr>
              <a:t>vs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594360"/>
            <a:ext cx="4389120" cy="434340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594360"/>
            <a:ext cx="4389120" cy="347472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59436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New System  (dual positive + negative graph)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17920" y="1051560"/>
            <a:ext cx="822960" cy="457200"/>
          </a:xfrm>
          <a:prstGeom prst="ellipse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10515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82F6"/>
                </a:solidFill>
              </a:rPr>
              <a:t>User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54880" y="1965960"/>
            <a:ext cx="822960" cy="457200"/>
          </a:xfrm>
          <a:prstGeom prst="ellipse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9659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</a:rPr>
              <a:t>Item A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217920" y="1965960"/>
            <a:ext cx="822960" cy="457200"/>
          </a:xfrm>
          <a:prstGeom prst="ellipse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19659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</a:rPr>
              <a:t>Item B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680960" y="1965960"/>
            <a:ext cx="822960" cy="457200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80960" y="19659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4444"/>
                </a:solidFill>
              </a:rPr>
              <a:t>Item C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629400" y="1280160"/>
            <a:ext cx="0" cy="68580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6629400" y="1280160"/>
            <a:ext cx="0" cy="68580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6629400" y="1280160"/>
            <a:ext cx="1463040" cy="685800"/>
          </a:xfrm>
          <a:prstGeom prst="line">
            <a:avLst/>
          </a:prstGeom>
          <a:noFill/>
          <a:ln w="19050">
            <a:solidFill>
              <a:srgbClr val="EF4444"/>
            </a:solidFill>
            <a:prstDash val="dash"/>
            <a:tailEnd type="none"/>
          </a:ln>
        </p:spPr>
      </p:sp>
      <p:sp>
        <p:nvSpPr>
          <p:cNvPr id="38" name="Text 36"/>
          <p:cNvSpPr/>
          <p:nvPr/>
        </p:nvSpPr>
        <p:spPr>
          <a:xfrm>
            <a:off x="4754880" y="157276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B82F6"/>
                </a:solidFill>
              </a:rPr>
              <a:t>+ purchase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7406640" y="15727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EF4444"/>
                </a:solidFill>
              </a:rPr>
              <a:t>– bounced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663440" y="274320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</a:rPr>
              <a:t>✓  Negative signals classified &amp; weighted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663440" y="309067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</a:rPr>
              <a:t>✓  Session intent: Purchase mode detected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663440" y="3438144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</a:rPr>
              <a:t>✓  Temporal decay applied to edge weights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663440" y="40690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766E"/>
                </a:solidFill>
              </a:rPr>
              <a:t>Result: Item C suppressed · A &amp; B ranked higher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08  |  Applications of the Invention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Real-world domains where this invention creates measurable impact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28346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51560"/>
            <a:ext cx="28346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1430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🛒  E-commerce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1490472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Suppress bounced SKUs; rank high-intent purchase candidates; personalize by session mode (browsing vs buying).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48840" y="1554480"/>
            <a:ext cx="804672" cy="914400"/>
          </a:xfrm>
          <a:prstGeom prst="rect">
            <a:avLst/>
          </a:prstGeom>
          <a:solidFill>
            <a:srgbClr val="3B82F6">
              <a:alpha val="8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1554480"/>
            <a:ext cx="804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</a:rPr>
              <a:t>+18–25%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</a:rPr>
              <a:t>Conversion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72968" y="1051560"/>
            <a:ext cx="28346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1051560"/>
            <a:ext cx="28346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1430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🍽  Food &amp; Travel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46120" y="1490472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Weight visited restaurants/hotels higher; penalize quick-exit searches; adapt to exploratory vs booked intent.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138928" y="1554480"/>
            <a:ext cx="804672" cy="914400"/>
          </a:xfrm>
          <a:prstGeom prst="rect">
            <a:avLst/>
          </a:prstGeom>
          <a:solidFill>
            <a:srgbClr val="0D9488">
              <a:alpha val="85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38928" y="1554480"/>
            <a:ext cx="804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+22%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Relevance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63056" y="1051560"/>
            <a:ext cx="28346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63056" y="1051560"/>
            <a:ext cx="283464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1430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🎬  Media &amp; Streaming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36208" y="1490472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Short dwell time = weak negative signal; skip patterns build negative graph; intent separates browsing from binge sessions.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129016" y="1554480"/>
            <a:ext cx="804672" cy="914400"/>
          </a:xfrm>
          <a:prstGeom prst="rect">
            <a:avLst/>
          </a:prstGeom>
          <a:solidFill>
            <a:srgbClr val="EF4444">
              <a:alpha val="8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29016" y="1554480"/>
            <a:ext cx="804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</a:rPr>
              <a:t>–30%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</a:rPr>
              <a:t>Churn risk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82880" y="2971800"/>
            <a:ext cx="28346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82880" y="2971800"/>
            <a:ext cx="2834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30632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💼  Financial Services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6032" y="3410712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Detect low-intent product touches vs high-intent applications; negative signals flag regulatory risk profiles.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148840" y="3474720"/>
            <a:ext cx="804672" cy="914400"/>
          </a:xfrm>
          <a:prstGeom prst="rect">
            <a:avLst/>
          </a:prstGeom>
          <a:solidFill>
            <a:srgbClr val="F59E0B">
              <a:alpha val="8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48840" y="3474720"/>
            <a:ext cx="804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+15%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Lead quality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72968" y="2971800"/>
            <a:ext cx="28346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72968" y="2971800"/>
            <a:ext cx="28346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30632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🏥  Healthcare Search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46120" y="3410712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Intent classification between information-seeking vs appointment-booking; strong negative signals flag patient anxiety.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138928" y="3474720"/>
            <a:ext cx="804672" cy="914400"/>
          </a:xfrm>
          <a:prstGeom prst="rect">
            <a:avLst/>
          </a:prstGeom>
          <a:solidFill>
            <a:srgbClr val="7C3AED">
              <a:alpha val="85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38928" y="3474720"/>
            <a:ext cx="804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</a:rPr>
              <a:t>+20%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</a:rPr>
              <a:t>Engagement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63056" y="2971800"/>
            <a:ext cx="28346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63056" y="2971800"/>
            <a:ext cx="283464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36208" y="30632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🎓  EdTech / Learning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36208" y="3410712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Distinguish exploratory course browsing from enrollment intent; penalize abandoned mid-content sessions.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29016" y="3474720"/>
            <a:ext cx="804672" cy="914400"/>
          </a:xfrm>
          <a:prstGeom prst="rect">
            <a:avLst/>
          </a:prstGeom>
          <a:solidFill>
            <a:srgbClr val="059669">
              <a:alpha val="85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29016" y="3474720"/>
            <a:ext cx="804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</a:rPr>
              <a:t>+28%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</a:rPr>
              <a:t>Completion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D9488">
              <a:alpha val="12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14B8A6">
              <a:alpha val="10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A6"/>
                </a:solidFill>
              </a:rPr>
              <a:t>PATENT STRENGTH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</a:rPr>
              <a:t>★★★★★  Very Strong — Novel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41148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What makes this defensible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920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No prior art uses dual positive/negative graph architecture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4144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423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Intent classification from behavioral sequences is novel in this context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4436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926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Contrastive loss on dual-graph pairs not patented in recommendation domain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4728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429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Temporal decay + multi-behavioral signal fusion is a distinct combination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95020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931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Differentiates from Pinterest, Alibaba, Meta, and Uber prior art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Proprietary &amp; Confidential  |  Combined Patent Disclosure — Ideas #2 &amp; #5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</TotalTime>
  <Words>1147</Words>
  <Application>Microsoft Office PowerPoint</Application>
  <PresentationFormat>On-screen Show (16:9)</PresentationFormat>
  <Paragraphs>204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Intent-Aware Multi-Behavioral Graph Embedding System</dc:title>
  <dc:subject>PptxGenJS Presentation</dc:subject>
  <dc:creator>PptxGenJS</dc:creator>
  <cp:lastModifiedBy>Rajesh Kanna</cp:lastModifiedBy>
  <cp:revision>1</cp:revision>
  <dcterms:created xsi:type="dcterms:W3CDTF">2026-03-19T07:23:01Z</dcterms:created>
  <dcterms:modified xsi:type="dcterms:W3CDTF">2026-03-19T17:24:55Z</dcterms:modified>
</cp:coreProperties>
</file>