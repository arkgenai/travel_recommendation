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7475200" cy="9753600"/>
  <p:notesSz cx="17475200" cy="9753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4" d="100"/>
          <a:sy n="44" d="100"/>
        </p:scale>
        <p:origin x="52" y="10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572375" cy="4889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9898063" y="0"/>
            <a:ext cx="7572375" cy="488950"/>
          </a:xfrm>
          <a:prstGeom prst="rect">
            <a:avLst/>
          </a:prstGeom>
        </p:spPr>
        <p:txBody>
          <a:bodyPr vert="horz" lIns="91440" tIns="45720" rIns="91440" bIns="45720" rtlCol="0"/>
          <a:lstStyle>
            <a:lvl1pPr algn="r">
              <a:defRPr sz="1200"/>
            </a:lvl1pPr>
          </a:lstStyle>
          <a:p>
            <a:fld id="{D790F692-E7CB-479B-893A-A890C6E7F1F0}" type="datetimeFigureOut">
              <a:rPr lang="en-IN" smtClean="0"/>
              <a:t>01-04-2026</a:t>
            </a:fld>
            <a:endParaRPr lang="en-IN"/>
          </a:p>
        </p:txBody>
      </p:sp>
      <p:sp>
        <p:nvSpPr>
          <p:cNvPr id="4" name="Slide Image Placeholder 3"/>
          <p:cNvSpPr>
            <a:spLocks noGrp="1" noRot="1" noChangeAspect="1"/>
          </p:cNvSpPr>
          <p:nvPr>
            <p:ph type="sldImg" idx="2"/>
          </p:nvPr>
        </p:nvSpPr>
        <p:spPr>
          <a:xfrm>
            <a:off x="5788025" y="1219200"/>
            <a:ext cx="5899150" cy="32924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747838" y="4694238"/>
            <a:ext cx="13979525" cy="3840162"/>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9264650"/>
            <a:ext cx="7572375" cy="4889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9898063" y="9264650"/>
            <a:ext cx="7572375" cy="488950"/>
          </a:xfrm>
          <a:prstGeom prst="rect">
            <a:avLst/>
          </a:prstGeom>
        </p:spPr>
        <p:txBody>
          <a:bodyPr vert="horz" lIns="91440" tIns="45720" rIns="91440" bIns="45720" rtlCol="0" anchor="b"/>
          <a:lstStyle>
            <a:lvl1pPr algn="r">
              <a:defRPr sz="1200"/>
            </a:lvl1pPr>
          </a:lstStyle>
          <a:p>
            <a:fld id="{A131746C-28C2-4E5F-AC84-08AD0D6E5B86}" type="slidenum">
              <a:rPr lang="en-IN" smtClean="0"/>
              <a:t>‹#›</a:t>
            </a:fld>
            <a:endParaRPr lang="en-IN"/>
          </a:p>
        </p:txBody>
      </p:sp>
    </p:spTree>
    <p:extLst>
      <p:ext uri="{BB962C8B-B14F-4D97-AF65-F5344CB8AC3E}">
        <p14:creationId xmlns:p14="http://schemas.microsoft.com/office/powerpoint/2010/main" val="3413878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117825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8413778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89870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726613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409303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002539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508123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1508257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844219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623869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593545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194549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5246340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176778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071306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10640" y="3023616"/>
            <a:ext cx="14853920" cy="2048255"/>
          </a:xfrm>
          <a:prstGeom prst="rect">
            <a:avLst/>
          </a:prstGeom>
        </p:spPr>
        <p:txBody>
          <a:bodyPr wrap="square" lIns="0" tIns="0" rIns="0" bIns="0">
            <a:spAutoFit/>
          </a:bodyPr>
          <a:lstStyle>
            <a:lvl1pPr>
              <a:defRPr sz="6850" b="0" i="0">
                <a:solidFill>
                  <a:srgbClr val="313131"/>
                </a:solidFill>
                <a:latin typeface="Arial Black"/>
                <a:cs typeface="Arial Black"/>
              </a:defRPr>
            </a:lvl1pPr>
          </a:lstStyle>
          <a:p>
            <a:endParaRPr/>
          </a:p>
        </p:txBody>
      </p:sp>
      <p:sp>
        <p:nvSpPr>
          <p:cNvPr id="3" name="Holder 3"/>
          <p:cNvSpPr>
            <a:spLocks noGrp="1"/>
          </p:cNvSpPr>
          <p:nvPr>
            <p:ph type="subTitle" idx="4"/>
          </p:nvPr>
        </p:nvSpPr>
        <p:spPr>
          <a:xfrm>
            <a:off x="2621280" y="5462016"/>
            <a:ext cx="12232640" cy="24384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850" b="0" i="0">
                <a:solidFill>
                  <a:srgbClr val="31313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76300" y="3276600"/>
            <a:ext cx="10236200" cy="4826000"/>
          </a:xfrm>
          <a:prstGeom prst="rect">
            <a:avLst/>
          </a:prstGeom>
        </p:spPr>
      </p:pic>
      <p:pic>
        <p:nvPicPr>
          <p:cNvPr id="17" name="bg object 17"/>
          <p:cNvPicPr/>
          <p:nvPr/>
        </p:nvPicPr>
        <p:blipFill>
          <a:blip r:embed="rId3" cstate="print"/>
          <a:stretch>
            <a:fillRect/>
          </a:stretch>
        </p:blipFill>
        <p:spPr>
          <a:xfrm>
            <a:off x="11861800" y="2425700"/>
            <a:ext cx="4876800" cy="6705600"/>
          </a:xfrm>
          <a:prstGeom prst="rect">
            <a:avLst/>
          </a:prstGeom>
        </p:spPr>
      </p:pic>
      <p:pic>
        <p:nvPicPr>
          <p:cNvPr id="18" name="bg object 18"/>
          <p:cNvPicPr/>
          <p:nvPr/>
        </p:nvPicPr>
        <p:blipFill>
          <a:blip r:embed="rId4" cstate="print"/>
          <a:stretch>
            <a:fillRect/>
          </a:stretch>
        </p:blipFill>
        <p:spPr>
          <a:xfrm>
            <a:off x="1003300" y="1016000"/>
            <a:ext cx="1320800" cy="584200"/>
          </a:xfrm>
          <a:prstGeom prst="rect">
            <a:avLst/>
          </a:prstGeom>
        </p:spPr>
      </p:pic>
      <p:sp>
        <p:nvSpPr>
          <p:cNvPr id="19" name="bg object 19"/>
          <p:cNvSpPr/>
          <p:nvPr/>
        </p:nvSpPr>
        <p:spPr>
          <a:xfrm>
            <a:off x="319616" y="347132"/>
            <a:ext cx="0" cy="9131300"/>
          </a:xfrm>
          <a:custGeom>
            <a:avLst/>
            <a:gdLst/>
            <a:ahLst/>
            <a:cxnLst/>
            <a:rect l="l" t="t" r="r" b="b"/>
            <a:pathLst>
              <a:path h="9131300">
                <a:moveTo>
                  <a:pt x="0" y="9131300"/>
                </a:moveTo>
                <a:lnTo>
                  <a:pt x="0" y="0"/>
                </a:lnTo>
              </a:path>
            </a:pathLst>
          </a:custGeom>
          <a:ln w="12700">
            <a:solidFill>
              <a:srgbClr val="646767"/>
            </a:solidFill>
          </a:ln>
        </p:spPr>
        <p:txBody>
          <a:bodyPr wrap="square" lIns="0" tIns="0" rIns="0" bIns="0" rtlCol="0"/>
          <a:lstStyle/>
          <a:p>
            <a:endParaRPr/>
          </a:p>
        </p:txBody>
      </p:sp>
      <p:sp>
        <p:nvSpPr>
          <p:cNvPr id="20" name="bg object 20"/>
          <p:cNvSpPr/>
          <p:nvPr/>
        </p:nvSpPr>
        <p:spPr>
          <a:xfrm>
            <a:off x="17096321" y="347132"/>
            <a:ext cx="0" cy="9131300"/>
          </a:xfrm>
          <a:custGeom>
            <a:avLst/>
            <a:gdLst/>
            <a:ahLst/>
            <a:cxnLst/>
            <a:rect l="l" t="t" r="r" b="b"/>
            <a:pathLst>
              <a:path h="9131300">
                <a:moveTo>
                  <a:pt x="0" y="9131300"/>
                </a:moveTo>
                <a:lnTo>
                  <a:pt x="0" y="0"/>
                </a:lnTo>
              </a:path>
            </a:pathLst>
          </a:custGeom>
          <a:ln w="12700">
            <a:solidFill>
              <a:srgbClr val="646767"/>
            </a:solidFill>
          </a:ln>
        </p:spPr>
        <p:txBody>
          <a:bodyPr wrap="square" lIns="0" tIns="0" rIns="0" bIns="0" rtlCol="0"/>
          <a:lstStyle/>
          <a:p>
            <a:endParaRPr/>
          </a:p>
        </p:txBody>
      </p:sp>
      <p:sp>
        <p:nvSpPr>
          <p:cNvPr id="21" name="bg object 21"/>
          <p:cNvSpPr/>
          <p:nvPr/>
        </p:nvSpPr>
        <p:spPr>
          <a:xfrm>
            <a:off x="313266" y="353482"/>
            <a:ext cx="16789400" cy="0"/>
          </a:xfrm>
          <a:custGeom>
            <a:avLst/>
            <a:gdLst/>
            <a:ahLst/>
            <a:cxnLst/>
            <a:rect l="l" t="t" r="r" b="b"/>
            <a:pathLst>
              <a:path w="16789400">
                <a:moveTo>
                  <a:pt x="0" y="0"/>
                </a:moveTo>
                <a:lnTo>
                  <a:pt x="16789400" y="0"/>
                </a:lnTo>
              </a:path>
            </a:pathLst>
          </a:custGeom>
          <a:ln w="12700">
            <a:solidFill>
              <a:srgbClr val="646767"/>
            </a:solidFill>
          </a:ln>
        </p:spPr>
        <p:txBody>
          <a:bodyPr wrap="square" lIns="0" tIns="0" rIns="0" bIns="0" rtlCol="0"/>
          <a:lstStyle/>
          <a:p>
            <a:endParaRPr/>
          </a:p>
        </p:txBody>
      </p:sp>
      <p:sp>
        <p:nvSpPr>
          <p:cNvPr id="22" name="bg object 22"/>
          <p:cNvSpPr/>
          <p:nvPr/>
        </p:nvSpPr>
        <p:spPr>
          <a:xfrm>
            <a:off x="313266" y="9472082"/>
            <a:ext cx="16789400" cy="0"/>
          </a:xfrm>
          <a:custGeom>
            <a:avLst/>
            <a:gdLst/>
            <a:ahLst/>
            <a:cxnLst/>
            <a:rect l="l" t="t" r="r" b="b"/>
            <a:pathLst>
              <a:path w="16789400">
                <a:moveTo>
                  <a:pt x="0" y="0"/>
                </a:moveTo>
                <a:lnTo>
                  <a:pt x="16789400" y="0"/>
                </a:lnTo>
              </a:path>
            </a:pathLst>
          </a:custGeom>
          <a:ln w="12700">
            <a:solidFill>
              <a:srgbClr val="646767"/>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6850" b="0" i="0">
                <a:solidFill>
                  <a:srgbClr val="313131"/>
                </a:solidFill>
                <a:latin typeface="Arial Black"/>
                <a:cs typeface="Arial Black"/>
              </a:defRPr>
            </a:lvl1pPr>
          </a:lstStyle>
          <a:p>
            <a:endParaRPr/>
          </a:p>
        </p:txBody>
      </p:sp>
      <p:sp>
        <p:nvSpPr>
          <p:cNvPr id="3" name="Holder 3"/>
          <p:cNvSpPr>
            <a:spLocks noGrp="1"/>
          </p:cNvSpPr>
          <p:nvPr>
            <p:ph sz="half" idx="2"/>
          </p:nvPr>
        </p:nvSpPr>
        <p:spPr>
          <a:xfrm>
            <a:off x="873760" y="2243328"/>
            <a:ext cx="7601712" cy="64373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8999728" y="2243328"/>
            <a:ext cx="7601712" cy="64373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850" b="0" i="0">
                <a:solidFill>
                  <a:srgbClr val="31313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6700" y="228600"/>
            <a:ext cx="17068800" cy="9398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16932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845327" y="377824"/>
            <a:ext cx="15784544" cy="1898014"/>
          </a:xfrm>
          <a:prstGeom prst="rect">
            <a:avLst/>
          </a:prstGeom>
        </p:spPr>
        <p:txBody>
          <a:bodyPr wrap="square" lIns="0" tIns="0" rIns="0" bIns="0">
            <a:spAutoFit/>
          </a:bodyPr>
          <a:lstStyle>
            <a:lvl1pPr>
              <a:defRPr sz="6850" b="0" i="0">
                <a:solidFill>
                  <a:srgbClr val="313131"/>
                </a:solidFill>
                <a:latin typeface="Arial Black"/>
                <a:cs typeface="Arial Black"/>
              </a:defRPr>
            </a:lvl1pPr>
          </a:lstStyle>
          <a:p>
            <a:endParaRPr/>
          </a:p>
        </p:txBody>
      </p:sp>
      <p:sp>
        <p:nvSpPr>
          <p:cNvPr id="3" name="Holder 3"/>
          <p:cNvSpPr>
            <a:spLocks noGrp="1"/>
          </p:cNvSpPr>
          <p:nvPr>
            <p:ph type="body" idx="1"/>
          </p:nvPr>
        </p:nvSpPr>
        <p:spPr>
          <a:xfrm>
            <a:off x="808566" y="2455332"/>
            <a:ext cx="15798800" cy="645096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5941568" y="9070848"/>
            <a:ext cx="5592064" cy="4876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873760" y="9070848"/>
            <a:ext cx="4019296" cy="4876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6" name="Holder 6"/>
          <p:cNvSpPr>
            <a:spLocks noGrp="1"/>
          </p:cNvSpPr>
          <p:nvPr>
            <p:ph type="sldNum" sz="quarter" idx="7"/>
          </p:nvPr>
        </p:nvSpPr>
        <p:spPr>
          <a:xfrm>
            <a:off x="12582144" y="9070848"/>
            <a:ext cx="4019296" cy="4876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image" Target="../media/image12.jpg"/><Relationship Id="rId13" Type="http://schemas.openxmlformats.org/officeDocument/2006/relationships/image" Target="../media/image17.jpg"/><Relationship Id="rId18" Type="http://schemas.openxmlformats.org/officeDocument/2006/relationships/image" Target="../media/image22.jp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jpg"/><Relationship Id="rId17" Type="http://schemas.openxmlformats.org/officeDocument/2006/relationships/image" Target="../media/image21.jpg"/><Relationship Id="rId2" Type="http://schemas.openxmlformats.org/officeDocument/2006/relationships/image" Target="../media/image6.png"/><Relationship Id="rId16" Type="http://schemas.openxmlformats.org/officeDocument/2006/relationships/image" Target="../media/image20.jpg"/><Relationship Id="rId1" Type="http://schemas.openxmlformats.org/officeDocument/2006/relationships/slideLayout" Target="../slideLayouts/slideLayout2.xml"/><Relationship Id="rId6" Type="http://schemas.openxmlformats.org/officeDocument/2006/relationships/image" Target="../media/image10.jpg"/><Relationship Id="rId11" Type="http://schemas.openxmlformats.org/officeDocument/2006/relationships/image" Target="../media/image15.jpg"/><Relationship Id="rId5" Type="http://schemas.openxmlformats.org/officeDocument/2006/relationships/image" Target="../media/image9.jpg"/><Relationship Id="rId15" Type="http://schemas.openxmlformats.org/officeDocument/2006/relationships/image" Target="../media/image19.jpg"/><Relationship Id="rId10" Type="http://schemas.openxmlformats.org/officeDocument/2006/relationships/image" Target="../media/image14.jpg"/><Relationship Id="rId19" Type="http://schemas.openxmlformats.org/officeDocument/2006/relationships/image" Target="../media/image23.jpg"/><Relationship Id="rId4" Type="http://schemas.openxmlformats.org/officeDocument/2006/relationships/image" Target="../media/image8.png"/><Relationship Id="rId9" Type="http://schemas.openxmlformats.org/officeDocument/2006/relationships/image" Target="../media/image13.jpg"/><Relationship Id="rId14" Type="http://schemas.openxmlformats.org/officeDocument/2006/relationships/image" Target="../media/image18.jpg"/></Relationships>
</file>

<file path=ppt/slides/_rels/slide3.xml.rels><?xml version="1.0" encoding="UTF-8" standalone="yes"?>
<Relationships xmlns="http://schemas.openxmlformats.org/package/2006/relationships"><Relationship Id="rId8" Type="http://schemas.openxmlformats.org/officeDocument/2006/relationships/image" Target="../media/image30.jpg"/><Relationship Id="rId3" Type="http://schemas.openxmlformats.org/officeDocument/2006/relationships/image" Target="../media/image25.jpg"/><Relationship Id="rId7" Type="http://schemas.openxmlformats.org/officeDocument/2006/relationships/image" Target="../media/image29.jp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jpg"/><Relationship Id="rId11" Type="http://schemas.openxmlformats.org/officeDocument/2006/relationships/image" Target="../media/image33.png"/><Relationship Id="rId5" Type="http://schemas.openxmlformats.org/officeDocument/2006/relationships/image" Target="../media/image27.jpg"/><Relationship Id="rId10" Type="http://schemas.openxmlformats.org/officeDocument/2006/relationships/image" Target="../media/image32.png"/><Relationship Id="rId4" Type="http://schemas.openxmlformats.org/officeDocument/2006/relationships/image" Target="../media/image26.jpg"/><Relationship Id="rId9" Type="http://schemas.openxmlformats.org/officeDocument/2006/relationships/image" Target="../media/image31.jpg"/></Relationships>
</file>

<file path=ppt/slides/_rels/slide4.xml.rels><?xml version="1.0" encoding="UTF-8" standalone="yes"?>
<Relationships xmlns="http://schemas.openxmlformats.org/package/2006/relationships"><Relationship Id="rId8" Type="http://schemas.openxmlformats.org/officeDocument/2006/relationships/image" Target="../media/image40.jpg"/><Relationship Id="rId13" Type="http://schemas.openxmlformats.org/officeDocument/2006/relationships/image" Target="../media/image45.png"/><Relationship Id="rId3" Type="http://schemas.openxmlformats.org/officeDocument/2006/relationships/image" Target="../media/image35.jp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34.png"/><Relationship Id="rId16"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jpg"/><Relationship Id="rId15" Type="http://schemas.openxmlformats.org/officeDocument/2006/relationships/image" Target="../media/image4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s>
</file>

<file path=ppt/slides/_rels/slide5.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56.jpg"/><Relationship Id="rId3" Type="http://schemas.openxmlformats.org/officeDocument/2006/relationships/image" Target="../media/image51.jpg"/><Relationship Id="rId7" Type="http://schemas.openxmlformats.org/officeDocument/2006/relationships/image" Target="../media/image55.jpg"/><Relationship Id="rId2" Type="http://schemas.openxmlformats.org/officeDocument/2006/relationships/image" Target="../media/image50.jpg"/><Relationship Id="rId1" Type="http://schemas.openxmlformats.org/officeDocument/2006/relationships/slideLayout" Target="../slideLayouts/slideLayout2.xml"/><Relationship Id="rId6" Type="http://schemas.openxmlformats.org/officeDocument/2006/relationships/image" Target="../media/image54.jpg"/><Relationship Id="rId11" Type="http://schemas.openxmlformats.org/officeDocument/2006/relationships/image" Target="../media/image59.jpg"/><Relationship Id="rId5" Type="http://schemas.openxmlformats.org/officeDocument/2006/relationships/image" Target="../media/image53.jpg"/><Relationship Id="rId10" Type="http://schemas.openxmlformats.org/officeDocument/2006/relationships/image" Target="../media/image58.jpg"/><Relationship Id="rId4" Type="http://schemas.openxmlformats.org/officeDocument/2006/relationships/image" Target="../media/image52.jpg"/><Relationship Id="rId9" Type="http://schemas.openxmlformats.org/officeDocument/2006/relationships/image" Target="../media/image57.jpg"/></Relationships>
</file>

<file path=ppt/slides/_rels/slide7.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9.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image" Target="../media/image64.jpg"/><Relationship Id="rId1" Type="http://schemas.openxmlformats.org/officeDocument/2006/relationships/slideLayout" Target="../slideLayouts/slideLayout2.xml"/><Relationship Id="rId4" Type="http://schemas.openxmlformats.org/officeDocument/2006/relationships/image" Target="../media/image66.jpg"/></Relationships>
</file>

<file path=ppt/slides/_rels/slide1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0.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74.png"/></Relationships>
</file>

<file path=ppt/slides/_rels/slide1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76.png"/></Relationships>
</file>

<file path=ppt/slides/_rels/slide1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74.png"/><Relationship Id="rId4" Type="http://schemas.openxmlformats.org/officeDocument/2006/relationships/image" Target="../media/image7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6600" y="1447800"/>
            <a:ext cx="10321320" cy="4355423"/>
          </a:xfrm>
          <a:prstGeom prst="rect">
            <a:avLst/>
          </a:prstGeom>
          <a:solidFill>
            <a:schemeClr val="bg1"/>
          </a:solidFill>
        </p:spPr>
        <p:txBody>
          <a:bodyPr vert="horz" wrap="square" lIns="0" tIns="289560" rIns="0" bIns="0" rtlCol="0">
            <a:spAutoFit/>
          </a:bodyPr>
          <a:lstStyle/>
          <a:p>
            <a:pPr marL="12700" marR="5080" indent="22860">
              <a:lnSpc>
                <a:spcPct val="77800"/>
              </a:lnSpc>
              <a:spcBef>
                <a:spcPts val="2280"/>
              </a:spcBef>
            </a:pPr>
            <a:r>
              <a:rPr sz="8100" spc="-1545" dirty="0">
                <a:solidFill>
                  <a:srgbClr val="212121"/>
                </a:solidFill>
                <a:latin typeface="Arial Black"/>
                <a:cs typeface="Arial Black"/>
              </a:rPr>
              <a:t>THE</a:t>
            </a:r>
            <a:r>
              <a:rPr sz="8100" spc="-990" dirty="0">
                <a:solidFill>
                  <a:srgbClr val="212121"/>
                </a:solidFill>
                <a:latin typeface="Arial Black"/>
                <a:cs typeface="Arial Black"/>
              </a:rPr>
              <a:t> </a:t>
            </a:r>
            <a:r>
              <a:rPr sz="8100" spc="-1510" dirty="0">
                <a:solidFill>
                  <a:srgbClr val="212121"/>
                </a:solidFill>
                <a:latin typeface="Arial Black"/>
                <a:cs typeface="Arial Black"/>
              </a:rPr>
              <a:t>NEXT </a:t>
            </a:r>
            <a:r>
              <a:rPr sz="8200" spc="-900" dirty="0">
                <a:solidFill>
                  <a:srgbClr val="212121"/>
                </a:solidFill>
                <a:latin typeface="Arial MT"/>
                <a:cs typeface="Arial MT"/>
              </a:rPr>
              <a:t>EVOLUTION</a:t>
            </a:r>
            <a:r>
              <a:rPr sz="8200" spc="105" dirty="0">
                <a:solidFill>
                  <a:srgbClr val="212121"/>
                </a:solidFill>
                <a:latin typeface="Arial MT"/>
                <a:cs typeface="Arial MT"/>
              </a:rPr>
              <a:t> </a:t>
            </a:r>
            <a:r>
              <a:rPr sz="8200" spc="-1070" dirty="0">
                <a:solidFill>
                  <a:srgbClr val="13243B"/>
                </a:solidFill>
                <a:latin typeface="Arial MT"/>
                <a:cs typeface="Arial MT"/>
              </a:rPr>
              <a:t>OF </a:t>
            </a:r>
            <a:r>
              <a:rPr sz="8450" spc="-1155" dirty="0">
                <a:solidFill>
                  <a:srgbClr val="1F1F1F"/>
                </a:solidFill>
                <a:latin typeface="Arial MT"/>
                <a:cs typeface="Arial MT"/>
              </a:rPr>
              <a:t>ENTERPRISE </a:t>
            </a:r>
            <a:r>
              <a:rPr sz="8050" spc="-680" dirty="0">
                <a:solidFill>
                  <a:srgbClr val="1F1F1F"/>
                </a:solidFill>
                <a:latin typeface="Arial MT"/>
                <a:cs typeface="Arial MT"/>
              </a:rPr>
              <a:t>SCALING </a:t>
            </a:r>
            <a:r>
              <a:rPr sz="8600" spc="-1120" dirty="0">
                <a:solidFill>
                  <a:srgbClr val="1F1F1F"/>
                </a:solidFill>
                <a:latin typeface="Arial MT"/>
                <a:cs typeface="Arial MT"/>
              </a:rPr>
              <a:t>GRAPH-</a:t>
            </a:r>
            <a:r>
              <a:rPr sz="8600" spc="-1185" dirty="0">
                <a:solidFill>
                  <a:srgbClr val="1F1F1F"/>
                </a:solidFill>
                <a:latin typeface="Arial MT"/>
                <a:cs typeface="Arial MT"/>
              </a:rPr>
              <a:t>BASED</a:t>
            </a:r>
            <a:endParaRPr sz="8600" dirty="0">
              <a:latin typeface="Arial MT"/>
              <a:cs typeface="Arial MT"/>
            </a:endParaRPr>
          </a:p>
        </p:txBody>
      </p:sp>
      <p:sp>
        <p:nvSpPr>
          <p:cNvPr id="3" name="object 3"/>
          <p:cNvSpPr txBox="1"/>
          <p:nvPr/>
        </p:nvSpPr>
        <p:spPr>
          <a:xfrm>
            <a:off x="1104868" y="7312730"/>
            <a:ext cx="9461532" cy="1117870"/>
          </a:xfrm>
          <a:prstGeom prst="rect">
            <a:avLst/>
          </a:prstGeom>
        </p:spPr>
        <p:txBody>
          <a:bodyPr vert="horz" wrap="square" lIns="0" tIns="76200" rIns="0" bIns="0" rtlCol="0">
            <a:spAutoFit/>
          </a:bodyPr>
          <a:lstStyle/>
          <a:p>
            <a:pPr marL="24765" marR="5080" indent="-12700">
              <a:lnSpc>
                <a:spcPct val="89400"/>
              </a:lnSpc>
              <a:spcBef>
                <a:spcPts val="600"/>
              </a:spcBef>
            </a:pPr>
            <a:r>
              <a:rPr sz="3800" spc="-75" dirty="0">
                <a:solidFill>
                  <a:srgbClr val="0A0A0A"/>
                </a:solidFill>
                <a:latin typeface="Arial MT"/>
                <a:cs typeface="Arial MT"/>
              </a:rPr>
              <a:t>Unlocking</a:t>
            </a:r>
            <a:r>
              <a:rPr sz="3800" spc="-140" dirty="0">
                <a:solidFill>
                  <a:srgbClr val="0A0A0A"/>
                </a:solidFill>
                <a:latin typeface="Arial MT"/>
                <a:cs typeface="Arial MT"/>
              </a:rPr>
              <a:t> </a:t>
            </a:r>
            <a:r>
              <a:rPr sz="3800" spc="-90" dirty="0">
                <a:solidFill>
                  <a:srgbClr val="050505"/>
                </a:solidFill>
                <a:latin typeface="Arial MT"/>
                <a:cs typeface="Arial MT"/>
              </a:rPr>
              <a:t>Multi-</a:t>
            </a:r>
            <a:r>
              <a:rPr sz="3800" dirty="0">
                <a:solidFill>
                  <a:srgbClr val="050505"/>
                </a:solidFill>
                <a:latin typeface="Arial MT"/>
                <a:cs typeface="Arial MT"/>
              </a:rPr>
              <a:t>Hop</a:t>
            </a:r>
            <a:r>
              <a:rPr sz="3800" spc="-140" dirty="0">
                <a:solidFill>
                  <a:srgbClr val="050505"/>
                </a:solidFill>
                <a:latin typeface="Arial MT"/>
                <a:cs typeface="Arial MT"/>
              </a:rPr>
              <a:t> </a:t>
            </a:r>
            <a:r>
              <a:rPr sz="3800" spc="-155" dirty="0">
                <a:solidFill>
                  <a:srgbClr val="0C0C0C"/>
                </a:solidFill>
                <a:latin typeface="Arial MT"/>
                <a:cs typeface="Arial MT"/>
              </a:rPr>
              <a:t>Reasoning, </a:t>
            </a:r>
            <a:r>
              <a:rPr sz="3800" spc="-70" dirty="0">
                <a:solidFill>
                  <a:srgbClr val="050505"/>
                </a:solidFill>
                <a:latin typeface="Arial MT"/>
                <a:cs typeface="Arial MT"/>
              </a:rPr>
              <a:t>Auditability,</a:t>
            </a:r>
            <a:r>
              <a:rPr sz="3800" spc="-130" dirty="0">
                <a:solidFill>
                  <a:srgbClr val="050505"/>
                </a:solidFill>
                <a:latin typeface="Arial MT"/>
                <a:cs typeface="Arial MT"/>
              </a:rPr>
              <a:t> </a:t>
            </a:r>
            <a:r>
              <a:rPr sz="3800" spc="-120" dirty="0">
                <a:solidFill>
                  <a:srgbClr val="0C0C0C"/>
                </a:solidFill>
                <a:latin typeface="Arial MT"/>
                <a:cs typeface="Arial MT"/>
              </a:rPr>
              <a:t>and</a:t>
            </a:r>
            <a:r>
              <a:rPr sz="3800" spc="-140" dirty="0">
                <a:solidFill>
                  <a:srgbClr val="0C0C0C"/>
                </a:solidFill>
                <a:latin typeface="Arial MT"/>
                <a:cs typeface="Arial MT"/>
              </a:rPr>
              <a:t> </a:t>
            </a:r>
            <a:r>
              <a:rPr sz="3800" spc="-434" dirty="0">
                <a:solidFill>
                  <a:srgbClr val="0C0C0C"/>
                </a:solidFill>
                <a:latin typeface="Arial MT"/>
                <a:cs typeface="Arial MT"/>
              </a:rPr>
              <a:t>ROI</a:t>
            </a:r>
            <a:r>
              <a:rPr sz="3800" spc="110" dirty="0">
                <a:solidFill>
                  <a:srgbClr val="0C0C0C"/>
                </a:solidFill>
                <a:latin typeface="Arial MT"/>
                <a:cs typeface="Arial MT"/>
              </a:rPr>
              <a:t> </a:t>
            </a:r>
            <a:r>
              <a:rPr sz="3800" spc="-25" dirty="0">
                <a:solidFill>
                  <a:srgbClr val="151515"/>
                </a:solidFill>
                <a:latin typeface="Arial MT"/>
                <a:cs typeface="Arial MT"/>
              </a:rPr>
              <a:t>at </a:t>
            </a:r>
            <a:r>
              <a:rPr sz="3800" spc="-120" dirty="0">
                <a:solidFill>
                  <a:srgbClr val="0A0A0A"/>
                </a:solidFill>
                <a:latin typeface="Arial MT"/>
                <a:cs typeface="Arial MT"/>
              </a:rPr>
              <a:t>Enterprise</a:t>
            </a:r>
            <a:r>
              <a:rPr sz="3800" spc="-80" dirty="0">
                <a:solidFill>
                  <a:srgbClr val="0A0A0A"/>
                </a:solidFill>
                <a:latin typeface="Arial MT"/>
                <a:cs typeface="Arial MT"/>
              </a:rPr>
              <a:t> </a:t>
            </a:r>
            <a:r>
              <a:rPr sz="3800" spc="-10" dirty="0">
                <a:solidFill>
                  <a:srgbClr val="050505"/>
                </a:solidFill>
                <a:latin typeface="Arial MT"/>
                <a:cs typeface="Arial MT"/>
              </a:rPr>
              <a:t>Scale</a:t>
            </a:r>
            <a:endParaRPr sz="3800" dirty="0">
              <a:latin typeface="Arial MT"/>
              <a:cs typeface="Arial MT"/>
            </a:endParaRPr>
          </a:p>
        </p:txBody>
      </p:sp>
      <p:pic>
        <p:nvPicPr>
          <p:cNvPr id="4" name="Picture 3"/>
          <p:cNvPicPr>
            <a:picLocks noChangeAspect="1"/>
          </p:cNvPicPr>
          <p:nvPr/>
        </p:nvPicPr>
        <p:blipFill>
          <a:blip r:embed="rId2"/>
          <a:stretch>
            <a:fillRect/>
          </a:stretch>
        </p:blipFill>
        <p:spPr>
          <a:xfrm>
            <a:off x="10566400" y="609599"/>
            <a:ext cx="6286655" cy="89392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024100" y="9357783"/>
            <a:ext cx="829944" cy="0"/>
          </a:xfrm>
          <a:custGeom>
            <a:avLst/>
            <a:gdLst/>
            <a:ahLst/>
            <a:cxnLst/>
            <a:rect l="l" t="t" r="r" b="b"/>
            <a:pathLst>
              <a:path w="829944">
                <a:moveTo>
                  <a:pt x="0" y="0"/>
                </a:moveTo>
                <a:lnTo>
                  <a:pt x="829733" y="0"/>
                </a:lnTo>
              </a:path>
            </a:pathLst>
          </a:custGeom>
          <a:ln w="4233">
            <a:solidFill>
              <a:srgbClr val="0F181F"/>
            </a:solidFill>
          </a:ln>
        </p:spPr>
        <p:txBody>
          <a:bodyPr wrap="square" lIns="0" tIns="0" rIns="0" bIns="0" rtlCol="0"/>
          <a:lstStyle/>
          <a:p>
            <a:endParaRPr/>
          </a:p>
        </p:txBody>
      </p:sp>
      <p:sp>
        <p:nvSpPr>
          <p:cNvPr id="3" name="object 3"/>
          <p:cNvSpPr/>
          <p:nvPr/>
        </p:nvSpPr>
        <p:spPr>
          <a:xfrm>
            <a:off x="698500" y="4861983"/>
            <a:ext cx="16095344" cy="0"/>
          </a:xfrm>
          <a:custGeom>
            <a:avLst/>
            <a:gdLst/>
            <a:ahLst/>
            <a:cxnLst/>
            <a:rect l="l" t="t" r="r" b="b"/>
            <a:pathLst>
              <a:path w="16095344">
                <a:moveTo>
                  <a:pt x="0" y="0"/>
                </a:moveTo>
                <a:lnTo>
                  <a:pt x="16095134" y="0"/>
                </a:lnTo>
              </a:path>
            </a:pathLst>
          </a:custGeom>
          <a:ln w="29633">
            <a:solidFill>
              <a:srgbClr val="484F54"/>
            </a:solidFill>
          </a:ln>
        </p:spPr>
        <p:txBody>
          <a:bodyPr wrap="square" lIns="0" tIns="0" rIns="0" bIns="0" rtlCol="0"/>
          <a:lstStyle/>
          <a:p>
            <a:endParaRPr/>
          </a:p>
        </p:txBody>
      </p:sp>
      <p:sp>
        <p:nvSpPr>
          <p:cNvPr id="4" name="object 4"/>
          <p:cNvSpPr/>
          <p:nvPr/>
        </p:nvSpPr>
        <p:spPr>
          <a:xfrm>
            <a:off x="685800" y="353483"/>
            <a:ext cx="16133444" cy="0"/>
          </a:xfrm>
          <a:custGeom>
            <a:avLst/>
            <a:gdLst/>
            <a:ahLst/>
            <a:cxnLst/>
            <a:rect l="l" t="t" r="r" b="b"/>
            <a:pathLst>
              <a:path w="16133444">
                <a:moveTo>
                  <a:pt x="0" y="0"/>
                </a:moveTo>
                <a:lnTo>
                  <a:pt x="16133234" y="0"/>
                </a:lnTo>
              </a:path>
            </a:pathLst>
          </a:custGeom>
          <a:ln w="29633">
            <a:solidFill>
              <a:srgbClr val="4B5457"/>
            </a:solidFill>
          </a:ln>
        </p:spPr>
        <p:txBody>
          <a:bodyPr wrap="square" lIns="0" tIns="0" rIns="0" bIns="0" rtlCol="0"/>
          <a:lstStyle/>
          <a:p>
            <a:endParaRPr/>
          </a:p>
        </p:txBody>
      </p:sp>
      <p:pic>
        <p:nvPicPr>
          <p:cNvPr id="5" name="object 5"/>
          <p:cNvPicPr/>
          <p:nvPr/>
        </p:nvPicPr>
        <p:blipFill>
          <a:blip r:embed="rId2" cstate="print"/>
          <a:stretch>
            <a:fillRect/>
          </a:stretch>
        </p:blipFill>
        <p:spPr>
          <a:xfrm>
            <a:off x="685800" y="5067300"/>
            <a:ext cx="5262033" cy="4051300"/>
          </a:xfrm>
          <a:prstGeom prst="rect">
            <a:avLst/>
          </a:prstGeom>
        </p:spPr>
      </p:pic>
      <p:pic>
        <p:nvPicPr>
          <p:cNvPr id="6" name="object 6"/>
          <p:cNvPicPr/>
          <p:nvPr/>
        </p:nvPicPr>
        <p:blipFill>
          <a:blip r:embed="rId3" cstate="print"/>
          <a:stretch>
            <a:fillRect/>
          </a:stretch>
        </p:blipFill>
        <p:spPr>
          <a:xfrm>
            <a:off x="6108700" y="5067300"/>
            <a:ext cx="5262033" cy="4051300"/>
          </a:xfrm>
          <a:prstGeom prst="rect">
            <a:avLst/>
          </a:prstGeom>
        </p:spPr>
      </p:pic>
      <p:pic>
        <p:nvPicPr>
          <p:cNvPr id="7" name="object 7"/>
          <p:cNvPicPr/>
          <p:nvPr/>
        </p:nvPicPr>
        <p:blipFill>
          <a:blip r:embed="rId4" cstate="print"/>
          <a:stretch>
            <a:fillRect/>
          </a:stretch>
        </p:blipFill>
        <p:spPr>
          <a:xfrm>
            <a:off x="11518900" y="5067300"/>
            <a:ext cx="5262033" cy="4051300"/>
          </a:xfrm>
          <a:prstGeom prst="rect">
            <a:avLst/>
          </a:prstGeom>
        </p:spPr>
      </p:pic>
      <p:pic>
        <p:nvPicPr>
          <p:cNvPr id="8" name="object 8"/>
          <p:cNvPicPr/>
          <p:nvPr/>
        </p:nvPicPr>
        <p:blipFill>
          <a:blip r:embed="rId5" cstate="print"/>
          <a:stretch>
            <a:fillRect/>
          </a:stretch>
        </p:blipFill>
        <p:spPr>
          <a:xfrm>
            <a:off x="4114800" y="5638800"/>
            <a:ext cx="1600200" cy="3048000"/>
          </a:xfrm>
          <a:prstGeom prst="rect">
            <a:avLst/>
          </a:prstGeom>
        </p:spPr>
      </p:pic>
      <p:pic>
        <p:nvPicPr>
          <p:cNvPr id="9" name="object 9"/>
          <p:cNvPicPr/>
          <p:nvPr/>
        </p:nvPicPr>
        <p:blipFill>
          <a:blip r:embed="rId6" cstate="print"/>
          <a:stretch>
            <a:fillRect/>
          </a:stretch>
        </p:blipFill>
        <p:spPr>
          <a:xfrm>
            <a:off x="14592300" y="5638800"/>
            <a:ext cx="2032000" cy="2794000"/>
          </a:xfrm>
          <a:prstGeom prst="rect">
            <a:avLst/>
          </a:prstGeom>
        </p:spPr>
      </p:pic>
      <p:pic>
        <p:nvPicPr>
          <p:cNvPr id="10" name="object 10"/>
          <p:cNvPicPr/>
          <p:nvPr/>
        </p:nvPicPr>
        <p:blipFill>
          <a:blip r:embed="rId7" cstate="print"/>
          <a:stretch>
            <a:fillRect/>
          </a:stretch>
        </p:blipFill>
        <p:spPr>
          <a:xfrm>
            <a:off x="177800" y="9359900"/>
            <a:ext cx="304800" cy="304800"/>
          </a:xfrm>
          <a:prstGeom prst="rect">
            <a:avLst/>
          </a:prstGeom>
        </p:spPr>
      </p:pic>
      <p:grpSp>
        <p:nvGrpSpPr>
          <p:cNvPr id="11" name="object 11"/>
          <p:cNvGrpSpPr/>
          <p:nvPr/>
        </p:nvGrpSpPr>
        <p:grpSpPr>
          <a:xfrm>
            <a:off x="4318000" y="6527800"/>
            <a:ext cx="1295400" cy="1993900"/>
            <a:chOff x="4318000" y="6527800"/>
            <a:chExt cx="1295400" cy="1993900"/>
          </a:xfrm>
        </p:grpSpPr>
        <p:pic>
          <p:nvPicPr>
            <p:cNvPr id="12" name="object 12"/>
            <p:cNvPicPr/>
            <p:nvPr/>
          </p:nvPicPr>
          <p:blipFill>
            <a:blip r:embed="rId8" cstate="print"/>
            <a:stretch>
              <a:fillRect/>
            </a:stretch>
          </p:blipFill>
          <p:spPr>
            <a:xfrm>
              <a:off x="4356100" y="7366000"/>
              <a:ext cx="1231900" cy="1155700"/>
            </a:xfrm>
            <a:prstGeom prst="rect">
              <a:avLst/>
            </a:prstGeom>
          </p:spPr>
        </p:pic>
        <p:pic>
          <p:nvPicPr>
            <p:cNvPr id="13" name="object 13"/>
            <p:cNvPicPr/>
            <p:nvPr/>
          </p:nvPicPr>
          <p:blipFill>
            <a:blip r:embed="rId9" cstate="print"/>
            <a:stretch>
              <a:fillRect/>
            </a:stretch>
          </p:blipFill>
          <p:spPr>
            <a:xfrm>
              <a:off x="4318000" y="6527800"/>
              <a:ext cx="1295400" cy="952500"/>
            </a:xfrm>
            <a:prstGeom prst="rect">
              <a:avLst/>
            </a:prstGeom>
          </p:spPr>
        </p:pic>
      </p:grpSp>
      <p:pic>
        <p:nvPicPr>
          <p:cNvPr id="14" name="object 14"/>
          <p:cNvPicPr/>
          <p:nvPr/>
        </p:nvPicPr>
        <p:blipFill>
          <a:blip r:embed="rId10" cstate="print"/>
          <a:stretch>
            <a:fillRect/>
          </a:stretch>
        </p:blipFill>
        <p:spPr>
          <a:xfrm>
            <a:off x="9372600" y="5638800"/>
            <a:ext cx="825500" cy="673100"/>
          </a:xfrm>
          <a:prstGeom prst="rect">
            <a:avLst/>
          </a:prstGeom>
        </p:spPr>
      </p:pic>
      <p:pic>
        <p:nvPicPr>
          <p:cNvPr id="15" name="object 15"/>
          <p:cNvPicPr/>
          <p:nvPr/>
        </p:nvPicPr>
        <p:blipFill>
          <a:blip r:embed="rId11" cstate="print"/>
          <a:stretch>
            <a:fillRect/>
          </a:stretch>
        </p:blipFill>
        <p:spPr>
          <a:xfrm>
            <a:off x="9563100" y="7327900"/>
            <a:ext cx="254000" cy="584200"/>
          </a:xfrm>
          <a:prstGeom prst="rect">
            <a:avLst/>
          </a:prstGeom>
        </p:spPr>
      </p:pic>
      <p:grpSp>
        <p:nvGrpSpPr>
          <p:cNvPr id="16" name="object 16"/>
          <p:cNvGrpSpPr/>
          <p:nvPr/>
        </p:nvGrpSpPr>
        <p:grpSpPr>
          <a:xfrm>
            <a:off x="9321800" y="7213600"/>
            <a:ext cx="1752600" cy="1574800"/>
            <a:chOff x="9321800" y="7213600"/>
            <a:chExt cx="1752600" cy="1574800"/>
          </a:xfrm>
        </p:grpSpPr>
        <p:pic>
          <p:nvPicPr>
            <p:cNvPr id="17" name="object 17"/>
            <p:cNvPicPr/>
            <p:nvPr/>
          </p:nvPicPr>
          <p:blipFill>
            <a:blip r:embed="rId12" cstate="print"/>
            <a:stretch>
              <a:fillRect/>
            </a:stretch>
          </p:blipFill>
          <p:spPr>
            <a:xfrm>
              <a:off x="10706100" y="7213600"/>
              <a:ext cx="139700" cy="736600"/>
            </a:xfrm>
            <a:prstGeom prst="rect">
              <a:avLst/>
            </a:prstGeom>
          </p:spPr>
        </p:pic>
        <p:pic>
          <p:nvPicPr>
            <p:cNvPr id="18" name="object 18"/>
            <p:cNvPicPr/>
            <p:nvPr/>
          </p:nvPicPr>
          <p:blipFill>
            <a:blip r:embed="rId13" cstate="print"/>
            <a:stretch>
              <a:fillRect/>
            </a:stretch>
          </p:blipFill>
          <p:spPr>
            <a:xfrm>
              <a:off x="9321800" y="7950200"/>
              <a:ext cx="1752600" cy="838200"/>
            </a:xfrm>
            <a:prstGeom prst="rect">
              <a:avLst/>
            </a:prstGeom>
          </p:spPr>
        </p:pic>
      </p:grpSp>
      <p:pic>
        <p:nvPicPr>
          <p:cNvPr id="19" name="object 19"/>
          <p:cNvPicPr/>
          <p:nvPr/>
        </p:nvPicPr>
        <p:blipFill>
          <a:blip r:embed="rId14" cstate="print"/>
          <a:stretch>
            <a:fillRect/>
          </a:stretch>
        </p:blipFill>
        <p:spPr>
          <a:xfrm>
            <a:off x="14630400" y="8636000"/>
            <a:ext cx="1231900" cy="127000"/>
          </a:xfrm>
          <a:prstGeom prst="rect">
            <a:avLst/>
          </a:prstGeom>
        </p:spPr>
      </p:pic>
      <p:pic>
        <p:nvPicPr>
          <p:cNvPr id="20" name="object 20"/>
          <p:cNvPicPr/>
          <p:nvPr/>
        </p:nvPicPr>
        <p:blipFill>
          <a:blip r:embed="rId15" cstate="print"/>
          <a:stretch>
            <a:fillRect/>
          </a:stretch>
        </p:blipFill>
        <p:spPr>
          <a:xfrm>
            <a:off x="15925800" y="7048500"/>
            <a:ext cx="419100" cy="939800"/>
          </a:xfrm>
          <a:prstGeom prst="rect">
            <a:avLst/>
          </a:prstGeom>
        </p:spPr>
      </p:pic>
      <p:grpSp>
        <p:nvGrpSpPr>
          <p:cNvPr id="21" name="object 21"/>
          <p:cNvGrpSpPr/>
          <p:nvPr/>
        </p:nvGrpSpPr>
        <p:grpSpPr>
          <a:xfrm>
            <a:off x="9055100" y="6400800"/>
            <a:ext cx="2095500" cy="1168400"/>
            <a:chOff x="9055100" y="6400800"/>
            <a:chExt cx="2095500" cy="1168400"/>
          </a:xfrm>
        </p:grpSpPr>
        <p:pic>
          <p:nvPicPr>
            <p:cNvPr id="22" name="object 22"/>
            <p:cNvPicPr/>
            <p:nvPr/>
          </p:nvPicPr>
          <p:blipFill>
            <a:blip r:embed="rId16" cstate="print"/>
            <a:stretch>
              <a:fillRect/>
            </a:stretch>
          </p:blipFill>
          <p:spPr>
            <a:xfrm>
              <a:off x="9055100" y="6883400"/>
              <a:ext cx="1143000" cy="685800"/>
            </a:xfrm>
            <a:prstGeom prst="rect">
              <a:avLst/>
            </a:prstGeom>
          </p:spPr>
        </p:pic>
        <p:pic>
          <p:nvPicPr>
            <p:cNvPr id="23" name="object 23"/>
            <p:cNvPicPr/>
            <p:nvPr/>
          </p:nvPicPr>
          <p:blipFill>
            <a:blip r:embed="rId17" cstate="print"/>
            <a:stretch>
              <a:fillRect/>
            </a:stretch>
          </p:blipFill>
          <p:spPr>
            <a:xfrm>
              <a:off x="9931400" y="6400800"/>
              <a:ext cx="1219200" cy="692150"/>
            </a:xfrm>
            <a:prstGeom prst="rect">
              <a:avLst/>
            </a:prstGeom>
          </p:spPr>
        </p:pic>
      </p:grpSp>
      <p:pic>
        <p:nvPicPr>
          <p:cNvPr id="24" name="object 24"/>
          <p:cNvPicPr/>
          <p:nvPr/>
        </p:nvPicPr>
        <p:blipFill>
          <a:blip r:embed="rId18" cstate="print"/>
          <a:stretch>
            <a:fillRect/>
          </a:stretch>
        </p:blipFill>
        <p:spPr>
          <a:xfrm>
            <a:off x="6413500" y="5664200"/>
            <a:ext cx="2463800" cy="1104900"/>
          </a:xfrm>
          <a:prstGeom prst="rect">
            <a:avLst/>
          </a:prstGeom>
        </p:spPr>
      </p:pic>
      <p:pic>
        <p:nvPicPr>
          <p:cNvPr id="25" name="object 25"/>
          <p:cNvPicPr/>
          <p:nvPr/>
        </p:nvPicPr>
        <p:blipFill>
          <a:blip r:embed="rId19" cstate="print"/>
          <a:stretch>
            <a:fillRect/>
          </a:stretch>
        </p:blipFill>
        <p:spPr>
          <a:xfrm>
            <a:off x="11836400" y="5638800"/>
            <a:ext cx="3860800" cy="1333500"/>
          </a:xfrm>
          <a:prstGeom prst="rect">
            <a:avLst/>
          </a:prstGeom>
        </p:spPr>
      </p:pic>
      <p:sp>
        <p:nvSpPr>
          <p:cNvPr id="26" name="object 26"/>
          <p:cNvSpPr txBox="1">
            <a:spLocks noGrp="1"/>
          </p:cNvSpPr>
          <p:nvPr>
            <p:ph type="title"/>
          </p:nvPr>
        </p:nvSpPr>
        <p:spPr>
          <a:xfrm>
            <a:off x="652160" y="367241"/>
            <a:ext cx="15890875" cy="1390650"/>
          </a:xfrm>
          <a:prstGeom prst="rect">
            <a:avLst/>
          </a:prstGeom>
        </p:spPr>
        <p:txBody>
          <a:bodyPr vert="horz" wrap="square" lIns="0" tIns="13335" rIns="0" bIns="0" rtlCol="0">
            <a:spAutoFit/>
          </a:bodyPr>
          <a:lstStyle/>
          <a:p>
            <a:pPr marL="12700">
              <a:lnSpc>
                <a:spcPct val="100000"/>
              </a:lnSpc>
              <a:spcBef>
                <a:spcPts val="105"/>
              </a:spcBef>
            </a:pPr>
            <a:r>
              <a:rPr sz="8950" spc="-590" dirty="0">
                <a:solidFill>
                  <a:srgbClr val="212121"/>
                </a:solidFill>
                <a:latin typeface="Arial MT"/>
                <a:cs typeface="Arial MT"/>
              </a:rPr>
              <a:t>MECUTIVE</a:t>
            </a:r>
            <a:r>
              <a:rPr sz="8950" spc="-520" dirty="0">
                <a:solidFill>
                  <a:srgbClr val="212121"/>
                </a:solidFill>
                <a:latin typeface="Arial MT"/>
                <a:cs typeface="Arial MT"/>
              </a:rPr>
              <a:t> </a:t>
            </a:r>
            <a:r>
              <a:rPr sz="8950" spc="-915" dirty="0">
                <a:solidFill>
                  <a:srgbClr val="212121"/>
                </a:solidFill>
                <a:latin typeface="Arial MT"/>
                <a:cs typeface="Arial MT"/>
              </a:rPr>
              <a:t>SUMMARY:</a:t>
            </a:r>
            <a:r>
              <a:rPr sz="8950" spc="-15" dirty="0">
                <a:solidFill>
                  <a:srgbClr val="212121"/>
                </a:solidFill>
                <a:latin typeface="Arial MT"/>
                <a:cs typeface="Arial MT"/>
              </a:rPr>
              <a:t> </a:t>
            </a:r>
            <a:r>
              <a:rPr sz="8950" spc="-1065" dirty="0">
                <a:solidFill>
                  <a:srgbClr val="212121"/>
                </a:solidFill>
                <a:latin typeface="Arial MT"/>
                <a:cs typeface="Arial MT"/>
              </a:rPr>
              <a:t>BREAKING</a:t>
            </a:r>
            <a:endParaRPr sz="8950">
              <a:latin typeface="Arial MT"/>
              <a:cs typeface="Arial MT"/>
            </a:endParaRPr>
          </a:p>
        </p:txBody>
      </p:sp>
      <p:sp>
        <p:nvSpPr>
          <p:cNvPr id="27" name="object 27"/>
          <p:cNvSpPr txBox="1"/>
          <p:nvPr/>
        </p:nvSpPr>
        <p:spPr>
          <a:xfrm>
            <a:off x="660788" y="1491897"/>
            <a:ext cx="13274675" cy="1306195"/>
          </a:xfrm>
          <a:prstGeom prst="rect">
            <a:avLst/>
          </a:prstGeom>
        </p:spPr>
        <p:txBody>
          <a:bodyPr vert="horz" wrap="square" lIns="0" tIns="12700" rIns="0" bIns="0" rtlCol="0">
            <a:spAutoFit/>
          </a:bodyPr>
          <a:lstStyle/>
          <a:p>
            <a:pPr marL="12700">
              <a:lnSpc>
                <a:spcPct val="100000"/>
              </a:lnSpc>
              <a:spcBef>
                <a:spcPts val="100"/>
              </a:spcBef>
            </a:pPr>
            <a:r>
              <a:rPr sz="8400" spc="-570" dirty="0">
                <a:solidFill>
                  <a:srgbClr val="212121"/>
                </a:solidFill>
                <a:latin typeface="Arial MT"/>
                <a:cs typeface="Arial MT"/>
              </a:rPr>
              <a:t>THE</a:t>
            </a:r>
            <a:r>
              <a:rPr sz="8400" spc="-785" dirty="0">
                <a:solidFill>
                  <a:srgbClr val="212121"/>
                </a:solidFill>
                <a:latin typeface="Arial MT"/>
                <a:cs typeface="Arial MT"/>
              </a:rPr>
              <a:t> </a:t>
            </a:r>
            <a:r>
              <a:rPr sz="8400" spc="-580" dirty="0">
                <a:solidFill>
                  <a:srgbClr val="212121"/>
                </a:solidFill>
                <a:latin typeface="Arial MT"/>
                <a:cs typeface="Arial MT"/>
              </a:rPr>
              <a:t>GENERATIVEAI</a:t>
            </a:r>
            <a:r>
              <a:rPr sz="8400" spc="610" dirty="0">
                <a:solidFill>
                  <a:srgbClr val="212121"/>
                </a:solidFill>
                <a:latin typeface="Arial MT"/>
                <a:cs typeface="Arial MT"/>
              </a:rPr>
              <a:t> </a:t>
            </a:r>
            <a:r>
              <a:rPr sz="8400" spc="-600" dirty="0">
                <a:solidFill>
                  <a:srgbClr val="212121"/>
                </a:solidFill>
                <a:latin typeface="Arial MT"/>
                <a:cs typeface="Arial MT"/>
              </a:rPr>
              <a:t>CEILING</a:t>
            </a:r>
            <a:endParaRPr sz="8400">
              <a:latin typeface="Arial MT"/>
              <a:cs typeface="Arial MT"/>
            </a:endParaRPr>
          </a:p>
        </p:txBody>
      </p:sp>
      <p:sp>
        <p:nvSpPr>
          <p:cNvPr id="28" name="object 28"/>
          <p:cNvSpPr txBox="1"/>
          <p:nvPr/>
        </p:nvSpPr>
        <p:spPr>
          <a:xfrm>
            <a:off x="701644" y="3031772"/>
            <a:ext cx="4778375" cy="1493520"/>
          </a:xfrm>
          <a:prstGeom prst="rect">
            <a:avLst/>
          </a:prstGeom>
        </p:spPr>
        <p:txBody>
          <a:bodyPr vert="horz" wrap="square" lIns="0" tIns="71120" rIns="0" bIns="0" rtlCol="0">
            <a:spAutoFit/>
          </a:bodyPr>
          <a:lstStyle/>
          <a:p>
            <a:pPr marL="12700" marR="5080" indent="1270">
              <a:lnSpc>
                <a:spcPct val="86800"/>
              </a:lnSpc>
              <a:spcBef>
                <a:spcPts val="560"/>
              </a:spcBef>
            </a:pPr>
            <a:r>
              <a:rPr sz="2750" spc="-370" dirty="0">
                <a:latin typeface="Arial MT"/>
                <a:cs typeface="Arial MT"/>
              </a:rPr>
              <a:t>THE</a:t>
            </a:r>
            <a:r>
              <a:rPr sz="2750" spc="-250" dirty="0">
                <a:latin typeface="Arial MT"/>
                <a:cs typeface="Arial MT"/>
              </a:rPr>
              <a:t> </a:t>
            </a:r>
            <a:r>
              <a:rPr sz="2750" spc="-310" dirty="0">
                <a:latin typeface="Arial MT"/>
                <a:cs typeface="Arial MT"/>
              </a:rPr>
              <a:t>REALITY:</a:t>
            </a:r>
            <a:r>
              <a:rPr sz="2750" spc="-40" dirty="0">
                <a:latin typeface="Arial MT"/>
                <a:cs typeface="Arial MT"/>
              </a:rPr>
              <a:t> </a:t>
            </a:r>
            <a:r>
              <a:rPr sz="2750" spc="-270" dirty="0">
                <a:latin typeface="Arial MT"/>
                <a:cs typeface="Arial MT"/>
              </a:rPr>
              <a:t>Current</a:t>
            </a:r>
            <a:r>
              <a:rPr sz="2750" spc="45" dirty="0">
                <a:latin typeface="Arial MT"/>
                <a:cs typeface="Arial MT"/>
              </a:rPr>
              <a:t> </a:t>
            </a:r>
            <a:r>
              <a:rPr sz="2750" spc="-290" dirty="0">
                <a:latin typeface="Arial MT"/>
                <a:cs typeface="Arial MT"/>
              </a:rPr>
              <a:t>Generative</a:t>
            </a:r>
            <a:r>
              <a:rPr sz="2750" spc="175" dirty="0">
                <a:latin typeface="Arial MT"/>
                <a:cs typeface="Arial MT"/>
              </a:rPr>
              <a:t> </a:t>
            </a:r>
            <a:r>
              <a:rPr sz="2750" spc="-320" dirty="0">
                <a:latin typeface="Arial MT"/>
                <a:cs typeface="Arial MT"/>
              </a:rPr>
              <a:t>AI </a:t>
            </a:r>
            <a:r>
              <a:rPr sz="2600" spc="-130" dirty="0">
                <a:latin typeface="Arial MT"/>
                <a:cs typeface="Arial MT"/>
              </a:rPr>
              <a:t>investments</a:t>
            </a:r>
            <a:r>
              <a:rPr sz="2600" spc="35" dirty="0">
                <a:latin typeface="Arial MT"/>
                <a:cs typeface="Arial MT"/>
              </a:rPr>
              <a:t> </a:t>
            </a:r>
            <a:r>
              <a:rPr sz="2600" spc="-165" dirty="0">
                <a:latin typeface="Arial MT"/>
                <a:cs typeface="Arial MT"/>
              </a:rPr>
              <a:t>(Standard</a:t>
            </a:r>
            <a:r>
              <a:rPr sz="2600" spc="30" dirty="0">
                <a:latin typeface="Arial MT"/>
                <a:cs typeface="Arial MT"/>
              </a:rPr>
              <a:t> </a:t>
            </a:r>
            <a:r>
              <a:rPr sz="2600" spc="-170" dirty="0">
                <a:latin typeface="Arial MT"/>
                <a:cs typeface="Arial MT"/>
              </a:rPr>
              <a:t>Vector</a:t>
            </a:r>
            <a:r>
              <a:rPr sz="2600" spc="-80" dirty="0">
                <a:latin typeface="Arial MT"/>
                <a:cs typeface="Arial MT"/>
              </a:rPr>
              <a:t> </a:t>
            </a:r>
            <a:r>
              <a:rPr sz="2600" spc="-365" dirty="0">
                <a:latin typeface="Arial MT"/>
                <a:cs typeface="Arial MT"/>
              </a:rPr>
              <a:t>RAG) </a:t>
            </a:r>
            <a:r>
              <a:rPr sz="2700" spc="-245" dirty="0">
                <a:latin typeface="Arial MT"/>
                <a:cs typeface="Arial MT"/>
              </a:rPr>
              <a:t>are</a:t>
            </a:r>
            <a:r>
              <a:rPr sz="2700" spc="-15" dirty="0">
                <a:latin typeface="Arial MT"/>
                <a:cs typeface="Arial MT"/>
              </a:rPr>
              <a:t> </a:t>
            </a:r>
            <a:r>
              <a:rPr sz="2700" spc="-125" dirty="0">
                <a:latin typeface="Arial MT"/>
                <a:cs typeface="Arial MT"/>
              </a:rPr>
              <a:t>stalling</a:t>
            </a:r>
            <a:r>
              <a:rPr sz="2700" spc="-25" dirty="0">
                <a:latin typeface="Arial MT"/>
                <a:cs typeface="Arial MT"/>
              </a:rPr>
              <a:t> </a:t>
            </a:r>
            <a:r>
              <a:rPr sz="2700" spc="-220" dirty="0">
                <a:latin typeface="Arial MT"/>
                <a:cs typeface="Arial MT"/>
              </a:rPr>
              <a:t>on</a:t>
            </a:r>
            <a:r>
              <a:rPr sz="2700" spc="-30" dirty="0">
                <a:latin typeface="Arial MT"/>
                <a:cs typeface="Arial MT"/>
              </a:rPr>
              <a:t> </a:t>
            </a:r>
            <a:r>
              <a:rPr sz="2700" spc="-200" dirty="0">
                <a:latin typeface="Arial MT"/>
                <a:cs typeface="Arial MT"/>
              </a:rPr>
              <a:t>complex,</a:t>
            </a:r>
            <a:r>
              <a:rPr sz="2700" spc="5" dirty="0">
                <a:latin typeface="Arial MT"/>
                <a:cs typeface="Arial MT"/>
              </a:rPr>
              <a:t> </a:t>
            </a:r>
            <a:r>
              <a:rPr sz="2700" spc="-25" dirty="0">
                <a:latin typeface="Arial MT"/>
                <a:cs typeface="Arial MT"/>
              </a:rPr>
              <a:t>highly- </a:t>
            </a:r>
            <a:r>
              <a:rPr sz="2600" spc="-114" dirty="0">
                <a:latin typeface="Arial MT"/>
                <a:cs typeface="Arial MT"/>
              </a:rPr>
              <a:t>regulated</a:t>
            </a:r>
            <a:r>
              <a:rPr sz="2600" spc="-70" dirty="0">
                <a:latin typeface="Arial MT"/>
                <a:cs typeface="Arial MT"/>
              </a:rPr>
              <a:t> </a:t>
            </a:r>
            <a:r>
              <a:rPr sz="2600" spc="-110" dirty="0">
                <a:latin typeface="Arial MT"/>
                <a:cs typeface="Arial MT"/>
              </a:rPr>
              <a:t>enterprise</a:t>
            </a:r>
            <a:r>
              <a:rPr sz="2600" spc="-20" dirty="0">
                <a:latin typeface="Arial MT"/>
                <a:cs typeface="Arial MT"/>
              </a:rPr>
              <a:t> </a:t>
            </a:r>
            <a:r>
              <a:rPr sz="2600" spc="-10" dirty="0">
                <a:latin typeface="Arial MT"/>
                <a:cs typeface="Arial MT"/>
              </a:rPr>
              <a:t>data.</a:t>
            </a:r>
            <a:endParaRPr sz="2600">
              <a:latin typeface="Arial MT"/>
              <a:cs typeface="Arial MT"/>
            </a:endParaRPr>
          </a:p>
        </p:txBody>
      </p:sp>
      <p:sp>
        <p:nvSpPr>
          <p:cNvPr id="29" name="object 29"/>
          <p:cNvSpPr txBox="1"/>
          <p:nvPr/>
        </p:nvSpPr>
        <p:spPr>
          <a:xfrm>
            <a:off x="862946" y="5127271"/>
            <a:ext cx="4762500" cy="3656965"/>
          </a:xfrm>
          <a:prstGeom prst="rect">
            <a:avLst/>
          </a:prstGeom>
        </p:spPr>
        <p:txBody>
          <a:bodyPr vert="horz" wrap="square" lIns="0" tIns="15875" rIns="0" bIns="0" rtlCol="0">
            <a:spAutoFit/>
          </a:bodyPr>
          <a:lstStyle/>
          <a:p>
            <a:pPr marL="12700">
              <a:lnSpc>
                <a:spcPts val="14650"/>
              </a:lnSpc>
              <a:spcBef>
                <a:spcPts val="125"/>
              </a:spcBef>
            </a:pPr>
            <a:r>
              <a:rPr sz="12750" spc="-2755" dirty="0">
                <a:solidFill>
                  <a:srgbClr val="B1673F"/>
                </a:solidFill>
                <a:latin typeface="Arial MT"/>
                <a:cs typeface="Arial MT"/>
              </a:rPr>
              <a:t>78.5%</a:t>
            </a:r>
            <a:r>
              <a:rPr sz="12750" spc="35" dirty="0">
                <a:solidFill>
                  <a:srgbClr val="B1673F"/>
                </a:solidFill>
                <a:latin typeface="Arial MT"/>
                <a:cs typeface="Arial MT"/>
              </a:rPr>
              <a:t> </a:t>
            </a:r>
            <a:r>
              <a:rPr sz="12750" spc="-2605" dirty="0">
                <a:solidFill>
                  <a:srgbClr val="3B6789"/>
                </a:solidFill>
                <a:latin typeface="Arial MT"/>
                <a:cs typeface="Arial MT"/>
              </a:rPr>
              <a:t>••••••</a:t>
            </a:r>
            <a:endParaRPr sz="12750" dirty="0">
              <a:latin typeface="Arial MT"/>
              <a:cs typeface="Arial MT"/>
            </a:endParaRPr>
          </a:p>
          <a:p>
            <a:pPr marL="89535">
              <a:lnSpc>
                <a:spcPts val="3970"/>
              </a:lnSpc>
            </a:pPr>
            <a:r>
              <a:rPr sz="3850" spc="-650" dirty="0">
                <a:solidFill>
                  <a:srgbClr val="131313"/>
                </a:solidFill>
                <a:latin typeface="Arial MT"/>
                <a:cs typeface="Arial MT"/>
              </a:rPr>
              <a:t>\I¥IN-</a:t>
            </a:r>
            <a:r>
              <a:rPr sz="3850" spc="-1080" dirty="0">
                <a:solidFill>
                  <a:srgbClr val="131313"/>
                </a:solidFill>
                <a:latin typeface="Arial MT"/>
                <a:cs typeface="Arial MT"/>
              </a:rPr>
              <a:t>RATE</a:t>
            </a:r>
            <a:endParaRPr sz="3850" dirty="0">
              <a:latin typeface="Arial MT"/>
              <a:cs typeface="Arial MT"/>
            </a:endParaRPr>
          </a:p>
          <a:p>
            <a:pPr marL="85725" marR="2333625" indent="-5080">
              <a:lnSpc>
                <a:spcPts val="2300"/>
              </a:lnSpc>
              <a:spcBef>
                <a:spcPts val="790"/>
              </a:spcBef>
            </a:pPr>
            <a:r>
              <a:rPr sz="2050" spc="-114" dirty="0">
                <a:latin typeface="Arial MT"/>
                <a:cs typeface="Arial MT"/>
              </a:rPr>
              <a:t>Unmatched</a:t>
            </a:r>
            <a:r>
              <a:rPr sz="2050" spc="15" dirty="0">
                <a:latin typeface="Arial MT"/>
                <a:cs typeface="Arial MT"/>
              </a:rPr>
              <a:t> </a:t>
            </a:r>
            <a:r>
              <a:rPr sz="2050" spc="-10" dirty="0">
                <a:latin typeface="Arial MT"/>
                <a:cs typeface="Arial MT"/>
              </a:rPr>
              <a:t>precision </a:t>
            </a:r>
            <a:r>
              <a:rPr sz="2050" spc="-140" dirty="0">
                <a:latin typeface="Arial MT"/>
                <a:cs typeface="Arial MT"/>
              </a:rPr>
              <a:t>over</a:t>
            </a:r>
            <a:r>
              <a:rPr sz="2050" spc="-20" dirty="0">
                <a:latin typeface="Arial MT"/>
                <a:cs typeface="Arial MT"/>
              </a:rPr>
              <a:t> </a:t>
            </a:r>
            <a:r>
              <a:rPr sz="2050" spc="-90" dirty="0">
                <a:latin typeface="Arial MT"/>
                <a:cs typeface="Arial MT"/>
              </a:rPr>
              <a:t>standard</a:t>
            </a:r>
            <a:r>
              <a:rPr sz="2050" spc="-5" dirty="0">
                <a:latin typeface="Arial MT"/>
                <a:cs typeface="Arial MT"/>
              </a:rPr>
              <a:t> </a:t>
            </a:r>
            <a:r>
              <a:rPr sz="2050" spc="-10" dirty="0">
                <a:latin typeface="Arial MT"/>
                <a:cs typeface="Arial MT"/>
              </a:rPr>
              <a:t>dense </a:t>
            </a:r>
            <a:r>
              <a:rPr sz="2050" spc="-95" dirty="0">
                <a:latin typeface="Arial MT"/>
                <a:cs typeface="Arial MT"/>
              </a:rPr>
              <a:t>vector</a:t>
            </a:r>
            <a:r>
              <a:rPr sz="2050" dirty="0">
                <a:latin typeface="Arial MT"/>
                <a:cs typeface="Arial MT"/>
              </a:rPr>
              <a:t> </a:t>
            </a:r>
            <a:r>
              <a:rPr sz="2050" spc="-85" dirty="0">
                <a:latin typeface="Arial MT"/>
                <a:cs typeface="Arial MT"/>
              </a:rPr>
              <a:t>retrieval</a:t>
            </a:r>
            <a:r>
              <a:rPr sz="2050" spc="-25" dirty="0">
                <a:latin typeface="Arial MT"/>
                <a:cs typeface="Arial MT"/>
              </a:rPr>
              <a:t> on </a:t>
            </a:r>
            <a:r>
              <a:rPr sz="2050" spc="-100" dirty="0">
                <a:latin typeface="Arial MT"/>
                <a:cs typeface="Arial MT"/>
              </a:rPr>
              <a:t>complex</a:t>
            </a:r>
            <a:r>
              <a:rPr sz="2050" spc="30" dirty="0">
                <a:latin typeface="Arial MT"/>
                <a:cs typeface="Arial MT"/>
              </a:rPr>
              <a:t> </a:t>
            </a:r>
            <a:r>
              <a:rPr sz="2050" spc="-100" dirty="0">
                <a:latin typeface="Arial MT"/>
                <a:cs typeface="Arial MT"/>
              </a:rPr>
              <a:t>legacy</a:t>
            </a:r>
            <a:r>
              <a:rPr sz="2050" spc="-45" dirty="0">
                <a:latin typeface="Arial MT"/>
                <a:cs typeface="Arial MT"/>
              </a:rPr>
              <a:t> </a:t>
            </a:r>
            <a:r>
              <a:rPr sz="2050" spc="-70" dirty="0">
                <a:latin typeface="Arial MT"/>
                <a:cs typeface="Arial MT"/>
              </a:rPr>
              <a:t>tasks.</a:t>
            </a:r>
            <a:endParaRPr sz="2050" dirty="0">
              <a:latin typeface="Arial MT"/>
              <a:cs typeface="Arial MT"/>
            </a:endParaRPr>
          </a:p>
        </p:txBody>
      </p:sp>
      <p:sp>
        <p:nvSpPr>
          <p:cNvPr id="30" name="object 30"/>
          <p:cNvSpPr txBox="1"/>
          <p:nvPr/>
        </p:nvSpPr>
        <p:spPr>
          <a:xfrm>
            <a:off x="6188297" y="3040591"/>
            <a:ext cx="5146040" cy="1474470"/>
          </a:xfrm>
          <a:prstGeom prst="rect">
            <a:avLst/>
          </a:prstGeom>
        </p:spPr>
        <p:txBody>
          <a:bodyPr vert="horz" wrap="square" lIns="0" tIns="63500" rIns="0" bIns="0" rtlCol="0">
            <a:spAutoFit/>
          </a:bodyPr>
          <a:lstStyle/>
          <a:p>
            <a:pPr marL="12700" marR="5080" indent="635">
              <a:lnSpc>
                <a:spcPct val="87800"/>
              </a:lnSpc>
              <a:spcBef>
                <a:spcPts val="500"/>
              </a:spcBef>
            </a:pPr>
            <a:r>
              <a:rPr sz="2700" spc="-310" dirty="0">
                <a:latin typeface="Arial MT"/>
                <a:cs typeface="Arial MT"/>
              </a:rPr>
              <a:t>THE</a:t>
            </a:r>
            <a:r>
              <a:rPr sz="2700" spc="-325" dirty="0">
                <a:latin typeface="Arial MT"/>
                <a:cs typeface="Arial MT"/>
              </a:rPr>
              <a:t> </a:t>
            </a:r>
            <a:r>
              <a:rPr sz="2700" spc="-310" dirty="0">
                <a:latin typeface="Arial MT"/>
                <a:cs typeface="Arial MT"/>
              </a:rPr>
              <a:t>INTERVENTION:</a:t>
            </a:r>
            <a:r>
              <a:rPr sz="2700" spc="155" dirty="0">
                <a:latin typeface="Arial MT"/>
                <a:cs typeface="Arial MT"/>
              </a:rPr>
              <a:t> </a:t>
            </a:r>
            <a:r>
              <a:rPr sz="2700" spc="-275" dirty="0">
                <a:latin typeface="Arial MT"/>
                <a:cs typeface="Arial MT"/>
              </a:rPr>
              <a:t>Graph-</a:t>
            </a:r>
            <a:r>
              <a:rPr sz="2700" spc="-295" dirty="0">
                <a:latin typeface="Arial MT"/>
                <a:cs typeface="Arial MT"/>
              </a:rPr>
              <a:t>based </a:t>
            </a:r>
            <a:r>
              <a:rPr sz="2550" spc="-165" dirty="0">
                <a:latin typeface="Arial MT"/>
                <a:cs typeface="Arial MT"/>
              </a:rPr>
              <a:t>Retrieval</a:t>
            </a:r>
            <a:r>
              <a:rPr sz="2550" spc="50" dirty="0">
                <a:latin typeface="Arial MT"/>
                <a:cs typeface="Arial MT"/>
              </a:rPr>
              <a:t> </a:t>
            </a:r>
            <a:r>
              <a:rPr sz="2550" spc="-65" dirty="0">
                <a:latin typeface="Arial MT"/>
                <a:cs typeface="Arial MT"/>
              </a:rPr>
              <a:t>is</a:t>
            </a:r>
            <a:r>
              <a:rPr sz="2550" spc="-114" dirty="0">
                <a:latin typeface="Arial MT"/>
                <a:cs typeface="Arial MT"/>
              </a:rPr>
              <a:t> </a:t>
            </a:r>
            <a:r>
              <a:rPr sz="2550" spc="-105" dirty="0">
                <a:latin typeface="Arial MT"/>
                <a:cs typeface="Arial MT"/>
              </a:rPr>
              <a:t>the</a:t>
            </a:r>
            <a:r>
              <a:rPr sz="2550" spc="-120" dirty="0">
                <a:latin typeface="Arial MT"/>
                <a:cs typeface="Arial MT"/>
              </a:rPr>
              <a:t> </a:t>
            </a:r>
            <a:r>
              <a:rPr sz="2550" spc="-165" dirty="0">
                <a:latin typeface="Arial MT"/>
                <a:cs typeface="Arial MT"/>
              </a:rPr>
              <a:t>proven</a:t>
            </a:r>
            <a:r>
              <a:rPr sz="2550" spc="25" dirty="0">
                <a:latin typeface="Arial MT"/>
                <a:cs typeface="Arial MT"/>
              </a:rPr>
              <a:t> </a:t>
            </a:r>
            <a:r>
              <a:rPr sz="2550" spc="-90" dirty="0">
                <a:latin typeface="Arial MT"/>
                <a:cs typeface="Arial MT"/>
              </a:rPr>
              <a:t>solution</a:t>
            </a:r>
            <a:r>
              <a:rPr sz="2550" spc="-40" dirty="0">
                <a:latin typeface="Arial MT"/>
                <a:cs typeface="Arial MT"/>
              </a:rPr>
              <a:t> </a:t>
            </a:r>
            <a:r>
              <a:rPr sz="2550" spc="-25" dirty="0">
                <a:latin typeface="Arial MT"/>
                <a:cs typeface="Arial MT"/>
              </a:rPr>
              <a:t>to </a:t>
            </a:r>
            <a:r>
              <a:rPr sz="2700" spc="-190" dirty="0">
                <a:latin typeface="Arial MT"/>
                <a:cs typeface="Arial MT"/>
              </a:rPr>
              <a:t>unlock</a:t>
            </a:r>
            <a:r>
              <a:rPr sz="2700" spc="-55" dirty="0">
                <a:latin typeface="Arial MT"/>
                <a:cs typeface="Arial MT"/>
              </a:rPr>
              <a:t> </a:t>
            </a:r>
            <a:r>
              <a:rPr sz="2700" spc="-155" dirty="0">
                <a:latin typeface="Arial MT"/>
                <a:cs typeface="Arial MT"/>
              </a:rPr>
              <a:t>multi-</a:t>
            </a:r>
            <a:r>
              <a:rPr sz="2700" spc="-204" dirty="0">
                <a:latin typeface="Arial MT"/>
                <a:cs typeface="Arial MT"/>
              </a:rPr>
              <a:t>hop</a:t>
            </a:r>
            <a:r>
              <a:rPr sz="2700" dirty="0">
                <a:latin typeface="Arial MT"/>
                <a:cs typeface="Arial MT"/>
              </a:rPr>
              <a:t> </a:t>
            </a:r>
            <a:r>
              <a:rPr sz="2700" spc="-220" dirty="0">
                <a:latin typeface="Arial MT"/>
                <a:cs typeface="Arial MT"/>
              </a:rPr>
              <a:t>reasoning,</a:t>
            </a:r>
            <a:r>
              <a:rPr sz="2700" spc="100" dirty="0">
                <a:latin typeface="Arial MT"/>
                <a:cs typeface="Arial MT"/>
              </a:rPr>
              <a:t> </a:t>
            </a:r>
            <a:r>
              <a:rPr sz="2700" spc="-120" dirty="0">
                <a:latin typeface="Arial MT"/>
                <a:cs typeface="Arial MT"/>
              </a:rPr>
              <a:t>guarantee </a:t>
            </a:r>
            <a:r>
              <a:rPr sz="2500" spc="-145" dirty="0">
                <a:latin typeface="Arial MT"/>
                <a:cs typeface="Arial MT"/>
              </a:rPr>
              <a:t>compliance,</a:t>
            </a:r>
            <a:r>
              <a:rPr sz="2500" spc="15" dirty="0">
                <a:latin typeface="Arial MT"/>
                <a:cs typeface="Arial MT"/>
              </a:rPr>
              <a:t> </a:t>
            </a:r>
            <a:r>
              <a:rPr sz="2500" spc="-220" dirty="0">
                <a:latin typeface="Arial MT"/>
                <a:cs typeface="Arial MT"/>
              </a:rPr>
              <a:t>and</a:t>
            </a:r>
            <a:r>
              <a:rPr sz="2500" spc="-114" dirty="0">
                <a:latin typeface="Arial MT"/>
                <a:cs typeface="Arial MT"/>
              </a:rPr>
              <a:t> </a:t>
            </a:r>
            <a:r>
              <a:rPr sz="2500" spc="-180" dirty="0">
                <a:latin typeface="Arial MT"/>
                <a:cs typeface="Arial MT"/>
              </a:rPr>
              <a:t>reduce</a:t>
            </a:r>
            <a:r>
              <a:rPr sz="2500" spc="5" dirty="0">
                <a:latin typeface="Arial MT"/>
                <a:cs typeface="Arial MT"/>
              </a:rPr>
              <a:t> </a:t>
            </a:r>
            <a:r>
              <a:rPr sz="2500" spc="-125" dirty="0">
                <a:latin typeface="Arial MT"/>
                <a:cs typeface="Arial MT"/>
              </a:rPr>
              <a:t>resolution</a:t>
            </a:r>
            <a:r>
              <a:rPr sz="2500" spc="45" dirty="0">
                <a:latin typeface="Arial MT"/>
                <a:cs typeface="Arial MT"/>
              </a:rPr>
              <a:t> </a:t>
            </a:r>
            <a:r>
              <a:rPr sz="2500" spc="-95" dirty="0">
                <a:latin typeface="Arial MT"/>
                <a:cs typeface="Arial MT"/>
              </a:rPr>
              <a:t>times.</a:t>
            </a:r>
            <a:endParaRPr sz="2500">
              <a:latin typeface="Arial MT"/>
              <a:cs typeface="Arial MT"/>
            </a:endParaRPr>
          </a:p>
        </p:txBody>
      </p:sp>
      <p:sp>
        <p:nvSpPr>
          <p:cNvPr id="31" name="object 31"/>
          <p:cNvSpPr txBox="1"/>
          <p:nvPr/>
        </p:nvSpPr>
        <p:spPr>
          <a:xfrm>
            <a:off x="6345504" y="6776108"/>
            <a:ext cx="2439670" cy="2004695"/>
          </a:xfrm>
          <a:prstGeom prst="rect">
            <a:avLst/>
          </a:prstGeom>
        </p:spPr>
        <p:txBody>
          <a:bodyPr vert="horz" wrap="square" lIns="0" tIns="145415" rIns="0" bIns="0" rtlCol="0">
            <a:spAutoFit/>
          </a:bodyPr>
          <a:lstStyle/>
          <a:p>
            <a:pPr marL="30480">
              <a:lnSpc>
                <a:spcPct val="100000"/>
              </a:lnSpc>
              <a:spcBef>
                <a:spcPts val="1145"/>
              </a:spcBef>
            </a:pPr>
            <a:r>
              <a:rPr sz="3850" spc="-850" dirty="0">
                <a:solidFill>
                  <a:srgbClr val="131313"/>
                </a:solidFill>
                <a:latin typeface="Arial MT"/>
                <a:cs typeface="Arial MT"/>
              </a:rPr>
              <a:t>AUBITABILITY</a:t>
            </a:r>
            <a:endParaRPr sz="3850">
              <a:latin typeface="Arial MT"/>
              <a:cs typeface="Arial MT"/>
            </a:endParaRPr>
          </a:p>
          <a:p>
            <a:pPr marL="12700" marR="5080" indent="11430">
              <a:lnSpc>
                <a:spcPts val="2300"/>
              </a:lnSpc>
              <a:spcBef>
                <a:spcPts val="790"/>
              </a:spcBef>
            </a:pPr>
            <a:r>
              <a:rPr sz="2050" spc="-90" dirty="0">
                <a:latin typeface="Arial MT"/>
                <a:cs typeface="Arial MT"/>
              </a:rPr>
              <a:t>Zero-</a:t>
            </a:r>
            <a:r>
              <a:rPr sz="2050" spc="-10" dirty="0">
                <a:latin typeface="Arial MT"/>
                <a:cs typeface="Arial MT"/>
              </a:rPr>
              <a:t>hallucination, </a:t>
            </a:r>
            <a:r>
              <a:rPr sz="2000" spc="-55" dirty="0">
                <a:latin typeface="Arial MT"/>
                <a:cs typeface="Arial MT"/>
              </a:rPr>
              <a:t>transparent</a:t>
            </a:r>
            <a:r>
              <a:rPr sz="2000" dirty="0">
                <a:latin typeface="Arial MT"/>
                <a:cs typeface="Arial MT"/>
              </a:rPr>
              <a:t> </a:t>
            </a:r>
            <a:r>
              <a:rPr sz="2000" spc="-10" dirty="0">
                <a:latin typeface="Arial MT"/>
                <a:cs typeface="Arial MT"/>
              </a:rPr>
              <a:t>source </a:t>
            </a:r>
            <a:r>
              <a:rPr sz="2000" spc="-30" dirty="0">
                <a:latin typeface="Arial MT"/>
                <a:cs typeface="Arial MT"/>
              </a:rPr>
              <a:t>tracing</a:t>
            </a:r>
            <a:r>
              <a:rPr sz="2000" spc="-75" dirty="0">
                <a:latin typeface="Arial MT"/>
                <a:cs typeface="Arial MT"/>
              </a:rPr>
              <a:t> </a:t>
            </a:r>
            <a:r>
              <a:rPr sz="2000" dirty="0">
                <a:latin typeface="Arial MT"/>
                <a:cs typeface="Arial MT"/>
              </a:rPr>
              <a:t>for</a:t>
            </a:r>
            <a:r>
              <a:rPr sz="2000" spc="-55" dirty="0">
                <a:latin typeface="Arial MT"/>
                <a:cs typeface="Arial MT"/>
              </a:rPr>
              <a:t> </a:t>
            </a:r>
            <a:r>
              <a:rPr sz="2000" spc="-10" dirty="0">
                <a:latin typeface="Arial MT"/>
                <a:cs typeface="Arial MT"/>
              </a:rPr>
              <a:t>strict </a:t>
            </a:r>
            <a:r>
              <a:rPr sz="1950" spc="-30" dirty="0">
                <a:latin typeface="Arial MT"/>
                <a:cs typeface="Arial MT"/>
              </a:rPr>
              <a:t>regulatory </a:t>
            </a:r>
            <a:r>
              <a:rPr sz="1950" spc="-40" dirty="0">
                <a:latin typeface="Arial MT"/>
                <a:cs typeface="Arial MT"/>
              </a:rPr>
              <a:t>compliance.</a:t>
            </a:r>
            <a:endParaRPr sz="1950">
              <a:latin typeface="Arial MT"/>
              <a:cs typeface="Arial MT"/>
            </a:endParaRPr>
          </a:p>
        </p:txBody>
      </p:sp>
      <p:sp>
        <p:nvSpPr>
          <p:cNvPr id="32" name="object 32"/>
          <p:cNvSpPr txBox="1"/>
          <p:nvPr/>
        </p:nvSpPr>
        <p:spPr>
          <a:xfrm>
            <a:off x="11740988" y="3014133"/>
            <a:ext cx="4938395" cy="1168400"/>
          </a:xfrm>
          <a:prstGeom prst="rect">
            <a:avLst/>
          </a:prstGeom>
        </p:spPr>
        <p:txBody>
          <a:bodyPr vert="horz" wrap="square" lIns="0" tIns="107314" rIns="0" bIns="0" rtlCol="0">
            <a:spAutoFit/>
          </a:bodyPr>
          <a:lstStyle/>
          <a:p>
            <a:pPr marL="12700" marR="5080" indent="10160">
              <a:lnSpc>
                <a:spcPct val="79000"/>
              </a:lnSpc>
              <a:spcBef>
                <a:spcPts val="844"/>
              </a:spcBef>
            </a:pPr>
            <a:r>
              <a:rPr sz="2900" spc="-490" dirty="0">
                <a:latin typeface="Arial MT"/>
                <a:cs typeface="Arial MT"/>
              </a:rPr>
              <a:t>THE</a:t>
            </a:r>
            <a:r>
              <a:rPr sz="2900" spc="-245" dirty="0">
                <a:latin typeface="Arial MT"/>
                <a:cs typeface="Arial MT"/>
              </a:rPr>
              <a:t> </a:t>
            </a:r>
            <a:r>
              <a:rPr sz="2900" spc="-445" dirty="0">
                <a:latin typeface="Arial MT"/>
                <a:cs typeface="Arial MT"/>
              </a:rPr>
              <a:t>OBJECTIVE:</a:t>
            </a:r>
            <a:r>
              <a:rPr sz="2900" spc="135" dirty="0">
                <a:latin typeface="Arial MT"/>
                <a:cs typeface="Arial MT"/>
              </a:rPr>
              <a:t> </a:t>
            </a:r>
            <a:r>
              <a:rPr sz="2900" spc="-390" dirty="0">
                <a:latin typeface="Arial MT"/>
                <a:cs typeface="Arial MT"/>
              </a:rPr>
              <a:t>Secure</a:t>
            </a:r>
            <a:r>
              <a:rPr sz="2900" spc="15" dirty="0">
                <a:latin typeface="Arial MT"/>
                <a:cs typeface="Arial MT"/>
              </a:rPr>
              <a:t> </a:t>
            </a:r>
            <a:r>
              <a:rPr sz="2900" spc="-315" dirty="0">
                <a:latin typeface="Arial MT"/>
                <a:cs typeface="Arial MT"/>
              </a:rPr>
              <a:t>sponsorship </a:t>
            </a:r>
            <a:r>
              <a:rPr sz="2900" spc="-180" dirty="0">
                <a:latin typeface="Arial MT"/>
                <a:cs typeface="Arial MT"/>
              </a:rPr>
              <a:t>to</a:t>
            </a:r>
            <a:r>
              <a:rPr sz="2900" spc="-114" dirty="0">
                <a:latin typeface="Arial MT"/>
                <a:cs typeface="Arial MT"/>
              </a:rPr>
              <a:t> </a:t>
            </a:r>
            <a:r>
              <a:rPr sz="2900" spc="-320" dirty="0">
                <a:latin typeface="Arial MT"/>
                <a:cs typeface="Arial MT"/>
              </a:rPr>
              <a:t>scale</a:t>
            </a:r>
            <a:r>
              <a:rPr sz="2900" spc="-25" dirty="0">
                <a:latin typeface="Arial MT"/>
                <a:cs typeface="Arial MT"/>
              </a:rPr>
              <a:t> </a:t>
            </a:r>
            <a:r>
              <a:rPr sz="2900" spc="-325" dirty="0">
                <a:latin typeface="Arial MT"/>
                <a:cs typeface="Arial MT"/>
              </a:rPr>
              <a:t>our</a:t>
            </a:r>
            <a:r>
              <a:rPr sz="2900" spc="-120" dirty="0">
                <a:latin typeface="Arial MT"/>
                <a:cs typeface="Arial MT"/>
              </a:rPr>
              <a:t> </a:t>
            </a:r>
            <a:r>
              <a:rPr sz="2900" spc="-280" dirty="0">
                <a:latin typeface="Arial MT"/>
                <a:cs typeface="Arial MT"/>
              </a:rPr>
              <a:t>hybrid,</a:t>
            </a:r>
            <a:r>
              <a:rPr sz="2900" spc="-120" dirty="0">
                <a:latin typeface="Arial MT"/>
                <a:cs typeface="Arial MT"/>
              </a:rPr>
              <a:t> </a:t>
            </a:r>
            <a:r>
              <a:rPr sz="2900" spc="-240" dirty="0">
                <a:latin typeface="Arial MT"/>
                <a:cs typeface="Arial MT"/>
              </a:rPr>
              <a:t>cost-</a:t>
            </a:r>
            <a:r>
              <a:rPr sz="2900" spc="-265" dirty="0">
                <a:latin typeface="Arial MT"/>
                <a:cs typeface="Arial MT"/>
              </a:rPr>
              <a:t>optimized </a:t>
            </a:r>
            <a:r>
              <a:rPr sz="2900" spc="-509" dirty="0">
                <a:latin typeface="Arial MT"/>
                <a:cs typeface="Arial MT"/>
              </a:rPr>
              <a:t>GraphRAG</a:t>
            </a:r>
            <a:r>
              <a:rPr sz="2900" spc="175" dirty="0">
                <a:latin typeface="Arial MT"/>
                <a:cs typeface="Arial MT"/>
              </a:rPr>
              <a:t> </a:t>
            </a:r>
            <a:r>
              <a:rPr sz="2900" spc="-320" dirty="0">
                <a:latin typeface="Arial MT"/>
                <a:cs typeface="Arial MT"/>
              </a:rPr>
              <a:t>framework.</a:t>
            </a:r>
            <a:endParaRPr sz="2900">
              <a:latin typeface="Arial MT"/>
              <a:cs typeface="Arial MT"/>
            </a:endParaRPr>
          </a:p>
        </p:txBody>
      </p:sp>
      <p:sp>
        <p:nvSpPr>
          <p:cNvPr id="33" name="object 33"/>
          <p:cNvSpPr txBox="1"/>
          <p:nvPr/>
        </p:nvSpPr>
        <p:spPr>
          <a:xfrm>
            <a:off x="11761437" y="6783975"/>
            <a:ext cx="2581275" cy="2000250"/>
          </a:xfrm>
          <a:prstGeom prst="rect">
            <a:avLst/>
          </a:prstGeom>
        </p:spPr>
        <p:txBody>
          <a:bodyPr vert="horz" wrap="square" lIns="0" tIns="143510" rIns="0" bIns="0" rtlCol="0">
            <a:spAutoFit/>
          </a:bodyPr>
          <a:lstStyle/>
          <a:p>
            <a:pPr marL="12700">
              <a:lnSpc>
                <a:spcPct val="100000"/>
              </a:lnSpc>
              <a:spcBef>
                <a:spcPts val="1130"/>
              </a:spcBef>
            </a:pPr>
            <a:r>
              <a:rPr sz="3800" spc="-965" dirty="0">
                <a:solidFill>
                  <a:srgbClr val="161616"/>
                </a:solidFill>
                <a:latin typeface="Arial MT"/>
                <a:cs typeface="Arial MT"/>
              </a:rPr>
              <a:t>COSTREBUCTIßN</a:t>
            </a:r>
            <a:endParaRPr sz="3800">
              <a:latin typeface="Arial MT"/>
              <a:cs typeface="Arial MT"/>
            </a:endParaRPr>
          </a:p>
          <a:p>
            <a:pPr marL="16510" marR="32384" indent="-1270">
              <a:lnSpc>
                <a:spcPts val="2300"/>
              </a:lnSpc>
              <a:spcBef>
                <a:spcPts val="800"/>
              </a:spcBef>
            </a:pPr>
            <a:r>
              <a:rPr sz="2050" spc="-125" dirty="0">
                <a:latin typeface="Arial MT"/>
                <a:cs typeface="Arial MT"/>
              </a:rPr>
              <a:t>Using</a:t>
            </a:r>
            <a:r>
              <a:rPr sz="2050" spc="-40" dirty="0">
                <a:latin typeface="Arial MT"/>
                <a:cs typeface="Arial MT"/>
              </a:rPr>
              <a:t> </a:t>
            </a:r>
            <a:r>
              <a:rPr sz="2050" spc="-85" dirty="0">
                <a:latin typeface="Arial MT"/>
                <a:cs typeface="Arial MT"/>
              </a:rPr>
              <a:t>hybrid</a:t>
            </a:r>
            <a:r>
              <a:rPr sz="2050" spc="-5" dirty="0">
                <a:latin typeface="Arial MT"/>
                <a:cs typeface="Arial MT"/>
              </a:rPr>
              <a:t> </a:t>
            </a:r>
            <a:r>
              <a:rPr sz="2050" spc="-10" dirty="0">
                <a:latin typeface="Arial MT"/>
                <a:cs typeface="Arial MT"/>
              </a:rPr>
              <a:t>classical </a:t>
            </a:r>
            <a:r>
              <a:rPr sz="2050" spc="-195" dirty="0">
                <a:latin typeface="Arial MT"/>
                <a:cs typeface="Arial MT"/>
              </a:rPr>
              <a:t>NLP</a:t>
            </a:r>
            <a:r>
              <a:rPr sz="2050" spc="-30" dirty="0">
                <a:latin typeface="Arial MT"/>
                <a:cs typeface="Arial MT"/>
              </a:rPr>
              <a:t> </a:t>
            </a:r>
            <a:r>
              <a:rPr sz="2050" spc="-65" dirty="0">
                <a:latin typeface="Arial MT"/>
                <a:cs typeface="Arial MT"/>
              </a:rPr>
              <a:t>extraction</a:t>
            </a:r>
            <a:r>
              <a:rPr sz="2050" spc="-40" dirty="0">
                <a:latin typeface="Arial MT"/>
                <a:cs typeface="Arial MT"/>
              </a:rPr>
              <a:t> </a:t>
            </a:r>
            <a:r>
              <a:rPr sz="2050" spc="-35" dirty="0">
                <a:latin typeface="Arial MT"/>
                <a:cs typeface="Arial MT"/>
              </a:rPr>
              <a:t>to </a:t>
            </a:r>
            <a:r>
              <a:rPr sz="2050" spc="-114" dirty="0">
                <a:latin typeface="Arial MT"/>
                <a:cs typeface="Arial MT"/>
              </a:rPr>
              <a:t>bypass</a:t>
            </a:r>
            <a:r>
              <a:rPr sz="2050" spc="5" dirty="0">
                <a:latin typeface="Arial MT"/>
                <a:cs typeface="Arial MT"/>
              </a:rPr>
              <a:t> </a:t>
            </a:r>
            <a:r>
              <a:rPr sz="2050" spc="-110" dirty="0">
                <a:latin typeface="Arial MT"/>
                <a:cs typeface="Arial MT"/>
              </a:rPr>
              <a:t>massive</a:t>
            </a:r>
            <a:r>
              <a:rPr sz="2050" spc="-10" dirty="0">
                <a:latin typeface="Arial MT"/>
                <a:cs typeface="Arial MT"/>
              </a:rPr>
              <a:t> </a:t>
            </a:r>
            <a:r>
              <a:rPr sz="2050" spc="-25" dirty="0">
                <a:latin typeface="Arial MT"/>
                <a:cs typeface="Arial MT"/>
              </a:rPr>
              <a:t>LLM </a:t>
            </a:r>
            <a:r>
              <a:rPr sz="2050" spc="-95" dirty="0">
                <a:latin typeface="Arial MT"/>
                <a:cs typeface="Arial MT"/>
              </a:rPr>
              <a:t>compute</a:t>
            </a:r>
            <a:r>
              <a:rPr sz="2050" spc="-40" dirty="0">
                <a:latin typeface="Arial MT"/>
                <a:cs typeface="Arial MT"/>
              </a:rPr>
              <a:t> </a:t>
            </a:r>
            <a:r>
              <a:rPr sz="2050" spc="-35" dirty="0">
                <a:latin typeface="Arial MT"/>
                <a:cs typeface="Arial MT"/>
              </a:rPr>
              <a:t>costs</a:t>
            </a:r>
            <a:r>
              <a:rPr sz="2050" spc="-105" dirty="0">
                <a:latin typeface="Arial MT"/>
                <a:cs typeface="Arial MT"/>
              </a:rPr>
              <a:t> </a:t>
            </a:r>
            <a:r>
              <a:rPr sz="2050" spc="-45" dirty="0">
                <a:latin typeface="Arial MT"/>
                <a:cs typeface="Arial MT"/>
              </a:rPr>
              <a:t>at</a:t>
            </a:r>
            <a:r>
              <a:rPr sz="2050" spc="-80" dirty="0">
                <a:latin typeface="Arial MT"/>
                <a:cs typeface="Arial MT"/>
              </a:rPr>
              <a:t> scale.</a:t>
            </a:r>
            <a:endParaRPr sz="2050">
              <a:latin typeface="Arial MT"/>
              <a:cs typeface="Arial MT"/>
            </a:endParaRPr>
          </a:p>
        </p:txBody>
      </p:sp>
      <p:sp>
        <p:nvSpPr>
          <p:cNvPr id="34" name="object 34"/>
          <p:cNvSpPr txBox="1"/>
          <p:nvPr/>
        </p:nvSpPr>
        <p:spPr>
          <a:xfrm>
            <a:off x="14640928" y="8455377"/>
            <a:ext cx="1203325" cy="173990"/>
          </a:xfrm>
          <a:prstGeom prst="rect">
            <a:avLst/>
          </a:prstGeom>
        </p:spPr>
        <p:txBody>
          <a:bodyPr vert="horz" wrap="square" lIns="0" tIns="15240" rIns="0" bIns="0" rtlCol="0">
            <a:spAutoFit/>
          </a:bodyPr>
          <a:lstStyle/>
          <a:p>
            <a:pPr marL="12700">
              <a:lnSpc>
                <a:spcPct val="100000"/>
              </a:lnSpc>
              <a:spcBef>
                <a:spcPts val="120"/>
              </a:spcBef>
            </a:pPr>
            <a:r>
              <a:rPr sz="950" dirty="0">
                <a:latin typeface="Arial MT"/>
                <a:cs typeface="Arial MT"/>
              </a:rPr>
              <a:t>tr«</a:t>
            </a:r>
            <a:r>
              <a:rPr sz="950" spc="10" dirty="0">
                <a:latin typeface="Arial MT"/>
                <a:cs typeface="Arial MT"/>
              </a:rPr>
              <a:t> </a:t>
            </a:r>
            <a:r>
              <a:rPr sz="950" dirty="0">
                <a:latin typeface="Arial MT"/>
                <a:cs typeface="Arial MT"/>
              </a:rPr>
              <a:t>@HrstE</a:t>
            </a:r>
            <a:r>
              <a:rPr sz="950" spc="125" dirty="0">
                <a:latin typeface="Arial MT"/>
                <a:cs typeface="Arial MT"/>
              </a:rPr>
              <a:t>  </a:t>
            </a:r>
            <a:r>
              <a:rPr sz="950" spc="-30" dirty="0">
                <a:latin typeface="Arial MT"/>
                <a:cs typeface="Arial MT"/>
              </a:rPr>
              <a:t>Iß9zIc</a:t>
            </a:r>
            <a:r>
              <a:rPr sz="950" spc="-40" dirty="0">
                <a:latin typeface="Arial MT"/>
                <a:cs typeface="Arial MT"/>
              </a:rPr>
              <a:t> </a:t>
            </a:r>
            <a:r>
              <a:rPr sz="950" spc="-25" dirty="0">
                <a:solidFill>
                  <a:srgbClr val="0C0C0C"/>
                </a:solidFill>
                <a:latin typeface="Arial MT"/>
                <a:cs typeface="Arial MT"/>
              </a:rPr>
              <a:t>aP</a:t>
            </a:r>
            <a:endParaRPr sz="950">
              <a:latin typeface="Arial MT"/>
              <a:cs typeface="Arial MT"/>
            </a:endParaRPr>
          </a:p>
        </p:txBody>
      </p:sp>
      <p:sp>
        <p:nvSpPr>
          <p:cNvPr id="35" name="object 35"/>
          <p:cNvSpPr txBox="1"/>
          <p:nvPr/>
        </p:nvSpPr>
        <p:spPr>
          <a:xfrm>
            <a:off x="16124173" y="8455377"/>
            <a:ext cx="296545" cy="173990"/>
          </a:xfrm>
          <a:prstGeom prst="rect">
            <a:avLst/>
          </a:prstGeom>
        </p:spPr>
        <p:txBody>
          <a:bodyPr vert="horz" wrap="square" lIns="0" tIns="15240" rIns="0" bIns="0" rtlCol="0">
            <a:spAutoFit/>
          </a:bodyPr>
          <a:lstStyle/>
          <a:p>
            <a:pPr marL="12700">
              <a:lnSpc>
                <a:spcPct val="100000"/>
              </a:lnSpc>
              <a:spcBef>
                <a:spcPts val="120"/>
              </a:spcBef>
            </a:pPr>
            <a:r>
              <a:rPr sz="950" spc="-10" dirty="0">
                <a:solidFill>
                  <a:srgbClr val="1F1F1F"/>
                </a:solidFill>
                <a:latin typeface="Arial MT"/>
                <a:cs typeface="Arial MT"/>
              </a:rPr>
              <a:t>cfal5</a:t>
            </a:r>
            <a:endParaRPr sz="950">
              <a:latin typeface="Arial MT"/>
              <a:cs typeface="Arial MT"/>
            </a:endParaRPr>
          </a:p>
        </p:txBody>
      </p:sp>
      <p:sp>
        <p:nvSpPr>
          <p:cNvPr id="36" name="object 36"/>
          <p:cNvSpPr txBox="1"/>
          <p:nvPr/>
        </p:nvSpPr>
        <p:spPr>
          <a:xfrm>
            <a:off x="16105975" y="9413522"/>
            <a:ext cx="1230630" cy="258445"/>
          </a:xfrm>
          <a:prstGeom prst="rect">
            <a:avLst/>
          </a:prstGeom>
        </p:spPr>
        <p:txBody>
          <a:bodyPr vert="horz" wrap="square" lIns="0" tIns="15875" rIns="0" bIns="0" rtlCol="0">
            <a:spAutoFit/>
          </a:bodyPr>
          <a:lstStyle/>
          <a:p>
            <a:pPr marL="12700">
              <a:lnSpc>
                <a:spcPct val="100000"/>
              </a:lnSpc>
              <a:spcBef>
                <a:spcPts val="125"/>
              </a:spcBef>
            </a:pPr>
            <a:r>
              <a:rPr sz="1500" spc="65" dirty="0">
                <a:latin typeface="Arial MT"/>
                <a:cs typeface="Arial MT"/>
              </a:rPr>
              <a:t>G</a:t>
            </a:r>
            <a:r>
              <a:rPr sz="1500" spc="204" dirty="0">
                <a:latin typeface="Arial MT"/>
                <a:cs typeface="Arial MT"/>
              </a:rPr>
              <a:t> </a:t>
            </a:r>
            <a:r>
              <a:rPr sz="1500" spc="-90" dirty="0">
                <a:latin typeface="Arial MT"/>
                <a:cs typeface="Arial MT"/>
              </a:rPr>
              <a:t>NotebookLM</a:t>
            </a:r>
            <a:endParaRPr sz="150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1600" y="482600"/>
            <a:ext cx="393700" cy="8775700"/>
          </a:xfrm>
          <a:prstGeom prst="rect">
            <a:avLst/>
          </a:prstGeom>
        </p:spPr>
      </p:pic>
      <p:pic>
        <p:nvPicPr>
          <p:cNvPr id="3" name="object 3"/>
          <p:cNvPicPr/>
          <p:nvPr/>
        </p:nvPicPr>
        <p:blipFill>
          <a:blip r:embed="rId3" cstate="print"/>
          <a:stretch>
            <a:fillRect/>
          </a:stretch>
        </p:blipFill>
        <p:spPr>
          <a:xfrm>
            <a:off x="711200" y="2971800"/>
            <a:ext cx="16052800" cy="6159500"/>
          </a:xfrm>
          <a:prstGeom prst="rect">
            <a:avLst/>
          </a:prstGeom>
        </p:spPr>
      </p:pic>
      <p:pic>
        <p:nvPicPr>
          <p:cNvPr id="4" name="object 4"/>
          <p:cNvPicPr/>
          <p:nvPr/>
        </p:nvPicPr>
        <p:blipFill>
          <a:blip r:embed="rId4" cstate="print"/>
          <a:stretch>
            <a:fillRect/>
          </a:stretch>
        </p:blipFill>
        <p:spPr>
          <a:xfrm>
            <a:off x="5994400" y="1803400"/>
            <a:ext cx="1841500" cy="787400"/>
          </a:xfrm>
          <a:prstGeom prst="rect">
            <a:avLst/>
          </a:prstGeom>
        </p:spPr>
      </p:pic>
      <p:pic>
        <p:nvPicPr>
          <p:cNvPr id="5" name="object 5"/>
          <p:cNvPicPr/>
          <p:nvPr/>
        </p:nvPicPr>
        <p:blipFill>
          <a:blip r:embed="rId5" cstate="print"/>
          <a:stretch>
            <a:fillRect/>
          </a:stretch>
        </p:blipFill>
        <p:spPr>
          <a:xfrm>
            <a:off x="9232900" y="1816100"/>
            <a:ext cx="584200" cy="762000"/>
          </a:xfrm>
          <a:prstGeom prst="rect">
            <a:avLst/>
          </a:prstGeom>
        </p:spPr>
      </p:pic>
      <p:pic>
        <p:nvPicPr>
          <p:cNvPr id="6" name="object 6"/>
          <p:cNvPicPr/>
          <p:nvPr/>
        </p:nvPicPr>
        <p:blipFill>
          <a:blip r:embed="rId6" cstate="print"/>
          <a:stretch>
            <a:fillRect/>
          </a:stretch>
        </p:blipFill>
        <p:spPr>
          <a:xfrm>
            <a:off x="11595100" y="1803400"/>
            <a:ext cx="1257300" cy="787400"/>
          </a:xfrm>
          <a:prstGeom prst="rect">
            <a:avLst/>
          </a:prstGeom>
        </p:spPr>
      </p:pic>
      <p:pic>
        <p:nvPicPr>
          <p:cNvPr id="7" name="object 7"/>
          <p:cNvPicPr/>
          <p:nvPr/>
        </p:nvPicPr>
        <p:blipFill>
          <a:blip r:embed="rId7" cstate="print"/>
          <a:stretch>
            <a:fillRect/>
          </a:stretch>
        </p:blipFill>
        <p:spPr>
          <a:xfrm>
            <a:off x="13093700" y="1816100"/>
            <a:ext cx="673100" cy="762000"/>
          </a:xfrm>
          <a:prstGeom prst="rect">
            <a:avLst/>
          </a:prstGeom>
        </p:spPr>
      </p:pic>
      <p:pic>
        <p:nvPicPr>
          <p:cNvPr id="8" name="object 8"/>
          <p:cNvPicPr/>
          <p:nvPr/>
        </p:nvPicPr>
        <p:blipFill>
          <a:blip r:embed="rId8" cstate="print"/>
          <a:stretch>
            <a:fillRect/>
          </a:stretch>
        </p:blipFill>
        <p:spPr>
          <a:xfrm>
            <a:off x="12052300" y="749300"/>
            <a:ext cx="698500" cy="774700"/>
          </a:xfrm>
          <a:prstGeom prst="rect">
            <a:avLst/>
          </a:prstGeom>
        </p:spPr>
      </p:pic>
      <p:pic>
        <p:nvPicPr>
          <p:cNvPr id="9" name="object 9"/>
          <p:cNvPicPr/>
          <p:nvPr/>
        </p:nvPicPr>
        <p:blipFill>
          <a:blip r:embed="rId9" cstate="print"/>
          <a:stretch>
            <a:fillRect/>
          </a:stretch>
        </p:blipFill>
        <p:spPr>
          <a:xfrm>
            <a:off x="12852400" y="749300"/>
            <a:ext cx="1511300" cy="787400"/>
          </a:xfrm>
          <a:prstGeom prst="rect">
            <a:avLst/>
          </a:prstGeom>
        </p:spPr>
      </p:pic>
      <p:pic>
        <p:nvPicPr>
          <p:cNvPr id="10" name="object 10"/>
          <p:cNvPicPr/>
          <p:nvPr/>
        </p:nvPicPr>
        <p:blipFill>
          <a:blip r:embed="rId10" cstate="print"/>
          <a:stretch>
            <a:fillRect/>
          </a:stretch>
        </p:blipFill>
        <p:spPr>
          <a:xfrm>
            <a:off x="16992600" y="495300"/>
            <a:ext cx="393700" cy="8763000"/>
          </a:xfrm>
          <a:prstGeom prst="rect">
            <a:avLst/>
          </a:prstGeom>
        </p:spPr>
      </p:pic>
      <p:sp>
        <p:nvSpPr>
          <p:cNvPr id="11" name="object 11"/>
          <p:cNvSpPr/>
          <p:nvPr/>
        </p:nvSpPr>
        <p:spPr>
          <a:xfrm>
            <a:off x="685800" y="353483"/>
            <a:ext cx="16133444" cy="0"/>
          </a:xfrm>
          <a:custGeom>
            <a:avLst/>
            <a:gdLst/>
            <a:ahLst/>
            <a:cxnLst/>
            <a:rect l="l" t="t" r="r" b="b"/>
            <a:pathLst>
              <a:path w="16133444">
                <a:moveTo>
                  <a:pt x="0" y="0"/>
                </a:moveTo>
                <a:lnTo>
                  <a:pt x="16133234" y="0"/>
                </a:lnTo>
              </a:path>
            </a:pathLst>
          </a:custGeom>
          <a:ln w="29633">
            <a:solidFill>
              <a:srgbClr val="4B5454"/>
            </a:solidFill>
          </a:ln>
        </p:spPr>
        <p:txBody>
          <a:bodyPr wrap="square" lIns="0" tIns="0" rIns="0" bIns="0" rtlCol="0"/>
          <a:lstStyle/>
          <a:p>
            <a:endParaRPr/>
          </a:p>
        </p:txBody>
      </p:sp>
      <p:pic>
        <p:nvPicPr>
          <p:cNvPr id="12" name="object 12"/>
          <p:cNvPicPr/>
          <p:nvPr/>
        </p:nvPicPr>
        <p:blipFill>
          <a:blip r:embed="rId11" cstate="print"/>
          <a:stretch>
            <a:fillRect/>
          </a:stretch>
        </p:blipFill>
        <p:spPr>
          <a:xfrm>
            <a:off x="190500" y="9359900"/>
            <a:ext cx="292100" cy="304800"/>
          </a:xfrm>
          <a:prstGeom prst="rect">
            <a:avLst/>
          </a:prstGeom>
        </p:spPr>
      </p:pic>
      <p:sp>
        <p:nvSpPr>
          <p:cNvPr id="13" name="object 13"/>
          <p:cNvSpPr txBox="1"/>
          <p:nvPr/>
        </p:nvSpPr>
        <p:spPr>
          <a:xfrm>
            <a:off x="675169" y="437797"/>
            <a:ext cx="11343005" cy="2364105"/>
          </a:xfrm>
          <a:prstGeom prst="rect">
            <a:avLst/>
          </a:prstGeom>
        </p:spPr>
        <p:txBody>
          <a:bodyPr vert="horz" wrap="square" lIns="0" tIns="12700" rIns="0" bIns="0" rtlCol="0">
            <a:spAutoFit/>
          </a:bodyPr>
          <a:lstStyle/>
          <a:p>
            <a:pPr marL="2372995" algn="ctr">
              <a:lnSpc>
                <a:spcPts val="9115"/>
              </a:lnSpc>
              <a:spcBef>
                <a:spcPts val="100"/>
              </a:spcBef>
            </a:pPr>
            <a:r>
              <a:rPr sz="8400" spc="-850" dirty="0">
                <a:solidFill>
                  <a:srgbClr val="16283D"/>
                </a:solidFill>
                <a:latin typeface="Arial MT"/>
                <a:cs typeface="Arial MT"/>
              </a:rPr>
              <a:t>THE</a:t>
            </a:r>
            <a:r>
              <a:rPr sz="8400" spc="-490" dirty="0">
                <a:solidFill>
                  <a:srgbClr val="16283D"/>
                </a:solidFill>
                <a:latin typeface="Arial MT"/>
                <a:cs typeface="Arial MT"/>
              </a:rPr>
              <a:t> </a:t>
            </a:r>
            <a:r>
              <a:rPr sz="8400" spc="-250" dirty="0">
                <a:solidFill>
                  <a:srgbClr val="262626"/>
                </a:solidFill>
                <a:latin typeface="Arial MT"/>
                <a:cs typeface="Arial MT"/>
              </a:rPr>
              <a:t>AI</a:t>
            </a:r>
            <a:r>
              <a:rPr sz="8400" spc="-940" dirty="0">
                <a:solidFill>
                  <a:srgbClr val="262626"/>
                </a:solidFill>
                <a:latin typeface="Arial MT"/>
                <a:cs typeface="Arial MT"/>
              </a:rPr>
              <a:t> </a:t>
            </a:r>
            <a:r>
              <a:rPr sz="8400" spc="-1090" dirty="0">
                <a:solidFill>
                  <a:srgbClr val="16263B"/>
                </a:solidFill>
                <a:latin typeface="Arial MT"/>
                <a:cs typeface="Arial MT"/>
              </a:rPr>
              <a:t>GROWTH</a:t>
            </a:r>
            <a:r>
              <a:rPr sz="8400" spc="-355" dirty="0">
                <a:solidFill>
                  <a:srgbClr val="16263B"/>
                </a:solidFill>
                <a:latin typeface="Arial MT"/>
                <a:cs typeface="Arial MT"/>
              </a:rPr>
              <a:t> </a:t>
            </a:r>
            <a:r>
              <a:rPr sz="8400" spc="-785" dirty="0">
                <a:solidFill>
                  <a:srgbClr val="132438"/>
                </a:solidFill>
                <a:latin typeface="Arial MT"/>
                <a:cs typeface="Arial MT"/>
              </a:rPr>
              <a:t>CEI</a:t>
            </a:r>
            <a:endParaRPr sz="8400">
              <a:latin typeface="Arial MT"/>
              <a:cs typeface="Arial MT"/>
            </a:endParaRPr>
          </a:p>
          <a:p>
            <a:pPr marR="467359" algn="ctr">
              <a:lnSpc>
                <a:spcPts val="9295"/>
              </a:lnSpc>
              <a:tabLst>
                <a:tab pos="7364095" algn="l"/>
                <a:tab pos="9129395" algn="l"/>
              </a:tabLst>
            </a:pPr>
            <a:r>
              <a:rPr sz="8550" spc="-1075" dirty="0">
                <a:solidFill>
                  <a:srgbClr val="2B2B2B"/>
                </a:solidFill>
                <a:latin typeface="Arial MT"/>
                <a:cs typeface="Arial MT"/>
              </a:rPr>
              <a:t>STANDARD</a:t>
            </a:r>
            <a:r>
              <a:rPr sz="8550" dirty="0">
                <a:solidFill>
                  <a:srgbClr val="2B2B2B"/>
                </a:solidFill>
                <a:latin typeface="Arial MT"/>
                <a:cs typeface="Arial MT"/>
              </a:rPr>
              <a:t>	</a:t>
            </a:r>
            <a:r>
              <a:rPr sz="8550" spc="-515" dirty="0">
                <a:solidFill>
                  <a:srgbClr val="232323"/>
                </a:solidFill>
                <a:latin typeface="Arial MT"/>
                <a:cs typeface="Arial MT"/>
              </a:rPr>
              <a:t>IS</a:t>
            </a:r>
            <a:r>
              <a:rPr sz="8550" dirty="0">
                <a:solidFill>
                  <a:srgbClr val="232323"/>
                </a:solidFill>
                <a:latin typeface="Arial MT"/>
                <a:cs typeface="Arial MT"/>
              </a:rPr>
              <a:t>	</a:t>
            </a:r>
            <a:r>
              <a:rPr sz="8550" spc="-490" dirty="0">
                <a:solidFill>
                  <a:srgbClr val="2B2B2B"/>
                </a:solidFill>
                <a:latin typeface="Arial MT"/>
                <a:cs typeface="Arial MT"/>
              </a:rPr>
              <a:t>ITTI</a:t>
            </a:r>
            <a:endParaRPr sz="8550">
              <a:latin typeface="Arial MT"/>
              <a:cs typeface="Arial MT"/>
            </a:endParaRPr>
          </a:p>
        </p:txBody>
      </p:sp>
      <p:sp>
        <p:nvSpPr>
          <p:cNvPr id="14" name="object 14"/>
          <p:cNvSpPr txBox="1"/>
          <p:nvPr/>
        </p:nvSpPr>
        <p:spPr>
          <a:xfrm>
            <a:off x="896388" y="6007452"/>
            <a:ext cx="2173605" cy="777240"/>
          </a:xfrm>
          <a:prstGeom prst="rect">
            <a:avLst/>
          </a:prstGeom>
        </p:spPr>
        <p:txBody>
          <a:bodyPr vert="horz" wrap="square" lIns="0" tIns="128905" rIns="0" bIns="0" rtlCol="0">
            <a:spAutoFit/>
          </a:bodyPr>
          <a:lstStyle/>
          <a:p>
            <a:pPr marL="12700" marR="5080" indent="5715">
              <a:lnSpc>
                <a:spcPct val="73100"/>
              </a:lnSpc>
              <a:spcBef>
                <a:spcPts val="1015"/>
              </a:spcBef>
            </a:pPr>
            <a:r>
              <a:rPr sz="2850" spc="-665" dirty="0">
                <a:solidFill>
                  <a:srgbClr val="111111"/>
                </a:solidFill>
                <a:latin typeface="Arial MT"/>
                <a:cs typeface="Arial MT"/>
              </a:rPr>
              <a:t>ACCURACY</a:t>
            </a:r>
            <a:r>
              <a:rPr sz="2850" spc="-70" dirty="0">
                <a:solidFill>
                  <a:srgbClr val="111111"/>
                </a:solidFill>
                <a:latin typeface="Arial MT"/>
                <a:cs typeface="Arial MT"/>
              </a:rPr>
              <a:t> </a:t>
            </a:r>
            <a:r>
              <a:rPr sz="2850" spc="-700" dirty="0">
                <a:solidFill>
                  <a:srgbClr val="131313"/>
                </a:solidFill>
                <a:latin typeface="Arial MT"/>
                <a:cs typeface="Arial MT"/>
              </a:rPr>
              <a:t>DEDA</a:t>
            </a:r>
            <a:r>
              <a:rPr sz="2850" spc="710" dirty="0">
                <a:solidFill>
                  <a:srgbClr val="131313"/>
                </a:solidFill>
                <a:latin typeface="Arial MT"/>
                <a:cs typeface="Arial MT"/>
              </a:rPr>
              <a:t> </a:t>
            </a:r>
            <a:r>
              <a:rPr sz="2850" spc="-660" dirty="0">
                <a:solidFill>
                  <a:srgbClr val="0F0F0F"/>
                </a:solidFill>
                <a:latin typeface="Arial MT"/>
                <a:cs typeface="Arial MT"/>
              </a:rPr>
              <a:t>CONTEXT</a:t>
            </a:r>
            <a:endParaRPr sz="2850">
              <a:latin typeface="Arial MT"/>
              <a:cs typeface="Arial MT"/>
            </a:endParaRPr>
          </a:p>
        </p:txBody>
      </p:sp>
      <p:sp>
        <p:nvSpPr>
          <p:cNvPr id="15" name="object 15"/>
          <p:cNvSpPr txBox="1"/>
          <p:nvPr/>
        </p:nvSpPr>
        <p:spPr>
          <a:xfrm>
            <a:off x="939444" y="7112352"/>
            <a:ext cx="3170555" cy="459740"/>
          </a:xfrm>
          <a:prstGeom prst="rect">
            <a:avLst/>
          </a:prstGeom>
        </p:spPr>
        <p:txBody>
          <a:bodyPr vert="horz" wrap="square" lIns="0" tIns="12065" rIns="0" bIns="0" rtlCol="0">
            <a:spAutoFit/>
          </a:bodyPr>
          <a:lstStyle/>
          <a:p>
            <a:pPr marL="12700">
              <a:lnSpc>
                <a:spcPct val="100000"/>
              </a:lnSpc>
              <a:spcBef>
                <a:spcPts val="95"/>
              </a:spcBef>
            </a:pPr>
            <a:r>
              <a:rPr sz="2850" spc="-944" dirty="0">
                <a:solidFill>
                  <a:srgbClr val="0F0F0F"/>
                </a:solidFill>
                <a:latin typeface="Arial Black"/>
                <a:cs typeface="Arial Black"/>
              </a:rPr>
              <a:t>ACCURACY</a:t>
            </a:r>
            <a:r>
              <a:rPr sz="2850" spc="-110" dirty="0">
                <a:solidFill>
                  <a:srgbClr val="0F0F0F"/>
                </a:solidFill>
                <a:latin typeface="Arial Black"/>
                <a:cs typeface="Arial Black"/>
              </a:rPr>
              <a:t> </a:t>
            </a:r>
            <a:r>
              <a:rPr sz="2850" spc="-930" dirty="0">
                <a:solidFill>
                  <a:srgbClr val="0E0E0E"/>
                </a:solidFill>
                <a:latin typeface="Arial Black"/>
                <a:cs typeface="Arial Black"/>
              </a:rPr>
              <a:t>DEGRADATION</a:t>
            </a:r>
            <a:endParaRPr sz="2850">
              <a:latin typeface="Arial Black"/>
              <a:cs typeface="Arial Black"/>
            </a:endParaRPr>
          </a:p>
        </p:txBody>
      </p:sp>
      <p:sp>
        <p:nvSpPr>
          <p:cNvPr id="16" name="object 16"/>
          <p:cNvSpPr txBox="1"/>
          <p:nvPr/>
        </p:nvSpPr>
        <p:spPr>
          <a:xfrm>
            <a:off x="932725" y="7429852"/>
            <a:ext cx="1976755" cy="459740"/>
          </a:xfrm>
          <a:prstGeom prst="rect">
            <a:avLst/>
          </a:prstGeom>
        </p:spPr>
        <p:txBody>
          <a:bodyPr vert="horz" wrap="square" lIns="0" tIns="12065" rIns="0" bIns="0" rtlCol="0">
            <a:spAutoFit/>
          </a:bodyPr>
          <a:lstStyle/>
          <a:p>
            <a:pPr marL="12700">
              <a:lnSpc>
                <a:spcPct val="100000"/>
              </a:lnSpc>
              <a:spcBef>
                <a:spcPts val="95"/>
              </a:spcBef>
            </a:pPr>
            <a:r>
              <a:rPr sz="2850" spc="-935" dirty="0">
                <a:latin typeface="Arial Black"/>
                <a:cs typeface="Arial Black"/>
              </a:rPr>
              <a:t>(CONTEXT</a:t>
            </a:r>
            <a:r>
              <a:rPr sz="2850" spc="-85" dirty="0">
                <a:latin typeface="Arial Black"/>
                <a:cs typeface="Arial Black"/>
              </a:rPr>
              <a:t> </a:t>
            </a:r>
            <a:r>
              <a:rPr sz="2850" spc="-885" dirty="0">
                <a:latin typeface="Arial Black"/>
                <a:cs typeface="Arial Black"/>
              </a:rPr>
              <a:t>LOSS)</a:t>
            </a:r>
            <a:endParaRPr sz="2850">
              <a:latin typeface="Arial Black"/>
              <a:cs typeface="Arial Black"/>
            </a:endParaRPr>
          </a:p>
        </p:txBody>
      </p:sp>
      <p:sp>
        <p:nvSpPr>
          <p:cNvPr id="17" name="object 17"/>
          <p:cNvSpPr txBox="1"/>
          <p:nvPr/>
        </p:nvSpPr>
        <p:spPr>
          <a:xfrm>
            <a:off x="929709" y="7843308"/>
            <a:ext cx="3201670" cy="374650"/>
          </a:xfrm>
          <a:prstGeom prst="rect">
            <a:avLst/>
          </a:prstGeom>
        </p:spPr>
        <p:txBody>
          <a:bodyPr vert="horz" wrap="square" lIns="0" tIns="11430" rIns="0" bIns="0" rtlCol="0">
            <a:spAutoFit/>
          </a:bodyPr>
          <a:lstStyle/>
          <a:p>
            <a:pPr marL="12700">
              <a:lnSpc>
                <a:spcPct val="100000"/>
              </a:lnSpc>
              <a:spcBef>
                <a:spcPts val="90"/>
              </a:spcBef>
            </a:pPr>
            <a:r>
              <a:rPr sz="2300" spc="-580" dirty="0">
                <a:latin typeface="Arial Black"/>
                <a:cs typeface="Arial Black"/>
              </a:rPr>
              <a:t>Struggles</a:t>
            </a:r>
            <a:r>
              <a:rPr sz="2300" spc="85" dirty="0">
                <a:latin typeface="Arial Black"/>
                <a:cs typeface="Arial Black"/>
              </a:rPr>
              <a:t> </a:t>
            </a:r>
            <a:r>
              <a:rPr sz="2300" spc="-650" dirty="0">
                <a:latin typeface="Arial Black"/>
                <a:cs typeface="Arial Black"/>
              </a:rPr>
              <a:t>with</a:t>
            </a:r>
            <a:r>
              <a:rPr sz="2300" spc="-195" dirty="0">
                <a:latin typeface="Arial Black"/>
                <a:cs typeface="Arial Black"/>
              </a:rPr>
              <a:t> </a:t>
            </a:r>
            <a:r>
              <a:rPr sz="2300" spc="-585" dirty="0">
                <a:latin typeface="Arial Black"/>
                <a:cs typeface="Arial Black"/>
              </a:rPr>
              <a:t>dense,</a:t>
            </a:r>
            <a:r>
              <a:rPr sz="2300" spc="-120" dirty="0">
                <a:latin typeface="Arial Black"/>
                <a:cs typeface="Arial Black"/>
              </a:rPr>
              <a:t> </a:t>
            </a:r>
            <a:r>
              <a:rPr sz="2300" spc="-570" dirty="0">
                <a:latin typeface="Arial Black"/>
                <a:cs typeface="Arial Black"/>
              </a:rPr>
              <a:t>specialized</a:t>
            </a:r>
            <a:endParaRPr sz="2300">
              <a:latin typeface="Arial Black"/>
              <a:cs typeface="Arial Black"/>
            </a:endParaRPr>
          </a:p>
        </p:txBody>
      </p:sp>
      <p:sp>
        <p:nvSpPr>
          <p:cNvPr id="18" name="object 18"/>
          <p:cNvSpPr txBox="1"/>
          <p:nvPr/>
        </p:nvSpPr>
        <p:spPr>
          <a:xfrm>
            <a:off x="929878" y="8118827"/>
            <a:ext cx="3225800" cy="364490"/>
          </a:xfrm>
          <a:prstGeom prst="rect">
            <a:avLst/>
          </a:prstGeom>
        </p:spPr>
        <p:txBody>
          <a:bodyPr vert="horz" wrap="square" lIns="0" tIns="15240" rIns="0" bIns="0" rtlCol="0">
            <a:spAutoFit/>
          </a:bodyPr>
          <a:lstStyle/>
          <a:p>
            <a:pPr marL="12700">
              <a:lnSpc>
                <a:spcPct val="100000"/>
              </a:lnSpc>
              <a:spcBef>
                <a:spcPts val="120"/>
              </a:spcBef>
            </a:pPr>
            <a:r>
              <a:rPr sz="2200" spc="-500" dirty="0">
                <a:latin typeface="Arial Black"/>
                <a:cs typeface="Arial Black"/>
              </a:rPr>
              <a:t>enterprise</a:t>
            </a:r>
            <a:r>
              <a:rPr sz="2200" spc="-95" dirty="0">
                <a:latin typeface="Arial Black"/>
                <a:cs typeface="Arial Black"/>
              </a:rPr>
              <a:t> </a:t>
            </a:r>
            <a:r>
              <a:rPr sz="2200" spc="-555" dirty="0">
                <a:latin typeface="Arial Black"/>
                <a:cs typeface="Arial Black"/>
              </a:rPr>
              <a:t>data</a:t>
            </a:r>
            <a:r>
              <a:rPr sz="2200" spc="-50" dirty="0">
                <a:latin typeface="Arial Black"/>
                <a:cs typeface="Arial Black"/>
              </a:rPr>
              <a:t> </a:t>
            </a:r>
            <a:r>
              <a:rPr sz="2200" spc="-630" dirty="0">
                <a:latin typeface="Arial Black"/>
                <a:cs typeface="Arial Black"/>
              </a:rPr>
              <a:t>where</a:t>
            </a:r>
            <a:r>
              <a:rPr sz="2200" spc="-65" dirty="0">
                <a:latin typeface="Arial Black"/>
                <a:cs typeface="Arial Black"/>
              </a:rPr>
              <a:t> </a:t>
            </a:r>
            <a:r>
              <a:rPr sz="2200" spc="-595" dirty="0">
                <a:latin typeface="Arial Black"/>
                <a:cs typeface="Arial Black"/>
              </a:rPr>
              <a:t>documents</a:t>
            </a:r>
            <a:endParaRPr sz="2200">
              <a:latin typeface="Arial Black"/>
              <a:cs typeface="Arial Black"/>
            </a:endParaRPr>
          </a:p>
        </p:txBody>
      </p:sp>
      <p:sp>
        <p:nvSpPr>
          <p:cNvPr id="19" name="object 19"/>
          <p:cNvSpPr txBox="1"/>
          <p:nvPr/>
        </p:nvSpPr>
        <p:spPr>
          <a:xfrm>
            <a:off x="932770" y="8398227"/>
            <a:ext cx="2481580" cy="364490"/>
          </a:xfrm>
          <a:prstGeom prst="rect">
            <a:avLst/>
          </a:prstGeom>
        </p:spPr>
        <p:txBody>
          <a:bodyPr vert="horz" wrap="square" lIns="0" tIns="15240" rIns="0" bIns="0" rtlCol="0">
            <a:spAutoFit/>
          </a:bodyPr>
          <a:lstStyle/>
          <a:p>
            <a:pPr marL="12700">
              <a:lnSpc>
                <a:spcPct val="100000"/>
              </a:lnSpc>
              <a:spcBef>
                <a:spcPts val="120"/>
              </a:spcBef>
            </a:pPr>
            <a:r>
              <a:rPr sz="2200" spc="-545" dirty="0">
                <a:latin typeface="Arial Black"/>
                <a:cs typeface="Arial Black"/>
              </a:rPr>
              <a:t>share</a:t>
            </a:r>
            <a:r>
              <a:rPr sz="2200" spc="-180" dirty="0">
                <a:latin typeface="Arial Black"/>
                <a:cs typeface="Arial Black"/>
              </a:rPr>
              <a:t> </a:t>
            </a:r>
            <a:r>
              <a:rPr sz="2200" spc="-484" dirty="0">
                <a:latin typeface="Arial Black"/>
                <a:cs typeface="Arial Black"/>
              </a:rPr>
              <a:t>highly</a:t>
            </a:r>
            <a:r>
              <a:rPr sz="2200" spc="-135" dirty="0">
                <a:latin typeface="Arial Black"/>
                <a:cs typeface="Arial Black"/>
              </a:rPr>
              <a:t> </a:t>
            </a:r>
            <a:r>
              <a:rPr sz="2200" spc="-555" dirty="0">
                <a:latin typeface="Arial Black"/>
                <a:cs typeface="Arial Black"/>
              </a:rPr>
              <a:t>concentrated</a:t>
            </a:r>
            <a:endParaRPr sz="2200">
              <a:latin typeface="Arial Black"/>
              <a:cs typeface="Arial Black"/>
            </a:endParaRPr>
          </a:p>
        </p:txBody>
      </p:sp>
      <p:sp>
        <p:nvSpPr>
          <p:cNvPr id="20" name="object 20"/>
          <p:cNvSpPr txBox="1"/>
          <p:nvPr/>
        </p:nvSpPr>
        <p:spPr>
          <a:xfrm>
            <a:off x="931359" y="8644819"/>
            <a:ext cx="1185545" cy="396240"/>
          </a:xfrm>
          <a:prstGeom prst="rect">
            <a:avLst/>
          </a:prstGeom>
        </p:spPr>
        <p:txBody>
          <a:bodyPr vert="horz" wrap="square" lIns="0" tIns="16510" rIns="0" bIns="0" rtlCol="0">
            <a:spAutoFit/>
          </a:bodyPr>
          <a:lstStyle/>
          <a:p>
            <a:pPr marL="12700">
              <a:lnSpc>
                <a:spcPct val="100000"/>
              </a:lnSpc>
              <a:spcBef>
                <a:spcPts val="130"/>
              </a:spcBef>
            </a:pPr>
            <a:r>
              <a:rPr sz="2400" spc="-625" dirty="0">
                <a:latin typeface="Arial Black"/>
                <a:cs typeface="Arial Black"/>
              </a:rPr>
              <a:t>terminology.</a:t>
            </a:r>
            <a:endParaRPr sz="2400">
              <a:latin typeface="Arial Black"/>
              <a:cs typeface="Arial Black"/>
            </a:endParaRPr>
          </a:p>
        </p:txBody>
      </p:sp>
      <p:sp>
        <p:nvSpPr>
          <p:cNvPr id="21" name="object 21"/>
          <p:cNvSpPr txBox="1"/>
          <p:nvPr/>
        </p:nvSpPr>
        <p:spPr>
          <a:xfrm>
            <a:off x="6716155" y="7137752"/>
            <a:ext cx="2541905" cy="459740"/>
          </a:xfrm>
          <a:prstGeom prst="rect">
            <a:avLst/>
          </a:prstGeom>
        </p:spPr>
        <p:txBody>
          <a:bodyPr vert="horz" wrap="square" lIns="0" tIns="12065" rIns="0" bIns="0" rtlCol="0">
            <a:spAutoFit/>
          </a:bodyPr>
          <a:lstStyle/>
          <a:p>
            <a:pPr marL="12700">
              <a:lnSpc>
                <a:spcPct val="100000"/>
              </a:lnSpc>
              <a:spcBef>
                <a:spcPts val="95"/>
              </a:spcBef>
            </a:pPr>
            <a:r>
              <a:rPr sz="2850" spc="-894" dirty="0">
                <a:solidFill>
                  <a:srgbClr val="0F0F0F"/>
                </a:solidFill>
                <a:latin typeface="Arial Black"/>
                <a:cs typeface="Arial Black"/>
              </a:rPr>
              <a:t>REASONING</a:t>
            </a:r>
            <a:r>
              <a:rPr sz="2850" spc="-135" dirty="0">
                <a:solidFill>
                  <a:srgbClr val="0F0F0F"/>
                </a:solidFill>
                <a:latin typeface="Arial Black"/>
                <a:cs typeface="Arial Black"/>
              </a:rPr>
              <a:t> </a:t>
            </a:r>
            <a:r>
              <a:rPr sz="2850" spc="-905" dirty="0">
                <a:solidFill>
                  <a:srgbClr val="0C0C0C"/>
                </a:solidFill>
                <a:latin typeface="Arial Black"/>
                <a:cs typeface="Arial Black"/>
              </a:rPr>
              <a:t>FAILURE</a:t>
            </a:r>
            <a:endParaRPr sz="2850">
              <a:latin typeface="Arial Black"/>
              <a:cs typeface="Arial Black"/>
            </a:endParaRPr>
          </a:p>
        </p:txBody>
      </p:sp>
      <p:sp>
        <p:nvSpPr>
          <p:cNvPr id="22" name="object 22"/>
          <p:cNvSpPr txBox="1"/>
          <p:nvPr/>
        </p:nvSpPr>
        <p:spPr>
          <a:xfrm>
            <a:off x="6712234" y="7545986"/>
            <a:ext cx="2625725" cy="459740"/>
          </a:xfrm>
          <a:prstGeom prst="rect">
            <a:avLst/>
          </a:prstGeom>
        </p:spPr>
        <p:txBody>
          <a:bodyPr vert="horz" wrap="square" lIns="0" tIns="12065" rIns="0" bIns="0" rtlCol="0">
            <a:spAutoFit/>
          </a:bodyPr>
          <a:lstStyle/>
          <a:p>
            <a:pPr marL="12700">
              <a:lnSpc>
                <a:spcPct val="100000"/>
              </a:lnSpc>
              <a:spcBef>
                <a:spcPts val="95"/>
              </a:spcBef>
            </a:pPr>
            <a:r>
              <a:rPr sz="2850" spc="-585" dirty="0">
                <a:latin typeface="Arial MT"/>
                <a:cs typeface="Arial MT"/>
              </a:rPr>
              <a:t>(THE</a:t>
            </a:r>
            <a:r>
              <a:rPr sz="2850" spc="-114" dirty="0">
                <a:latin typeface="Arial MT"/>
                <a:cs typeface="Arial MT"/>
              </a:rPr>
              <a:t> </a:t>
            </a:r>
            <a:r>
              <a:rPr sz="2850" spc="-595" dirty="0">
                <a:latin typeface="Arial MT"/>
                <a:cs typeface="Arial MT"/>
              </a:rPr>
              <a:t>MULTI-</a:t>
            </a:r>
            <a:r>
              <a:rPr sz="2850" spc="-765" dirty="0">
                <a:latin typeface="Arial MT"/>
                <a:cs typeface="Arial MT"/>
              </a:rPr>
              <a:t>HOP</a:t>
            </a:r>
            <a:r>
              <a:rPr sz="2850" spc="180" dirty="0">
                <a:latin typeface="Arial MT"/>
                <a:cs typeface="Arial MT"/>
              </a:rPr>
              <a:t> </a:t>
            </a:r>
            <a:r>
              <a:rPr sz="2850" spc="-655" dirty="0">
                <a:latin typeface="Arial MT"/>
                <a:cs typeface="Arial MT"/>
              </a:rPr>
              <a:t>GAP)</a:t>
            </a:r>
            <a:endParaRPr sz="2850" dirty="0">
              <a:latin typeface="Arial MT"/>
              <a:cs typeface="Arial MT"/>
            </a:endParaRPr>
          </a:p>
        </p:txBody>
      </p:sp>
      <p:sp>
        <p:nvSpPr>
          <p:cNvPr id="23" name="object 23"/>
          <p:cNvSpPr txBox="1"/>
          <p:nvPr/>
        </p:nvSpPr>
        <p:spPr>
          <a:xfrm>
            <a:off x="6720788" y="7851069"/>
            <a:ext cx="4123690" cy="396240"/>
          </a:xfrm>
          <a:prstGeom prst="rect">
            <a:avLst/>
          </a:prstGeom>
        </p:spPr>
        <p:txBody>
          <a:bodyPr vert="horz" wrap="square" lIns="0" tIns="16510" rIns="0" bIns="0" rtlCol="0">
            <a:spAutoFit/>
          </a:bodyPr>
          <a:lstStyle/>
          <a:p>
            <a:pPr marL="12700">
              <a:lnSpc>
                <a:spcPct val="100000"/>
              </a:lnSpc>
              <a:spcBef>
                <a:spcPts val="130"/>
              </a:spcBef>
            </a:pPr>
            <a:r>
              <a:rPr sz="2400" spc="-585" dirty="0">
                <a:latin typeface="Arial Black"/>
                <a:cs typeface="Arial Black"/>
              </a:rPr>
              <a:t>Fails</a:t>
            </a:r>
            <a:r>
              <a:rPr sz="2400" spc="-195" dirty="0">
                <a:latin typeface="Arial Black"/>
                <a:cs typeface="Arial Black"/>
              </a:rPr>
              <a:t> </a:t>
            </a:r>
            <a:r>
              <a:rPr sz="2400" spc="-575" dirty="0">
                <a:latin typeface="Arial Black"/>
                <a:cs typeface="Arial Black"/>
              </a:rPr>
              <a:t>to</a:t>
            </a:r>
            <a:r>
              <a:rPr sz="2400" spc="-245" dirty="0">
                <a:latin typeface="Arial Black"/>
                <a:cs typeface="Arial Black"/>
              </a:rPr>
              <a:t> </a:t>
            </a:r>
            <a:r>
              <a:rPr sz="2400" spc="-705" dirty="0">
                <a:latin typeface="Arial Black"/>
                <a:cs typeface="Arial Black"/>
              </a:rPr>
              <a:t>connect</a:t>
            </a:r>
            <a:r>
              <a:rPr sz="2400" spc="-110" dirty="0">
                <a:latin typeface="Arial Black"/>
                <a:cs typeface="Arial Black"/>
              </a:rPr>
              <a:t> </a:t>
            </a:r>
            <a:r>
              <a:rPr sz="2400" spc="-550" dirty="0">
                <a:latin typeface="Arial Black"/>
                <a:cs typeface="Arial Black"/>
              </a:rPr>
              <a:t>corrplez,</a:t>
            </a:r>
            <a:r>
              <a:rPr sz="2400" spc="-100" dirty="0">
                <a:latin typeface="Arial Black"/>
                <a:cs typeface="Arial Black"/>
              </a:rPr>
              <a:t> </a:t>
            </a:r>
            <a:r>
              <a:rPr sz="2400" spc="-605" dirty="0">
                <a:latin typeface="Arial Black"/>
                <a:cs typeface="Arial Black"/>
              </a:rPr>
              <a:t>distributed</a:t>
            </a:r>
            <a:r>
              <a:rPr sz="2400" spc="100" dirty="0">
                <a:latin typeface="Arial Black"/>
                <a:cs typeface="Arial Black"/>
              </a:rPr>
              <a:t> </a:t>
            </a:r>
            <a:r>
              <a:rPr sz="2400" spc="-615" dirty="0">
                <a:latin typeface="Arial Black"/>
                <a:cs typeface="Arial Black"/>
              </a:rPr>
              <a:t>facts</a:t>
            </a:r>
            <a:endParaRPr sz="2400">
              <a:latin typeface="Arial Black"/>
              <a:cs typeface="Arial Black"/>
            </a:endParaRPr>
          </a:p>
        </p:txBody>
      </p:sp>
      <p:sp>
        <p:nvSpPr>
          <p:cNvPr id="24" name="object 24"/>
          <p:cNvSpPr txBox="1"/>
          <p:nvPr/>
        </p:nvSpPr>
        <p:spPr>
          <a:xfrm>
            <a:off x="6727784" y="8135408"/>
            <a:ext cx="4142740" cy="374650"/>
          </a:xfrm>
          <a:prstGeom prst="rect">
            <a:avLst/>
          </a:prstGeom>
        </p:spPr>
        <p:txBody>
          <a:bodyPr vert="horz" wrap="square" lIns="0" tIns="11430" rIns="0" bIns="0" rtlCol="0">
            <a:spAutoFit/>
          </a:bodyPr>
          <a:lstStyle/>
          <a:p>
            <a:pPr marL="12700">
              <a:lnSpc>
                <a:spcPct val="100000"/>
              </a:lnSpc>
              <a:spcBef>
                <a:spcPts val="90"/>
              </a:spcBef>
            </a:pPr>
            <a:r>
              <a:rPr sz="2300" spc="-540" dirty="0">
                <a:latin typeface="Arial Black"/>
                <a:cs typeface="Arial Black"/>
              </a:rPr>
              <a:t>(A</a:t>
            </a:r>
            <a:r>
              <a:rPr sz="2300" spc="-235" dirty="0">
                <a:latin typeface="Arial Black"/>
                <a:cs typeface="Arial Black"/>
              </a:rPr>
              <a:t> </a:t>
            </a:r>
            <a:r>
              <a:rPr sz="2300" spc="-580" dirty="0">
                <a:latin typeface="Arial Black"/>
                <a:cs typeface="Arial Black"/>
              </a:rPr>
              <a:t>to</a:t>
            </a:r>
            <a:r>
              <a:rPr sz="2300" spc="-295" dirty="0">
                <a:latin typeface="Arial Black"/>
                <a:cs typeface="Arial Black"/>
              </a:rPr>
              <a:t> </a:t>
            </a:r>
            <a:r>
              <a:rPr sz="2300" spc="-790" dirty="0">
                <a:latin typeface="Arial Black"/>
                <a:cs typeface="Arial Black"/>
              </a:rPr>
              <a:t>B</a:t>
            </a:r>
            <a:r>
              <a:rPr sz="2300" spc="-270" dirty="0">
                <a:latin typeface="Arial Black"/>
                <a:cs typeface="Arial Black"/>
              </a:rPr>
              <a:t> </a:t>
            </a:r>
            <a:r>
              <a:rPr sz="2300" spc="-580" dirty="0">
                <a:latin typeface="Arial Black"/>
                <a:cs typeface="Arial Black"/>
              </a:rPr>
              <a:t>to</a:t>
            </a:r>
            <a:r>
              <a:rPr sz="2300" spc="-130" dirty="0">
                <a:latin typeface="Arial Black"/>
                <a:cs typeface="Arial Black"/>
              </a:rPr>
              <a:t> </a:t>
            </a:r>
            <a:r>
              <a:rPr sz="2300" spc="-625" dirty="0">
                <a:latin typeface="Arial Black"/>
                <a:cs typeface="Arial Black"/>
              </a:rPr>
              <a:t>C)</a:t>
            </a:r>
            <a:r>
              <a:rPr sz="2300" spc="-165" dirty="0">
                <a:latin typeface="Arial Black"/>
                <a:cs typeface="Arial Black"/>
              </a:rPr>
              <a:t> </a:t>
            </a:r>
            <a:r>
              <a:rPr sz="2300" spc="-625" dirty="0">
                <a:latin typeface="Arial Black"/>
                <a:cs typeface="Arial Black"/>
              </a:rPr>
              <a:t>necessary</a:t>
            </a:r>
            <a:r>
              <a:rPr sz="2300" spc="15" dirty="0">
                <a:latin typeface="Arial Black"/>
                <a:cs typeface="Arial Black"/>
              </a:rPr>
              <a:t> </a:t>
            </a:r>
            <a:r>
              <a:rPr sz="2300" spc="-500" dirty="0">
                <a:latin typeface="Arial Black"/>
                <a:cs typeface="Arial Black"/>
              </a:rPr>
              <a:t>for</a:t>
            </a:r>
            <a:r>
              <a:rPr sz="2300" spc="-220" dirty="0">
                <a:latin typeface="Arial Black"/>
                <a:cs typeface="Arial Black"/>
              </a:rPr>
              <a:t> </a:t>
            </a:r>
            <a:r>
              <a:rPr sz="2300" spc="-630" dirty="0">
                <a:latin typeface="Arial Black"/>
                <a:cs typeface="Arial Black"/>
              </a:rPr>
              <a:t>answering</a:t>
            </a:r>
            <a:r>
              <a:rPr sz="2300" spc="-35" dirty="0">
                <a:latin typeface="Arial Black"/>
                <a:cs typeface="Arial Black"/>
              </a:rPr>
              <a:t> </a:t>
            </a:r>
            <a:r>
              <a:rPr sz="2300" spc="-505" dirty="0">
                <a:latin typeface="Arial Black"/>
                <a:cs typeface="Arial Black"/>
              </a:rPr>
              <a:t>high-</a:t>
            </a:r>
            <a:endParaRPr sz="2300" dirty="0">
              <a:latin typeface="Arial Black"/>
              <a:cs typeface="Arial Black"/>
            </a:endParaRPr>
          </a:p>
        </p:txBody>
      </p:sp>
      <p:sp>
        <p:nvSpPr>
          <p:cNvPr id="25" name="object 25"/>
          <p:cNvSpPr txBox="1"/>
          <p:nvPr/>
        </p:nvSpPr>
        <p:spPr>
          <a:xfrm>
            <a:off x="6724822" y="8423627"/>
            <a:ext cx="2648585" cy="364490"/>
          </a:xfrm>
          <a:prstGeom prst="rect">
            <a:avLst/>
          </a:prstGeom>
        </p:spPr>
        <p:txBody>
          <a:bodyPr vert="horz" wrap="square" lIns="0" tIns="15240" rIns="0" bIns="0" rtlCol="0">
            <a:spAutoFit/>
          </a:bodyPr>
          <a:lstStyle/>
          <a:p>
            <a:pPr marL="12700">
              <a:lnSpc>
                <a:spcPct val="100000"/>
              </a:lnSpc>
              <a:spcBef>
                <a:spcPts val="120"/>
              </a:spcBef>
            </a:pPr>
            <a:r>
              <a:rPr sz="2200" spc="-484" dirty="0">
                <a:latin typeface="Arial Black"/>
                <a:cs typeface="Arial Black"/>
              </a:rPr>
              <a:t>level</a:t>
            </a:r>
            <a:r>
              <a:rPr sz="2200" spc="-110" dirty="0">
                <a:latin typeface="Arial Black"/>
                <a:cs typeface="Arial Black"/>
              </a:rPr>
              <a:t> </a:t>
            </a:r>
            <a:r>
              <a:rPr sz="2200" spc="-500" dirty="0">
                <a:latin typeface="Arial Black"/>
                <a:cs typeface="Arial Black"/>
              </a:rPr>
              <a:t>operational</a:t>
            </a:r>
            <a:r>
              <a:rPr sz="2200" spc="-5" dirty="0">
                <a:latin typeface="Arial Black"/>
                <a:cs typeface="Arial Black"/>
              </a:rPr>
              <a:t> </a:t>
            </a:r>
            <a:r>
              <a:rPr sz="2200" spc="-500" dirty="0">
                <a:latin typeface="Arial Black"/>
                <a:cs typeface="Arial Black"/>
              </a:rPr>
              <a:t>questions.</a:t>
            </a:r>
            <a:endParaRPr sz="2200">
              <a:latin typeface="Arial Black"/>
              <a:cs typeface="Arial Black"/>
            </a:endParaRPr>
          </a:p>
        </p:txBody>
      </p:sp>
      <p:sp>
        <p:nvSpPr>
          <p:cNvPr id="26" name="object 26"/>
          <p:cNvSpPr txBox="1">
            <a:spLocks noGrp="1"/>
          </p:cNvSpPr>
          <p:nvPr>
            <p:ph type="title"/>
          </p:nvPr>
        </p:nvSpPr>
        <p:spPr>
          <a:xfrm>
            <a:off x="13955154" y="1341966"/>
            <a:ext cx="2543810" cy="1485900"/>
          </a:xfrm>
          <a:prstGeom prst="rect">
            <a:avLst/>
          </a:prstGeom>
        </p:spPr>
        <p:txBody>
          <a:bodyPr vert="horz" wrap="square" lIns="0" tIns="16510" rIns="0" bIns="0" rtlCol="0">
            <a:spAutoFit/>
          </a:bodyPr>
          <a:lstStyle/>
          <a:p>
            <a:pPr marL="12700">
              <a:lnSpc>
                <a:spcPct val="100000"/>
              </a:lnSpc>
              <a:spcBef>
                <a:spcPts val="130"/>
              </a:spcBef>
            </a:pPr>
            <a:r>
              <a:rPr sz="9550" spc="-1590" dirty="0">
                <a:solidFill>
                  <a:srgbClr val="18283D"/>
                </a:solidFill>
                <a:latin typeface="Arial MT"/>
                <a:cs typeface="Arial MT"/>
              </a:rPr>
              <a:t>WALL</a:t>
            </a:r>
            <a:endParaRPr sz="9550">
              <a:latin typeface="Arial MT"/>
              <a:cs typeface="Arial MT"/>
            </a:endParaRPr>
          </a:p>
        </p:txBody>
      </p:sp>
      <p:sp>
        <p:nvSpPr>
          <p:cNvPr id="27" name="object 27"/>
          <p:cNvSpPr txBox="1"/>
          <p:nvPr/>
        </p:nvSpPr>
        <p:spPr>
          <a:xfrm>
            <a:off x="13635532" y="6007452"/>
            <a:ext cx="1766570" cy="777240"/>
          </a:xfrm>
          <a:prstGeom prst="rect">
            <a:avLst/>
          </a:prstGeom>
        </p:spPr>
        <p:txBody>
          <a:bodyPr vert="horz" wrap="square" lIns="0" tIns="128905" rIns="0" bIns="0" rtlCol="0">
            <a:spAutoFit/>
          </a:bodyPr>
          <a:lstStyle/>
          <a:p>
            <a:pPr marL="12700" marR="5080" indent="17145">
              <a:lnSpc>
                <a:spcPct val="73100"/>
              </a:lnSpc>
              <a:spcBef>
                <a:spcPts val="1015"/>
              </a:spcBef>
            </a:pPr>
            <a:r>
              <a:rPr sz="2850" spc="-495" dirty="0">
                <a:solidFill>
                  <a:srgbClr val="0E0E0E"/>
                </a:solidFill>
                <a:latin typeface="Arial MT"/>
                <a:cs typeface="Arial MT"/>
              </a:rPr>
              <a:t>AUDITABILITY </a:t>
            </a:r>
            <a:r>
              <a:rPr sz="2850" spc="-610" dirty="0">
                <a:solidFill>
                  <a:srgbClr val="0E0E0E"/>
                </a:solidFill>
                <a:latin typeface="Arial MT"/>
                <a:cs typeface="Arial MT"/>
              </a:rPr>
              <a:t>FAILURES</a:t>
            </a:r>
            <a:endParaRPr sz="2850">
              <a:latin typeface="Arial MT"/>
              <a:cs typeface="Arial MT"/>
            </a:endParaRPr>
          </a:p>
        </p:txBody>
      </p:sp>
      <p:sp>
        <p:nvSpPr>
          <p:cNvPr id="28" name="object 28"/>
          <p:cNvSpPr txBox="1"/>
          <p:nvPr/>
        </p:nvSpPr>
        <p:spPr>
          <a:xfrm>
            <a:off x="13643305" y="7112352"/>
            <a:ext cx="2900680" cy="777240"/>
          </a:xfrm>
          <a:prstGeom prst="rect">
            <a:avLst/>
          </a:prstGeom>
        </p:spPr>
        <p:txBody>
          <a:bodyPr vert="horz" wrap="square" lIns="0" tIns="128905" rIns="0" bIns="0" rtlCol="0">
            <a:spAutoFit/>
          </a:bodyPr>
          <a:lstStyle/>
          <a:p>
            <a:pPr marL="12700" marR="5080" indent="9525">
              <a:lnSpc>
                <a:spcPct val="73100"/>
              </a:lnSpc>
              <a:spcBef>
                <a:spcPts val="1015"/>
              </a:spcBef>
            </a:pPr>
            <a:r>
              <a:rPr sz="2850" spc="-550" dirty="0">
                <a:solidFill>
                  <a:srgbClr val="0A0A0A"/>
                </a:solidFill>
                <a:latin typeface="Arial MT"/>
                <a:cs typeface="Arial MT"/>
              </a:rPr>
              <a:t>AUDITABILITY</a:t>
            </a:r>
            <a:r>
              <a:rPr sz="2850" spc="85" dirty="0">
                <a:solidFill>
                  <a:srgbClr val="0A0A0A"/>
                </a:solidFill>
                <a:latin typeface="Arial MT"/>
                <a:cs typeface="Arial MT"/>
              </a:rPr>
              <a:t> </a:t>
            </a:r>
            <a:r>
              <a:rPr sz="2850" spc="-660" dirty="0">
                <a:solidFill>
                  <a:srgbClr val="0F0F0F"/>
                </a:solidFill>
                <a:latin typeface="Arial MT"/>
                <a:cs typeface="Arial MT"/>
              </a:rPr>
              <a:t>FAILURES</a:t>
            </a:r>
            <a:r>
              <a:rPr sz="2850" spc="-585" dirty="0">
                <a:solidFill>
                  <a:srgbClr val="0F0F0F"/>
                </a:solidFill>
                <a:latin typeface="Arial MT"/>
                <a:cs typeface="Arial MT"/>
              </a:rPr>
              <a:t> </a:t>
            </a:r>
            <a:r>
              <a:rPr sz="2850" spc="-585" dirty="0">
                <a:latin typeface="Arial MT"/>
                <a:cs typeface="Arial MT"/>
              </a:rPr>
              <a:t>(THE</a:t>
            </a:r>
            <a:r>
              <a:rPr sz="2850" spc="-210" dirty="0">
                <a:latin typeface="Arial MT"/>
                <a:cs typeface="Arial MT"/>
              </a:rPr>
              <a:t> </a:t>
            </a:r>
            <a:r>
              <a:rPr sz="2850" spc="-700" dirty="0">
                <a:latin typeface="Arial MT"/>
                <a:cs typeface="Arial MT"/>
              </a:rPr>
              <a:t>BLACK</a:t>
            </a:r>
            <a:r>
              <a:rPr sz="2850" spc="50" dirty="0">
                <a:latin typeface="Arial MT"/>
                <a:cs typeface="Arial MT"/>
              </a:rPr>
              <a:t> </a:t>
            </a:r>
            <a:r>
              <a:rPr sz="2850" spc="-675" dirty="0">
                <a:latin typeface="Arial MT"/>
                <a:cs typeface="Arial MT"/>
              </a:rPr>
              <a:t>BOX)</a:t>
            </a:r>
            <a:endParaRPr sz="2850">
              <a:latin typeface="Arial MT"/>
              <a:cs typeface="Arial MT"/>
            </a:endParaRPr>
          </a:p>
        </p:txBody>
      </p:sp>
      <p:sp>
        <p:nvSpPr>
          <p:cNvPr id="29" name="object 29"/>
          <p:cNvSpPr txBox="1"/>
          <p:nvPr/>
        </p:nvSpPr>
        <p:spPr>
          <a:xfrm>
            <a:off x="13644804" y="7852127"/>
            <a:ext cx="2672080" cy="364490"/>
          </a:xfrm>
          <a:prstGeom prst="rect">
            <a:avLst/>
          </a:prstGeom>
        </p:spPr>
        <p:txBody>
          <a:bodyPr vert="horz" wrap="square" lIns="0" tIns="15240" rIns="0" bIns="0" rtlCol="0">
            <a:spAutoFit/>
          </a:bodyPr>
          <a:lstStyle/>
          <a:p>
            <a:pPr marL="12700">
              <a:lnSpc>
                <a:spcPct val="100000"/>
              </a:lnSpc>
              <a:spcBef>
                <a:spcPts val="120"/>
              </a:spcBef>
            </a:pPr>
            <a:r>
              <a:rPr sz="2200" spc="-525" dirty="0">
                <a:latin typeface="Arial Black"/>
                <a:cs typeface="Arial Black"/>
              </a:rPr>
              <a:t>Provides</a:t>
            </a:r>
            <a:r>
              <a:rPr sz="2200" spc="75" dirty="0">
                <a:latin typeface="Arial Black"/>
                <a:cs typeface="Arial Black"/>
              </a:rPr>
              <a:t> </a:t>
            </a:r>
            <a:r>
              <a:rPr sz="2200" spc="-570" dirty="0">
                <a:latin typeface="Arial Black"/>
                <a:cs typeface="Arial Black"/>
              </a:rPr>
              <a:t>answers</a:t>
            </a:r>
            <a:r>
              <a:rPr sz="2200" spc="-90" dirty="0">
                <a:latin typeface="Arial Black"/>
                <a:cs typeface="Arial Black"/>
              </a:rPr>
              <a:t> </a:t>
            </a:r>
            <a:r>
              <a:rPr sz="2200" spc="-545" dirty="0">
                <a:latin typeface="Arial Black"/>
                <a:cs typeface="Arial Black"/>
              </a:rPr>
              <a:t>without</a:t>
            </a:r>
            <a:r>
              <a:rPr sz="2200" spc="-50" dirty="0">
                <a:latin typeface="Arial Black"/>
                <a:cs typeface="Arial Black"/>
              </a:rPr>
              <a:t> </a:t>
            </a:r>
            <a:r>
              <a:rPr sz="2200" spc="-770" dirty="0">
                <a:solidFill>
                  <a:srgbClr val="0C0C0C"/>
                </a:solidFill>
                <a:latin typeface="Arial Black"/>
                <a:cs typeface="Arial Black"/>
              </a:rPr>
              <a:t>a</a:t>
            </a:r>
            <a:endParaRPr sz="2200" dirty="0">
              <a:latin typeface="Arial Black"/>
              <a:cs typeface="Arial Black"/>
            </a:endParaRPr>
          </a:p>
        </p:txBody>
      </p:sp>
      <p:sp>
        <p:nvSpPr>
          <p:cNvPr id="30" name="object 30"/>
          <p:cNvSpPr txBox="1"/>
          <p:nvPr/>
        </p:nvSpPr>
        <p:spPr>
          <a:xfrm>
            <a:off x="13654684" y="8110008"/>
            <a:ext cx="2854960" cy="374650"/>
          </a:xfrm>
          <a:prstGeom prst="rect">
            <a:avLst/>
          </a:prstGeom>
        </p:spPr>
        <p:txBody>
          <a:bodyPr vert="horz" wrap="square" lIns="0" tIns="11430" rIns="0" bIns="0" rtlCol="0">
            <a:spAutoFit/>
          </a:bodyPr>
          <a:lstStyle/>
          <a:p>
            <a:pPr marL="12700">
              <a:lnSpc>
                <a:spcPct val="100000"/>
              </a:lnSpc>
              <a:spcBef>
                <a:spcPts val="90"/>
              </a:spcBef>
            </a:pPr>
            <a:r>
              <a:rPr sz="2300" spc="-575" dirty="0">
                <a:latin typeface="Arial Black"/>
                <a:cs typeface="Arial Black"/>
              </a:rPr>
              <a:t>clear,</a:t>
            </a:r>
            <a:r>
              <a:rPr sz="2300" spc="-50" dirty="0">
                <a:latin typeface="Arial Black"/>
                <a:cs typeface="Arial Black"/>
              </a:rPr>
              <a:t> </a:t>
            </a:r>
            <a:r>
              <a:rPr sz="2300" spc="-525" dirty="0">
                <a:latin typeface="Arial Black"/>
                <a:cs typeface="Arial Black"/>
              </a:rPr>
              <a:t>verifiable</a:t>
            </a:r>
            <a:r>
              <a:rPr sz="2300" dirty="0">
                <a:latin typeface="Arial Black"/>
                <a:cs typeface="Arial Black"/>
              </a:rPr>
              <a:t> </a:t>
            </a:r>
            <a:r>
              <a:rPr sz="2300" spc="-615" dirty="0">
                <a:latin typeface="Arial Black"/>
                <a:cs typeface="Arial Black"/>
              </a:rPr>
              <a:t>chain</a:t>
            </a:r>
            <a:r>
              <a:rPr sz="2300" spc="-170" dirty="0">
                <a:latin typeface="Arial Black"/>
                <a:cs typeface="Arial Black"/>
              </a:rPr>
              <a:t> </a:t>
            </a:r>
            <a:r>
              <a:rPr sz="2300" spc="-505" dirty="0">
                <a:latin typeface="Arial Black"/>
                <a:cs typeface="Arial Black"/>
              </a:rPr>
              <a:t>of</a:t>
            </a:r>
            <a:r>
              <a:rPr sz="2300" spc="-180" dirty="0">
                <a:latin typeface="Arial Black"/>
                <a:cs typeface="Arial Black"/>
              </a:rPr>
              <a:t> </a:t>
            </a:r>
            <a:r>
              <a:rPr sz="2300" spc="-530" dirty="0">
                <a:latin typeface="Arial Black"/>
                <a:cs typeface="Arial Black"/>
              </a:rPr>
              <a:t>logic,</a:t>
            </a:r>
            <a:endParaRPr sz="2300">
              <a:latin typeface="Arial Black"/>
              <a:cs typeface="Arial Black"/>
            </a:endParaRPr>
          </a:p>
        </p:txBody>
      </p:sp>
      <p:sp>
        <p:nvSpPr>
          <p:cNvPr id="31" name="object 31"/>
          <p:cNvSpPr txBox="1"/>
          <p:nvPr/>
        </p:nvSpPr>
        <p:spPr>
          <a:xfrm>
            <a:off x="13644537" y="8389408"/>
            <a:ext cx="2748915" cy="374650"/>
          </a:xfrm>
          <a:prstGeom prst="rect">
            <a:avLst/>
          </a:prstGeom>
        </p:spPr>
        <p:txBody>
          <a:bodyPr vert="horz" wrap="square" lIns="0" tIns="11430" rIns="0" bIns="0" rtlCol="0">
            <a:spAutoFit/>
          </a:bodyPr>
          <a:lstStyle/>
          <a:p>
            <a:pPr marL="12700">
              <a:lnSpc>
                <a:spcPct val="100000"/>
              </a:lnSpc>
              <a:spcBef>
                <a:spcPts val="90"/>
              </a:spcBef>
            </a:pPr>
            <a:r>
              <a:rPr sz="2300" spc="-585" dirty="0">
                <a:latin typeface="Arial Black"/>
                <a:cs typeface="Arial Black"/>
              </a:rPr>
              <a:t>that</a:t>
            </a:r>
            <a:r>
              <a:rPr sz="2300" spc="-175" dirty="0">
                <a:latin typeface="Arial Black"/>
                <a:cs typeface="Arial Black"/>
              </a:rPr>
              <a:t> </a:t>
            </a:r>
            <a:r>
              <a:rPr sz="2300" spc="-565" dirty="0">
                <a:latin typeface="Arial Black"/>
                <a:cs typeface="Arial Black"/>
              </a:rPr>
              <a:t>regulators</a:t>
            </a:r>
            <a:r>
              <a:rPr sz="2300" spc="75" dirty="0">
                <a:latin typeface="Arial Black"/>
                <a:cs typeface="Arial Black"/>
              </a:rPr>
              <a:t> </a:t>
            </a:r>
            <a:r>
              <a:rPr sz="2300" spc="-630" dirty="0">
                <a:latin typeface="Arial Black"/>
                <a:cs typeface="Arial Black"/>
              </a:rPr>
              <a:t>cannot</a:t>
            </a:r>
            <a:r>
              <a:rPr sz="2300" spc="-65" dirty="0">
                <a:latin typeface="Arial Black"/>
                <a:cs typeface="Arial Black"/>
              </a:rPr>
              <a:t> </a:t>
            </a:r>
            <a:r>
              <a:rPr sz="2300" spc="-540" dirty="0">
                <a:latin typeface="Arial Black"/>
                <a:cs typeface="Arial Black"/>
              </a:rPr>
              <a:t>audit.</a:t>
            </a:r>
            <a:endParaRPr sz="2300">
              <a:latin typeface="Arial Black"/>
              <a:cs typeface="Arial Black"/>
            </a:endParaRPr>
          </a:p>
        </p:txBody>
      </p:sp>
      <p:sp>
        <p:nvSpPr>
          <p:cNvPr id="32" name="object 32"/>
          <p:cNvSpPr txBox="1"/>
          <p:nvPr/>
        </p:nvSpPr>
        <p:spPr>
          <a:xfrm>
            <a:off x="16113937" y="9413522"/>
            <a:ext cx="1224280" cy="258445"/>
          </a:xfrm>
          <a:prstGeom prst="rect">
            <a:avLst/>
          </a:prstGeom>
        </p:spPr>
        <p:txBody>
          <a:bodyPr vert="horz" wrap="square" lIns="0" tIns="15875" rIns="0" bIns="0" rtlCol="0">
            <a:spAutoFit/>
          </a:bodyPr>
          <a:lstStyle/>
          <a:p>
            <a:pPr marL="12700">
              <a:lnSpc>
                <a:spcPct val="100000"/>
              </a:lnSpc>
              <a:spcBef>
                <a:spcPts val="125"/>
              </a:spcBef>
            </a:pPr>
            <a:r>
              <a:rPr sz="1500" dirty="0">
                <a:latin typeface="Arial MT"/>
                <a:cs typeface="Arial MT"/>
              </a:rPr>
              <a:t>W</a:t>
            </a:r>
            <a:r>
              <a:rPr sz="1500" spc="70" dirty="0">
                <a:latin typeface="Arial MT"/>
                <a:cs typeface="Arial MT"/>
              </a:rPr>
              <a:t> </a:t>
            </a:r>
            <a:r>
              <a:rPr sz="1500" spc="-100" dirty="0">
                <a:latin typeface="Arial MT"/>
                <a:cs typeface="Arial MT"/>
              </a:rPr>
              <a:t>NotebaokLM</a:t>
            </a:r>
            <a:endParaRPr sz="150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617200" y="7251700"/>
            <a:ext cx="469900" cy="190500"/>
          </a:xfrm>
          <a:prstGeom prst="rect">
            <a:avLst/>
          </a:prstGeom>
        </p:spPr>
      </p:pic>
      <p:pic>
        <p:nvPicPr>
          <p:cNvPr id="3" name="object 3"/>
          <p:cNvPicPr/>
          <p:nvPr/>
        </p:nvPicPr>
        <p:blipFill>
          <a:blip r:embed="rId3" cstate="print"/>
          <a:stretch>
            <a:fillRect/>
          </a:stretch>
        </p:blipFill>
        <p:spPr>
          <a:xfrm>
            <a:off x="4533900" y="5727700"/>
            <a:ext cx="1054100" cy="558800"/>
          </a:xfrm>
          <a:prstGeom prst="rect">
            <a:avLst/>
          </a:prstGeom>
        </p:spPr>
      </p:pic>
      <p:pic>
        <p:nvPicPr>
          <p:cNvPr id="4" name="object 4"/>
          <p:cNvPicPr/>
          <p:nvPr/>
        </p:nvPicPr>
        <p:blipFill>
          <a:blip r:embed="rId4" cstate="print"/>
          <a:stretch>
            <a:fillRect/>
          </a:stretch>
        </p:blipFill>
        <p:spPr>
          <a:xfrm>
            <a:off x="10655300" y="6311900"/>
            <a:ext cx="444500" cy="63500"/>
          </a:xfrm>
          <a:prstGeom prst="rect">
            <a:avLst/>
          </a:prstGeom>
        </p:spPr>
      </p:pic>
      <p:pic>
        <p:nvPicPr>
          <p:cNvPr id="5" name="object 5"/>
          <p:cNvPicPr/>
          <p:nvPr/>
        </p:nvPicPr>
        <p:blipFill>
          <a:blip r:embed="rId5" cstate="print"/>
          <a:stretch>
            <a:fillRect/>
          </a:stretch>
        </p:blipFill>
        <p:spPr>
          <a:xfrm>
            <a:off x="15214600" y="6108700"/>
            <a:ext cx="1054100" cy="546100"/>
          </a:xfrm>
          <a:prstGeom prst="rect">
            <a:avLst/>
          </a:prstGeom>
        </p:spPr>
      </p:pic>
      <p:pic>
        <p:nvPicPr>
          <p:cNvPr id="6" name="object 6"/>
          <p:cNvPicPr/>
          <p:nvPr/>
        </p:nvPicPr>
        <p:blipFill>
          <a:blip r:embed="rId6" cstate="print"/>
          <a:stretch>
            <a:fillRect/>
          </a:stretch>
        </p:blipFill>
        <p:spPr>
          <a:xfrm>
            <a:off x="10617200" y="5168900"/>
            <a:ext cx="469900" cy="127000"/>
          </a:xfrm>
          <a:prstGeom prst="rect">
            <a:avLst/>
          </a:prstGeom>
        </p:spPr>
      </p:pic>
      <p:grpSp>
        <p:nvGrpSpPr>
          <p:cNvPr id="7" name="object 7"/>
          <p:cNvGrpSpPr/>
          <p:nvPr/>
        </p:nvGrpSpPr>
        <p:grpSpPr>
          <a:xfrm>
            <a:off x="10629900" y="3962400"/>
            <a:ext cx="2336800" cy="533400"/>
            <a:chOff x="10629900" y="3962400"/>
            <a:chExt cx="2336800" cy="533400"/>
          </a:xfrm>
        </p:grpSpPr>
        <p:pic>
          <p:nvPicPr>
            <p:cNvPr id="8" name="object 8"/>
            <p:cNvPicPr/>
            <p:nvPr/>
          </p:nvPicPr>
          <p:blipFill>
            <a:blip r:embed="rId7" cstate="print"/>
            <a:stretch>
              <a:fillRect/>
            </a:stretch>
          </p:blipFill>
          <p:spPr>
            <a:xfrm>
              <a:off x="10629900" y="4114800"/>
              <a:ext cx="800100" cy="101600"/>
            </a:xfrm>
            <a:prstGeom prst="rect">
              <a:avLst/>
            </a:prstGeom>
          </p:spPr>
        </p:pic>
        <p:pic>
          <p:nvPicPr>
            <p:cNvPr id="9" name="object 9"/>
            <p:cNvPicPr/>
            <p:nvPr/>
          </p:nvPicPr>
          <p:blipFill>
            <a:blip r:embed="rId8" cstate="print"/>
            <a:stretch>
              <a:fillRect/>
            </a:stretch>
          </p:blipFill>
          <p:spPr>
            <a:xfrm>
              <a:off x="11417300" y="3962400"/>
              <a:ext cx="1549400" cy="533400"/>
            </a:xfrm>
            <a:prstGeom prst="rect">
              <a:avLst/>
            </a:prstGeom>
          </p:spPr>
        </p:pic>
      </p:grpSp>
      <p:sp>
        <p:nvSpPr>
          <p:cNvPr id="10" name="object 10"/>
          <p:cNvSpPr/>
          <p:nvPr/>
        </p:nvSpPr>
        <p:spPr>
          <a:xfrm>
            <a:off x="891116" y="2925232"/>
            <a:ext cx="0" cy="1739900"/>
          </a:xfrm>
          <a:custGeom>
            <a:avLst/>
            <a:gdLst/>
            <a:ahLst/>
            <a:cxnLst/>
            <a:rect l="l" t="t" r="r" b="b"/>
            <a:pathLst>
              <a:path h="1739900">
                <a:moveTo>
                  <a:pt x="0" y="1739900"/>
                </a:moveTo>
                <a:lnTo>
                  <a:pt x="0" y="0"/>
                </a:lnTo>
              </a:path>
            </a:pathLst>
          </a:custGeom>
          <a:ln w="12700">
            <a:solidFill>
              <a:srgbClr val="346487"/>
            </a:solidFill>
          </a:ln>
        </p:spPr>
        <p:txBody>
          <a:bodyPr wrap="square" lIns="0" tIns="0" rIns="0" bIns="0" rtlCol="0"/>
          <a:lstStyle/>
          <a:p>
            <a:endParaRPr/>
          </a:p>
        </p:txBody>
      </p:sp>
      <p:grpSp>
        <p:nvGrpSpPr>
          <p:cNvPr id="11" name="object 11"/>
          <p:cNvGrpSpPr/>
          <p:nvPr/>
        </p:nvGrpSpPr>
        <p:grpSpPr>
          <a:xfrm>
            <a:off x="884766" y="2925232"/>
            <a:ext cx="7112000" cy="4864100"/>
            <a:chOff x="884766" y="2925232"/>
            <a:chExt cx="7112000" cy="4864100"/>
          </a:xfrm>
        </p:grpSpPr>
        <p:sp>
          <p:nvSpPr>
            <p:cNvPr id="12" name="object 12"/>
            <p:cNvSpPr/>
            <p:nvPr/>
          </p:nvSpPr>
          <p:spPr>
            <a:xfrm>
              <a:off x="7990417" y="2925232"/>
              <a:ext cx="0" cy="4864100"/>
            </a:xfrm>
            <a:custGeom>
              <a:avLst/>
              <a:gdLst/>
              <a:ahLst/>
              <a:cxnLst/>
              <a:rect l="l" t="t" r="r" b="b"/>
              <a:pathLst>
                <a:path h="4864100">
                  <a:moveTo>
                    <a:pt x="0" y="4864100"/>
                  </a:moveTo>
                  <a:lnTo>
                    <a:pt x="0" y="0"/>
                  </a:lnTo>
                </a:path>
              </a:pathLst>
            </a:custGeom>
            <a:ln w="12700">
              <a:solidFill>
                <a:srgbClr val="346487"/>
              </a:solidFill>
            </a:ln>
          </p:spPr>
          <p:txBody>
            <a:bodyPr wrap="square" lIns="0" tIns="0" rIns="0" bIns="0" rtlCol="0"/>
            <a:lstStyle/>
            <a:p>
              <a:endParaRPr/>
            </a:p>
          </p:txBody>
        </p:sp>
        <p:sp>
          <p:nvSpPr>
            <p:cNvPr id="13" name="object 13"/>
            <p:cNvSpPr/>
            <p:nvPr/>
          </p:nvSpPr>
          <p:spPr>
            <a:xfrm>
              <a:off x="884766" y="2931582"/>
              <a:ext cx="7112000" cy="0"/>
            </a:xfrm>
            <a:custGeom>
              <a:avLst/>
              <a:gdLst/>
              <a:ahLst/>
              <a:cxnLst/>
              <a:rect l="l" t="t" r="r" b="b"/>
              <a:pathLst>
                <a:path w="7112000">
                  <a:moveTo>
                    <a:pt x="0" y="0"/>
                  </a:moveTo>
                  <a:lnTo>
                    <a:pt x="7112000" y="0"/>
                  </a:lnTo>
                </a:path>
              </a:pathLst>
            </a:custGeom>
            <a:ln w="12700">
              <a:solidFill>
                <a:srgbClr val="346487"/>
              </a:solidFill>
            </a:ln>
          </p:spPr>
          <p:txBody>
            <a:bodyPr wrap="square" lIns="0" tIns="0" rIns="0" bIns="0" rtlCol="0"/>
            <a:lstStyle/>
            <a:p>
              <a:endParaRPr/>
            </a:p>
          </p:txBody>
        </p:sp>
        <p:sp>
          <p:nvSpPr>
            <p:cNvPr id="14" name="object 14"/>
            <p:cNvSpPr/>
            <p:nvPr/>
          </p:nvSpPr>
          <p:spPr>
            <a:xfrm>
              <a:off x="884766" y="7782982"/>
              <a:ext cx="7112000" cy="0"/>
            </a:xfrm>
            <a:custGeom>
              <a:avLst/>
              <a:gdLst/>
              <a:ahLst/>
              <a:cxnLst/>
              <a:rect l="l" t="t" r="r" b="b"/>
              <a:pathLst>
                <a:path w="7112000">
                  <a:moveTo>
                    <a:pt x="0" y="0"/>
                  </a:moveTo>
                  <a:lnTo>
                    <a:pt x="7112000" y="0"/>
                  </a:lnTo>
                </a:path>
              </a:pathLst>
            </a:custGeom>
            <a:ln w="12700">
              <a:solidFill>
                <a:srgbClr val="346487"/>
              </a:solidFill>
            </a:ln>
          </p:spPr>
          <p:txBody>
            <a:bodyPr wrap="square" lIns="0" tIns="0" rIns="0" bIns="0" rtlCol="0"/>
            <a:lstStyle/>
            <a:p>
              <a:endParaRPr/>
            </a:p>
          </p:txBody>
        </p:sp>
      </p:grpSp>
      <p:sp>
        <p:nvSpPr>
          <p:cNvPr id="15" name="object 15"/>
          <p:cNvSpPr/>
          <p:nvPr/>
        </p:nvSpPr>
        <p:spPr>
          <a:xfrm>
            <a:off x="268816" y="275167"/>
            <a:ext cx="0" cy="9161145"/>
          </a:xfrm>
          <a:custGeom>
            <a:avLst/>
            <a:gdLst/>
            <a:ahLst/>
            <a:cxnLst/>
            <a:rect l="l" t="t" r="r" b="b"/>
            <a:pathLst>
              <a:path h="9161145">
                <a:moveTo>
                  <a:pt x="0" y="9160933"/>
                </a:moveTo>
                <a:lnTo>
                  <a:pt x="0" y="0"/>
                </a:lnTo>
              </a:path>
            </a:pathLst>
          </a:custGeom>
          <a:ln w="4233">
            <a:solidFill>
              <a:srgbClr val="2F5777"/>
            </a:solidFill>
          </a:ln>
        </p:spPr>
        <p:txBody>
          <a:bodyPr wrap="square" lIns="0" tIns="0" rIns="0" bIns="0" rtlCol="0"/>
          <a:lstStyle/>
          <a:p>
            <a:endParaRPr/>
          </a:p>
        </p:txBody>
      </p:sp>
      <p:sp>
        <p:nvSpPr>
          <p:cNvPr id="16" name="object 16"/>
          <p:cNvSpPr/>
          <p:nvPr/>
        </p:nvSpPr>
        <p:spPr>
          <a:xfrm>
            <a:off x="4434416" y="2497667"/>
            <a:ext cx="0" cy="5668645"/>
          </a:xfrm>
          <a:custGeom>
            <a:avLst/>
            <a:gdLst/>
            <a:ahLst/>
            <a:cxnLst/>
            <a:rect l="l" t="t" r="r" b="b"/>
            <a:pathLst>
              <a:path h="5668645">
                <a:moveTo>
                  <a:pt x="0" y="5668433"/>
                </a:moveTo>
                <a:lnTo>
                  <a:pt x="0" y="0"/>
                </a:lnTo>
              </a:path>
            </a:pathLst>
          </a:custGeom>
          <a:ln w="4233">
            <a:solidFill>
              <a:srgbClr val="2F5777"/>
            </a:solidFill>
          </a:ln>
        </p:spPr>
        <p:txBody>
          <a:bodyPr wrap="square" lIns="0" tIns="0" rIns="0" bIns="0" rtlCol="0"/>
          <a:lstStyle/>
          <a:p>
            <a:endParaRPr/>
          </a:p>
        </p:txBody>
      </p:sp>
      <p:sp>
        <p:nvSpPr>
          <p:cNvPr id="17" name="object 17"/>
          <p:cNvSpPr/>
          <p:nvPr/>
        </p:nvSpPr>
        <p:spPr>
          <a:xfrm>
            <a:off x="4523316" y="2497667"/>
            <a:ext cx="0" cy="5668645"/>
          </a:xfrm>
          <a:custGeom>
            <a:avLst/>
            <a:gdLst/>
            <a:ahLst/>
            <a:cxnLst/>
            <a:rect l="l" t="t" r="r" b="b"/>
            <a:pathLst>
              <a:path h="5668645">
                <a:moveTo>
                  <a:pt x="0" y="5668433"/>
                </a:moveTo>
                <a:lnTo>
                  <a:pt x="0" y="0"/>
                </a:lnTo>
              </a:path>
            </a:pathLst>
          </a:custGeom>
          <a:ln w="4233">
            <a:solidFill>
              <a:srgbClr val="2F5777"/>
            </a:solidFill>
          </a:ln>
        </p:spPr>
        <p:txBody>
          <a:bodyPr wrap="square" lIns="0" tIns="0" rIns="0" bIns="0" rtlCol="0"/>
          <a:lstStyle/>
          <a:p>
            <a:endParaRPr/>
          </a:p>
        </p:txBody>
      </p:sp>
      <p:sp>
        <p:nvSpPr>
          <p:cNvPr id="18" name="object 18"/>
          <p:cNvSpPr/>
          <p:nvPr/>
        </p:nvSpPr>
        <p:spPr>
          <a:xfrm>
            <a:off x="6288616" y="2497667"/>
            <a:ext cx="0" cy="5668645"/>
          </a:xfrm>
          <a:custGeom>
            <a:avLst/>
            <a:gdLst/>
            <a:ahLst/>
            <a:cxnLst/>
            <a:rect l="l" t="t" r="r" b="b"/>
            <a:pathLst>
              <a:path h="5668645">
                <a:moveTo>
                  <a:pt x="0" y="5668433"/>
                </a:moveTo>
                <a:lnTo>
                  <a:pt x="0" y="0"/>
                </a:lnTo>
              </a:path>
            </a:pathLst>
          </a:custGeom>
          <a:ln w="4233">
            <a:solidFill>
              <a:srgbClr val="2F5777"/>
            </a:solidFill>
          </a:ln>
        </p:spPr>
        <p:txBody>
          <a:bodyPr wrap="square" lIns="0" tIns="0" rIns="0" bIns="0" rtlCol="0"/>
          <a:lstStyle/>
          <a:p>
            <a:endParaRPr/>
          </a:p>
        </p:txBody>
      </p:sp>
      <p:sp>
        <p:nvSpPr>
          <p:cNvPr id="19" name="object 19"/>
          <p:cNvSpPr/>
          <p:nvPr/>
        </p:nvSpPr>
        <p:spPr>
          <a:xfrm>
            <a:off x="6339416" y="2497667"/>
            <a:ext cx="0" cy="5668645"/>
          </a:xfrm>
          <a:custGeom>
            <a:avLst/>
            <a:gdLst/>
            <a:ahLst/>
            <a:cxnLst/>
            <a:rect l="l" t="t" r="r" b="b"/>
            <a:pathLst>
              <a:path h="5668645">
                <a:moveTo>
                  <a:pt x="0" y="5668433"/>
                </a:moveTo>
                <a:lnTo>
                  <a:pt x="0" y="0"/>
                </a:lnTo>
              </a:path>
            </a:pathLst>
          </a:custGeom>
          <a:ln w="4233">
            <a:solidFill>
              <a:srgbClr val="2F5777"/>
            </a:solidFill>
          </a:ln>
        </p:spPr>
        <p:txBody>
          <a:bodyPr wrap="square" lIns="0" tIns="0" rIns="0" bIns="0" rtlCol="0"/>
          <a:lstStyle/>
          <a:p>
            <a:endParaRPr/>
          </a:p>
        </p:txBody>
      </p:sp>
      <p:sp>
        <p:nvSpPr>
          <p:cNvPr id="20" name="object 20"/>
          <p:cNvSpPr/>
          <p:nvPr/>
        </p:nvSpPr>
        <p:spPr>
          <a:xfrm>
            <a:off x="8752416" y="1811867"/>
            <a:ext cx="0" cy="7256145"/>
          </a:xfrm>
          <a:custGeom>
            <a:avLst/>
            <a:gdLst/>
            <a:ahLst/>
            <a:cxnLst/>
            <a:rect l="l" t="t" r="r" b="b"/>
            <a:pathLst>
              <a:path h="7256145">
                <a:moveTo>
                  <a:pt x="0" y="7255933"/>
                </a:moveTo>
                <a:lnTo>
                  <a:pt x="0" y="0"/>
                </a:lnTo>
              </a:path>
            </a:pathLst>
          </a:custGeom>
          <a:ln w="4233">
            <a:solidFill>
              <a:srgbClr val="2F5777"/>
            </a:solidFill>
          </a:ln>
        </p:spPr>
        <p:txBody>
          <a:bodyPr wrap="square" lIns="0" tIns="0" rIns="0" bIns="0" rtlCol="0"/>
          <a:lstStyle/>
          <a:p>
            <a:endParaRPr/>
          </a:p>
        </p:txBody>
      </p:sp>
      <p:sp>
        <p:nvSpPr>
          <p:cNvPr id="21" name="object 21"/>
          <p:cNvSpPr/>
          <p:nvPr/>
        </p:nvSpPr>
        <p:spPr>
          <a:xfrm>
            <a:off x="17236016" y="237067"/>
            <a:ext cx="0" cy="9148445"/>
          </a:xfrm>
          <a:custGeom>
            <a:avLst/>
            <a:gdLst/>
            <a:ahLst/>
            <a:cxnLst/>
            <a:rect l="l" t="t" r="r" b="b"/>
            <a:pathLst>
              <a:path h="9148445">
                <a:moveTo>
                  <a:pt x="0" y="9148233"/>
                </a:moveTo>
                <a:lnTo>
                  <a:pt x="0" y="0"/>
                </a:lnTo>
              </a:path>
            </a:pathLst>
          </a:custGeom>
          <a:ln w="4233">
            <a:solidFill>
              <a:srgbClr val="2F5777"/>
            </a:solidFill>
          </a:ln>
        </p:spPr>
        <p:txBody>
          <a:bodyPr wrap="square" lIns="0" tIns="0" rIns="0" bIns="0" rtlCol="0"/>
          <a:lstStyle/>
          <a:p>
            <a:endParaRPr/>
          </a:p>
        </p:txBody>
      </p:sp>
      <p:sp>
        <p:nvSpPr>
          <p:cNvPr id="22" name="object 22"/>
          <p:cNvSpPr/>
          <p:nvPr/>
        </p:nvSpPr>
        <p:spPr>
          <a:xfrm>
            <a:off x="967316" y="4542366"/>
            <a:ext cx="0" cy="3166745"/>
          </a:xfrm>
          <a:custGeom>
            <a:avLst/>
            <a:gdLst/>
            <a:ahLst/>
            <a:cxnLst/>
            <a:rect l="l" t="t" r="r" b="b"/>
            <a:pathLst>
              <a:path h="3166745">
                <a:moveTo>
                  <a:pt x="0" y="3166533"/>
                </a:moveTo>
                <a:lnTo>
                  <a:pt x="0" y="0"/>
                </a:lnTo>
              </a:path>
            </a:pathLst>
          </a:custGeom>
          <a:ln w="4233">
            <a:solidFill>
              <a:srgbClr val="2F5777"/>
            </a:solidFill>
          </a:ln>
        </p:spPr>
        <p:txBody>
          <a:bodyPr wrap="square" lIns="0" tIns="0" rIns="0" bIns="0" rtlCol="0"/>
          <a:lstStyle/>
          <a:p>
            <a:endParaRPr/>
          </a:p>
        </p:txBody>
      </p:sp>
      <p:sp>
        <p:nvSpPr>
          <p:cNvPr id="23" name="object 23"/>
          <p:cNvSpPr/>
          <p:nvPr/>
        </p:nvSpPr>
        <p:spPr>
          <a:xfrm>
            <a:off x="10619316" y="3361266"/>
            <a:ext cx="0" cy="3903345"/>
          </a:xfrm>
          <a:custGeom>
            <a:avLst/>
            <a:gdLst/>
            <a:ahLst/>
            <a:cxnLst/>
            <a:rect l="l" t="t" r="r" b="b"/>
            <a:pathLst>
              <a:path h="3903345">
                <a:moveTo>
                  <a:pt x="0" y="3903133"/>
                </a:moveTo>
                <a:lnTo>
                  <a:pt x="0" y="0"/>
                </a:lnTo>
              </a:path>
            </a:pathLst>
          </a:custGeom>
          <a:ln w="4233">
            <a:solidFill>
              <a:srgbClr val="2F5777"/>
            </a:solidFill>
          </a:ln>
        </p:spPr>
        <p:txBody>
          <a:bodyPr wrap="square" lIns="0" tIns="0" rIns="0" bIns="0" rtlCol="0"/>
          <a:lstStyle/>
          <a:p>
            <a:endParaRPr/>
          </a:p>
        </p:txBody>
      </p:sp>
      <p:sp>
        <p:nvSpPr>
          <p:cNvPr id="24" name="object 24"/>
          <p:cNvSpPr/>
          <p:nvPr/>
        </p:nvSpPr>
        <p:spPr>
          <a:xfrm>
            <a:off x="4419600" y="6538383"/>
            <a:ext cx="4093845" cy="0"/>
          </a:xfrm>
          <a:custGeom>
            <a:avLst/>
            <a:gdLst/>
            <a:ahLst/>
            <a:cxnLst/>
            <a:rect l="l" t="t" r="r" b="b"/>
            <a:pathLst>
              <a:path w="4093845">
                <a:moveTo>
                  <a:pt x="0" y="0"/>
                </a:moveTo>
                <a:lnTo>
                  <a:pt x="4093633" y="0"/>
                </a:lnTo>
              </a:path>
            </a:pathLst>
          </a:custGeom>
          <a:ln w="4233">
            <a:solidFill>
              <a:srgbClr val="2F5777"/>
            </a:solidFill>
          </a:ln>
        </p:spPr>
        <p:txBody>
          <a:bodyPr wrap="square" lIns="0" tIns="0" rIns="0" bIns="0" rtlCol="0"/>
          <a:lstStyle/>
          <a:p>
            <a:endParaRPr/>
          </a:p>
        </p:txBody>
      </p:sp>
      <p:sp>
        <p:nvSpPr>
          <p:cNvPr id="25" name="object 25"/>
          <p:cNvSpPr/>
          <p:nvPr/>
        </p:nvSpPr>
        <p:spPr>
          <a:xfrm>
            <a:off x="4419600" y="6487583"/>
            <a:ext cx="4081145" cy="0"/>
          </a:xfrm>
          <a:custGeom>
            <a:avLst/>
            <a:gdLst/>
            <a:ahLst/>
            <a:cxnLst/>
            <a:rect l="l" t="t" r="r" b="b"/>
            <a:pathLst>
              <a:path w="4081145">
                <a:moveTo>
                  <a:pt x="0" y="0"/>
                </a:moveTo>
                <a:lnTo>
                  <a:pt x="4080933" y="0"/>
                </a:lnTo>
              </a:path>
            </a:pathLst>
          </a:custGeom>
          <a:ln w="4233">
            <a:solidFill>
              <a:srgbClr val="2F5777"/>
            </a:solidFill>
          </a:ln>
        </p:spPr>
        <p:txBody>
          <a:bodyPr wrap="square" lIns="0" tIns="0" rIns="0" bIns="0" rtlCol="0"/>
          <a:lstStyle/>
          <a:p>
            <a:endParaRPr/>
          </a:p>
        </p:txBody>
      </p:sp>
      <p:sp>
        <p:nvSpPr>
          <p:cNvPr id="26" name="object 26"/>
          <p:cNvSpPr/>
          <p:nvPr/>
        </p:nvSpPr>
        <p:spPr>
          <a:xfrm>
            <a:off x="952500" y="6195483"/>
            <a:ext cx="3585845" cy="0"/>
          </a:xfrm>
          <a:custGeom>
            <a:avLst/>
            <a:gdLst/>
            <a:ahLst/>
            <a:cxnLst/>
            <a:rect l="l" t="t" r="r" b="b"/>
            <a:pathLst>
              <a:path w="3585845">
                <a:moveTo>
                  <a:pt x="0" y="0"/>
                </a:moveTo>
                <a:lnTo>
                  <a:pt x="3585633" y="0"/>
                </a:lnTo>
              </a:path>
            </a:pathLst>
          </a:custGeom>
          <a:ln w="4233">
            <a:solidFill>
              <a:srgbClr val="2F5777"/>
            </a:solidFill>
          </a:ln>
        </p:spPr>
        <p:txBody>
          <a:bodyPr wrap="square" lIns="0" tIns="0" rIns="0" bIns="0" rtlCol="0"/>
          <a:lstStyle/>
          <a:p>
            <a:endParaRPr/>
          </a:p>
        </p:txBody>
      </p:sp>
      <p:grpSp>
        <p:nvGrpSpPr>
          <p:cNvPr id="27" name="object 27"/>
          <p:cNvGrpSpPr/>
          <p:nvPr/>
        </p:nvGrpSpPr>
        <p:grpSpPr>
          <a:xfrm>
            <a:off x="952500" y="5647266"/>
            <a:ext cx="7040245" cy="42545"/>
            <a:chOff x="952500" y="5647266"/>
            <a:chExt cx="7040245" cy="42545"/>
          </a:xfrm>
        </p:grpSpPr>
        <p:sp>
          <p:nvSpPr>
            <p:cNvPr id="28" name="object 28"/>
            <p:cNvSpPr/>
            <p:nvPr/>
          </p:nvSpPr>
          <p:spPr>
            <a:xfrm>
              <a:off x="4419600" y="5687483"/>
              <a:ext cx="3573145" cy="0"/>
            </a:xfrm>
            <a:custGeom>
              <a:avLst/>
              <a:gdLst/>
              <a:ahLst/>
              <a:cxnLst/>
              <a:rect l="l" t="t" r="r" b="b"/>
              <a:pathLst>
                <a:path w="3573145">
                  <a:moveTo>
                    <a:pt x="0" y="0"/>
                  </a:moveTo>
                  <a:lnTo>
                    <a:pt x="3572933" y="0"/>
                  </a:lnTo>
                </a:path>
              </a:pathLst>
            </a:custGeom>
            <a:ln w="4233">
              <a:solidFill>
                <a:srgbClr val="2F5777"/>
              </a:solidFill>
            </a:ln>
          </p:spPr>
          <p:txBody>
            <a:bodyPr wrap="square" lIns="0" tIns="0" rIns="0" bIns="0" rtlCol="0"/>
            <a:lstStyle/>
            <a:p>
              <a:endParaRPr/>
            </a:p>
          </p:txBody>
        </p:sp>
        <p:sp>
          <p:nvSpPr>
            <p:cNvPr id="29" name="object 29"/>
            <p:cNvSpPr/>
            <p:nvPr/>
          </p:nvSpPr>
          <p:spPr>
            <a:xfrm>
              <a:off x="952500" y="5649383"/>
              <a:ext cx="3623945" cy="0"/>
            </a:xfrm>
            <a:custGeom>
              <a:avLst/>
              <a:gdLst/>
              <a:ahLst/>
              <a:cxnLst/>
              <a:rect l="l" t="t" r="r" b="b"/>
              <a:pathLst>
                <a:path w="3623945">
                  <a:moveTo>
                    <a:pt x="0" y="0"/>
                  </a:moveTo>
                  <a:lnTo>
                    <a:pt x="3623733" y="0"/>
                  </a:lnTo>
                </a:path>
              </a:pathLst>
            </a:custGeom>
            <a:ln w="4233">
              <a:solidFill>
                <a:srgbClr val="2F5777"/>
              </a:solidFill>
            </a:ln>
          </p:spPr>
          <p:txBody>
            <a:bodyPr wrap="square" lIns="0" tIns="0" rIns="0" bIns="0" rtlCol="0"/>
            <a:lstStyle/>
            <a:p>
              <a:endParaRPr/>
            </a:p>
          </p:txBody>
        </p:sp>
      </p:grpSp>
      <p:sp>
        <p:nvSpPr>
          <p:cNvPr id="30" name="object 30"/>
          <p:cNvSpPr/>
          <p:nvPr/>
        </p:nvSpPr>
        <p:spPr>
          <a:xfrm>
            <a:off x="4419600" y="5115983"/>
            <a:ext cx="3560445" cy="0"/>
          </a:xfrm>
          <a:custGeom>
            <a:avLst/>
            <a:gdLst/>
            <a:ahLst/>
            <a:cxnLst/>
            <a:rect l="l" t="t" r="r" b="b"/>
            <a:pathLst>
              <a:path w="3560445">
                <a:moveTo>
                  <a:pt x="0" y="0"/>
                </a:moveTo>
                <a:lnTo>
                  <a:pt x="3560233" y="0"/>
                </a:lnTo>
              </a:path>
            </a:pathLst>
          </a:custGeom>
          <a:ln w="4233">
            <a:solidFill>
              <a:srgbClr val="2F5777"/>
            </a:solidFill>
          </a:ln>
        </p:spPr>
        <p:txBody>
          <a:bodyPr wrap="square" lIns="0" tIns="0" rIns="0" bIns="0" rtlCol="0"/>
          <a:lstStyle/>
          <a:p>
            <a:endParaRPr/>
          </a:p>
        </p:txBody>
      </p:sp>
      <p:sp>
        <p:nvSpPr>
          <p:cNvPr id="31" name="object 31"/>
          <p:cNvSpPr/>
          <p:nvPr/>
        </p:nvSpPr>
        <p:spPr>
          <a:xfrm>
            <a:off x="482600" y="4607983"/>
            <a:ext cx="8018145" cy="0"/>
          </a:xfrm>
          <a:custGeom>
            <a:avLst/>
            <a:gdLst/>
            <a:ahLst/>
            <a:cxnLst/>
            <a:rect l="l" t="t" r="r" b="b"/>
            <a:pathLst>
              <a:path w="8018145">
                <a:moveTo>
                  <a:pt x="0" y="0"/>
                </a:moveTo>
                <a:lnTo>
                  <a:pt x="8017933" y="0"/>
                </a:lnTo>
              </a:path>
            </a:pathLst>
          </a:custGeom>
          <a:ln w="4233">
            <a:solidFill>
              <a:srgbClr val="2F5777"/>
            </a:solidFill>
          </a:ln>
        </p:spPr>
        <p:txBody>
          <a:bodyPr wrap="square" lIns="0" tIns="0" rIns="0" bIns="0" rtlCol="0"/>
          <a:lstStyle/>
          <a:p>
            <a:endParaRPr/>
          </a:p>
        </p:txBody>
      </p:sp>
      <p:sp>
        <p:nvSpPr>
          <p:cNvPr id="32" name="object 32"/>
          <p:cNvSpPr/>
          <p:nvPr/>
        </p:nvSpPr>
        <p:spPr>
          <a:xfrm>
            <a:off x="482600" y="4557183"/>
            <a:ext cx="8018145" cy="0"/>
          </a:xfrm>
          <a:custGeom>
            <a:avLst/>
            <a:gdLst/>
            <a:ahLst/>
            <a:cxnLst/>
            <a:rect l="l" t="t" r="r" b="b"/>
            <a:pathLst>
              <a:path w="8018145">
                <a:moveTo>
                  <a:pt x="0" y="0"/>
                </a:moveTo>
                <a:lnTo>
                  <a:pt x="8017933" y="0"/>
                </a:lnTo>
              </a:path>
            </a:pathLst>
          </a:custGeom>
          <a:ln w="4233">
            <a:solidFill>
              <a:srgbClr val="2F5777"/>
            </a:solidFill>
          </a:ln>
        </p:spPr>
        <p:txBody>
          <a:bodyPr wrap="square" lIns="0" tIns="0" rIns="0" bIns="0" rtlCol="0"/>
          <a:lstStyle/>
          <a:p>
            <a:endParaRPr/>
          </a:p>
        </p:txBody>
      </p:sp>
      <p:grpSp>
        <p:nvGrpSpPr>
          <p:cNvPr id="33" name="object 33"/>
          <p:cNvGrpSpPr/>
          <p:nvPr/>
        </p:nvGrpSpPr>
        <p:grpSpPr>
          <a:xfrm>
            <a:off x="4826000" y="4034366"/>
            <a:ext cx="3154045" cy="29845"/>
            <a:chOff x="4826000" y="4034366"/>
            <a:chExt cx="3154045" cy="29845"/>
          </a:xfrm>
        </p:grpSpPr>
        <p:sp>
          <p:nvSpPr>
            <p:cNvPr id="34" name="object 34"/>
            <p:cNvSpPr/>
            <p:nvPr/>
          </p:nvSpPr>
          <p:spPr>
            <a:xfrm>
              <a:off x="4826000" y="4061883"/>
              <a:ext cx="3154045" cy="0"/>
            </a:xfrm>
            <a:custGeom>
              <a:avLst/>
              <a:gdLst/>
              <a:ahLst/>
              <a:cxnLst/>
              <a:rect l="l" t="t" r="r" b="b"/>
              <a:pathLst>
                <a:path w="3154045">
                  <a:moveTo>
                    <a:pt x="0" y="0"/>
                  </a:moveTo>
                  <a:lnTo>
                    <a:pt x="3153833" y="0"/>
                  </a:lnTo>
                </a:path>
              </a:pathLst>
            </a:custGeom>
            <a:ln w="4233">
              <a:solidFill>
                <a:srgbClr val="2F5777"/>
              </a:solidFill>
            </a:ln>
          </p:spPr>
          <p:txBody>
            <a:bodyPr wrap="square" lIns="0" tIns="0" rIns="0" bIns="0" rtlCol="0"/>
            <a:lstStyle/>
            <a:p>
              <a:endParaRPr/>
            </a:p>
          </p:txBody>
        </p:sp>
        <p:sp>
          <p:nvSpPr>
            <p:cNvPr id="35" name="object 35"/>
            <p:cNvSpPr/>
            <p:nvPr/>
          </p:nvSpPr>
          <p:spPr>
            <a:xfrm>
              <a:off x="4889500" y="4036483"/>
              <a:ext cx="3052445" cy="0"/>
            </a:xfrm>
            <a:custGeom>
              <a:avLst/>
              <a:gdLst/>
              <a:ahLst/>
              <a:cxnLst/>
              <a:rect l="l" t="t" r="r" b="b"/>
              <a:pathLst>
                <a:path w="3052445">
                  <a:moveTo>
                    <a:pt x="0" y="0"/>
                  </a:moveTo>
                  <a:lnTo>
                    <a:pt x="3052233" y="0"/>
                  </a:lnTo>
                </a:path>
              </a:pathLst>
            </a:custGeom>
            <a:ln w="4233">
              <a:solidFill>
                <a:srgbClr val="2F5777"/>
              </a:solidFill>
            </a:ln>
          </p:spPr>
          <p:txBody>
            <a:bodyPr wrap="square" lIns="0" tIns="0" rIns="0" bIns="0" rtlCol="0"/>
            <a:lstStyle/>
            <a:p>
              <a:endParaRPr/>
            </a:p>
          </p:txBody>
        </p:sp>
      </p:grpSp>
      <p:sp>
        <p:nvSpPr>
          <p:cNvPr id="36" name="object 36"/>
          <p:cNvSpPr/>
          <p:nvPr/>
        </p:nvSpPr>
        <p:spPr>
          <a:xfrm>
            <a:off x="1028700" y="2880783"/>
            <a:ext cx="6938645" cy="0"/>
          </a:xfrm>
          <a:custGeom>
            <a:avLst/>
            <a:gdLst/>
            <a:ahLst/>
            <a:cxnLst/>
            <a:rect l="l" t="t" r="r" b="b"/>
            <a:pathLst>
              <a:path w="6938645">
                <a:moveTo>
                  <a:pt x="0" y="0"/>
                </a:moveTo>
                <a:lnTo>
                  <a:pt x="6938433" y="0"/>
                </a:lnTo>
              </a:path>
            </a:pathLst>
          </a:custGeom>
          <a:ln w="4233">
            <a:solidFill>
              <a:srgbClr val="2F5777"/>
            </a:solidFill>
          </a:ln>
        </p:spPr>
        <p:txBody>
          <a:bodyPr wrap="square" lIns="0" tIns="0" rIns="0" bIns="0" rtlCol="0"/>
          <a:lstStyle/>
          <a:p>
            <a:endParaRPr/>
          </a:p>
        </p:txBody>
      </p:sp>
      <p:sp>
        <p:nvSpPr>
          <p:cNvPr id="37" name="object 37"/>
          <p:cNvSpPr/>
          <p:nvPr/>
        </p:nvSpPr>
        <p:spPr>
          <a:xfrm>
            <a:off x="254000" y="1483783"/>
            <a:ext cx="16984345" cy="0"/>
          </a:xfrm>
          <a:custGeom>
            <a:avLst/>
            <a:gdLst/>
            <a:ahLst/>
            <a:cxnLst/>
            <a:rect l="l" t="t" r="r" b="b"/>
            <a:pathLst>
              <a:path w="16984345">
                <a:moveTo>
                  <a:pt x="0" y="0"/>
                </a:moveTo>
                <a:lnTo>
                  <a:pt x="16984134" y="0"/>
                </a:lnTo>
              </a:path>
            </a:pathLst>
          </a:custGeom>
          <a:ln w="4233">
            <a:solidFill>
              <a:srgbClr val="2F5777"/>
            </a:solidFill>
          </a:ln>
        </p:spPr>
        <p:txBody>
          <a:bodyPr wrap="square" lIns="0" tIns="0" rIns="0" bIns="0" rtlCol="0"/>
          <a:lstStyle/>
          <a:p>
            <a:endParaRPr/>
          </a:p>
        </p:txBody>
      </p:sp>
      <p:sp>
        <p:nvSpPr>
          <p:cNvPr id="38" name="object 38"/>
          <p:cNvSpPr/>
          <p:nvPr/>
        </p:nvSpPr>
        <p:spPr>
          <a:xfrm>
            <a:off x="304800" y="264583"/>
            <a:ext cx="16908145" cy="0"/>
          </a:xfrm>
          <a:custGeom>
            <a:avLst/>
            <a:gdLst/>
            <a:ahLst/>
            <a:cxnLst/>
            <a:rect l="l" t="t" r="r" b="b"/>
            <a:pathLst>
              <a:path w="16908145">
                <a:moveTo>
                  <a:pt x="0" y="0"/>
                </a:moveTo>
                <a:lnTo>
                  <a:pt x="16907934" y="0"/>
                </a:lnTo>
              </a:path>
            </a:pathLst>
          </a:custGeom>
          <a:ln w="4233">
            <a:solidFill>
              <a:srgbClr val="2F5777"/>
            </a:solidFill>
          </a:ln>
        </p:spPr>
        <p:txBody>
          <a:bodyPr wrap="square" lIns="0" tIns="0" rIns="0" bIns="0" rtlCol="0"/>
          <a:lstStyle/>
          <a:p>
            <a:endParaRPr/>
          </a:p>
        </p:txBody>
      </p:sp>
      <p:sp>
        <p:nvSpPr>
          <p:cNvPr id="39" name="object 39"/>
          <p:cNvSpPr/>
          <p:nvPr/>
        </p:nvSpPr>
        <p:spPr>
          <a:xfrm>
            <a:off x="9690100" y="3376083"/>
            <a:ext cx="3281045" cy="0"/>
          </a:xfrm>
          <a:custGeom>
            <a:avLst/>
            <a:gdLst/>
            <a:ahLst/>
            <a:cxnLst/>
            <a:rect l="l" t="t" r="r" b="b"/>
            <a:pathLst>
              <a:path w="3281045">
                <a:moveTo>
                  <a:pt x="0" y="0"/>
                </a:moveTo>
                <a:lnTo>
                  <a:pt x="3280833" y="0"/>
                </a:lnTo>
              </a:path>
            </a:pathLst>
          </a:custGeom>
          <a:ln w="4233">
            <a:solidFill>
              <a:srgbClr val="2F5777"/>
            </a:solidFill>
          </a:ln>
        </p:spPr>
        <p:txBody>
          <a:bodyPr wrap="square" lIns="0" tIns="0" rIns="0" bIns="0" rtlCol="0"/>
          <a:lstStyle/>
          <a:p>
            <a:endParaRPr/>
          </a:p>
        </p:txBody>
      </p:sp>
      <p:sp>
        <p:nvSpPr>
          <p:cNvPr id="40" name="object 40"/>
          <p:cNvSpPr/>
          <p:nvPr/>
        </p:nvSpPr>
        <p:spPr>
          <a:xfrm>
            <a:off x="342900" y="9510183"/>
            <a:ext cx="15688944" cy="0"/>
          </a:xfrm>
          <a:custGeom>
            <a:avLst/>
            <a:gdLst/>
            <a:ahLst/>
            <a:cxnLst/>
            <a:rect l="l" t="t" r="r" b="b"/>
            <a:pathLst>
              <a:path w="15688944">
                <a:moveTo>
                  <a:pt x="0" y="0"/>
                </a:moveTo>
                <a:lnTo>
                  <a:pt x="15688734" y="0"/>
                </a:lnTo>
              </a:path>
            </a:pathLst>
          </a:custGeom>
          <a:ln w="29633">
            <a:solidFill>
              <a:srgbClr val="484F57"/>
            </a:solidFill>
          </a:ln>
        </p:spPr>
        <p:txBody>
          <a:bodyPr wrap="square" lIns="0" tIns="0" rIns="0" bIns="0" rtlCol="0"/>
          <a:lstStyle/>
          <a:p>
            <a:endParaRPr/>
          </a:p>
        </p:txBody>
      </p:sp>
      <p:sp>
        <p:nvSpPr>
          <p:cNvPr id="41" name="object 41"/>
          <p:cNvSpPr/>
          <p:nvPr/>
        </p:nvSpPr>
        <p:spPr>
          <a:xfrm>
            <a:off x="15115120" y="7154333"/>
            <a:ext cx="0" cy="618490"/>
          </a:xfrm>
          <a:custGeom>
            <a:avLst/>
            <a:gdLst/>
            <a:ahLst/>
            <a:cxnLst/>
            <a:rect l="l" t="t" r="r" b="b"/>
            <a:pathLst>
              <a:path h="618490">
                <a:moveTo>
                  <a:pt x="0" y="618066"/>
                </a:moveTo>
                <a:lnTo>
                  <a:pt x="0" y="0"/>
                </a:lnTo>
              </a:path>
            </a:pathLst>
          </a:custGeom>
          <a:ln w="12700">
            <a:solidFill>
              <a:srgbClr val="906048"/>
            </a:solidFill>
          </a:ln>
        </p:spPr>
        <p:txBody>
          <a:bodyPr wrap="square" lIns="0" tIns="0" rIns="0" bIns="0" rtlCol="0"/>
          <a:lstStyle/>
          <a:p>
            <a:endParaRPr/>
          </a:p>
        </p:txBody>
      </p:sp>
      <p:sp>
        <p:nvSpPr>
          <p:cNvPr id="42" name="object 42"/>
          <p:cNvSpPr/>
          <p:nvPr/>
        </p:nvSpPr>
        <p:spPr>
          <a:xfrm>
            <a:off x="16296220" y="7243233"/>
            <a:ext cx="0" cy="228600"/>
          </a:xfrm>
          <a:custGeom>
            <a:avLst/>
            <a:gdLst/>
            <a:ahLst/>
            <a:cxnLst/>
            <a:rect l="l" t="t" r="r" b="b"/>
            <a:pathLst>
              <a:path h="228600">
                <a:moveTo>
                  <a:pt x="0" y="228600"/>
                </a:moveTo>
                <a:lnTo>
                  <a:pt x="0" y="0"/>
                </a:lnTo>
              </a:path>
            </a:pathLst>
          </a:custGeom>
          <a:ln w="12700">
            <a:solidFill>
              <a:srgbClr val="906048"/>
            </a:solidFill>
          </a:ln>
        </p:spPr>
        <p:txBody>
          <a:bodyPr wrap="square" lIns="0" tIns="0" rIns="0" bIns="0" rtlCol="0"/>
          <a:lstStyle/>
          <a:p>
            <a:endParaRPr/>
          </a:p>
        </p:txBody>
      </p:sp>
      <p:sp>
        <p:nvSpPr>
          <p:cNvPr id="43" name="object 43"/>
          <p:cNvSpPr/>
          <p:nvPr/>
        </p:nvSpPr>
        <p:spPr>
          <a:xfrm>
            <a:off x="15108770" y="7160683"/>
            <a:ext cx="1193800" cy="0"/>
          </a:xfrm>
          <a:custGeom>
            <a:avLst/>
            <a:gdLst/>
            <a:ahLst/>
            <a:cxnLst/>
            <a:rect l="l" t="t" r="r" b="b"/>
            <a:pathLst>
              <a:path w="1193800">
                <a:moveTo>
                  <a:pt x="0" y="0"/>
                </a:moveTo>
                <a:lnTo>
                  <a:pt x="1193800" y="0"/>
                </a:lnTo>
              </a:path>
            </a:pathLst>
          </a:custGeom>
          <a:ln w="12700">
            <a:solidFill>
              <a:srgbClr val="906048"/>
            </a:solidFill>
          </a:ln>
        </p:spPr>
        <p:txBody>
          <a:bodyPr wrap="square" lIns="0" tIns="0" rIns="0" bIns="0" rtlCol="0"/>
          <a:lstStyle/>
          <a:p>
            <a:endParaRPr/>
          </a:p>
        </p:txBody>
      </p:sp>
      <p:grpSp>
        <p:nvGrpSpPr>
          <p:cNvPr id="44" name="object 44"/>
          <p:cNvGrpSpPr/>
          <p:nvPr/>
        </p:nvGrpSpPr>
        <p:grpSpPr>
          <a:xfrm>
            <a:off x="15108770" y="7205133"/>
            <a:ext cx="1193800" cy="567690"/>
            <a:chOff x="15108770" y="7205133"/>
            <a:chExt cx="1193800" cy="567690"/>
          </a:xfrm>
        </p:grpSpPr>
        <p:sp>
          <p:nvSpPr>
            <p:cNvPr id="45" name="object 45"/>
            <p:cNvSpPr/>
            <p:nvPr/>
          </p:nvSpPr>
          <p:spPr>
            <a:xfrm>
              <a:off x="15108770" y="7766050"/>
              <a:ext cx="1193800" cy="0"/>
            </a:xfrm>
            <a:custGeom>
              <a:avLst/>
              <a:gdLst/>
              <a:ahLst/>
              <a:cxnLst/>
              <a:rect l="l" t="t" r="r" b="b"/>
              <a:pathLst>
                <a:path w="1193800">
                  <a:moveTo>
                    <a:pt x="0" y="0"/>
                  </a:moveTo>
                  <a:lnTo>
                    <a:pt x="1193800" y="0"/>
                  </a:lnTo>
                </a:path>
              </a:pathLst>
            </a:custGeom>
            <a:ln w="12700">
              <a:solidFill>
                <a:srgbClr val="906048"/>
              </a:solidFill>
            </a:ln>
          </p:spPr>
          <p:txBody>
            <a:bodyPr wrap="square" lIns="0" tIns="0" rIns="0" bIns="0" rtlCol="0"/>
            <a:lstStyle/>
            <a:p>
              <a:endParaRPr/>
            </a:p>
          </p:txBody>
        </p:sp>
        <p:sp>
          <p:nvSpPr>
            <p:cNvPr id="46" name="object 46"/>
            <p:cNvSpPr/>
            <p:nvPr/>
          </p:nvSpPr>
          <p:spPr>
            <a:xfrm>
              <a:off x="15153220" y="7205133"/>
              <a:ext cx="0" cy="546100"/>
            </a:xfrm>
            <a:custGeom>
              <a:avLst/>
              <a:gdLst/>
              <a:ahLst/>
              <a:cxnLst/>
              <a:rect l="l" t="t" r="r" b="b"/>
              <a:pathLst>
                <a:path h="546100">
                  <a:moveTo>
                    <a:pt x="0" y="546100"/>
                  </a:moveTo>
                  <a:lnTo>
                    <a:pt x="0" y="0"/>
                  </a:lnTo>
                </a:path>
              </a:pathLst>
            </a:custGeom>
            <a:ln w="12700">
              <a:solidFill>
                <a:srgbClr val="8C5B44"/>
              </a:solidFill>
            </a:ln>
          </p:spPr>
          <p:txBody>
            <a:bodyPr wrap="square" lIns="0" tIns="0" rIns="0" bIns="0" rtlCol="0"/>
            <a:lstStyle/>
            <a:p>
              <a:endParaRPr/>
            </a:p>
          </p:txBody>
        </p:sp>
        <p:sp>
          <p:nvSpPr>
            <p:cNvPr id="47" name="object 47"/>
            <p:cNvSpPr/>
            <p:nvPr/>
          </p:nvSpPr>
          <p:spPr>
            <a:xfrm>
              <a:off x="16283520" y="7205133"/>
              <a:ext cx="0" cy="546100"/>
            </a:xfrm>
            <a:custGeom>
              <a:avLst/>
              <a:gdLst/>
              <a:ahLst/>
              <a:cxnLst/>
              <a:rect l="l" t="t" r="r" b="b"/>
              <a:pathLst>
                <a:path h="546100">
                  <a:moveTo>
                    <a:pt x="0" y="546100"/>
                  </a:moveTo>
                  <a:lnTo>
                    <a:pt x="0" y="0"/>
                  </a:lnTo>
                </a:path>
              </a:pathLst>
            </a:custGeom>
            <a:ln w="12700">
              <a:solidFill>
                <a:srgbClr val="8C5B44"/>
              </a:solidFill>
            </a:ln>
          </p:spPr>
          <p:txBody>
            <a:bodyPr wrap="square" lIns="0" tIns="0" rIns="0" bIns="0" rtlCol="0"/>
            <a:lstStyle/>
            <a:p>
              <a:endParaRPr/>
            </a:p>
          </p:txBody>
        </p:sp>
        <p:sp>
          <p:nvSpPr>
            <p:cNvPr id="48" name="object 48"/>
            <p:cNvSpPr/>
            <p:nvPr/>
          </p:nvSpPr>
          <p:spPr>
            <a:xfrm>
              <a:off x="15654870" y="7211483"/>
              <a:ext cx="635000" cy="0"/>
            </a:xfrm>
            <a:custGeom>
              <a:avLst/>
              <a:gdLst/>
              <a:ahLst/>
              <a:cxnLst/>
              <a:rect l="l" t="t" r="r" b="b"/>
              <a:pathLst>
                <a:path w="635000">
                  <a:moveTo>
                    <a:pt x="0" y="0"/>
                  </a:moveTo>
                  <a:lnTo>
                    <a:pt x="635000" y="0"/>
                  </a:lnTo>
                </a:path>
              </a:pathLst>
            </a:custGeom>
            <a:ln w="12700">
              <a:solidFill>
                <a:srgbClr val="8C5B44"/>
              </a:solidFill>
            </a:ln>
          </p:spPr>
          <p:txBody>
            <a:bodyPr wrap="square" lIns="0" tIns="0" rIns="0" bIns="0" rtlCol="0"/>
            <a:lstStyle/>
            <a:p>
              <a:endParaRPr/>
            </a:p>
          </p:txBody>
        </p:sp>
        <p:sp>
          <p:nvSpPr>
            <p:cNvPr id="49" name="object 49"/>
            <p:cNvSpPr/>
            <p:nvPr/>
          </p:nvSpPr>
          <p:spPr>
            <a:xfrm>
              <a:off x="15146870" y="7744883"/>
              <a:ext cx="1143000" cy="0"/>
            </a:xfrm>
            <a:custGeom>
              <a:avLst/>
              <a:gdLst/>
              <a:ahLst/>
              <a:cxnLst/>
              <a:rect l="l" t="t" r="r" b="b"/>
              <a:pathLst>
                <a:path w="1143000">
                  <a:moveTo>
                    <a:pt x="0" y="0"/>
                  </a:moveTo>
                  <a:lnTo>
                    <a:pt x="1143000" y="0"/>
                  </a:lnTo>
                </a:path>
              </a:pathLst>
            </a:custGeom>
            <a:ln w="12700">
              <a:solidFill>
                <a:srgbClr val="8C5B44"/>
              </a:solidFill>
            </a:ln>
          </p:spPr>
          <p:txBody>
            <a:bodyPr wrap="square" lIns="0" tIns="0" rIns="0" bIns="0" rtlCol="0"/>
            <a:lstStyle/>
            <a:p>
              <a:endParaRPr/>
            </a:p>
          </p:txBody>
        </p:sp>
      </p:grpSp>
      <p:sp>
        <p:nvSpPr>
          <p:cNvPr id="50" name="object 50"/>
          <p:cNvSpPr/>
          <p:nvPr/>
        </p:nvSpPr>
        <p:spPr>
          <a:xfrm>
            <a:off x="9654116" y="2849032"/>
            <a:ext cx="0" cy="622300"/>
          </a:xfrm>
          <a:custGeom>
            <a:avLst/>
            <a:gdLst/>
            <a:ahLst/>
            <a:cxnLst/>
            <a:rect l="l" t="t" r="r" b="b"/>
            <a:pathLst>
              <a:path h="622300">
                <a:moveTo>
                  <a:pt x="0" y="622300"/>
                </a:moveTo>
                <a:lnTo>
                  <a:pt x="0" y="0"/>
                </a:lnTo>
              </a:path>
            </a:pathLst>
          </a:custGeom>
          <a:ln w="12700">
            <a:solidFill>
              <a:srgbClr val="906048"/>
            </a:solidFill>
          </a:ln>
        </p:spPr>
        <p:txBody>
          <a:bodyPr wrap="square" lIns="0" tIns="0" rIns="0" bIns="0" rtlCol="0"/>
          <a:lstStyle/>
          <a:p>
            <a:endParaRPr/>
          </a:p>
        </p:txBody>
      </p:sp>
      <p:grpSp>
        <p:nvGrpSpPr>
          <p:cNvPr id="51" name="object 51"/>
          <p:cNvGrpSpPr/>
          <p:nvPr/>
        </p:nvGrpSpPr>
        <p:grpSpPr>
          <a:xfrm>
            <a:off x="9647766" y="2849032"/>
            <a:ext cx="3340100" cy="622300"/>
            <a:chOff x="9647766" y="2849032"/>
            <a:chExt cx="3340100" cy="622300"/>
          </a:xfrm>
        </p:grpSpPr>
        <p:sp>
          <p:nvSpPr>
            <p:cNvPr id="52" name="object 52"/>
            <p:cNvSpPr/>
            <p:nvPr/>
          </p:nvSpPr>
          <p:spPr>
            <a:xfrm>
              <a:off x="12981520" y="2849032"/>
              <a:ext cx="0" cy="622300"/>
            </a:xfrm>
            <a:custGeom>
              <a:avLst/>
              <a:gdLst/>
              <a:ahLst/>
              <a:cxnLst/>
              <a:rect l="l" t="t" r="r" b="b"/>
              <a:pathLst>
                <a:path h="622300">
                  <a:moveTo>
                    <a:pt x="0" y="622300"/>
                  </a:moveTo>
                  <a:lnTo>
                    <a:pt x="0" y="0"/>
                  </a:lnTo>
                </a:path>
              </a:pathLst>
            </a:custGeom>
            <a:ln w="12700">
              <a:solidFill>
                <a:srgbClr val="906048"/>
              </a:solidFill>
            </a:ln>
          </p:spPr>
          <p:txBody>
            <a:bodyPr wrap="square" lIns="0" tIns="0" rIns="0" bIns="0" rtlCol="0"/>
            <a:lstStyle/>
            <a:p>
              <a:endParaRPr/>
            </a:p>
          </p:txBody>
        </p:sp>
        <p:sp>
          <p:nvSpPr>
            <p:cNvPr id="53" name="object 53"/>
            <p:cNvSpPr/>
            <p:nvPr/>
          </p:nvSpPr>
          <p:spPr>
            <a:xfrm>
              <a:off x="9647766" y="2855382"/>
              <a:ext cx="3340100" cy="0"/>
            </a:xfrm>
            <a:custGeom>
              <a:avLst/>
              <a:gdLst/>
              <a:ahLst/>
              <a:cxnLst/>
              <a:rect l="l" t="t" r="r" b="b"/>
              <a:pathLst>
                <a:path w="3340100">
                  <a:moveTo>
                    <a:pt x="0" y="0"/>
                  </a:moveTo>
                  <a:lnTo>
                    <a:pt x="3340100" y="0"/>
                  </a:lnTo>
                </a:path>
              </a:pathLst>
            </a:custGeom>
            <a:ln w="12700">
              <a:solidFill>
                <a:srgbClr val="906048"/>
              </a:solidFill>
            </a:ln>
          </p:spPr>
          <p:txBody>
            <a:bodyPr wrap="square" lIns="0" tIns="0" rIns="0" bIns="0" rtlCol="0"/>
            <a:lstStyle/>
            <a:p>
              <a:endParaRPr/>
            </a:p>
          </p:txBody>
        </p:sp>
        <p:sp>
          <p:nvSpPr>
            <p:cNvPr id="54" name="object 54"/>
            <p:cNvSpPr/>
            <p:nvPr/>
          </p:nvSpPr>
          <p:spPr>
            <a:xfrm>
              <a:off x="10981266" y="3464982"/>
              <a:ext cx="2006600" cy="0"/>
            </a:xfrm>
            <a:custGeom>
              <a:avLst/>
              <a:gdLst/>
              <a:ahLst/>
              <a:cxnLst/>
              <a:rect l="l" t="t" r="r" b="b"/>
              <a:pathLst>
                <a:path w="2006600">
                  <a:moveTo>
                    <a:pt x="0" y="0"/>
                  </a:moveTo>
                  <a:lnTo>
                    <a:pt x="2006600" y="0"/>
                  </a:lnTo>
                </a:path>
              </a:pathLst>
            </a:custGeom>
            <a:ln w="12700">
              <a:solidFill>
                <a:srgbClr val="906048"/>
              </a:solidFill>
            </a:ln>
          </p:spPr>
          <p:txBody>
            <a:bodyPr wrap="square" lIns="0" tIns="0" rIns="0" bIns="0" rtlCol="0"/>
            <a:lstStyle/>
            <a:p>
              <a:endParaRPr/>
            </a:p>
          </p:txBody>
        </p:sp>
      </p:grpSp>
      <p:sp>
        <p:nvSpPr>
          <p:cNvPr id="55" name="object 55"/>
          <p:cNvSpPr/>
          <p:nvPr/>
        </p:nvSpPr>
        <p:spPr>
          <a:xfrm>
            <a:off x="15127820" y="2849032"/>
            <a:ext cx="0" cy="622300"/>
          </a:xfrm>
          <a:custGeom>
            <a:avLst/>
            <a:gdLst/>
            <a:ahLst/>
            <a:cxnLst/>
            <a:rect l="l" t="t" r="r" b="b"/>
            <a:pathLst>
              <a:path h="622300">
                <a:moveTo>
                  <a:pt x="0" y="622300"/>
                </a:moveTo>
                <a:lnTo>
                  <a:pt x="0" y="0"/>
                </a:lnTo>
              </a:path>
            </a:pathLst>
          </a:custGeom>
          <a:ln w="12700">
            <a:solidFill>
              <a:srgbClr val="906048"/>
            </a:solidFill>
          </a:ln>
        </p:spPr>
        <p:txBody>
          <a:bodyPr wrap="square" lIns="0" tIns="0" rIns="0" bIns="0" rtlCol="0"/>
          <a:lstStyle/>
          <a:p>
            <a:endParaRPr/>
          </a:p>
        </p:txBody>
      </p:sp>
      <p:sp>
        <p:nvSpPr>
          <p:cNvPr id="56" name="object 56"/>
          <p:cNvSpPr/>
          <p:nvPr/>
        </p:nvSpPr>
        <p:spPr>
          <a:xfrm>
            <a:off x="16296220" y="2937932"/>
            <a:ext cx="0" cy="190500"/>
          </a:xfrm>
          <a:custGeom>
            <a:avLst/>
            <a:gdLst/>
            <a:ahLst/>
            <a:cxnLst/>
            <a:rect l="l" t="t" r="r" b="b"/>
            <a:pathLst>
              <a:path h="190500">
                <a:moveTo>
                  <a:pt x="0" y="190500"/>
                </a:moveTo>
                <a:lnTo>
                  <a:pt x="0" y="0"/>
                </a:lnTo>
              </a:path>
            </a:pathLst>
          </a:custGeom>
          <a:ln w="12700">
            <a:solidFill>
              <a:srgbClr val="906048"/>
            </a:solidFill>
          </a:ln>
        </p:spPr>
        <p:txBody>
          <a:bodyPr wrap="square" lIns="0" tIns="0" rIns="0" bIns="0" rtlCol="0"/>
          <a:lstStyle/>
          <a:p>
            <a:endParaRPr/>
          </a:p>
        </p:txBody>
      </p:sp>
      <p:sp>
        <p:nvSpPr>
          <p:cNvPr id="57" name="object 57"/>
          <p:cNvSpPr/>
          <p:nvPr/>
        </p:nvSpPr>
        <p:spPr>
          <a:xfrm>
            <a:off x="15121470" y="2855382"/>
            <a:ext cx="1181100" cy="0"/>
          </a:xfrm>
          <a:custGeom>
            <a:avLst/>
            <a:gdLst/>
            <a:ahLst/>
            <a:cxnLst/>
            <a:rect l="l" t="t" r="r" b="b"/>
            <a:pathLst>
              <a:path w="1181100">
                <a:moveTo>
                  <a:pt x="0" y="0"/>
                </a:moveTo>
                <a:lnTo>
                  <a:pt x="1181100" y="0"/>
                </a:lnTo>
              </a:path>
            </a:pathLst>
          </a:custGeom>
          <a:ln w="12700">
            <a:solidFill>
              <a:srgbClr val="906048"/>
            </a:solidFill>
          </a:ln>
        </p:spPr>
        <p:txBody>
          <a:bodyPr wrap="square" lIns="0" tIns="0" rIns="0" bIns="0" rtlCol="0"/>
          <a:lstStyle/>
          <a:p>
            <a:endParaRPr/>
          </a:p>
        </p:txBody>
      </p:sp>
      <p:sp>
        <p:nvSpPr>
          <p:cNvPr id="58" name="object 58"/>
          <p:cNvSpPr/>
          <p:nvPr/>
        </p:nvSpPr>
        <p:spPr>
          <a:xfrm>
            <a:off x="15121470" y="3464983"/>
            <a:ext cx="1181100" cy="0"/>
          </a:xfrm>
          <a:custGeom>
            <a:avLst/>
            <a:gdLst/>
            <a:ahLst/>
            <a:cxnLst/>
            <a:rect l="l" t="t" r="r" b="b"/>
            <a:pathLst>
              <a:path w="1181100">
                <a:moveTo>
                  <a:pt x="0" y="0"/>
                </a:moveTo>
                <a:lnTo>
                  <a:pt x="1181100" y="0"/>
                </a:lnTo>
              </a:path>
            </a:pathLst>
          </a:custGeom>
          <a:ln w="12700">
            <a:solidFill>
              <a:srgbClr val="906048"/>
            </a:solidFill>
          </a:ln>
        </p:spPr>
        <p:txBody>
          <a:bodyPr wrap="square" lIns="0" tIns="0" rIns="0" bIns="0" rtlCol="0"/>
          <a:lstStyle/>
          <a:p>
            <a:endParaRPr/>
          </a:p>
        </p:txBody>
      </p:sp>
      <p:pic>
        <p:nvPicPr>
          <p:cNvPr id="59" name="object 59"/>
          <p:cNvPicPr/>
          <p:nvPr/>
        </p:nvPicPr>
        <p:blipFill>
          <a:blip r:embed="rId9" cstate="print"/>
          <a:stretch>
            <a:fillRect/>
          </a:stretch>
        </p:blipFill>
        <p:spPr>
          <a:xfrm>
            <a:off x="13436600" y="2857500"/>
            <a:ext cx="990600" cy="203200"/>
          </a:xfrm>
          <a:prstGeom prst="rect">
            <a:avLst/>
          </a:prstGeom>
        </p:spPr>
      </p:pic>
      <p:pic>
        <p:nvPicPr>
          <p:cNvPr id="60" name="object 60"/>
          <p:cNvPicPr/>
          <p:nvPr/>
        </p:nvPicPr>
        <p:blipFill>
          <a:blip r:embed="rId10" cstate="print"/>
          <a:stretch>
            <a:fillRect/>
          </a:stretch>
        </p:blipFill>
        <p:spPr>
          <a:xfrm>
            <a:off x="14541500" y="2857500"/>
            <a:ext cx="177800" cy="203200"/>
          </a:xfrm>
          <a:prstGeom prst="rect">
            <a:avLst/>
          </a:prstGeom>
        </p:spPr>
      </p:pic>
      <p:pic>
        <p:nvPicPr>
          <p:cNvPr id="61" name="object 61"/>
          <p:cNvPicPr/>
          <p:nvPr/>
        </p:nvPicPr>
        <p:blipFill>
          <a:blip r:embed="rId11" cstate="print"/>
          <a:stretch>
            <a:fillRect/>
          </a:stretch>
        </p:blipFill>
        <p:spPr>
          <a:xfrm>
            <a:off x="13030200" y="4114800"/>
            <a:ext cx="2082800" cy="190500"/>
          </a:xfrm>
          <a:prstGeom prst="rect">
            <a:avLst/>
          </a:prstGeom>
        </p:spPr>
      </p:pic>
      <p:pic>
        <p:nvPicPr>
          <p:cNvPr id="62" name="object 62"/>
          <p:cNvPicPr/>
          <p:nvPr/>
        </p:nvPicPr>
        <p:blipFill>
          <a:blip r:embed="rId12" cstate="print"/>
          <a:stretch>
            <a:fillRect/>
          </a:stretch>
        </p:blipFill>
        <p:spPr>
          <a:xfrm>
            <a:off x="13030200" y="5181600"/>
            <a:ext cx="2070100" cy="203200"/>
          </a:xfrm>
          <a:prstGeom prst="rect">
            <a:avLst/>
          </a:prstGeom>
        </p:spPr>
      </p:pic>
      <p:pic>
        <p:nvPicPr>
          <p:cNvPr id="63" name="object 63"/>
          <p:cNvPicPr/>
          <p:nvPr/>
        </p:nvPicPr>
        <p:blipFill>
          <a:blip r:embed="rId13" cstate="print"/>
          <a:stretch>
            <a:fillRect/>
          </a:stretch>
        </p:blipFill>
        <p:spPr>
          <a:xfrm>
            <a:off x="13030200" y="6261100"/>
            <a:ext cx="2095500" cy="203200"/>
          </a:xfrm>
          <a:prstGeom prst="rect">
            <a:avLst/>
          </a:prstGeom>
        </p:spPr>
      </p:pic>
      <p:pic>
        <p:nvPicPr>
          <p:cNvPr id="64" name="object 64"/>
          <p:cNvPicPr/>
          <p:nvPr/>
        </p:nvPicPr>
        <p:blipFill>
          <a:blip r:embed="rId14" cstate="print"/>
          <a:stretch>
            <a:fillRect/>
          </a:stretch>
        </p:blipFill>
        <p:spPr>
          <a:xfrm>
            <a:off x="13030200" y="7340600"/>
            <a:ext cx="2082800" cy="203200"/>
          </a:xfrm>
          <a:prstGeom prst="rect">
            <a:avLst/>
          </a:prstGeom>
        </p:spPr>
      </p:pic>
      <p:pic>
        <p:nvPicPr>
          <p:cNvPr id="65" name="object 65"/>
          <p:cNvPicPr/>
          <p:nvPr/>
        </p:nvPicPr>
        <p:blipFill>
          <a:blip r:embed="rId15" cstate="print"/>
          <a:stretch>
            <a:fillRect/>
          </a:stretch>
        </p:blipFill>
        <p:spPr>
          <a:xfrm>
            <a:off x="16129000" y="9499600"/>
            <a:ext cx="1206500" cy="127000"/>
          </a:xfrm>
          <a:prstGeom prst="rect">
            <a:avLst/>
          </a:prstGeom>
        </p:spPr>
      </p:pic>
      <p:pic>
        <p:nvPicPr>
          <p:cNvPr id="66" name="object 66"/>
          <p:cNvPicPr/>
          <p:nvPr/>
        </p:nvPicPr>
        <p:blipFill>
          <a:blip r:embed="rId16" cstate="print"/>
          <a:stretch>
            <a:fillRect/>
          </a:stretch>
        </p:blipFill>
        <p:spPr>
          <a:xfrm>
            <a:off x="15379700" y="2870200"/>
            <a:ext cx="952500" cy="558800"/>
          </a:xfrm>
          <a:prstGeom prst="rect">
            <a:avLst/>
          </a:prstGeom>
        </p:spPr>
      </p:pic>
      <p:sp>
        <p:nvSpPr>
          <p:cNvPr id="67" name="object 67"/>
          <p:cNvSpPr txBox="1">
            <a:spLocks noGrp="1"/>
          </p:cNvSpPr>
          <p:nvPr>
            <p:ph type="title"/>
          </p:nvPr>
        </p:nvSpPr>
        <p:spPr>
          <a:xfrm>
            <a:off x="1075456" y="295274"/>
            <a:ext cx="15266035" cy="882650"/>
          </a:xfrm>
          <a:prstGeom prst="rect">
            <a:avLst/>
          </a:prstGeom>
        </p:spPr>
        <p:txBody>
          <a:bodyPr vert="horz" wrap="square" lIns="0" tIns="15875" rIns="0" bIns="0" rtlCol="0">
            <a:spAutoFit/>
          </a:bodyPr>
          <a:lstStyle/>
          <a:p>
            <a:pPr marL="12700">
              <a:lnSpc>
                <a:spcPct val="100000"/>
              </a:lnSpc>
              <a:spcBef>
                <a:spcPts val="125"/>
              </a:spcBef>
            </a:pPr>
            <a:r>
              <a:rPr sz="5600" spc="-160" dirty="0">
                <a:solidFill>
                  <a:srgbClr val="1F2F46"/>
                </a:solidFill>
                <a:latin typeface="Arial MT"/>
                <a:cs typeface="Arial MT"/>
              </a:rPr>
              <a:t>THE</a:t>
            </a:r>
            <a:r>
              <a:rPr sz="5600" spc="-260" dirty="0">
                <a:solidFill>
                  <a:srgbClr val="1F2F46"/>
                </a:solidFill>
                <a:latin typeface="Arial MT"/>
                <a:cs typeface="Arial MT"/>
              </a:rPr>
              <a:t> </a:t>
            </a:r>
            <a:r>
              <a:rPr sz="5600" spc="-220" dirty="0">
                <a:solidFill>
                  <a:srgbClr val="1F2F49"/>
                </a:solidFill>
                <a:latin typeface="Arial MT"/>
                <a:cs typeface="Arial MT"/>
              </a:rPr>
              <a:t>ROOT</a:t>
            </a:r>
            <a:r>
              <a:rPr sz="5600" spc="-170" dirty="0">
                <a:solidFill>
                  <a:srgbClr val="1F2F49"/>
                </a:solidFill>
                <a:latin typeface="Arial MT"/>
                <a:cs typeface="Arial MT"/>
              </a:rPr>
              <a:t> </a:t>
            </a:r>
            <a:r>
              <a:rPr sz="5600" spc="-95" dirty="0">
                <a:solidFill>
                  <a:srgbClr val="2A2A2A"/>
                </a:solidFill>
                <a:latin typeface="Arial MT"/>
                <a:cs typeface="Arial MT"/>
              </a:rPr>
              <a:t>CAUSE:</a:t>
            </a:r>
            <a:r>
              <a:rPr sz="5600" spc="-290" dirty="0">
                <a:solidFill>
                  <a:srgbClr val="2A2A2A"/>
                </a:solidFill>
                <a:latin typeface="Arial MT"/>
                <a:cs typeface="Arial MT"/>
              </a:rPr>
              <a:t> </a:t>
            </a:r>
            <a:r>
              <a:rPr sz="5600" spc="-165" dirty="0">
                <a:solidFill>
                  <a:srgbClr val="2F2F2F"/>
                </a:solidFill>
                <a:latin typeface="Arial MT"/>
                <a:cs typeface="Arial MT"/>
              </a:rPr>
              <a:t>THE</a:t>
            </a:r>
            <a:r>
              <a:rPr sz="5600" spc="-295" dirty="0">
                <a:solidFill>
                  <a:srgbClr val="2F2F2F"/>
                </a:solidFill>
                <a:latin typeface="Arial MT"/>
                <a:cs typeface="Arial MT"/>
              </a:rPr>
              <a:t> </a:t>
            </a:r>
            <a:r>
              <a:rPr sz="5600" spc="-25" dirty="0">
                <a:solidFill>
                  <a:srgbClr val="2A2A2A"/>
                </a:solidFill>
                <a:latin typeface="Arial MT"/>
                <a:cs typeface="Arial MT"/>
              </a:rPr>
              <a:t>CHUNKING</a:t>
            </a:r>
            <a:r>
              <a:rPr sz="5600" spc="-260" dirty="0">
                <a:solidFill>
                  <a:srgbClr val="2A2A2A"/>
                </a:solidFill>
                <a:latin typeface="Arial MT"/>
                <a:cs typeface="Arial MT"/>
              </a:rPr>
              <a:t> </a:t>
            </a:r>
            <a:r>
              <a:rPr sz="5600" spc="-85" dirty="0">
                <a:solidFill>
                  <a:srgbClr val="2A2A2A"/>
                </a:solidFill>
                <a:latin typeface="Arial MT"/>
                <a:cs typeface="Arial MT"/>
              </a:rPr>
              <a:t>PROBLEM</a:t>
            </a:r>
            <a:endParaRPr sz="5600">
              <a:latin typeface="Arial MT"/>
              <a:cs typeface="Arial MT"/>
            </a:endParaRPr>
          </a:p>
        </p:txBody>
      </p:sp>
      <p:sp>
        <p:nvSpPr>
          <p:cNvPr id="68" name="object 68"/>
          <p:cNvSpPr txBox="1"/>
          <p:nvPr/>
        </p:nvSpPr>
        <p:spPr>
          <a:xfrm>
            <a:off x="2632737" y="1664758"/>
            <a:ext cx="13328015" cy="565150"/>
          </a:xfrm>
          <a:prstGeom prst="rect">
            <a:avLst/>
          </a:prstGeom>
        </p:spPr>
        <p:txBody>
          <a:bodyPr vert="horz" wrap="square" lIns="0" tIns="11430" rIns="0" bIns="0" rtlCol="0">
            <a:spAutoFit/>
          </a:bodyPr>
          <a:lstStyle/>
          <a:p>
            <a:pPr marL="12700">
              <a:lnSpc>
                <a:spcPct val="100000"/>
              </a:lnSpc>
              <a:spcBef>
                <a:spcPts val="90"/>
              </a:spcBef>
              <a:tabLst>
                <a:tab pos="7352030" algn="l"/>
              </a:tabLst>
            </a:pPr>
            <a:r>
              <a:rPr sz="3550" spc="-100" dirty="0">
                <a:solidFill>
                  <a:srgbClr val="262626"/>
                </a:solidFill>
                <a:latin typeface="Arial MT"/>
                <a:cs typeface="Arial MT"/>
              </a:rPr>
              <a:t>NAIVE</a:t>
            </a:r>
            <a:r>
              <a:rPr sz="3550" spc="-140" dirty="0">
                <a:solidFill>
                  <a:srgbClr val="262626"/>
                </a:solidFill>
                <a:latin typeface="Arial MT"/>
                <a:cs typeface="Arial MT"/>
              </a:rPr>
              <a:t> </a:t>
            </a:r>
            <a:r>
              <a:rPr sz="3550" spc="-10" dirty="0">
                <a:solidFill>
                  <a:srgbClr val="262626"/>
                </a:solidFill>
                <a:latin typeface="Arial MT"/>
                <a:cs typeface="Arial MT"/>
              </a:rPr>
              <a:t>CHUNKING</a:t>
            </a:r>
            <a:r>
              <a:rPr sz="3550" dirty="0">
                <a:solidFill>
                  <a:srgbClr val="262626"/>
                </a:solidFill>
                <a:latin typeface="Arial MT"/>
                <a:cs typeface="Arial MT"/>
              </a:rPr>
              <a:t>	</a:t>
            </a:r>
            <a:r>
              <a:rPr sz="3550" spc="-155" dirty="0">
                <a:solidFill>
                  <a:srgbClr val="262626"/>
                </a:solidFill>
                <a:latin typeface="Arial MT"/>
                <a:cs typeface="Arial MT"/>
              </a:rPr>
              <a:t>RELATIONAL</a:t>
            </a:r>
            <a:r>
              <a:rPr sz="3550" spc="-50" dirty="0">
                <a:solidFill>
                  <a:srgbClr val="262626"/>
                </a:solidFill>
                <a:latin typeface="Arial MT"/>
                <a:cs typeface="Arial MT"/>
              </a:rPr>
              <a:t> </a:t>
            </a:r>
            <a:r>
              <a:rPr sz="3550" spc="-195" dirty="0">
                <a:solidFill>
                  <a:srgbClr val="242424"/>
                </a:solidFill>
                <a:latin typeface="Arial MT"/>
                <a:cs typeface="Arial MT"/>
              </a:rPr>
              <a:t>PRESERVATION</a:t>
            </a:r>
            <a:endParaRPr sz="3550">
              <a:latin typeface="Arial MT"/>
              <a:cs typeface="Arial MT"/>
            </a:endParaRPr>
          </a:p>
        </p:txBody>
      </p:sp>
      <p:sp>
        <p:nvSpPr>
          <p:cNvPr id="69" name="object 69"/>
          <p:cNvSpPr txBox="1"/>
          <p:nvPr/>
        </p:nvSpPr>
        <p:spPr>
          <a:xfrm>
            <a:off x="1142907" y="3004255"/>
            <a:ext cx="5081270" cy="1005840"/>
          </a:xfrm>
          <a:prstGeom prst="rect">
            <a:avLst/>
          </a:prstGeom>
        </p:spPr>
        <p:txBody>
          <a:bodyPr vert="horz" wrap="square" lIns="0" tIns="12065" rIns="0" bIns="0" rtlCol="0">
            <a:spAutoFit/>
          </a:bodyPr>
          <a:lstStyle/>
          <a:p>
            <a:pPr marL="24130">
              <a:lnSpc>
                <a:spcPct val="100000"/>
              </a:lnSpc>
              <a:spcBef>
                <a:spcPts val="95"/>
              </a:spcBef>
            </a:pPr>
            <a:r>
              <a:rPr sz="3200" spc="-250" dirty="0">
                <a:latin typeface="Cambria"/>
                <a:cs typeface="Cambria"/>
              </a:rPr>
              <a:t>Apple</a:t>
            </a:r>
            <a:r>
              <a:rPr sz="3200" spc="70" dirty="0">
                <a:latin typeface="Cambria"/>
                <a:cs typeface="Cambria"/>
              </a:rPr>
              <a:t> </a:t>
            </a:r>
            <a:r>
              <a:rPr sz="3200" spc="-245" dirty="0">
                <a:latin typeface="Cambria"/>
                <a:cs typeface="Cambria"/>
              </a:rPr>
              <a:t>Computer,</a:t>
            </a:r>
            <a:r>
              <a:rPr sz="3200" spc="70" dirty="0">
                <a:latin typeface="Cambria"/>
                <a:cs typeface="Cambria"/>
              </a:rPr>
              <a:t> </a:t>
            </a:r>
            <a:r>
              <a:rPr sz="3200" spc="-30" dirty="0">
                <a:latin typeface="Cambria"/>
                <a:cs typeface="Cambria"/>
              </a:rPr>
              <a:t>Inc.</a:t>
            </a:r>
            <a:r>
              <a:rPr sz="3200" spc="-15" dirty="0">
                <a:latin typeface="Cambria"/>
                <a:cs typeface="Cambria"/>
              </a:rPr>
              <a:t> </a:t>
            </a:r>
            <a:r>
              <a:rPr sz="3200" spc="-440" dirty="0">
                <a:latin typeface="Cambria"/>
                <a:cs typeface="Cambria"/>
              </a:rPr>
              <a:t>was</a:t>
            </a:r>
            <a:r>
              <a:rPr sz="3200" spc="-45" dirty="0">
                <a:latin typeface="Cambria"/>
                <a:cs typeface="Cambria"/>
              </a:rPr>
              <a:t> </a:t>
            </a:r>
            <a:r>
              <a:rPr sz="3200" spc="-75" dirty="0">
                <a:latin typeface="Cambria"/>
                <a:cs typeface="Cambria"/>
              </a:rPr>
              <a:t>founde</a:t>
            </a:r>
            <a:endParaRPr sz="3200">
              <a:latin typeface="Cambria"/>
              <a:cs typeface="Cambria"/>
            </a:endParaRPr>
          </a:p>
          <a:p>
            <a:pPr marL="12700">
              <a:lnSpc>
                <a:spcPct val="100000"/>
              </a:lnSpc>
              <a:spcBef>
                <a:spcPts val="160"/>
              </a:spcBef>
              <a:tabLst>
                <a:tab pos="3399790" algn="l"/>
              </a:tabLst>
            </a:pPr>
            <a:r>
              <a:rPr sz="3100" spc="-170" dirty="0">
                <a:latin typeface="Cambria"/>
                <a:cs typeface="Cambria"/>
              </a:rPr>
              <a:t>The</a:t>
            </a:r>
            <a:r>
              <a:rPr sz="3100" spc="30" dirty="0">
                <a:latin typeface="Cambria"/>
                <a:cs typeface="Cambria"/>
              </a:rPr>
              <a:t> </a:t>
            </a:r>
            <a:r>
              <a:rPr sz="3100" spc="-195" dirty="0">
                <a:latin typeface="Cambria"/>
                <a:cs typeface="Cambria"/>
              </a:rPr>
              <a:t>Apple</a:t>
            </a:r>
            <a:r>
              <a:rPr sz="3100" spc="10" dirty="0">
                <a:latin typeface="Cambria"/>
                <a:cs typeface="Cambria"/>
              </a:rPr>
              <a:t> </a:t>
            </a:r>
            <a:r>
              <a:rPr sz="3100" spc="-535" dirty="0">
                <a:latin typeface="Cambria"/>
                <a:cs typeface="Cambria"/>
              </a:rPr>
              <a:t>11,</a:t>
            </a:r>
            <a:r>
              <a:rPr sz="3100" spc="70" dirty="0">
                <a:latin typeface="Cambria"/>
                <a:cs typeface="Cambria"/>
              </a:rPr>
              <a:t> </a:t>
            </a:r>
            <a:r>
              <a:rPr sz="3100" spc="-285" dirty="0">
                <a:latin typeface="Cambria"/>
                <a:cs typeface="Cambria"/>
              </a:rPr>
              <a:t>released</a:t>
            </a:r>
            <a:r>
              <a:rPr sz="3100" dirty="0">
                <a:latin typeface="Cambria"/>
                <a:cs typeface="Cambria"/>
              </a:rPr>
              <a:t>	</a:t>
            </a:r>
            <a:r>
              <a:rPr sz="3100" spc="-80" dirty="0">
                <a:latin typeface="Cambria"/>
                <a:cs typeface="Cambria"/>
              </a:rPr>
              <a:t>in </a:t>
            </a:r>
            <a:r>
              <a:rPr sz="3100" spc="-320" dirty="0">
                <a:latin typeface="Cambria"/>
                <a:cs typeface="Cambria"/>
              </a:rPr>
              <a:t>1977,</a:t>
            </a:r>
            <a:r>
              <a:rPr sz="3100" spc="70" dirty="0">
                <a:latin typeface="Cambria"/>
                <a:cs typeface="Cambria"/>
              </a:rPr>
              <a:t> </a:t>
            </a:r>
            <a:r>
              <a:rPr sz="3100" spc="-325" dirty="0">
                <a:latin typeface="Cambria"/>
                <a:cs typeface="Cambria"/>
              </a:rPr>
              <a:t>wa</a:t>
            </a:r>
            <a:endParaRPr sz="3100">
              <a:latin typeface="Cambria"/>
              <a:cs typeface="Cambria"/>
            </a:endParaRPr>
          </a:p>
        </p:txBody>
      </p:sp>
      <p:sp>
        <p:nvSpPr>
          <p:cNvPr id="70" name="object 70"/>
          <p:cNvSpPr txBox="1"/>
          <p:nvPr/>
        </p:nvSpPr>
        <p:spPr>
          <a:xfrm>
            <a:off x="6341533" y="3004255"/>
            <a:ext cx="1642745" cy="1005840"/>
          </a:xfrm>
          <a:prstGeom prst="rect">
            <a:avLst/>
          </a:prstGeom>
        </p:spPr>
        <p:txBody>
          <a:bodyPr vert="horz" wrap="square" lIns="0" tIns="12065" rIns="0" bIns="0" rtlCol="0">
            <a:spAutoFit/>
          </a:bodyPr>
          <a:lstStyle/>
          <a:p>
            <a:pPr marL="93345">
              <a:lnSpc>
                <a:spcPct val="100000"/>
              </a:lnSpc>
              <a:spcBef>
                <a:spcPts val="95"/>
              </a:spcBef>
            </a:pPr>
            <a:r>
              <a:rPr sz="3200" spc="-90" dirty="0">
                <a:latin typeface="Cambria"/>
                <a:cs typeface="Cambria"/>
              </a:rPr>
              <a:t>in</a:t>
            </a:r>
            <a:r>
              <a:rPr sz="3200" spc="-80" dirty="0">
                <a:latin typeface="Cambria"/>
                <a:cs typeface="Cambria"/>
              </a:rPr>
              <a:t> </a:t>
            </a:r>
            <a:r>
              <a:rPr sz="3200" spc="-345" dirty="0">
                <a:latin typeface="Cambria"/>
                <a:cs typeface="Cambria"/>
              </a:rPr>
              <a:t>1976.</a:t>
            </a:r>
            <a:endParaRPr sz="3200">
              <a:latin typeface="Cambria"/>
              <a:cs typeface="Cambria"/>
            </a:endParaRPr>
          </a:p>
          <a:p>
            <a:pPr marL="93980">
              <a:lnSpc>
                <a:spcPct val="100000"/>
              </a:lnSpc>
              <a:spcBef>
                <a:spcPts val="160"/>
              </a:spcBef>
            </a:pPr>
            <a:r>
              <a:rPr sz="3100" spc="-50" dirty="0">
                <a:latin typeface="Cambria"/>
                <a:cs typeface="Cambria"/>
              </a:rPr>
              <a:t>a</a:t>
            </a:r>
            <a:r>
              <a:rPr sz="3100" spc="-170" dirty="0">
                <a:latin typeface="Cambria"/>
                <a:cs typeface="Cambria"/>
              </a:rPr>
              <a:t> </a:t>
            </a:r>
            <a:r>
              <a:rPr sz="3100" spc="-10" dirty="0">
                <a:latin typeface="Cambria"/>
                <a:cs typeface="Cambria"/>
              </a:rPr>
              <a:t>major</a:t>
            </a:r>
            <a:endParaRPr sz="3100">
              <a:latin typeface="Cambria"/>
              <a:cs typeface="Cambria"/>
            </a:endParaRPr>
          </a:p>
        </p:txBody>
      </p:sp>
      <p:sp>
        <p:nvSpPr>
          <p:cNvPr id="71" name="object 71"/>
          <p:cNvSpPr txBox="1"/>
          <p:nvPr/>
        </p:nvSpPr>
        <p:spPr>
          <a:xfrm>
            <a:off x="1150585" y="4037894"/>
            <a:ext cx="6833870" cy="491490"/>
          </a:xfrm>
          <a:prstGeom prst="rect">
            <a:avLst/>
          </a:prstGeom>
        </p:spPr>
        <p:txBody>
          <a:bodyPr vert="horz" wrap="square" lIns="0" tIns="13335" rIns="0" bIns="0" rtlCol="0">
            <a:spAutoFit/>
          </a:bodyPr>
          <a:lstStyle/>
          <a:p>
            <a:pPr marL="12700">
              <a:lnSpc>
                <a:spcPct val="100000"/>
              </a:lnSpc>
              <a:spcBef>
                <a:spcPts val="105"/>
              </a:spcBef>
              <a:tabLst>
                <a:tab pos="3380740" algn="l"/>
              </a:tabLst>
            </a:pPr>
            <a:r>
              <a:rPr sz="3050" spc="-125" dirty="0">
                <a:latin typeface="Cambria"/>
                <a:cs typeface="Cambria"/>
              </a:rPr>
              <a:t>success.</a:t>
            </a:r>
            <a:r>
              <a:rPr sz="3050" spc="15" dirty="0">
                <a:latin typeface="Cambria"/>
                <a:cs typeface="Cambria"/>
              </a:rPr>
              <a:t> </a:t>
            </a:r>
            <a:r>
              <a:rPr sz="3050" spc="-110" dirty="0">
                <a:latin typeface="Cambria"/>
                <a:cs typeface="Cambria"/>
              </a:rPr>
              <a:t>The</a:t>
            </a:r>
            <a:r>
              <a:rPr sz="3050" spc="-55" dirty="0">
                <a:latin typeface="Cambria"/>
                <a:cs typeface="Cambria"/>
              </a:rPr>
              <a:t> </a:t>
            </a:r>
            <a:r>
              <a:rPr sz="3050" spc="-155" dirty="0">
                <a:latin typeface="Cambria"/>
                <a:cs typeface="Cambria"/>
              </a:rPr>
              <a:t>Apple</a:t>
            </a:r>
            <a:r>
              <a:rPr sz="3050" spc="-15" dirty="0">
                <a:latin typeface="Cambria"/>
                <a:cs typeface="Cambria"/>
              </a:rPr>
              <a:t> </a:t>
            </a:r>
            <a:r>
              <a:rPr sz="3050" spc="-25" dirty="0">
                <a:latin typeface="Cambria"/>
                <a:cs typeface="Cambria"/>
              </a:rPr>
              <a:t>Li</a:t>
            </a:r>
            <a:r>
              <a:rPr sz="3050" dirty="0">
                <a:latin typeface="Cambria"/>
                <a:cs typeface="Cambria"/>
              </a:rPr>
              <a:t>	a,</a:t>
            </a:r>
            <a:r>
              <a:rPr sz="3050" spc="-150" dirty="0">
                <a:latin typeface="Cambria"/>
                <a:cs typeface="Cambria"/>
              </a:rPr>
              <a:t> introduced</a:t>
            </a:r>
            <a:r>
              <a:rPr sz="3050" spc="60" dirty="0">
                <a:latin typeface="Cambria"/>
                <a:cs typeface="Cambria"/>
              </a:rPr>
              <a:t> </a:t>
            </a:r>
            <a:r>
              <a:rPr sz="3050" dirty="0">
                <a:latin typeface="Cambria"/>
                <a:cs typeface="Cambria"/>
              </a:rPr>
              <a:t>in</a:t>
            </a:r>
            <a:r>
              <a:rPr sz="3050" spc="-75" dirty="0">
                <a:latin typeface="Cambria"/>
                <a:cs typeface="Cambria"/>
              </a:rPr>
              <a:t> </a:t>
            </a:r>
            <a:r>
              <a:rPr sz="3050" spc="-50" dirty="0">
                <a:latin typeface="Cambria"/>
                <a:cs typeface="Cambria"/>
              </a:rPr>
              <a:t>1985,</a:t>
            </a:r>
            <a:endParaRPr sz="3050">
              <a:latin typeface="Cambria"/>
              <a:cs typeface="Cambria"/>
            </a:endParaRPr>
          </a:p>
        </p:txBody>
      </p:sp>
      <p:sp>
        <p:nvSpPr>
          <p:cNvPr id="72" name="object 72"/>
          <p:cNvSpPr txBox="1"/>
          <p:nvPr/>
        </p:nvSpPr>
        <p:spPr>
          <a:xfrm>
            <a:off x="4523316" y="5115983"/>
            <a:ext cx="1765300" cy="552450"/>
          </a:xfrm>
          <a:prstGeom prst="rect">
            <a:avLst/>
          </a:prstGeom>
          <a:ln w="4233">
            <a:solidFill>
              <a:srgbClr val="2F5777"/>
            </a:solidFill>
          </a:ln>
        </p:spPr>
        <p:txBody>
          <a:bodyPr vert="horz" wrap="square" lIns="0" tIns="0" rIns="0" bIns="0" rtlCol="0">
            <a:spAutoFit/>
          </a:bodyPr>
          <a:lstStyle/>
          <a:p>
            <a:pPr marL="101600">
              <a:lnSpc>
                <a:spcPts val="3635"/>
              </a:lnSpc>
            </a:pPr>
            <a:r>
              <a:rPr sz="3100" spc="-85" dirty="0">
                <a:latin typeface="Cambria"/>
                <a:cs typeface="Cambria"/>
              </a:rPr>
              <a:t>Macintosh</a:t>
            </a:r>
            <a:endParaRPr sz="3100">
              <a:latin typeface="Cambria"/>
              <a:cs typeface="Cambria"/>
            </a:endParaRPr>
          </a:p>
        </p:txBody>
      </p:sp>
      <p:sp>
        <p:nvSpPr>
          <p:cNvPr id="73" name="object 73"/>
          <p:cNvSpPr txBox="1"/>
          <p:nvPr/>
        </p:nvSpPr>
        <p:spPr>
          <a:xfrm>
            <a:off x="969433" y="4516370"/>
            <a:ext cx="7014845" cy="1075055"/>
          </a:xfrm>
          <a:prstGeom prst="rect">
            <a:avLst/>
          </a:prstGeom>
        </p:spPr>
        <p:txBody>
          <a:bodyPr vert="horz" wrap="square" lIns="0" tIns="55244" rIns="0" bIns="0" rtlCol="0">
            <a:spAutoFit/>
          </a:bodyPr>
          <a:lstStyle/>
          <a:p>
            <a:pPr marL="193040">
              <a:lnSpc>
                <a:spcPct val="100000"/>
              </a:lnSpc>
              <a:spcBef>
                <a:spcPts val="434"/>
              </a:spcBef>
              <a:tabLst>
                <a:tab pos="5378450" algn="l"/>
              </a:tabLst>
            </a:pPr>
            <a:r>
              <a:rPr sz="3200" spc="-295" dirty="0">
                <a:latin typeface="Cambria"/>
                <a:cs typeface="Cambria"/>
              </a:rPr>
              <a:t>was</a:t>
            </a:r>
            <a:r>
              <a:rPr sz="3200" spc="-114" dirty="0">
                <a:latin typeface="Cambria"/>
                <a:cs typeface="Cambria"/>
              </a:rPr>
              <a:t> </a:t>
            </a:r>
            <a:r>
              <a:rPr sz="3200" spc="-245" dirty="0">
                <a:latin typeface="Cambria"/>
                <a:cs typeface="Cambria"/>
              </a:rPr>
              <a:t>one</a:t>
            </a:r>
            <a:r>
              <a:rPr sz="3200" spc="-85" dirty="0">
                <a:latin typeface="Cambria"/>
                <a:cs typeface="Cambria"/>
              </a:rPr>
              <a:t> </a:t>
            </a:r>
            <a:r>
              <a:rPr sz="3200" spc="-120" dirty="0">
                <a:latin typeface="Cambria"/>
                <a:cs typeface="Cambria"/>
              </a:rPr>
              <a:t>of</a:t>
            </a:r>
            <a:r>
              <a:rPr sz="3200" spc="-55" dirty="0">
                <a:latin typeface="Cambria"/>
                <a:cs typeface="Cambria"/>
              </a:rPr>
              <a:t> </a:t>
            </a:r>
            <a:r>
              <a:rPr sz="3200" spc="-200" dirty="0">
                <a:latin typeface="Cambria"/>
                <a:cs typeface="Cambria"/>
              </a:rPr>
              <a:t>the</a:t>
            </a:r>
            <a:r>
              <a:rPr sz="3200" spc="-40" dirty="0">
                <a:latin typeface="Cambria"/>
                <a:cs typeface="Cambria"/>
              </a:rPr>
              <a:t> </a:t>
            </a:r>
            <a:r>
              <a:rPr sz="3200" spc="-190" dirty="0">
                <a:latin typeface="Cambria"/>
                <a:cs typeface="Cambria"/>
              </a:rPr>
              <a:t>first</a:t>
            </a:r>
            <a:r>
              <a:rPr sz="3200" spc="125" dirty="0">
                <a:latin typeface="Cambria"/>
                <a:cs typeface="Cambria"/>
              </a:rPr>
              <a:t> </a:t>
            </a:r>
            <a:r>
              <a:rPr sz="3200" spc="-360" dirty="0">
                <a:latin typeface="Cambria"/>
                <a:cs typeface="Cambria"/>
              </a:rPr>
              <a:t>p‹</a:t>
            </a:r>
            <a:r>
              <a:rPr sz="3200" spc="120" dirty="0">
                <a:latin typeface="Cambria"/>
                <a:cs typeface="Cambria"/>
              </a:rPr>
              <a:t> </a:t>
            </a:r>
            <a:r>
              <a:rPr sz="3200" spc="-225" dirty="0">
                <a:latin typeface="Cambria"/>
                <a:cs typeface="Cambria"/>
              </a:rPr>
              <a:t>rsonal</a:t>
            </a:r>
            <a:r>
              <a:rPr sz="3200" spc="-30" dirty="0">
                <a:latin typeface="Cambria"/>
                <a:cs typeface="Cambria"/>
              </a:rPr>
              <a:t> </a:t>
            </a:r>
            <a:r>
              <a:rPr sz="3200" spc="-300" dirty="0">
                <a:latin typeface="Cambria"/>
                <a:cs typeface="Cambria"/>
              </a:rPr>
              <a:t>com</a:t>
            </a:r>
            <a:r>
              <a:rPr sz="3200" dirty="0">
                <a:latin typeface="Cambria"/>
                <a:cs typeface="Cambria"/>
              </a:rPr>
              <a:t>	</a:t>
            </a:r>
            <a:r>
              <a:rPr sz="3200" spc="-40" dirty="0">
                <a:latin typeface="Cambria"/>
                <a:cs typeface="Cambria"/>
              </a:rPr>
              <a:t>uters</a:t>
            </a:r>
            <a:endParaRPr sz="3200">
              <a:latin typeface="Cambria"/>
              <a:cs typeface="Cambria"/>
            </a:endParaRPr>
          </a:p>
          <a:p>
            <a:pPr marL="193040">
              <a:lnSpc>
                <a:spcPct val="100000"/>
              </a:lnSpc>
              <a:spcBef>
                <a:spcPts val="360"/>
              </a:spcBef>
              <a:tabLst>
                <a:tab pos="5334635" algn="l"/>
              </a:tabLst>
            </a:pPr>
            <a:r>
              <a:rPr sz="3100" spc="-185" dirty="0">
                <a:latin typeface="Cambria"/>
                <a:cs typeface="Cambria"/>
              </a:rPr>
              <a:t>with</a:t>
            </a:r>
            <a:r>
              <a:rPr sz="3100" dirty="0">
                <a:latin typeface="Cambria"/>
                <a:cs typeface="Cambria"/>
              </a:rPr>
              <a:t> </a:t>
            </a:r>
            <a:r>
              <a:rPr sz="3100" spc="-175" dirty="0">
                <a:latin typeface="Cambria"/>
                <a:cs typeface="Cambria"/>
              </a:rPr>
              <a:t>a</a:t>
            </a:r>
            <a:r>
              <a:rPr sz="3100" spc="-105" dirty="0">
                <a:latin typeface="Cambria"/>
                <a:cs typeface="Cambria"/>
              </a:rPr>
              <a:t> </a:t>
            </a:r>
            <a:r>
              <a:rPr sz="3100" spc="-50" dirty="0">
                <a:latin typeface="Cambria"/>
                <a:cs typeface="Cambria"/>
              </a:rPr>
              <a:t>GUI.</a:t>
            </a:r>
            <a:r>
              <a:rPr sz="3100" spc="-95" dirty="0">
                <a:latin typeface="Cambria"/>
                <a:cs typeface="Cambria"/>
              </a:rPr>
              <a:t> </a:t>
            </a:r>
            <a:r>
              <a:rPr sz="3100" spc="-25" dirty="0">
                <a:latin typeface="Cambria"/>
                <a:cs typeface="Cambria"/>
              </a:rPr>
              <a:t>The</a:t>
            </a:r>
            <a:r>
              <a:rPr sz="3100" dirty="0">
                <a:latin typeface="Cambria"/>
                <a:cs typeface="Cambria"/>
              </a:rPr>
              <a:t>	</a:t>
            </a:r>
            <a:r>
              <a:rPr sz="3100" spc="-175" dirty="0">
                <a:latin typeface="Cambria"/>
                <a:cs typeface="Cambria"/>
              </a:rPr>
              <a:t>created</a:t>
            </a:r>
            <a:r>
              <a:rPr sz="3100" spc="25" dirty="0">
                <a:latin typeface="Cambria"/>
                <a:cs typeface="Cambria"/>
              </a:rPr>
              <a:t> </a:t>
            </a:r>
            <a:r>
              <a:rPr sz="3100" spc="-25" dirty="0">
                <a:latin typeface="Cambria"/>
                <a:cs typeface="Cambria"/>
              </a:rPr>
              <a:t>in</a:t>
            </a:r>
            <a:endParaRPr sz="3100">
              <a:latin typeface="Cambria"/>
              <a:cs typeface="Cambria"/>
            </a:endParaRPr>
          </a:p>
        </p:txBody>
      </p:sp>
      <p:sp>
        <p:nvSpPr>
          <p:cNvPr id="74" name="object 74"/>
          <p:cNvSpPr txBox="1"/>
          <p:nvPr/>
        </p:nvSpPr>
        <p:spPr>
          <a:xfrm>
            <a:off x="967316" y="5668433"/>
            <a:ext cx="3467100" cy="527050"/>
          </a:xfrm>
          <a:prstGeom prst="rect">
            <a:avLst/>
          </a:prstGeom>
          <a:ln w="4233">
            <a:solidFill>
              <a:srgbClr val="2F5777"/>
            </a:solidFill>
          </a:ln>
        </p:spPr>
        <p:txBody>
          <a:bodyPr vert="horz" wrap="square" lIns="0" tIns="0" rIns="0" bIns="0" rtlCol="0">
            <a:spAutoFit/>
          </a:bodyPr>
          <a:lstStyle/>
          <a:p>
            <a:pPr marL="201295">
              <a:lnSpc>
                <a:spcPts val="3645"/>
              </a:lnSpc>
            </a:pPr>
            <a:r>
              <a:rPr sz="3400" spc="-400" dirty="0">
                <a:latin typeface="Cambria"/>
                <a:cs typeface="Cambria"/>
              </a:rPr>
              <a:t>1984,</a:t>
            </a:r>
            <a:r>
              <a:rPr sz="3400" spc="-70" dirty="0">
                <a:latin typeface="Cambria"/>
                <a:cs typeface="Cambria"/>
              </a:rPr>
              <a:t> </a:t>
            </a:r>
            <a:r>
              <a:rPr sz="3400" spc="-360" dirty="0">
                <a:latin typeface="Cambria"/>
                <a:cs typeface="Cambria"/>
              </a:rPr>
              <a:t>became</a:t>
            </a:r>
            <a:r>
              <a:rPr sz="3400" spc="55" dirty="0">
                <a:latin typeface="Cambria"/>
                <a:cs typeface="Cambria"/>
              </a:rPr>
              <a:t> </a:t>
            </a:r>
            <a:r>
              <a:rPr sz="3400" spc="-80" dirty="0">
                <a:latin typeface="Cambria"/>
                <a:cs typeface="Cambria"/>
              </a:rPr>
              <a:t>iconic.</a:t>
            </a:r>
            <a:endParaRPr sz="3400">
              <a:latin typeface="Cambria"/>
              <a:cs typeface="Cambria"/>
            </a:endParaRPr>
          </a:p>
        </p:txBody>
      </p:sp>
      <p:sp>
        <p:nvSpPr>
          <p:cNvPr id="75" name="object 75"/>
          <p:cNvSpPr txBox="1"/>
          <p:nvPr/>
        </p:nvSpPr>
        <p:spPr>
          <a:xfrm>
            <a:off x="4525433" y="5644797"/>
            <a:ext cx="1761489" cy="544195"/>
          </a:xfrm>
          <a:prstGeom prst="rect">
            <a:avLst/>
          </a:prstGeom>
        </p:spPr>
        <p:txBody>
          <a:bodyPr vert="horz" wrap="square" lIns="0" tIns="12700" rIns="0" bIns="0" rtlCol="0">
            <a:spAutoFit/>
          </a:bodyPr>
          <a:lstStyle/>
          <a:p>
            <a:pPr marL="117475">
              <a:lnSpc>
                <a:spcPct val="100000"/>
              </a:lnSpc>
              <a:spcBef>
                <a:spcPts val="100"/>
              </a:spcBef>
              <a:tabLst>
                <a:tab pos="461009" algn="l"/>
              </a:tabLst>
            </a:pPr>
            <a:r>
              <a:rPr sz="3400" spc="-50" dirty="0">
                <a:latin typeface="Cambria"/>
                <a:cs typeface="Cambria"/>
              </a:rPr>
              <a:t>i</a:t>
            </a:r>
            <a:r>
              <a:rPr sz="3400" dirty="0">
                <a:latin typeface="Cambria"/>
                <a:cs typeface="Cambria"/>
              </a:rPr>
              <a:t>	</a:t>
            </a:r>
            <a:r>
              <a:rPr sz="3400" spc="-25" dirty="0">
                <a:latin typeface="Cambria"/>
                <a:cs typeface="Cambria"/>
              </a:rPr>
              <a:t>a«.</a:t>
            </a:r>
            <a:endParaRPr sz="3400">
              <a:latin typeface="Cambria"/>
              <a:cs typeface="Cambria"/>
            </a:endParaRPr>
          </a:p>
        </p:txBody>
      </p:sp>
      <p:sp>
        <p:nvSpPr>
          <p:cNvPr id="76" name="object 76"/>
          <p:cNvSpPr txBox="1"/>
          <p:nvPr/>
        </p:nvSpPr>
        <p:spPr>
          <a:xfrm>
            <a:off x="4525433" y="6598355"/>
            <a:ext cx="3458845" cy="512445"/>
          </a:xfrm>
          <a:prstGeom prst="rect">
            <a:avLst/>
          </a:prstGeom>
        </p:spPr>
        <p:txBody>
          <a:bodyPr vert="horz" wrap="square" lIns="0" tIns="12065" rIns="0" bIns="0" rtlCol="0">
            <a:spAutoFit/>
          </a:bodyPr>
          <a:lstStyle/>
          <a:p>
            <a:pPr marL="48895">
              <a:lnSpc>
                <a:spcPct val="100000"/>
              </a:lnSpc>
              <a:spcBef>
                <a:spcPts val="95"/>
              </a:spcBef>
              <a:tabLst>
                <a:tab pos="1849755" algn="l"/>
              </a:tabLst>
            </a:pPr>
            <a:r>
              <a:rPr sz="3200" spc="-35" dirty="0">
                <a:latin typeface="Cambria"/>
                <a:cs typeface="Cambria"/>
              </a:rPr>
              <a:t>1997,leadi</a:t>
            </a:r>
            <a:r>
              <a:rPr sz="3200" dirty="0">
                <a:latin typeface="Cambria"/>
                <a:cs typeface="Cambria"/>
              </a:rPr>
              <a:t>	g</a:t>
            </a:r>
            <a:r>
              <a:rPr sz="3200" spc="-240" dirty="0">
                <a:latin typeface="Cambria"/>
                <a:cs typeface="Cambria"/>
              </a:rPr>
              <a:t> </a:t>
            </a:r>
            <a:r>
              <a:rPr sz="3200" spc="-50" dirty="0">
                <a:latin typeface="Cambria"/>
                <a:cs typeface="Cambria"/>
              </a:rPr>
              <a:t>a</a:t>
            </a:r>
            <a:endParaRPr sz="3200">
              <a:latin typeface="Cambria"/>
              <a:cs typeface="Cambria"/>
            </a:endParaRPr>
          </a:p>
        </p:txBody>
      </p:sp>
      <p:sp>
        <p:nvSpPr>
          <p:cNvPr id="77" name="object 77"/>
          <p:cNvSpPr txBox="1"/>
          <p:nvPr/>
        </p:nvSpPr>
        <p:spPr>
          <a:xfrm>
            <a:off x="969433" y="6598355"/>
            <a:ext cx="3463290" cy="1007744"/>
          </a:xfrm>
          <a:prstGeom prst="rect">
            <a:avLst/>
          </a:prstGeom>
        </p:spPr>
        <p:txBody>
          <a:bodyPr vert="horz" wrap="square" lIns="0" tIns="3810" rIns="0" bIns="0" rtlCol="0">
            <a:spAutoFit/>
          </a:bodyPr>
          <a:lstStyle/>
          <a:p>
            <a:pPr marL="196850" marR="34925" indent="-8255">
              <a:lnSpc>
                <a:spcPct val="101600"/>
              </a:lnSpc>
              <a:spcBef>
                <a:spcPts val="30"/>
              </a:spcBef>
            </a:pPr>
            <a:r>
              <a:rPr sz="3200" spc="-204" dirty="0">
                <a:latin typeface="Cambria"/>
                <a:cs typeface="Cambria"/>
              </a:rPr>
              <a:t>Steve</a:t>
            </a:r>
            <a:r>
              <a:rPr sz="3200" spc="100" dirty="0">
                <a:latin typeface="Cambria"/>
                <a:cs typeface="Cambria"/>
              </a:rPr>
              <a:t> </a:t>
            </a:r>
            <a:r>
              <a:rPr sz="3200" spc="-229" dirty="0">
                <a:latin typeface="Cambria"/>
                <a:cs typeface="Cambria"/>
              </a:rPr>
              <a:t>Jobs</a:t>
            </a:r>
            <a:r>
              <a:rPr sz="3200" spc="-65" dirty="0">
                <a:latin typeface="Cambria"/>
                <a:cs typeface="Cambria"/>
              </a:rPr>
              <a:t> </a:t>
            </a:r>
            <a:r>
              <a:rPr sz="3200" spc="-265" dirty="0">
                <a:latin typeface="Cambria"/>
                <a:cs typeface="Cambria"/>
              </a:rPr>
              <a:t>returned</a:t>
            </a:r>
            <a:r>
              <a:rPr sz="3200" spc="100" dirty="0">
                <a:latin typeface="Cambria"/>
                <a:cs typeface="Cambria"/>
              </a:rPr>
              <a:t> </a:t>
            </a:r>
            <a:r>
              <a:rPr sz="3200" spc="-25" dirty="0">
                <a:latin typeface="Cambria"/>
                <a:cs typeface="Cambria"/>
              </a:rPr>
              <a:t>ii </a:t>
            </a:r>
            <a:r>
              <a:rPr sz="3200" spc="-250" dirty="0">
                <a:latin typeface="Cambria"/>
                <a:cs typeface="Cambria"/>
              </a:rPr>
              <a:t>period</a:t>
            </a:r>
            <a:r>
              <a:rPr sz="3200" spc="20" dirty="0">
                <a:latin typeface="Cambria"/>
                <a:cs typeface="Cambria"/>
              </a:rPr>
              <a:t> </a:t>
            </a:r>
            <a:r>
              <a:rPr sz="3200" spc="-145" dirty="0">
                <a:latin typeface="Cambria"/>
                <a:cs typeface="Cambria"/>
              </a:rPr>
              <a:t>of</a:t>
            </a:r>
            <a:r>
              <a:rPr sz="3200" spc="-75" dirty="0">
                <a:latin typeface="Cambria"/>
                <a:cs typeface="Cambria"/>
              </a:rPr>
              <a:t> </a:t>
            </a:r>
            <a:r>
              <a:rPr sz="3200" spc="-135" dirty="0">
                <a:latin typeface="Cambria"/>
                <a:cs typeface="Cambria"/>
              </a:rPr>
              <a:t>innovation.</a:t>
            </a:r>
            <a:endParaRPr sz="3200">
              <a:latin typeface="Cambria"/>
              <a:cs typeface="Cambria"/>
            </a:endParaRPr>
          </a:p>
        </p:txBody>
      </p:sp>
      <p:sp>
        <p:nvSpPr>
          <p:cNvPr id="78" name="object 78"/>
          <p:cNvSpPr txBox="1"/>
          <p:nvPr/>
        </p:nvSpPr>
        <p:spPr>
          <a:xfrm>
            <a:off x="704132" y="8272639"/>
            <a:ext cx="7550150" cy="1090295"/>
          </a:xfrm>
          <a:prstGeom prst="rect">
            <a:avLst/>
          </a:prstGeom>
        </p:spPr>
        <p:txBody>
          <a:bodyPr vert="horz" wrap="square" lIns="0" tIns="19685" rIns="0" bIns="0" rtlCol="0">
            <a:spAutoFit/>
          </a:bodyPr>
          <a:lstStyle/>
          <a:p>
            <a:pPr marL="12700" marR="5080" indent="-15875" algn="ctr">
              <a:lnSpc>
                <a:spcPct val="98400"/>
              </a:lnSpc>
              <a:spcBef>
                <a:spcPts val="155"/>
              </a:spcBef>
            </a:pPr>
            <a:r>
              <a:rPr sz="2350" spc="-55" dirty="0">
                <a:latin typeface="Arial MT"/>
                <a:cs typeface="Arial MT"/>
              </a:rPr>
              <a:t>Slices</a:t>
            </a:r>
            <a:r>
              <a:rPr sz="2350" spc="-120" dirty="0">
                <a:latin typeface="Arial MT"/>
                <a:cs typeface="Arial MT"/>
              </a:rPr>
              <a:t> </a:t>
            </a:r>
            <a:r>
              <a:rPr sz="2350" spc="-20" dirty="0">
                <a:latin typeface="Arial MT"/>
                <a:cs typeface="Arial MT"/>
              </a:rPr>
              <a:t>enterprise</a:t>
            </a:r>
            <a:r>
              <a:rPr sz="2350" spc="-70" dirty="0">
                <a:latin typeface="Arial MT"/>
                <a:cs typeface="Arial MT"/>
              </a:rPr>
              <a:t> </a:t>
            </a:r>
            <a:r>
              <a:rPr sz="2350" spc="-20" dirty="0">
                <a:latin typeface="Arial MT"/>
                <a:cs typeface="Arial MT"/>
              </a:rPr>
              <a:t>knowledge</a:t>
            </a:r>
            <a:r>
              <a:rPr sz="2350" spc="-45" dirty="0">
                <a:latin typeface="Arial MT"/>
                <a:cs typeface="Arial MT"/>
              </a:rPr>
              <a:t> </a:t>
            </a:r>
            <a:r>
              <a:rPr sz="2350" dirty="0">
                <a:latin typeface="Arial MT"/>
                <a:cs typeface="Arial MT"/>
              </a:rPr>
              <a:t>into</a:t>
            </a:r>
            <a:r>
              <a:rPr sz="2350" spc="-50" dirty="0">
                <a:latin typeface="Arial MT"/>
                <a:cs typeface="Arial MT"/>
              </a:rPr>
              <a:t> </a:t>
            </a:r>
            <a:r>
              <a:rPr sz="2350" dirty="0">
                <a:latin typeface="Arial MT"/>
                <a:cs typeface="Arial MT"/>
              </a:rPr>
              <a:t>rigid</a:t>
            </a:r>
            <a:r>
              <a:rPr sz="2350" spc="-125" dirty="0">
                <a:latin typeface="Arial MT"/>
                <a:cs typeface="Arial MT"/>
              </a:rPr>
              <a:t> </a:t>
            </a:r>
            <a:r>
              <a:rPr sz="2350" spc="-35" dirty="0">
                <a:latin typeface="Arial MT"/>
                <a:cs typeface="Arial MT"/>
              </a:rPr>
              <a:t>blocks,</a:t>
            </a:r>
            <a:r>
              <a:rPr sz="2350" spc="-130" dirty="0">
                <a:latin typeface="Arial MT"/>
                <a:cs typeface="Arial MT"/>
              </a:rPr>
              <a:t> </a:t>
            </a:r>
            <a:r>
              <a:rPr sz="2350" spc="-10" dirty="0">
                <a:latin typeface="Arial MT"/>
                <a:cs typeface="Arial MT"/>
              </a:rPr>
              <a:t>creating </a:t>
            </a:r>
            <a:r>
              <a:rPr sz="2350" dirty="0">
                <a:latin typeface="Arial MT"/>
                <a:cs typeface="Arial MT"/>
              </a:rPr>
              <a:t>proximity</a:t>
            </a:r>
            <a:r>
              <a:rPr sz="2350" spc="-15" dirty="0">
                <a:latin typeface="Arial MT"/>
                <a:cs typeface="Arial MT"/>
              </a:rPr>
              <a:t> </a:t>
            </a:r>
            <a:r>
              <a:rPr sz="2350" spc="-45" dirty="0">
                <a:latin typeface="Arial MT"/>
                <a:cs typeface="Arial MT"/>
              </a:rPr>
              <a:t>bias</a:t>
            </a:r>
            <a:r>
              <a:rPr sz="2350" spc="-145" dirty="0">
                <a:latin typeface="Arial MT"/>
                <a:cs typeface="Arial MT"/>
              </a:rPr>
              <a:t> </a:t>
            </a:r>
            <a:r>
              <a:rPr sz="2350" spc="-20" dirty="0">
                <a:latin typeface="Arial MT"/>
                <a:cs typeface="Arial MT"/>
              </a:rPr>
              <a:t>and</a:t>
            </a:r>
            <a:r>
              <a:rPr sz="2350" spc="-145" dirty="0">
                <a:latin typeface="Arial MT"/>
                <a:cs typeface="Arial MT"/>
              </a:rPr>
              <a:t> </a:t>
            </a:r>
            <a:r>
              <a:rPr sz="2350" spc="-20" dirty="0">
                <a:latin typeface="Arial MT"/>
                <a:cs typeface="Arial MT"/>
              </a:rPr>
              <a:t>destroying</a:t>
            </a:r>
            <a:r>
              <a:rPr sz="2350" spc="-65" dirty="0">
                <a:latin typeface="Arial MT"/>
                <a:cs typeface="Arial MT"/>
              </a:rPr>
              <a:t> </a:t>
            </a:r>
            <a:r>
              <a:rPr sz="2350" dirty="0">
                <a:latin typeface="Arial MT"/>
                <a:cs typeface="Arial MT"/>
              </a:rPr>
              <a:t>structural</a:t>
            </a:r>
            <a:r>
              <a:rPr sz="2350" spc="5" dirty="0">
                <a:latin typeface="Arial MT"/>
                <a:cs typeface="Arial MT"/>
              </a:rPr>
              <a:t> </a:t>
            </a:r>
            <a:r>
              <a:rPr sz="2350" spc="-25" dirty="0">
                <a:latin typeface="Arial MT"/>
                <a:cs typeface="Arial MT"/>
              </a:rPr>
              <a:t>relationships</a:t>
            </a:r>
            <a:r>
              <a:rPr sz="2350" spc="-60" dirty="0">
                <a:latin typeface="Arial MT"/>
                <a:cs typeface="Arial MT"/>
              </a:rPr>
              <a:t> </a:t>
            </a:r>
            <a:r>
              <a:rPr sz="2350" spc="-65" dirty="0">
                <a:latin typeface="Arial MT"/>
                <a:cs typeface="Arial MT"/>
              </a:rPr>
              <a:t>(e.g., </a:t>
            </a:r>
            <a:r>
              <a:rPr sz="2350" spc="-20" dirty="0">
                <a:latin typeface="Arial MT"/>
                <a:cs typeface="Arial MT"/>
              </a:rPr>
              <a:t>inaccurately</a:t>
            </a:r>
            <a:r>
              <a:rPr sz="2350" spc="25" dirty="0">
                <a:latin typeface="Arial MT"/>
                <a:cs typeface="Arial MT"/>
              </a:rPr>
              <a:t> </a:t>
            </a:r>
            <a:r>
              <a:rPr sz="2350" dirty="0">
                <a:latin typeface="Arial MT"/>
                <a:cs typeface="Arial MT"/>
              </a:rPr>
              <a:t>attributing</a:t>
            </a:r>
            <a:r>
              <a:rPr sz="2350" spc="-20" dirty="0">
                <a:latin typeface="Arial MT"/>
                <a:cs typeface="Arial MT"/>
              </a:rPr>
              <a:t> </a:t>
            </a:r>
            <a:r>
              <a:rPr sz="2350" spc="-10" dirty="0">
                <a:latin typeface="Arial MT"/>
                <a:cs typeface="Arial MT"/>
              </a:rPr>
              <a:t>the</a:t>
            </a:r>
            <a:r>
              <a:rPr sz="2350" spc="-170" dirty="0">
                <a:latin typeface="Arial MT"/>
                <a:cs typeface="Arial MT"/>
              </a:rPr>
              <a:t> </a:t>
            </a:r>
            <a:r>
              <a:rPr sz="2350" spc="-20" dirty="0">
                <a:latin typeface="Arial MT"/>
                <a:cs typeface="Arial MT"/>
              </a:rPr>
              <a:t>Macintosh</a:t>
            </a:r>
            <a:r>
              <a:rPr sz="2350" spc="-50" dirty="0">
                <a:latin typeface="Arial MT"/>
                <a:cs typeface="Arial MT"/>
              </a:rPr>
              <a:t> </a:t>
            </a:r>
            <a:r>
              <a:rPr sz="2350" spc="-20" dirty="0">
                <a:latin typeface="Arial MT"/>
                <a:cs typeface="Arial MT"/>
              </a:rPr>
              <a:t>creation</a:t>
            </a:r>
            <a:r>
              <a:rPr sz="2350" spc="20" dirty="0">
                <a:latin typeface="Arial MT"/>
                <a:cs typeface="Arial MT"/>
              </a:rPr>
              <a:t> </a:t>
            </a:r>
            <a:r>
              <a:rPr sz="2350" spc="-10" dirty="0">
                <a:latin typeface="Arial MT"/>
                <a:cs typeface="Arial MT"/>
              </a:rPr>
              <a:t>to1983).</a:t>
            </a:r>
            <a:endParaRPr sz="2350">
              <a:latin typeface="Arial MT"/>
              <a:cs typeface="Arial MT"/>
            </a:endParaRPr>
          </a:p>
        </p:txBody>
      </p:sp>
      <p:sp>
        <p:nvSpPr>
          <p:cNvPr id="79" name="object 79"/>
          <p:cNvSpPr txBox="1"/>
          <p:nvPr/>
        </p:nvSpPr>
        <p:spPr>
          <a:xfrm>
            <a:off x="9662024" y="2923469"/>
            <a:ext cx="3356610" cy="396240"/>
          </a:xfrm>
          <a:prstGeom prst="rect">
            <a:avLst/>
          </a:prstGeom>
        </p:spPr>
        <p:txBody>
          <a:bodyPr vert="horz" wrap="square" lIns="0" tIns="16510" rIns="0" bIns="0" rtlCol="0">
            <a:spAutoFit/>
          </a:bodyPr>
          <a:lstStyle/>
          <a:p>
            <a:pPr marL="12700">
              <a:lnSpc>
                <a:spcPct val="100000"/>
              </a:lnSpc>
              <a:spcBef>
                <a:spcPts val="130"/>
              </a:spcBef>
            </a:pPr>
            <a:r>
              <a:rPr sz="2400" spc="-570" dirty="0">
                <a:latin typeface="Arial MT"/>
                <a:cs typeface="Arial MT"/>
              </a:rPr>
              <a:t>C</a:t>
            </a:r>
            <a:r>
              <a:rPr sz="2400" spc="340" dirty="0">
                <a:latin typeface="Arial MT"/>
                <a:cs typeface="Arial MT"/>
              </a:rPr>
              <a:t>A</a:t>
            </a:r>
            <a:r>
              <a:rPr sz="2400" spc="-180" dirty="0">
                <a:latin typeface="Arial MT"/>
                <a:cs typeface="Arial MT"/>
              </a:rPr>
              <a:t>p</a:t>
            </a:r>
            <a:r>
              <a:rPr sz="2400" spc="-805" dirty="0">
                <a:latin typeface="Arial MT"/>
                <a:cs typeface="Arial MT"/>
              </a:rPr>
              <a:t>o</a:t>
            </a:r>
            <a:r>
              <a:rPr sz="2400" spc="345" dirty="0">
                <a:latin typeface="Arial MT"/>
                <a:cs typeface="Arial MT"/>
              </a:rPr>
              <a:t>p</a:t>
            </a:r>
            <a:r>
              <a:rPr sz="2400" spc="-65" dirty="0">
                <a:latin typeface="Arial MT"/>
                <a:cs typeface="Arial MT"/>
              </a:rPr>
              <a:t> </a:t>
            </a:r>
            <a:r>
              <a:rPr sz="2400" spc="955" dirty="0">
                <a:latin typeface="Arial MT"/>
                <a:cs typeface="Arial MT"/>
              </a:rPr>
              <a:t>e</a:t>
            </a:r>
            <a:r>
              <a:rPr sz="2400" spc="1090" dirty="0">
                <a:latin typeface="Arial MT"/>
                <a:cs typeface="Arial MT"/>
              </a:rPr>
              <a:t>mp</a:t>
            </a:r>
            <a:r>
              <a:rPr sz="2400" spc="965" dirty="0">
                <a:latin typeface="Arial MT"/>
                <a:cs typeface="Arial MT"/>
              </a:rPr>
              <a:t>u</a:t>
            </a:r>
            <a:r>
              <a:rPr sz="2400" spc="780" dirty="0">
                <a:latin typeface="Arial MT"/>
                <a:cs typeface="Arial MT"/>
              </a:rPr>
              <a:t>I</a:t>
            </a:r>
            <a:r>
              <a:rPr sz="2400" spc="540" dirty="0">
                <a:latin typeface="Arial MT"/>
                <a:cs typeface="Arial MT"/>
              </a:rPr>
              <a:t>t</a:t>
            </a:r>
            <a:r>
              <a:rPr sz="2400" spc="1095" dirty="0">
                <a:latin typeface="Arial MT"/>
                <a:cs typeface="Arial MT"/>
              </a:rPr>
              <a:t>n</a:t>
            </a:r>
            <a:r>
              <a:rPr sz="2400" spc="110" dirty="0">
                <a:latin typeface="Arial MT"/>
                <a:cs typeface="Arial MT"/>
              </a:rPr>
              <a:t>c</a:t>
            </a:r>
            <a:r>
              <a:rPr sz="2400" spc="1090" dirty="0">
                <a:latin typeface="Arial MT"/>
                <a:cs typeface="Arial MT"/>
              </a:rPr>
              <a:t>e</a:t>
            </a:r>
            <a:endParaRPr sz="2400">
              <a:latin typeface="Arial MT"/>
              <a:cs typeface="Arial MT"/>
            </a:endParaRPr>
          </a:p>
        </p:txBody>
      </p:sp>
      <p:sp>
        <p:nvSpPr>
          <p:cNvPr id="80" name="object 80"/>
          <p:cNvSpPr txBox="1"/>
          <p:nvPr/>
        </p:nvSpPr>
        <p:spPr>
          <a:xfrm>
            <a:off x="11432116" y="3934883"/>
            <a:ext cx="1562100" cy="609600"/>
          </a:xfrm>
          <a:prstGeom prst="rect">
            <a:avLst/>
          </a:prstGeom>
          <a:ln w="21166">
            <a:solidFill>
              <a:srgbClr val="90644B"/>
            </a:solidFill>
          </a:ln>
        </p:spPr>
        <p:txBody>
          <a:bodyPr vert="horz" wrap="square" lIns="0" tIns="78105" rIns="0" bIns="0" rtlCol="0">
            <a:spAutoFit/>
          </a:bodyPr>
          <a:lstStyle/>
          <a:p>
            <a:pPr marL="302895">
              <a:lnSpc>
                <a:spcPct val="100000"/>
              </a:lnSpc>
              <a:spcBef>
                <a:spcPts val="615"/>
              </a:spcBef>
            </a:pPr>
            <a:r>
              <a:rPr sz="2350" dirty="0">
                <a:latin typeface="Arial MT"/>
                <a:cs typeface="Arial MT"/>
              </a:rPr>
              <a:t>Apple</a:t>
            </a:r>
            <a:r>
              <a:rPr sz="2350" spc="65" dirty="0">
                <a:latin typeface="Arial MT"/>
                <a:cs typeface="Arial MT"/>
              </a:rPr>
              <a:t> </a:t>
            </a:r>
            <a:r>
              <a:rPr sz="2350" spc="-25" dirty="0">
                <a:latin typeface="Arial MT"/>
                <a:cs typeface="Arial MT"/>
              </a:rPr>
              <a:t>II</a:t>
            </a:r>
            <a:endParaRPr sz="2350">
              <a:latin typeface="Arial MT"/>
              <a:cs typeface="Arial MT"/>
            </a:endParaRPr>
          </a:p>
        </p:txBody>
      </p:sp>
      <p:sp>
        <p:nvSpPr>
          <p:cNvPr id="81" name="object 81"/>
          <p:cNvSpPr txBox="1"/>
          <p:nvPr/>
        </p:nvSpPr>
        <p:spPr>
          <a:xfrm>
            <a:off x="11089216" y="5014383"/>
            <a:ext cx="1905000" cy="609600"/>
          </a:xfrm>
          <a:prstGeom prst="rect">
            <a:avLst/>
          </a:prstGeom>
          <a:ln w="21166">
            <a:solidFill>
              <a:srgbClr val="906048"/>
            </a:solidFill>
          </a:ln>
        </p:spPr>
        <p:txBody>
          <a:bodyPr vert="horz" wrap="square" lIns="0" tIns="33655" rIns="0" bIns="0" rtlCol="0">
            <a:spAutoFit/>
          </a:bodyPr>
          <a:lstStyle/>
          <a:p>
            <a:pPr marL="276860">
              <a:lnSpc>
                <a:spcPct val="100000"/>
              </a:lnSpc>
              <a:spcBef>
                <a:spcPts val="265"/>
              </a:spcBef>
            </a:pPr>
            <a:r>
              <a:rPr sz="2700" spc="-65" dirty="0">
                <a:latin typeface="Arial MT"/>
                <a:cs typeface="Arial MT"/>
              </a:rPr>
              <a:t>Macintosh</a:t>
            </a:r>
            <a:endParaRPr sz="2700">
              <a:latin typeface="Arial MT"/>
              <a:cs typeface="Arial MT"/>
            </a:endParaRPr>
          </a:p>
        </p:txBody>
      </p:sp>
      <p:sp>
        <p:nvSpPr>
          <p:cNvPr id="82" name="object 82"/>
          <p:cNvSpPr txBox="1"/>
          <p:nvPr/>
        </p:nvSpPr>
        <p:spPr>
          <a:xfrm>
            <a:off x="11101916" y="6081183"/>
            <a:ext cx="1879600" cy="622300"/>
          </a:xfrm>
          <a:prstGeom prst="rect">
            <a:avLst/>
          </a:prstGeom>
          <a:ln w="21166">
            <a:solidFill>
              <a:srgbClr val="906048"/>
            </a:solidFill>
          </a:ln>
        </p:spPr>
        <p:txBody>
          <a:bodyPr vert="horz" wrap="square" lIns="0" tIns="90805" rIns="0" bIns="0" rtlCol="0">
            <a:spAutoFit/>
          </a:bodyPr>
          <a:lstStyle/>
          <a:p>
            <a:pPr marL="264795">
              <a:lnSpc>
                <a:spcPct val="100000"/>
              </a:lnSpc>
              <a:spcBef>
                <a:spcPts val="715"/>
              </a:spcBef>
            </a:pPr>
            <a:r>
              <a:rPr sz="2350" dirty="0">
                <a:latin typeface="Arial MT"/>
                <a:cs typeface="Arial MT"/>
              </a:rPr>
              <a:t>Apple</a:t>
            </a:r>
            <a:r>
              <a:rPr sz="2350" spc="110" dirty="0">
                <a:latin typeface="Arial MT"/>
                <a:cs typeface="Arial MT"/>
              </a:rPr>
              <a:t> </a:t>
            </a:r>
            <a:r>
              <a:rPr sz="2350" spc="-20" dirty="0">
                <a:latin typeface="Arial MT"/>
                <a:cs typeface="Arial MT"/>
              </a:rPr>
              <a:t>Lisa</a:t>
            </a:r>
            <a:endParaRPr sz="2350">
              <a:latin typeface="Arial MT"/>
              <a:cs typeface="Arial MT"/>
            </a:endParaRPr>
          </a:p>
        </p:txBody>
      </p:sp>
      <p:sp>
        <p:nvSpPr>
          <p:cNvPr id="83" name="object 83"/>
          <p:cNvSpPr txBox="1"/>
          <p:nvPr/>
        </p:nvSpPr>
        <p:spPr>
          <a:xfrm>
            <a:off x="11089216" y="7160683"/>
            <a:ext cx="1892300" cy="609600"/>
          </a:xfrm>
          <a:prstGeom prst="rect">
            <a:avLst/>
          </a:prstGeom>
          <a:ln w="21166">
            <a:solidFill>
              <a:srgbClr val="906048"/>
            </a:solidFill>
          </a:ln>
        </p:spPr>
        <p:txBody>
          <a:bodyPr vert="horz" wrap="square" lIns="0" tIns="71755" rIns="0" bIns="0" rtlCol="0">
            <a:spAutoFit/>
          </a:bodyPr>
          <a:lstStyle/>
          <a:p>
            <a:pPr marL="250190">
              <a:lnSpc>
                <a:spcPct val="100000"/>
              </a:lnSpc>
              <a:spcBef>
                <a:spcPts val="565"/>
              </a:spcBef>
            </a:pPr>
            <a:r>
              <a:rPr sz="2500" spc="-100" dirty="0">
                <a:latin typeface="Arial MT"/>
                <a:cs typeface="Arial MT"/>
              </a:rPr>
              <a:t>Steve</a:t>
            </a:r>
            <a:r>
              <a:rPr sz="2500" spc="-70" dirty="0">
                <a:latin typeface="Arial MT"/>
                <a:cs typeface="Arial MT"/>
              </a:rPr>
              <a:t> </a:t>
            </a:r>
            <a:r>
              <a:rPr sz="2500" spc="-20" dirty="0">
                <a:latin typeface="Arial MT"/>
                <a:cs typeface="Arial MT"/>
              </a:rPr>
              <a:t>Jobs</a:t>
            </a:r>
            <a:endParaRPr sz="2500">
              <a:latin typeface="Arial MT"/>
              <a:cs typeface="Arial MT"/>
            </a:endParaRPr>
          </a:p>
        </p:txBody>
      </p:sp>
      <p:sp>
        <p:nvSpPr>
          <p:cNvPr id="84" name="object 84"/>
          <p:cNvSpPr txBox="1"/>
          <p:nvPr/>
        </p:nvSpPr>
        <p:spPr>
          <a:xfrm>
            <a:off x="13368464" y="3875263"/>
            <a:ext cx="1377950" cy="290195"/>
          </a:xfrm>
          <a:prstGeom prst="rect">
            <a:avLst/>
          </a:prstGeom>
        </p:spPr>
        <p:txBody>
          <a:bodyPr vert="horz" wrap="square" lIns="0" tIns="17145" rIns="0" bIns="0" rtlCol="0">
            <a:spAutoFit/>
          </a:bodyPr>
          <a:lstStyle/>
          <a:p>
            <a:pPr marL="12700">
              <a:lnSpc>
                <a:spcPct val="100000"/>
              </a:lnSpc>
              <a:spcBef>
                <a:spcPts val="135"/>
              </a:spcBef>
            </a:pPr>
            <a:r>
              <a:rPr sz="1700" spc="-100" dirty="0">
                <a:latin typeface="Arial MT"/>
                <a:cs typeface="Arial MT"/>
              </a:rPr>
              <a:t>RELEASED_IN</a:t>
            </a:r>
            <a:endParaRPr sz="1700">
              <a:latin typeface="Arial MT"/>
              <a:cs typeface="Arial MT"/>
            </a:endParaRPr>
          </a:p>
        </p:txBody>
      </p:sp>
      <p:sp>
        <p:nvSpPr>
          <p:cNvPr id="85" name="object 85"/>
          <p:cNvSpPr txBox="1"/>
          <p:nvPr/>
        </p:nvSpPr>
        <p:spPr>
          <a:xfrm>
            <a:off x="13425614" y="4942063"/>
            <a:ext cx="1297305" cy="290195"/>
          </a:xfrm>
          <a:prstGeom prst="rect">
            <a:avLst/>
          </a:prstGeom>
        </p:spPr>
        <p:txBody>
          <a:bodyPr vert="horz" wrap="square" lIns="0" tIns="17145" rIns="0" bIns="0" rtlCol="0">
            <a:spAutoFit/>
          </a:bodyPr>
          <a:lstStyle/>
          <a:p>
            <a:pPr marL="12700">
              <a:lnSpc>
                <a:spcPct val="100000"/>
              </a:lnSpc>
              <a:spcBef>
                <a:spcPts val="135"/>
              </a:spcBef>
            </a:pPr>
            <a:r>
              <a:rPr sz="1700" spc="-85" dirty="0">
                <a:latin typeface="Arial MT"/>
                <a:cs typeface="Arial MT"/>
              </a:rPr>
              <a:t>CREATED</a:t>
            </a:r>
            <a:r>
              <a:rPr sz="1700" spc="120" dirty="0">
                <a:latin typeface="Arial MT"/>
                <a:cs typeface="Arial MT"/>
              </a:rPr>
              <a:t> </a:t>
            </a:r>
            <a:r>
              <a:rPr sz="1700" spc="-25" dirty="0">
                <a:latin typeface="Arial MT"/>
                <a:cs typeface="Arial MT"/>
              </a:rPr>
              <a:t>IN</a:t>
            </a:r>
            <a:endParaRPr sz="1700">
              <a:latin typeface="Arial MT"/>
              <a:cs typeface="Arial MT"/>
            </a:endParaRPr>
          </a:p>
        </p:txBody>
      </p:sp>
      <p:sp>
        <p:nvSpPr>
          <p:cNvPr id="86" name="object 86"/>
          <p:cNvSpPr txBox="1"/>
          <p:nvPr/>
        </p:nvSpPr>
        <p:spPr>
          <a:xfrm>
            <a:off x="13226364" y="6030383"/>
            <a:ext cx="1697989" cy="279400"/>
          </a:xfrm>
          <a:prstGeom prst="rect">
            <a:avLst/>
          </a:prstGeom>
        </p:spPr>
        <p:txBody>
          <a:bodyPr vert="horz" wrap="square" lIns="0" tIns="14604" rIns="0" bIns="0" rtlCol="0">
            <a:spAutoFit/>
          </a:bodyPr>
          <a:lstStyle/>
          <a:p>
            <a:pPr marL="12700">
              <a:lnSpc>
                <a:spcPct val="100000"/>
              </a:lnSpc>
              <a:spcBef>
                <a:spcPts val="114"/>
              </a:spcBef>
            </a:pPr>
            <a:r>
              <a:rPr sz="1650" spc="-10" dirty="0">
                <a:latin typeface="Arial MT"/>
                <a:cs typeface="Arial MT"/>
              </a:rPr>
              <a:t>INTRODUCED</a:t>
            </a:r>
            <a:r>
              <a:rPr sz="1650" spc="100" dirty="0">
                <a:latin typeface="Arial MT"/>
                <a:cs typeface="Arial MT"/>
              </a:rPr>
              <a:t> </a:t>
            </a:r>
            <a:r>
              <a:rPr sz="1650" spc="-25" dirty="0">
                <a:latin typeface="Arial MT"/>
                <a:cs typeface="Arial MT"/>
              </a:rPr>
              <a:t>IN</a:t>
            </a:r>
            <a:endParaRPr sz="1650">
              <a:latin typeface="Arial MT"/>
              <a:cs typeface="Arial MT"/>
            </a:endParaRPr>
          </a:p>
        </p:txBody>
      </p:sp>
      <p:sp>
        <p:nvSpPr>
          <p:cNvPr id="87" name="object 87"/>
          <p:cNvSpPr txBox="1"/>
          <p:nvPr/>
        </p:nvSpPr>
        <p:spPr>
          <a:xfrm>
            <a:off x="13343064" y="7101064"/>
            <a:ext cx="1436370" cy="290195"/>
          </a:xfrm>
          <a:prstGeom prst="rect">
            <a:avLst/>
          </a:prstGeom>
        </p:spPr>
        <p:txBody>
          <a:bodyPr vert="horz" wrap="square" lIns="0" tIns="17145" rIns="0" bIns="0" rtlCol="0">
            <a:spAutoFit/>
          </a:bodyPr>
          <a:lstStyle/>
          <a:p>
            <a:pPr marL="12700">
              <a:lnSpc>
                <a:spcPct val="100000"/>
              </a:lnSpc>
              <a:spcBef>
                <a:spcPts val="135"/>
              </a:spcBef>
            </a:pPr>
            <a:r>
              <a:rPr sz="1700" spc="-90" dirty="0">
                <a:latin typeface="Arial MT"/>
                <a:cs typeface="Arial MT"/>
              </a:rPr>
              <a:t>RETURNED_IN</a:t>
            </a:r>
            <a:endParaRPr sz="1700">
              <a:latin typeface="Arial MT"/>
              <a:cs typeface="Arial MT"/>
            </a:endParaRPr>
          </a:p>
        </p:txBody>
      </p:sp>
      <p:sp>
        <p:nvSpPr>
          <p:cNvPr id="88" name="object 88"/>
          <p:cNvSpPr txBox="1"/>
          <p:nvPr/>
        </p:nvSpPr>
        <p:spPr>
          <a:xfrm>
            <a:off x="15127820" y="3934883"/>
            <a:ext cx="1155700" cy="609600"/>
          </a:xfrm>
          <a:prstGeom prst="rect">
            <a:avLst/>
          </a:prstGeom>
          <a:ln w="12700">
            <a:solidFill>
              <a:srgbClr val="90644B"/>
            </a:solidFill>
          </a:ln>
        </p:spPr>
        <p:txBody>
          <a:bodyPr vert="horz" wrap="square" lIns="0" tIns="65405" rIns="0" bIns="0" rtlCol="0">
            <a:spAutoFit/>
          </a:bodyPr>
          <a:lstStyle/>
          <a:p>
            <a:pPr marL="266700">
              <a:lnSpc>
                <a:spcPct val="100000"/>
              </a:lnSpc>
              <a:spcBef>
                <a:spcPts val="515"/>
              </a:spcBef>
            </a:pPr>
            <a:r>
              <a:rPr sz="2550" spc="-20" dirty="0">
                <a:latin typeface="Arial MT"/>
                <a:cs typeface="Arial MT"/>
              </a:rPr>
              <a:t>1977</a:t>
            </a:r>
            <a:endParaRPr sz="2550">
              <a:latin typeface="Arial MT"/>
              <a:cs typeface="Arial MT"/>
            </a:endParaRPr>
          </a:p>
        </p:txBody>
      </p:sp>
      <p:sp>
        <p:nvSpPr>
          <p:cNvPr id="89" name="object 89"/>
          <p:cNvSpPr txBox="1"/>
          <p:nvPr/>
        </p:nvSpPr>
        <p:spPr>
          <a:xfrm>
            <a:off x="15115113" y="5014383"/>
            <a:ext cx="1168400" cy="609600"/>
          </a:xfrm>
          <a:prstGeom prst="rect">
            <a:avLst/>
          </a:prstGeom>
          <a:ln w="21166">
            <a:solidFill>
              <a:srgbClr val="906048"/>
            </a:solidFill>
          </a:ln>
        </p:spPr>
        <p:txBody>
          <a:bodyPr vert="horz" wrap="square" lIns="0" tIns="33655" rIns="0" bIns="0" rtlCol="0">
            <a:spAutoFit/>
          </a:bodyPr>
          <a:lstStyle/>
          <a:p>
            <a:pPr marL="264795">
              <a:lnSpc>
                <a:spcPct val="100000"/>
              </a:lnSpc>
              <a:spcBef>
                <a:spcPts val="265"/>
              </a:spcBef>
            </a:pPr>
            <a:r>
              <a:rPr sz="2700" spc="-20" dirty="0">
                <a:latin typeface="Arial MT"/>
                <a:cs typeface="Arial MT"/>
              </a:rPr>
              <a:t>1984</a:t>
            </a:r>
            <a:endParaRPr sz="2700">
              <a:latin typeface="Arial MT"/>
              <a:cs typeface="Arial MT"/>
            </a:endParaRPr>
          </a:p>
        </p:txBody>
      </p:sp>
      <p:sp>
        <p:nvSpPr>
          <p:cNvPr id="90" name="object 90"/>
          <p:cNvSpPr txBox="1"/>
          <p:nvPr/>
        </p:nvSpPr>
        <p:spPr>
          <a:xfrm>
            <a:off x="15127820" y="6081183"/>
            <a:ext cx="1155700" cy="622300"/>
          </a:xfrm>
          <a:prstGeom prst="rect">
            <a:avLst/>
          </a:prstGeom>
          <a:ln w="12700">
            <a:solidFill>
              <a:srgbClr val="906048"/>
            </a:solidFill>
          </a:ln>
        </p:spPr>
        <p:txBody>
          <a:bodyPr vert="horz" wrap="square" lIns="0" tIns="65405" rIns="0" bIns="0" rtlCol="0">
            <a:spAutoFit/>
          </a:bodyPr>
          <a:lstStyle/>
          <a:p>
            <a:pPr marL="254000">
              <a:lnSpc>
                <a:spcPct val="100000"/>
              </a:lnSpc>
              <a:spcBef>
                <a:spcPts val="515"/>
              </a:spcBef>
            </a:pPr>
            <a:r>
              <a:rPr sz="2550" spc="-20" dirty="0">
                <a:latin typeface="Arial MT"/>
                <a:cs typeface="Arial MT"/>
              </a:rPr>
              <a:t>1983</a:t>
            </a:r>
            <a:endParaRPr sz="2550">
              <a:latin typeface="Arial MT"/>
              <a:cs typeface="Arial MT"/>
            </a:endParaRPr>
          </a:p>
        </p:txBody>
      </p:sp>
      <p:sp>
        <p:nvSpPr>
          <p:cNvPr id="91" name="object 91"/>
          <p:cNvSpPr txBox="1"/>
          <p:nvPr/>
        </p:nvSpPr>
        <p:spPr>
          <a:xfrm>
            <a:off x="15140520" y="7211130"/>
            <a:ext cx="1130300" cy="417195"/>
          </a:xfrm>
          <a:prstGeom prst="rect">
            <a:avLst/>
          </a:prstGeom>
        </p:spPr>
        <p:txBody>
          <a:bodyPr vert="horz" wrap="square" lIns="0" tIns="15240" rIns="0" bIns="0" rtlCol="0">
            <a:spAutoFit/>
          </a:bodyPr>
          <a:lstStyle/>
          <a:p>
            <a:pPr marL="254000">
              <a:lnSpc>
                <a:spcPct val="100000"/>
              </a:lnSpc>
              <a:spcBef>
                <a:spcPts val="120"/>
              </a:spcBef>
            </a:pPr>
            <a:r>
              <a:rPr sz="2550" spc="-20" dirty="0">
                <a:latin typeface="Arial MT"/>
                <a:cs typeface="Arial MT"/>
              </a:rPr>
              <a:t>1997</a:t>
            </a:r>
            <a:endParaRPr sz="2550">
              <a:latin typeface="Arial MT"/>
              <a:cs typeface="Arial MT"/>
            </a:endParaRPr>
          </a:p>
        </p:txBody>
      </p:sp>
      <p:sp>
        <p:nvSpPr>
          <p:cNvPr id="92" name="object 92"/>
          <p:cNvSpPr txBox="1"/>
          <p:nvPr/>
        </p:nvSpPr>
        <p:spPr>
          <a:xfrm>
            <a:off x="9665341" y="8263819"/>
            <a:ext cx="6630034" cy="1101090"/>
          </a:xfrm>
          <a:prstGeom prst="rect">
            <a:avLst/>
          </a:prstGeom>
        </p:spPr>
        <p:txBody>
          <a:bodyPr vert="horz" wrap="square" lIns="0" tIns="29844" rIns="0" bIns="0" rtlCol="0">
            <a:spAutoFit/>
          </a:bodyPr>
          <a:lstStyle/>
          <a:p>
            <a:pPr marL="12700" marR="5080" indent="17145" algn="ctr">
              <a:lnSpc>
                <a:spcPct val="96400"/>
              </a:lnSpc>
              <a:spcBef>
                <a:spcPts val="234"/>
              </a:spcBef>
            </a:pPr>
            <a:r>
              <a:rPr sz="2400" spc="-90" dirty="0">
                <a:latin typeface="Arial MT"/>
                <a:cs typeface="Arial MT"/>
              </a:rPr>
              <a:t>Graph</a:t>
            </a:r>
            <a:r>
              <a:rPr sz="2400" spc="-80" dirty="0">
                <a:latin typeface="Arial MT"/>
                <a:cs typeface="Arial MT"/>
              </a:rPr>
              <a:t> </a:t>
            </a:r>
            <a:r>
              <a:rPr sz="2400" spc="-25" dirty="0">
                <a:latin typeface="Arial MT"/>
                <a:cs typeface="Arial MT"/>
              </a:rPr>
              <a:t>structures</a:t>
            </a:r>
            <a:r>
              <a:rPr sz="2400" spc="-105" dirty="0">
                <a:latin typeface="Arial MT"/>
                <a:cs typeface="Arial MT"/>
              </a:rPr>
              <a:t> </a:t>
            </a:r>
            <a:r>
              <a:rPr sz="2400" spc="-35" dirty="0">
                <a:latin typeface="Arial MT"/>
                <a:cs typeface="Arial MT"/>
              </a:rPr>
              <a:t>capture</a:t>
            </a:r>
            <a:r>
              <a:rPr sz="2400" spc="-70" dirty="0">
                <a:latin typeface="Arial MT"/>
                <a:cs typeface="Arial MT"/>
              </a:rPr>
              <a:t> </a:t>
            </a:r>
            <a:r>
              <a:rPr sz="2400" spc="-10" dirty="0">
                <a:latin typeface="Arial MT"/>
                <a:cs typeface="Arial MT"/>
              </a:rPr>
              <a:t>the</a:t>
            </a:r>
            <a:r>
              <a:rPr sz="2400" spc="-135" dirty="0">
                <a:latin typeface="Arial MT"/>
                <a:cs typeface="Arial MT"/>
              </a:rPr>
              <a:t> </a:t>
            </a:r>
            <a:r>
              <a:rPr sz="2400" spc="-70" dirty="0">
                <a:latin typeface="Arial MT"/>
                <a:cs typeface="Arial MT"/>
              </a:rPr>
              <a:t>actual</a:t>
            </a:r>
            <a:r>
              <a:rPr sz="2400" spc="-95" dirty="0">
                <a:latin typeface="Arial MT"/>
                <a:cs typeface="Arial MT"/>
              </a:rPr>
              <a:t> </a:t>
            </a:r>
            <a:r>
              <a:rPr sz="2400" spc="-10" dirty="0">
                <a:latin typeface="Arial MT"/>
                <a:cs typeface="Arial MT"/>
              </a:rPr>
              <a:t>logic</a:t>
            </a:r>
            <a:r>
              <a:rPr sz="2400" spc="-145" dirty="0">
                <a:latin typeface="Arial MT"/>
                <a:cs typeface="Arial MT"/>
              </a:rPr>
              <a:t> </a:t>
            </a:r>
            <a:r>
              <a:rPr sz="2400" spc="-25" dirty="0">
                <a:latin typeface="Arial MT"/>
                <a:cs typeface="Arial MT"/>
              </a:rPr>
              <a:t>and </a:t>
            </a:r>
            <a:r>
              <a:rPr sz="2400" spc="-20" dirty="0">
                <a:latin typeface="Arial MT"/>
                <a:cs typeface="Arial MT"/>
              </a:rPr>
              <a:t>conditions</a:t>
            </a:r>
            <a:r>
              <a:rPr sz="2400" spc="-130" dirty="0">
                <a:latin typeface="Arial MT"/>
                <a:cs typeface="Arial MT"/>
              </a:rPr>
              <a:t> </a:t>
            </a:r>
            <a:r>
              <a:rPr sz="2400" spc="-80" dirty="0">
                <a:latin typeface="Arial MT"/>
                <a:cs typeface="Arial MT"/>
              </a:rPr>
              <a:t>of</a:t>
            </a:r>
            <a:r>
              <a:rPr sz="2400" spc="-95" dirty="0">
                <a:latin typeface="Arial MT"/>
                <a:cs typeface="Arial MT"/>
              </a:rPr>
              <a:t> </a:t>
            </a:r>
            <a:r>
              <a:rPr sz="2400" spc="-35" dirty="0">
                <a:latin typeface="Arial MT"/>
                <a:cs typeface="Arial MT"/>
              </a:rPr>
              <a:t>the</a:t>
            </a:r>
            <a:r>
              <a:rPr sz="2400" spc="-145" dirty="0">
                <a:latin typeface="Arial MT"/>
                <a:cs typeface="Arial MT"/>
              </a:rPr>
              <a:t> </a:t>
            </a:r>
            <a:r>
              <a:rPr sz="2400" spc="-25" dirty="0">
                <a:latin typeface="Arial MT"/>
                <a:cs typeface="Arial MT"/>
              </a:rPr>
              <a:t>text,</a:t>
            </a:r>
            <a:r>
              <a:rPr sz="2400" spc="-140" dirty="0">
                <a:latin typeface="Arial MT"/>
                <a:cs typeface="Arial MT"/>
              </a:rPr>
              <a:t> </a:t>
            </a:r>
            <a:r>
              <a:rPr sz="2400" spc="-45" dirty="0">
                <a:latin typeface="Arial MT"/>
                <a:cs typeface="Arial MT"/>
              </a:rPr>
              <a:t>preserving</a:t>
            </a:r>
            <a:r>
              <a:rPr sz="2400" spc="70" dirty="0">
                <a:latin typeface="Arial MT"/>
                <a:cs typeface="Arial MT"/>
              </a:rPr>
              <a:t> </a:t>
            </a:r>
            <a:r>
              <a:rPr sz="2400" spc="-20" dirty="0">
                <a:latin typeface="Arial MT"/>
                <a:cs typeface="Arial MT"/>
              </a:rPr>
              <a:t>the</a:t>
            </a:r>
            <a:r>
              <a:rPr sz="2400" spc="-125" dirty="0">
                <a:latin typeface="Arial MT"/>
                <a:cs typeface="Arial MT"/>
              </a:rPr>
              <a:t> </a:t>
            </a:r>
            <a:r>
              <a:rPr sz="2400" spc="-100" dirty="0">
                <a:latin typeface="Arial MT"/>
                <a:cs typeface="Arial MT"/>
              </a:rPr>
              <a:t>whole</a:t>
            </a:r>
            <a:r>
              <a:rPr sz="2400" spc="-110" dirty="0">
                <a:latin typeface="Arial MT"/>
                <a:cs typeface="Arial MT"/>
              </a:rPr>
              <a:t> </a:t>
            </a:r>
            <a:r>
              <a:rPr sz="2400" spc="-10" dirty="0">
                <a:latin typeface="Arial MT"/>
                <a:cs typeface="Arial MT"/>
              </a:rPr>
              <a:t>thought </a:t>
            </a:r>
            <a:r>
              <a:rPr sz="2400" dirty="0">
                <a:latin typeface="Arial MT"/>
                <a:cs typeface="Arial MT"/>
              </a:rPr>
              <a:t>intact</a:t>
            </a:r>
            <a:r>
              <a:rPr sz="2400" spc="-170" dirty="0">
                <a:latin typeface="Arial MT"/>
                <a:cs typeface="Arial MT"/>
              </a:rPr>
              <a:t> </a:t>
            </a:r>
            <a:r>
              <a:rPr sz="2400" spc="-55" dirty="0">
                <a:latin typeface="Arial MT"/>
                <a:cs typeface="Arial MT"/>
              </a:rPr>
              <a:t>regardless</a:t>
            </a:r>
            <a:r>
              <a:rPr sz="2400" spc="-110" dirty="0">
                <a:latin typeface="Arial MT"/>
                <a:cs typeface="Arial MT"/>
              </a:rPr>
              <a:t> </a:t>
            </a:r>
            <a:r>
              <a:rPr sz="2400" spc="-20" dirty="0">
                <a:latin typeface="Arial MT"/>
                <a:cs typeface="Arial MT"/>
              </a:rPr>
              <a:t>of</a:t>
            </a:r>
            <a:r>
              <a:rPr sz="2400" spc="-145" dirty="0">
                <a:latin typeface="Arial MT"/>
                <a:cs typeface="Arial MT"/>
              </a:rPr>
              <a:t> </a:t>
            </a:r>
            <a:r>
              <a:rPr sz="2400" spc="-40" dirty="0">
                <a:latin typeface="Arial MT"/>
                <a:cs typeface="Arial MT"/>
              </a:rPr>
              <a:t>document</a:t>
            </a:r>
            <a:r>
              <a:rPr sz="2400" spc="75" dirty="0">
                <a:latin typeface="Arial MT"/>
                <a:cs typeface="Arial MT"/>
              </a:rPr>
              <a:t> </a:t>
            </a:r>
            <a:r>
              <a:rPr sz="2400" spc="-10" dirty="0">
                <a:latin typeface="Arial MT"/>
                <a:cs typeface="Arial MT"/>
              </a:rPr>
              <a:t>length.</a:t>
            </a:r>
            <a:endParaRPr sz="240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7475200" cy="9753600"/>
          </a:xfrm>
          <a:prstGeom prst="rect">
            <a:avLst/>
          </a:prstGeom>
        </p:spPr>
      </p:pic>
      <p:sp>
        <p:nvSpPr>
          <p:cNvPr id="3" name="object 3"/>
          <p:cNvSpPr txBox="1">
            <a:spLocks noGrp="1"/>
          </p:cNvSpPr>
          <p:nvPr>
            <p:ph type="title"/>
          </p:nvPr>
        </p:nvSpPr>
        <p:spPr>
          <a:xfrm>
            <a:off x="1023585" y="881238"/>
            <a:ext cx="14237969" cy="1760855"/>
          </a:xfrm>
          <a:prstGeom prst="rect">
            <a:avLst/>
          </a:prstGeom>
        </p:spPr>
        <p:txBody>
          <a:bodyPr vert="horz" wrap="square" lIns="0" tIns="13970" rIns="0" bIns="0" rtlCol="0">
            <a:spAutoFit/>
          </a:bodyPr>
          <a:lstStyle/>
          <a:p>
            <a:pPr marL="12700">
              <a:lnSpc>
                <a:spcPts val="6734"/>
              </a:lnSpc>
              <a:spcBef>
                <a:spcPts val="110"/>
              </a:spcBef>
            </a:pPr>
            <a:r>
              <a:rPr sz="6100" spc="-610" dirty="0">
                <a:solidFill>
                  <a:srgbClr val="282828"/>
                </a:solidFill>
              </a:rPr>
              <a:t>THE</a:t>
            </a:r>
            <a:r>
              <a:rPr sz="6100" spc="-130" dirty="0">
                <a:solidFill>
                  <a:srgbClr val="282828"/>
                </a:solidFill>
              </a:rPr>
              <a:t> </a:t>
            </a:r>
            <a:r>
              <a:rPr sz="6100" spc="-420" dirty="0">
                <a:solidFill>
                  <a:srgbClr val="282828"/>
                </a:solidFill>
              </a:rPr>
              <a:t>PARADIGM</a:t>
            </a:r>
            <a:r>
              <a:rPr sz="6100" spc="280" dirty="0">
                <a:solidFill>
                  <a:srgbClr val="282828"/>
                </a:solidFill>
              </a:rPr>
              <a:t> </a:t>
            </a:r>
            <a:r>
              <a:rPr sz="6100" spc="-525" dirty="0">
                <a:solidFill>
                  <a:srgbClr val="282828"/>
                </a:solidFill>
              </a:rPr>
              <a:t>SHIFT:</a:t>
            </a:r>
            <a:r>
              <a:rPr sz="6100" spc="-130" dirty="0">
                <a:solidFill>
                  <a:srgbClr val="282828"/>
                </a:solidFill>
              </a:rPr>
              <a:t> </a:t>
            </a:r>
            <a:r>
              <a:rPr sz="6100" spc="-400" dirty="0">
                <a:solidFill>
                  <a:srgbClr val="282828"/>
                </a:solidFill>
              </a:rPr>
              <a:t>FROM</a:t>
            </a:r>
            <a:r>
              <a:rPr sz="6100" spc="-80" dirty="0">
                <a:solidFill>
                  <a:srgbClr val="282828"/>
                </a:solidFill>
              </a:rPr>
              <a:t> </a:t>
            </a:r>
            <a:r>
              <a:rPr sz="6100" spc="-685" dirty="0">
                <a:solidFill>
                  <a:srgbClr val="282828"/>
                </a:solidFill>
              </a:rPr>
              <a:t>STATIC</a:t>
            </a:r>
            <a:endParaRPr sz="6100"/>
          </a:p>
          <a:p>
            <a:pPr marL="15875">
              <a:lnSpc>
                <a:spcPts val="6915"/>
              </a:lnSpc>
            </a:pPr>
            <a:r>
              <a:rPr sz="6250" spc="-770" dirty="0">
                <a:solidFill>
                  <a:srgbClr val="232323"/>
                </a:solidFill>
              </a:rPr>
              <a:t>VECTORS</a:t>
            </a:r>
            <a:r>
              <a:rPr sz="6250" spc="220" dirty="0">
                <a:solidFill>
                  <a:srgbClr val="232323"/>
                </a:solidFill>
              </a:rPr>
              <a:t> </a:t>
            </a:r>
            <a:r>
              <a:rPr sz="6250" spc="-685" dirty="0">
                <a:solidFill>
                  <a:srgbClr val="2A2A2A"/>
                </a:solidFill>
              </a:rPr>
              <a:t>TO</a:t>
            </a:r>
            <a:r>
              <a:rPr sz="6250" spc="-330" dirty="0">
                <a:solidFill>
                  <a:srgbClr val="2A2A2A"/>
                </a:solidFill>
              </a:rPr>
              <a:t> </a:t>
            </a:r>
            <a:r>
              <a:rPr sz="6250" spc="-620" dirty="0">
                <a:solidFill>
                  <a:srgbClr val="262626"/>
                </a:solidFill>
              </a:rPr>
              <a:t>DYNAMIC</a:t>
            </a:r>
            <a:r>
              <a:rPr sz="6250" spc="55" dirty="0">
                <a:solidFill>
                  <a:srgbClr val="262626"/>
                </a:solidFill>
              </a:rPr>
              <a:t> </a:t>
            </a:r>
            <a:r>
              <a:rPr sz="6250" spc="-700" dirty="0">
                <a:solidFill>
                  <a:srgbClr val="262626"/>
                </a:solidFill>
              </a:rPr>
              <a:t>GRAPHS</a:t>
            </a:r>
            <a:endParaRPr sz="6250"/>
          </a:p>
        </p:txBody>
      </p:sp>
      <p:sp>
        <p:nvSpPr>
          <p:cNvPr id="4" name="object 4"/>
          <p:cNvSpPr txBox="1"/>
          <p:nvPr/>
        </p:nvSpPr>
        <p:spPr>
          <a:xfrm>
            <a:off x="1035144" y="2577747"/>
            <a:ext cx="13364844" cy="995044"/>
          </a:xfrm>
          <a:prstGeom prst="rect">
            <a:avLst/>
          </a:prstGeom>
        </p:spPr>
        <p:txBody>
          <a:bodyPr vert="horz" wrap="square" lIns="0" tIns="83820" rIns="0" bIns="0" rtlCol="0">
            <a:spAutoFit/>
          </a:bodyPr>
          <a:lstStyle/>
          <a:p>
            <a:pPr marL="15240" marR="5080" indent="-3175">
              <a:lnSpc>
                <a:spcPts val="3550"/>
              </a:lnSpc>
              <a:spcBef>
                <a:spcPts val="660"/>
              </a:spcBef>
            </a:pPr>
            <a:r>
              <a:rPr sz="3400" spc="-100" dirty="0">
                <a:solidFill>
                  <a:srgbClr val="242424"/>
                </a:solidFill>
                <a:latin typeface="Arial MT"/>
                <a:cs typeface="Arial MT"/>
              </a:rPr>
              <a:t>Key</a:t>
            </a:r>
            <a:r>
              <a:rPr sz="3400" spc="-150" dirty="0">
                <a:solidFill>
                  <a:srgbClr val="242424"/>
                </a:solidFill>
                <a:latin typeface="Arial MT"/>
                <a:cs typeface="Arial MT"/>
              </a:rPr>
              <a:t> </a:t>
            </a:r>
            <a:r>
              <a:rPr sz="3400" spc="-35" dirty="0">
                <a:solidFill>
                  <a:srgbClr val="212121"/>
                </a:solidFill>
                <a:latin typeface="Arial MT"/>
                <a:cs typeface="Arial MT"/>
              </a:rPr>
              <a:t>Takeaway:</a:t>
            </a:r>
            <a:r>
              <a:rPr sz="3400" spc="-204" dirty="0">
                <a:solidFill>
                  <a:srgbClr val="212121"/>
                </a:solidFill>
                <a:latin typeface="Arial MT"/>
                <a:cs typeface="Arial MT"/>
              </a:rPr>
              <a:t> </a:t>
            </a:r>
            <a:r>
              <a:rPr sz="3400" spc="-215" dirty="0">
                <a:solidFill>
                  <a:srgbClr val="1F1F1F"/>
                </a:solidFill>
                <a:latin typeface="Arial MT"/>
                <a:cs typeface="Arial MT"/>
              </a:rPr>
              <a:t>We</a:t>
            </a:r>
            <a:r>
              <a:rPr sz="3400" spc="-125" dirty="0">
                <a:solidFill>
                  <a:srgbClr val="1F1F1F"/>
                </a:solidFill>
                <a:latin typeface="Arial MT"/>
                <a:cs typeface="Arial MT"/>
              </a:rPr>
              <a:t> </a:t>
            </a:r>
            <a:r>
              <a:rPr sz="3400" spc="-75" dirty="0">
                <a:solidFill>
                  <a:srgbClr val="181818"/>
                </a:solidFill>
                <a:latin typeface="Arial MT"/>
                <a:cs typeface="Arial MT"/>
              </a:rPr>
              <a:t>are</a:t>
            </a:r>
            <a:r>
              <a:rPr sz="3400" spc="-160" dirty="0">
                <a:solidFill>
                  <a:srgbClr val="181818"/>
                </a:solidFill>
                <a:latin typeface="Arial MT"/>
                <a:cs typeface="Arial MT"/>
              </a:rPr>
              <a:t> </a:t>
            </a:r>
            <a:r>
              <a:rPr sz="3400" dirty="0">
                <a:solidFill>
                  <a:srgbClr val="1A1A1A"/>
                </a:solidFill>
                <a:latin typeface="Arial MT"/>
                <a:cs typeface="Arial MT"/>
              </a:rPr>
              <a:t>upgrading</a:t>
            </a:r>
            <a:r>
              <a:rPr sz="3400" spc="-240" dirty="0">
                <a:solidFill>
                  <a:srgbClr val="1A1A1A"/>
                </a:solidFill>
                <a:latin typeface="Arial MT"/>
                <a:cs typeface="Arial MT"/>
              </a:rPr>
              <a:t> </a:t>
            </a:r>
            <a:r>
              <a:rPr sz="3400" dirty="0">
                <a:solidFill>
                  <a:srgbClr val="1A1A1A"/>
                </a:solidFill>
                <a:latin typeface="Arial MT"/>
                <a:cs typeface="Arial MT"/>
              </a:rPr>
              <a:t>our</a:t>
            </a:r>
            <a:r>
              <a:rPr sz="3400" spc="-70" dirty="0">
                <a:solidFill>
                  <a:srgbClr val="1A1A1A"/>
                </a:solidFill>
                <a:latin typeface="Arial MT"/>
                <a:cs typeface="Arial MT"/>
              </a:rPr>
              <a:t> </a:t>
            </a:r>
            <a:r>
              <a:rPr sz="3400" spc="-150" dirty="0">
                <a:solidFill>
                  <a:srgbClr val="1F1F1F"/>
                </a:solidFill>
                <a:latin typeface="Arial MT"/>
                <a:cs typeface="Arial MT"/>
              </a:rPr>
              <a:t>AI</a:t>
            </a:r>
            <a:r>
              <a:rPr sz="3400" spc="-105" dirty="0">
                <a:solidFill>
                  <a:srgbClr val="1F1F1F"/>
                </a:solidFill>
                <a:latin typeface="Arial MT"/>
                <a:cs typeface="Arial MT"/>
              </a:rPr>
              <a:t> </a:t>
            </a:r>
            <a:r>
              <a:rPr sz="3400" dirty="0">
                <a:solidFill>
                  <a:srgbClr val="212121"/>
                </a:solidFill>
                <a:latin typeface="Arial MT"/>
                <a:cs typeface="Arial MT"/>
              </a:rPr>
              <a:t>from</a:t>
            </a:r>
            <a:r>
              <a:rPr sz="3400" spc="-85" dirty="0">
                <a:solidFill>
                  <a:srgbClr val="212121"/>
                </a:solidFill>
                <a:latin typeface="Arial MT"/>
                <a:cs typeface="Arial MT"/>
              </a:rPr>
              <a:t> </a:t>
            </a:r>
            <a:r>
              <a:rPr sz="3400" spc="-305" dirty="0">
                <a:solidFill>
                  <a:srgbClr val="232323"/>
                </a:solidFill>
                <a:latin typeface="Arial MT"/>
                <a:cs typeface="Arial MT"/>
              </a:rPr>
              <a:t>a</a:t>
            </a:r>
            <a:r>
              <a:rPr sz="3400" spc="70" dirty="0">
                <a:solidFill>
                  <a:srgbClr val="232323"/>
                </a:solidFill>
                <a:latin typeface="Arial MT"/>
                <a:cs typeface="Arial MT"/>
              </a:rPr>
              <a:t> </a:t>
            </a:r>
            <a:r>
              <a:rPr sz="3400" spc="-40" dirty="0">
                <a:solidFill>
                  <a:srgbClr val="1A1A1A"/>
                </a:solidFill>
                <a:latin typeface="Arial MT"/>
                <a:cs typeface="Arial MT"/>
              </a:rPr>
              <a:t>simple</a:t>
            </a:r>
            <a:r>
              <a:rPr sz="3400" spc="-114" dirty="0">
                <a:solidFill>
                  <a:srgbClr val="1A1A1A"/>
                </a:solidFill>
                <a:latin typeface="Arial MT"/>
                <a:cs typeface="Arial MT"/>
              </a:rPr>
              <a:t> </a:t>
            </a:r>
            <a:r>
              <a:rPr sz="3400" dirty="0">
                <a:solidFill>
                  <a:srgbClr val="161616"/>
                </a:solidFill>
                <a:latin typeface="Arial MT"/>
                <a:cs typeface="Arial MT"/>
              </a:rPr>
              <a:t>matching</a:t>
            </a:r>
            <a:r>
              <a:rPr sz="3400" spc="-35" dirty="0">
                <a:solidFill>
                  <a:srgbClr val="161616"/>
                </a:solidFill>
                <a:latin typeface="Arial MT"/>
                <a:cs typeface="Arial MT"/>
              </a:rPr>
              <a:t> </a:t>
            </a:r>
            <a:r>
              <a:rPr sz="3400" spc="-25" dirty="0">
                <a:solidFill>
                  <a:srgbClr val="151515"/>
                </a:solidFill>
                <a:latin typeface="Arial MT"/>
                <a:cs typeface="Arial MT"/>
              </a:rPr>
              <a:t>engine </a:t>
            </a:r>
            <a:r>
              <a:rPr sz="3400" dirty="0">
                <a:solidFill>
                  <a:srgbClr val="1A1A1A"/>
                </a:solidFill>
                <a:latin typeface="Arial MT"/>
                <a:cs typeface="Arial MT"/>
              </a:rPr>
              <a:t>into</a:t>
            </a:r>
            <a:r>
              <a:rPr sz="3400" spc="-100" dirty="0">
                <a:solidFill>
                  <a:srgbClr val="1A1A1A"/>
                </a:solidFill>
                <a:latin typeface="Arial MT"/>
                <a:cs typeface="Arial MT"/>
              </a:rPr>
              <a:t> </a:t>
            </a:r>
            <a:r>
              <a:rPr sz="3400" spc="-305" dirty="0">
                <a:solidFill>
                  <a:srgbClr val="262626"/>
                </a:solidFill>
                <a:latin typeface="Arial MT"/>
                <a:cs typeface="Arial MT"/>
              </a:rPr>
              <a:t>a</a:t>
            </a:r>
            <a:r>
              <a:rPr sz="3400" spc="-35" dirty="0">
                <a:solidFill>
                  <a:srgbClr val="262626"/>
                </a:solidFill>
                <a:latin typeface="Arial MT"/>
                <a:cs typeface="Arial MT"/>
              </a:rPr>
              <a:t> </a:t>
            </a:r>
            <a:r>
              <a:rPr sz="3400" spc="-30" dirty="0">
                <a:solidFill>
                  <a:srgbClr val="181818"/>
                </a:solidFill>
                <a:latin typeface="Arial MT"/>
                <a:cs typeface="Arial MT"/>
              </a:rPr>
              <a:t>reasoning</a:t>
            </a:r>
            <a:r>
              <a:rPr sz="3400" spc="-5" dirty="0">
                <a:solidFill>
                  <a:srgbClr val="181818"/>
                </a:solidFill>
                <a:latin typeface="Arial MT"/>
                <a:cs typeface="Arial MT"/>
              </a:rPr>
              <a:t> </a:t>
            </a:r>
            <a:r>
              <a:rPr sz="3400" spc="-10" dirty="0">
                <a:solidFill>
                  <a:srgbClr val="161616"/>
                </a:solidFill>
                <a:latin typeface="Arial MT"/>
                <a:cs typeface="Arial MT"/>
              </a:rPr>
              <a:t>engine.</a:t>
            </a:r>
            <a:endParaRPr sz="3400">
              <a:latin typeface="Arial MT"/>
              <a:cs typeface="Arial MT"/>
            </a:endParaRPr>
          </a:p>
        </p:txBody>
      </p:sp>
      <p:sp>
        <p:nvSpPr>
          <p:cNvPr id="5" name="object 5"/>
          <p:cNvSpPr txBox="1"/>
          <p:nvPr/>
        </p:nvSpPr>
        <p:spPr>
          <a:xfrm>
            <a:off x="2324294" y="3847864"/>
            <a:ext cx="4700905" cy="1202055"/>
          </a:xfrm>
          <a:prstGeom prst="rect">
            <a:avLst/>
          </a:prstGeom>
        </p:spPr>
        <p:txBody>
          <a:bodyPr vert="horz" wrap="square" lIns="0" tIns="38100" rIns="0" bIns="0" rtlCol="0">
            <a:spAutoFit/>
          </a:bodyPr>
          <a:lstStyle/>
          <a:p>
            <a:pPr marR="18415" algn="ctr">
              <a:lnSpc>
                <a:spcPct val="100000"/>
              </a:lnSpc>
              <a:spcBef>
                <a:spcPts val="300"/>
              </a:spcBef>
            </a:pPr>
            <a:r>
              <a:rPr sz="3050" spc="-215" dirty="0">
                <a:solidFill>
                  <a:srgbClr val="262626"/>
                </a:solidFill>
                <a:latin typeface="Arial Black"/>
                <a:cs typeface="Arial Black"/>
              </a:rPr>
              <a:t>VECTOR</a:t>
            </a:r>
            <a:r>
              <a:rPr sz="3050" spc="-35" dirty="0">
                <a:solidFill>
                  <a:srgbClr val="262626"/>
                </a:solidFill>
                <a:latin typeface="Arial Black"/>
                <a:cs typeface="Arial Black"/>
              </a:rPr>
              <a:t> </a:t>
            </a:r>
            <a:r>
              <a:rPr sz="3050" spc="-50" dirty="0">
                <a:solidFill>
                  <a:srgbClr val="232323"/>
                </a:solidFill>
                <a:latin typeface="Arial Black"/>
                <a:cs typeface="Arial Black"/>
              </a:rPr>
              <a:t>SEARCH</a:t>
            </a:r>
            <a:endParaRPr sz="3050">
              <a:latin typeface="Arial Black"/>
              <a:cs typeface="Arial Black"/>
            </a:endParaRPr>
          </a:p>
          <a:p>
            <a:pPr marL="12700" marR="5080" algn="ctr">
              <a:lnSpc>
                <a:spcPts val="2500"/>
              </a:lnSpc>
              <a:spcBef>
                <a:spcPts val="440"/>
              </a:spcBef>
            </a:pPr>
            <a:r>
              <a:rPr sz="2300" spc="-35" dirty="0">
                <a:solidFill>
                  <a:srgbClr val="080808"/>
                </a:solidFill>
                <a:latin typeface="Arial MT"/>
                <a:cs typeface="Arial MT"/>
              </a:rPr>
              <a:t>Querying</a:t>
            </a:r>
            <a:r>
              <a:rPr sz="2300" spc="-15" dirty="0">
                <a:solidFill>
                  <a:srgbClr val="080808"/>
                </a:solidFill>
                <a:latin typeface="Arial MT"/>
                <a:cs typeface="Arial MT"/>
              </a:rPr>
              <a:t> </a:t>
            </a:r>
            <a:r>
              <a:rPr sz="2300" dirty="0">
                <a:solidFill>
                  <a:srgbClr val="131313"/>
                </a:solidFill>
                <a:latin typeface="Arial MT"/>
                <a:cs typeface="Arial MT"/>
              </a:rPr>
              <a:t>for</a:t>
            </a:r>
            <a:r>
              <a:rPr sz="2300" spc="-125" dirty="0">
                <a:solidFill>
                  <a:srgbClr val="131313"/>
                </a:solidFill>
                <a:latin typeface="Arial MT"/>
                <a:cs typeface="Arial MT"/>
              </a:rPr>
              <a:t> </a:t>
            </a:r>
            <a:r>
              <a:rPr sz="2300" dirty="0">
                <a:solidFill>
                  <a:srgbClr val="080808"/>
                </a:solidFill>
                <a:latin typeface="Arial MT"/>
                <a:cs typeface="Arial MT"/>
              </a:rPr>
              <a:t>isolated</a:t>
            </a:r>
            <a:r>
              <a:rPr sz="2300" spc="-100" dirty="0">
                <a:solidFill>
                  <a:srgbClr val="080808"/>
                </a:solidFill>
                <a:latin typeface="Arial MT"/>
                <a:cs typeface="Arial MT"/>
              </a:rPr>
              <a:t> </a:t>
            </a:r>
            <a:r>
              <a:rPr sz="2300" dirty="0">
                <a:solidFill>
                  <a:srgbClr val="0F0F0F"/>
                </a:solidFill>
                <a:latin typeface="Arial MT"/>
                <a:cs typeface="Arial MT"/>
              </a:rPr>
              <a:t>words</a:t>
            </a:r>
            <a:r>
              <a:rPr sz="2300" spc="-75" dirty="0">
                <a:solidFill>
                  <a:srgbClr val="0F0F0F"/>
                </a:solidFill>
                <a:latin typeface="Arial MT"/>
                <a:cs typeface="Arial MT"/>
              </a:rPr>
              <a:t> </a:t>
            </a:r>
            <a:r>
              <a:rPr sz="2300" dirty="0">
                <a:solidFill>
                  <a:srgbClr val="0C0C0C"/>
                </a:solidFill>
                <a:latin typeface="Arial MT"/>
                <a:cs typeface="Arial MT"/>
              </a:rPr>
              <a:t>that</a:t>
            </a:r>
            <a:r>
              <a:rPr sz="2300" spc="-140" dirty="0">
                <a:solidFill>
                  <a:srgbClr val="0C0C0C"/>
                </a:solidFill>
                <a:latin typeface="Arial MT"/>
                <a:cs typeface="Arial MT"/>
              </a:rPr>
              <a:t> </a:t>
            </a:r>
            <a:r>
              <a:rPr sz="2300" spc="-20" dirty="0">
                <a:solidFill>
                  <a:srgbClr val="111111"/>
                </a:solidFill>
                <a:latin typeface="Arial MT"/>
                <a:cs typeface="Arial MT"/>
              </a:rPr>
              <a:t>look </a:t>
            </a:r>
            <a:r>
              <a:rPr sz="2300" dirty="0">
                <a:solidFill>
                  <a:srgbClr val="0F0F0F"/>
                </a:solidFill>
                <a:latin typeface="Arial MT"/>
                <a:cs typeface="Arial MT"/>
              </a:rPr>
              <a:t>statistically</a:t>
            </a:r>
            <a:r>
              <a:rPr sz="2300" spc="40" dirty="0">
                <a:solidFill>
                  <a:srgbClr val="0F0F0F"/>
                </a:solidFill>
                <a:latin typeface="Arial MT"/>
                <a:cs typeface="Arial MT"/>
              </a:rPr>
              <a:t> </a:t>
            </a:r>
            <a:r>
              <a:rPr sz="2300" spc="-35" dirty="0">
                <a:solidFill>
                  <a:srgbClr val="0A0A0A"/>
                </a:solidFill>
                <a:latin typeface="Arial MT"/>
                <a:cs typeface="Arial MT"/>
              </a:rPr>
              <a:t>similar.</a:t>
            </a:r>
            <a:r>
              <a:rPr sz="2300" spc="-5" dirty="0">
                <a:solidFill>
                  <a:srgbClr val="0A0A0A"/>
                </a:solidFill>
                <a:latin typeface="Arial MT"/>
                <a:cs typeface="Arial MT"/>
              </a:rPr>
              <a:t> </a:t>
            </a:r>
            <a:r>
              <a:rPr sz="2300" spc="-55" dirty="0">
                <a:latin typeface="Arial MT"/>
                <a:cs typeface="Arial MT"/>
              </a:rPr>
              <a:t>(Blind</a:t>
            </a:r>
            <a:r>
              <a:rPr sz="2300" spc="-105" dirty="0">
                <a:latin typeface="Arial MT"/>
                <a:cs typeface="Arial MT"/>
              </a:rPr>
              <a:t> </a:t>
            </a:r>
            <a:r>
              <a:rPr sz="2300" spc="-10" dirty="0">
                <a:solidFill>
                  <a:srgbClr val="0E0E0E"/>
                </a:solidFill>
                <a:latin typeface="Arial MT"/>
                <a:cs typeface="Arial MT"/>
              </a:rPr>
              <a:t>proximity).</a:t>
            </a:r>
            <a:endParaRPr sz="2300">
              <a:latin typeface="Arial MT"/>
              <a:cs typeface="Arial MT"/>
            </a:endParaRPr>
          </a:p>
        </p:txBody>
      </p:sp>
      <p:sp>
        <p:nvSpPr>
          <p:cNvPr id="6" name="object 6"/>
          <p:cNvSpPr txBox="1"/>
          <p:nvPr/>
        </p:nvSpPr>
        <p:spPr>
          <a:xfrm>
            <a:off x="9918894" y="3863975"/>
            <a:ext cx="5888990" cy="1185545"/>
          </a:xfrm>
          <a:prstGeom prst="rect">
            <a:avLst/>
          </a:prstGeom>
        </p:spPr>
        <p:txBody>
          <a:bodyPr vert="horz" wrap="square" lIns="0" tIns="15875" rIns="0" bIns="0" rtlCol="0">
            <a:spAutoFit/>
          </a:bodyPr>
          <a:lstStyle/>
          <a:p>
            <a:pPr marR="126364" algn="ctr">
              <a:lnSpc>
                <a:spcPct val="100000"/>
              </a:lnSpc>
              <a:spcBef>
                <a:spcPts val="125"/>
              </a:spcBef>
            </a:pPr>
            <a:r>
              <a:rPr sz="3100" spc="-229" dirty="0">
                <a:solidFill>
                  <a:srgbClr val="262626"/>
                </a:solidFill>
                <a:latin typeface="Arial Black"/>
                <a:cs typeface="Arial Black"/>
              </a:rPr>
              <a:t>GRAPH</a:t>
            </a:r>
            <a:r>
              <a:rPr sz="3100" dirty="0">
                <a:solidFill>
                  <a:srgbClr val="262626"/>
                </a:solidFill>
                <a:latin typeface="Arial Black"/>
                <a:cs typeface="Arial Black"/>
              </a:rPr>
              <a:t> </a:t>
            </a:r>
            <a:r>
              <a:rPr sz="3100" spc="-300" dirty="0">
                <a:solidFill>
                  <a:srgbClr val="232323"/>
                </a:solidFill>
                <a:latin typeface="Arial Black"/>
                <a:cs typeface="Arial Black"/>
              </a:rPr>
              <a:t>RETRIEVAL</a:t>
            </a:r>
            <a:endParaRPr sz="3100">
              <a:latin typeface="Arial Black"/>
              <a:cs typeface="Arial Black"/>
            </a:endParaRPr>
          </a:p>
          <a:p>
            <a:pPr marL="399415" marR="5080" indent="-387350">
              <a:lnSpc>
                <a:spcPts val="2500"/>
              </a:lnSpc>
              <a:spcBef>
                <a:spcPts val="430"/>
              </a:spcBef>
            </a:pPr>
            <a:r>
              <a:rPr sz="2300" spc="-35" dirty="0">
                <a:solidFill>
                  <a:srgbClr val="080808"/>
                </a:solidFill>
                <a:latin typeface="Arial MT"/>
                <a:cs typeface="Arial MT"/>
              </a:rPr>
              <a:t>Querying</a:t>
            </a:r>
            <a:r>
              <a:rPr sz="2300" spc="-50" dirty="0">
                <a:solidFill>
                  <a:srgbClr val="080808"/>
                </a:solidFill>
                <a:latin typeface="Arial MT"/>
                <a:cs typeface="Arial MT"/>
              </a:rPr>
              <a:t> </a:t>
            </a:r>
            <a:r>
              <a:rPr sz="2300" spc="-110" dirty="0">
                <a:solidFill>
                  <a:srgbClr val="0A0A0A"/>
                </a:solidFill>
                <a:latin typeface="Arial MT"/>
                <a:cs typeface="Arial MT"/>
              </a:rPr>
              <a:t>an</a:t>
            </a:r>
            <a:r>
              <a:rPr sz="2300" spc="-80" dirty="0">
                <a:solidFill>
                  <a:srgbClr val="0A0A0A"/>
                </a:solidFill>
                <a:latin typeface="Arial MT"/>
                <a:cs typeface="Arial MT"/>
              </a:rPr>
              <a:t> </a:t>
            </a:r>
            <a:r>
              <a:rPr sz="2300" dirty="0">
                <a:latin typeface="Arial MT"/>
                <a:cs typeface="Arial MT"/>
              </a:rPr>
              <a:t>intelligent,</a:t>
            </a:r>
            <a:r>
              <a:rPr sz="2300" spc="-25" dirty="0">
                <a:latin typeface="Arial MT"/>
                <a:cs typeface="Arial MT"/>
              </a:rPr>
              <a:t> </a:t>
            </a:r>
            <a:r>
              <a:rPr sz="2300" spc="-10" dirty="0">
                <a:solidFill>
                  <a:srgbClr val="050505"/>
                </a:solidFill>
                <a:latin typeface="Arial MT"/>
                <a:cs typeface="Arial MT"/>
              </a:rPr>
              <a:t>interconnected</a:t>
            </a:r>
            <a:r>
              <a:rPr sz="2300" spc="-150" dirty="0">
                <a:solidFill>
                  <a:srgbClr val="050505"/>
                </a:solidFill>
                <a:latin typeface="Arial MT"/>
                <a:cs typeface="Arial MT"/>
              </a:rPr>
              <a:t> </a:t>
            </a:r>
            <a:r>
              <a:rPr sz="2300" spc="-60" dirty="0">
                <a:solidFill>
                  <a:srgbClr val="0C0C0C"/>
                </a:solidFill>
                <a:latin typeface="Arial MT"/>
                <a:cs typeface="Arial MT"/>
              </a:rPr>
              <a:t>map</a:t>
            </a:r>
            <a:r>
              <a:rPr sz="2300" spc="-80" dirty="0">
                <a:solidFill>
                  <a:srgbClr val="0C0C0C"/>
                </a:solidFill>
                <a:latin typeface="Arial MT"/>
                <a:cs typeface="Arial MT"/>
              </a:rPr>
              <a:t> </a:t>
            </a:r>
            <a:r>
              <a:rPr sz="2300" spc="-25" dirty="0">
                <a:solidFill>
                  <a:srgbClr val="0F0F0F"/>
                </a:solidFill>
                <a:latin typeface="Arial MT"/>
                <a:cs typeface="Arial MT"/>
              </a:rPr>
              <a:t>of </a:t>
            </a:r>
            <a:r>
              <a:rPr sz="2300" spc="-10" dirty="0">
                <a:latin typeface="Arial MT"/>
                <a:cs typeface="Arial MT"/>
              </a:rPr>
              <a:t>relationships</a:t>
            </a:r>
            <a:r>
              <a:rPr sz="2300" spc="-135" dirty="0">
                <a:latin typeface="Arial MT"/>
                <a:cs typeface="Arial MT"/>
              </a:rPr>
              <a:t> </a:t>
            </a:r>
            <a:r>
              <a:rPr sz="2300" spc="-70" dirty="0">
                <a:solidFill>
                  <a:srgbClr val="0C0C0C"/>
                </a:solidFill>
                <a:latin typeface="Arial MT"/>
                <a:cs typeface="Arial MT"/>
              </a:rPr>
              <a:t>and</a:t>
            </a:r>
            <a:r>
              <a:rPr sz="2300" spc="-90" dirty="0">
                <a:solidFill>
                  <a:srgbClr val="0C0C0C"/>
                </a:solidFill>
                <a:latin typeface="Arial MT"/>
                <a:cs typeface="Arial MT"/>
              </a:rPr>
              <a:t> </a:t>
            </a:r>
            <a:r>
              <a:rPr sz="2300" spc="-25" dirty="0">
                <a:latin typeface="Arial MT"/>
                <a:cs typeface="Arial MT"/>
              </a:rPr>
              <a:t>keys.</a:t>
            </a:r>
            <a:r>
              <a:rPr sz="2300" spc="-135" dirty="0">
                <a:latin typeface="Arial MT"/>
                <a:cs typeface="Arial MT"/>
              </a:rPr>
              <a:t> </a:t>
            </a:r>
            <a:r>
              <a:rPr sz="2300" spc="-40" dirty="0">
                <a:solidFill>
                  <a:srgbClr val="0F0F0F"/>
                </a:solidFill>
                <a:latin typeface="Arial MT"/>
                <a:cs typeface="Arial MT"/>
              </a:rPr>
              <a:t>(Semantic</a:t>
            </a:r>
            <a:r>
              <a:rPr sz="2300" spc="-70" dirty="0">
                <a:solidFill>
                  <a:srgbClr val="0F0F0F"/>
                </a:solidFill>
                <a:latin typeface="Arial MT"/>
                <a:cs typeface="Arial MT"/>
              </a:rPr>
              <a:t> </a:t>
            </a:r>
            <a:r>
              <a:rPr sz="2300" spc="-10" dirty="0">
                <a:solidFill>
                  <a:srgbClr val="0A0A0A"/>
                </a:solidFill>
                <a:latin typeface="Arial MT"/>
                <a:cs typeface="Arial MT"/>
              </a:rPr>
              <a:t>logic).</a:t>
            </a:r>
            <a:endParaRPr sz="2300">
              <a:latin typeface="Arial MT"/>
              <a:cs typeface="Arial M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168900" y="7823200"/>
            <a:ext cx="1104900" cy="736600"/>
          </a:xfrm>
          <a:prstGeom prst="rect">
            <a:avLst/>
          </a:prstGeom>
        </p:spPr>
      </p:pic>
      <p:pic>
        <p:nvPicPr>
          <p:cNvPr id="3" name="object 3"/>
          <p:cNvPicPr/>
          <p:nvPr/>
        </p:nvPicPr>
        <p:blipFill>
          <a:blip r:embed="rId3" cstate="print"/>
          <a:stretch>
            <a:fillRect/>
          </a:stretch>
        </p:blipFill>
        <p:spPr>
          <a:xfrm>
            <a:off x="10744200" y="7747000"/>
            <a:ext cx="1270000" cy="901700"/>
          </a:xfrm>
          <a:prstGeom prst="rect">
            <a:avLst/>
          </a:prstGeom>
        </p:spPr>
      </p:pic>
      <p:pic>
        <p:nvPicPr>
          <p:cNvPr id="4" name="object 4"/>
          <p:cNvPicPr/>
          <p:nvPr/>
        </p:nvPicPr>
        <p:blipFill>
          <a:blip r:embed="rId4" cstate="print"/>
          <a:stretch>
            <a:fillRect/>
          </a:stretch>
        </p:blipFill>
        <p:spPr>
          <a:xfrm>
            <a:off x="5270500" y="6451600"/>
            <a:ext cx="635000" cy="812800"/>
          </a:xfrm>
          <a:prstGeom prst="rect">
            <a:avLst/>
          </a:prstGeom>
        </p:spPr>
      </p:pic>
      <p:pic>
        <p:nvPicPr>
          <p:cNvPr id="5" name="object 5"/>
          <p:cNvPicPr/>
          <p:nvPr/>
        </p:nvPicPr>
        <p:blipFill>
          <a:blip r:embed="rId5" cstate="print"/>
          <a:stretch>
            <a:fillRect/>
          </a:stretch>
        </p:blipFill>
        <p:spPr>
          <a:xfrm>
            <a:off x="10693400" y="6451600"/>
            <a:ext cx="1028700" cy="812800"/>
          </a:xfrm>
          <a:prstGeom prst="rect">
            <a:avLst/>
          </a:prstGeom>
        </p:spPr>
      </p:pic>
      <p:pic>
        <p:nvPicPr>
          <p:cNvPr id="6" name="object 6"/>
          <p:cNvPicPr/>
          <p:nvPr/>
        </p:nvPicPr>
        <p:blipFill>
          <a:blip r:embed="rId6" cstate="print"/>
          <a:stretch>
            <a:fillRect/>
          </a:stretch>
        </p:blipFill>
        <p:spPr>
          <a:xfrm>
            <a:off x="10833100" y="5130800"/>
            <a:ext cx="901700" cy="812800"/>
          </a:xfrm>
          <a:prstGeom prst="rect">
            <a:avLst/>
          </a:prstGeom>
        </p:spPr>
      </p:pic>
      <p:pic>
        <p:nvPicPr>
          <p:cNvPr id="7" name="object 7"/>
          <p:cNvPicPr/>
          <p:nvPr/>
        </p:nvPicPr>
        <p:blipFill>
          <a:blip r:embed="rId7" cstate="print"/>
          <a:stretch>
            <a:fillRect/>
          </a:stretch>
        </p:blipFill>
        <p:spPr>
          <a:xfrm>
            <a:off x="10833100" y="3759200"/>
            <a:ext cx="901700" cy="901700"/>
          </a:xfrm>
          <a:prstGeom prst="rect">
            <a:avLst/>
          </a:prstGeom>
        </p:spPr>
      </p:pic>
      <p:graphicFrame>
        <p:nvGraphicFramePr>
          <p:cNvPr id="8" name="object 8"/>
          <p:cNvGraphicFramePr>
            <a:graphicFrameLocks noGrp="1"/>
          </p:cNvGraphicFramePr>
          <p:nvPr/>
        </p:nvGraphicFramePr>
        <p:xfrm>
          <a:off x="846666" y="2455332"/>
          <a:ext cx="15798800" cy="6450965"/>
        </p:xfrm>
        <a:graphic>
          <a:graphicData uri="http://schemas.openxmlformats.org/drawingml/2006/table">
            <a:tbl>
              <a:tblPr firstRow="1" bandRow="1">
                <a:tableStyleId>{2D5ABB26-0587-4C30-8999-92F81FD0307C}</a:tableStyleId>
              </a:tblPr>
              <a:tblGrid>
                <a:gridCol w="3898900"/>
                <a:gridCol w="5702300"/>
                <a:gridCol w="6108700"/>
              </a:tblGrid>
              <a:tr h="1146810">
                <a:tc>
                  <a:txBody>
                    <a:bodyPr/>
                    <a:lstStyle/>
                    <a:p>
                      <a:pPr marL="233045">
                        <a:lnSpc>
                          <a:spcPts val="3485"/>
                        </a:lnSpc>
                        <a:spcBef>
                          <a:spcPts val="565"/>
                        </a:spcBef>
                      </a:pPr>
                      <a:r>
                        <a:rPr sz="3100" spc="-10" dirty="0">
                          <a:solidFill>
                            <a:srgbClr val="111111"/>
                          </a:solidFill>
                          <a:latin typeface="Arial MT"/>
                          <a:cs typeface="Arial MT"/>
                        </a:rPr>
                        <a:t>EVALUATION</a:t>
                      </a:r>
                      <a:endParaRPr sz="3100">
                        <a:latin typeface="Arial MT"/>
                        <a:cs typeface="Arial MT"/>
                      </a:endParaRPr>
                    </a:p>
                    <a:p>
                      <a:pPr marL="234315">
                        <a:lnSpc>
                          <a:spcPts val="3425"/>
                        </a:lnSpc>
                      </a:pPr>
                      <a:r>
                        <a:rPr sz="3050" spc="-10" dirty="0">
                          <a:solidFill>
                            <a:srgbClr val="181818"/>
                          </a:solidFill>
                          <a:latin typeface="Arial MT"/>
                          <a:cs typeface="Arial MT"/>
                        </a:rPr>
                        <a:t>DIMENSIONS</a:t>
                      </a:r>
                      <a:endParaRPr sz="3050">
                        <a:latin typeface="Arial MT"/>
                        <a:cs typeface="Arial MT"/>
                      </a:endParaRPr>
                    </a:p>
                  </a:txBody>
                  <a:tcPr marL="0" marR="0" marT="71755" marB="0">
                    <a:lnL w="12700">
                      <a:solidFill>
                        <a:srgbClr val="54575B"/>
                      </a:solidFill>
                      <a:prstDash val="solid"/>
                    </a:lnL>
                    <a:lnR w="12700">
                      <a:solidFill>
                        <a:srgbClr val="54575B"/>
                      </a:solidFill>
                      <a:prstDash val="solid"/>
                    </a:lnR>
                    <a:lnT w="12700">
                      <a:solidFill>
                        <a:srgbClr val="54575B"/>
                      </a:solidFill>
                      <a:prstDash val="solid"/>
                    </a:lnT>
                    <a:lnB w="12700">
                      <a:solidFill>
                        <a:srgbClr val="54575B"/>
                      </a:solidFill>
                      <a:prstDash val="solid"/>
                    </a:lnB>
                  </a:tcPr>
                </a:tc>
                <a:tc>
                  <a:txBody>
                    <a:bodyPr/>
                    <a:lstStyle/>
                    <a:p>
                      <a:pPr marL="71120" algn="ctr">
                        <a:lnSpc>
                          <a:spcPct val="100000"/>
                        </a:lnSpc>
                        <a:spcBef>
                          <a:spcPts val="2065"/>
                        </a:spcBef>
                      </a:pPr>
                      <a:r>
                        <a:rPr sz="3200" spc="-200" dirty="0">
                          <a:solidFill>
                            <a:srgbClr val="566B82"/>
                          </a:solidFill>
                          <a:latin typeface="Arial MT"/>
                          <a:cs typeface="Arial MT"/>
                        </a:rPr>
                        <a:t>VECTOR</a:t>
                      </a:r>
                      <a:r>
                        <a:rPr sz="3200" dirty="0">
                          <a:solidFill>
                            <a:srgbClr val="566B82"/>
                          </a:solidFill>
                          <a:latin typeface="Arial MT"/>
                          <a:cs typeface="Arial MT"/>
                        </a:rPr>
                        <a:t> </a:t>
                      </a:r>
                      <a:r>
                        <a:rPr sz="3200" spc="-25" dirty="0">
                          <a:solidFill>
                            <a:srgbClr val="627085"/>
                          </a:solidFill>
                          <a:latin typeface="Arial MT"/>
                          <a:cs typeface="Arial MT"/>
                        </a:rPr>
                        <a:t>RAG</a:t>
                      </a:r>
                      <a:endParaRPr sz="3200">
                        <a:latin typeface="Arial MT"/>
                        <a:cs typeface="Arial MT"/>
                      </a:endParaRPr>
                    </a:p>
                  </a:txBody>
                  <a:tcPr marL="0" marR="0" marT="262255" marB="0">
                    <a:lnL w="12700">
                      <a:solidFill>
                        <a:srgbClr val="54575B"/>
                      </a:solidFill>
                      <a:prstDash val="solid"/>
                    </a:lnL>
                    <a:lnR w="12700">
                      <a:solidFill>
                        <a:srgbClr val="54575B"/>
                      </a:solidFill>
                      <a:prstDash val="solid"/>
                    </a:lnR>
                    <a:lnT w="12700">
                      <a:solidFill>
                        <a:srgbClr val="54575B"/>
                      </a:solidFill>
                      <a:prstDash val="solid"/>
                    </a:lnT>
                    <a:lnB w="12700">
                      <a:solidFill>
                        <a:srgbClr val="54575B"/>
                      </a:solidFill>
                      <a:prstDash val="solid"/>
                    </a:lnB>
                  </a:tcPr>
                </a:tc>
                <a:tc>
                  <a:txBody>
                    <a:bodyPr/>
                    <a:lstStyle/>
                    <a:p>
                      <a:pPr marL="38735" algn="ctr">
                        <a:lnSpc>
                          <a:spcPct val="100000"/>
                        </a:lnSpc>
                        <a:spcBef>
                          <a:spcPts val="2065"/>
                        </a:spcBef>
                      </a:pPr>
                      <a:r>
                        <a:rPr sz="3200" spc="-90" dirty="0">
                          <a:solidFill>
                            <a:srgbClr val="906042"/>
                          </a:solidFill>
                          <a:latin typeface="Arial MT"/>
                          <a:cs typeface="Arial MT"/>
                        </a:rPr>
                        <a:t>GRAPH</a:t>
                      </a:r>
                      <a:r>
                        <a:rPr sz="3200" spc="-114" dirty="0">
                          <a:solidFill>
                            <a:srgbClr val="906042"/>
                          </a:solidFill>
                          <a:latin typeface="Arial MT"/>
                          <a:cs typeface="Arial MT"/>
                        </a:rPr>
                        <a:t> </a:t>
                      </a:r>
                      <a:r>
                        <a:rPr sz="3200" spc="-25" dirty="0">
                          <a:solidFill>
                            <a:srgbClr val="89563A"/>
                          </a:solidFill>
                          <a:latin typeface="Arial MT"/>
                          <a:cs typeface="Arial MT"/>
                        </a:rPr>
                        <a:t>RAG</a:t>
                      </a:r>
                      <a:endParaRPr sz="3200">
                        <a:latin typeface="Arial MT"/>
                        <a:cs typeface="Arial MT"/>
                      </a:endParaRPr>
                    </a:p>
                  </a:txBody>
                  <a:tcPr marL="0" marR="0" marT="262255" marB="0">
                    <a:lnL w="12700">
                      <a:solidFill>
                        <a:srgbClr val="54575B"/>
                      </a:solidFill>
                      <a:prstDash val="solid"/>
                    </a:lnL>
                    <a:lnR w="12700">
                      <a:solidFill>
                        <a:srgbClr val="54575B"/>
                      </a:solidFill>
                      <a:prstDash val="solid"/>
                    </a:lnR>
                    <a:lnB w="12700">
                      <a:solidFill>
                        <a:srgbClr val="54575B"/>
                      </a:solidFill>
                      <a:prstDash val="solid"/>
                    </a:lnB>
                  </a:tcPr>
                </a:tc>
              </a:tr>
              <a:tr h="1308100">
                <a:tc>
                  <a:txBody>
                    <a:bodyPr/>
                    <a:lstStyle/>
                    <a:p>
                      <a:pPr marL="245745">
                        <a:lnSpc>
                          <a:spcPct val="100000"/>
                        </a:lnSpc>
                        <a:spcBef>
                          <a:spcPts val="2530"/>
                        </a:spcBef>
                      </a:pPr>
                      <a:r>
                        <a:rPr sz="3200" spc="-229" dirty="0">
                          <a:solidFill>
                            <a:srgbClr val="080808"/>
                          </a:solidFill>
                          <a:latin typeface="Arial MT"/>
                          <a:cs typeface="Arial MT"/>
                        </a:rPr>
                        <a:t>Data</a:t>
                      </a:r>
                      <a:r>
                        <a:rPr sz="3200" spc="-10" dirty="0">
                          <a:solidFill>
                            <a:srgbClr val="080808"/>
                          </a:solidFill>
                          <a:latin typeface="Arial MT"/>
                          <a:cs typeface="Arial MT"/>
                        </a:rPr>
                        <a:t> </a:t>
                      </a:r>
                      <a:r>
                        <a:rPr sz="3200" spc="-10" dirty="0">
                          <a:latin typeface="Arial MT"/>
                          <a:cs typeface="Arial MT"/>
                        </a:rPr>
                        <a:t>Handling</a:t>
                      </a:r>
                      <a:endParaRPr sz="3200">
                        <a:latin typeface="Arial MT"/>
                        <a:cs typeface="Arial MT"/>
                      </a:endParaRPr>
                    </a:p>
                  </a:txBody>
                  <a:tcPr marL="0" marR="0" marT="321310" marB="0">
                    <a:lnL w="12700">
                      <a:solidFill>
                        <a:srgbClr val="54575B"/>
                      </a:solidFill>
                      <a:prstDash val="solid"/>
                    </a:lnL>
                    <a:lnR w="12700">
                      <a:solidFill>
                        <a:srgbClr val="54575B"/>
                      </a:solidFill>
                      <a:prstDash val="solid"/>
                    </a:lnR>
                    <a:lnT w="12700">
                      <a:solidFill>
                        <a:srgbClr val="54575B"/>
                      </a:solidFill>
                      <a:prstDash val="solid"/>
                    </a:lnT>
                    <a:lnB w="12700">
                      <a:solidFill>
                        <a:srgbClr val="54575B"/>
                      </a:solidFill>
                      <a:prstDash val="solid"/>
                    </a:lnB>
                  </a:tcPr>
                </a:tc>
                <a:tc>
                  <a:txBody>
                    <a:bodyPr/>
                    <a:lstStyle/>
                    <a:p>
                      <a:pPr marL="1763395" marR="1236980" indent="-4445">
                        <a:lnSpc>
                          <a:spcPts val="2950"/>
                        </a:lnSpc>
                        <a:spcBef>
                          <a:spcPts val="1770"/>
                        </a:spcBef>
                        <a:tabLst>
                          <a:tab pos="2463165" algn="l"/>
                        </a:tabLst>
                      </a:pPr>
                      <a:r>
                        <a:rPr sz="2750" spc="-20" dirty="0">
                          <a:latin typeface="Arial MT"/>
                          <a:cs typeface="Arial MT"/>
                        </a:rPr>
                        <a:t>Flat</a:t>
                      </a:r>
                      <a:r>
                        <a:rPr sz="2750" dirty="0">
                          <a:latin typeface="Arial MT"/>
                          <a:cs typeface="Arial MT"/>
                        </a:rPr>
                        <a:t>	</a:t>
                      </a:r>
                      <a:r>
                        <a:rPr sz="2750" spc="-10" dirty="0">
                          <a:latin typeface="Arial MT"/>
                          <a:cs typeface="Arial MT"/>
                        </a:rPr>
                        <a:t>isolated documentchunks</a:t>
                      </a:r>
                      <a:endParaRPr sz="2750">
                        <a:latin typeface="Arial MT"/>
                        <a:cs typeface="Arial MT"/>
                      </a:endParaRPr>
                    </a:p>
                  </a:txBody>
                  <a:tcPr marL="0" marR="0" marT="224790" marB="0">
                    <a:lnL w="12700">
                      <a:solidFill>
                        <a:srgbClr val="54575B"/>
                      </a:solidFill>
                      <a:prstDash val="solid"/>
                    </a:lnL>
                    <a:lnR w="12700">
                      <a:solidFill>
                        <a:srgbClr val="54575B"/>
                      </a:solidFill>
                      <a:prstDash val="solid"/>
                    </a:lnR>
                    <a:lnT w="12700">
                      <a:solidFill>
                        <a:srgbClr val="54575B"/>
                      </a:solidFill>
                      <a:prstDash val="solid"/>
                    </a:lnT>
                    <a:lnB w="12700">
                      <a:solidFill>
                        <a:srgbClr val="54575B"/>
                      </a:solidFill>
                      <a:prstDash val="solid"/>
                    </a:lnB>
                  </a:tcPr>
                </a:tc>
                <a:tc>
                  <a:txBody>
                    <a:bodyPr/>
                    <a:lstStyle/>
                    <a:p>
                      <a:pPr marL="1750695" marR="1149985" indent="1905">
                        <a:lnSpc>
                          <a:spcPts val="3000"/>
                        </a:lnSpc>
                        <a:spcBef>
                          <a:spcPts val="1730"/>
                        </a:spcBef>
                      </a:pPr>
                      <a:r>
                        <a:rPr sz="2950" spc="-125" dirty="0">
                          <a:latin typeface="Arial MT"/>
                          <a:cs typeface="Arial MT"/>
                        </a:rPr>
                        <a:t>Interconnected</a:t>
                      </a:r>
                      <a:r>
                        <a:rPr sz="2950" spc="-204" dirty="0">
                          <a:latin typeface="Arial MT"/>
                          <a:cs typeface="Arial MT"/>
                        </a:rPr>
                        <a:t> </a:t>
                      </a:r>
                      <a:r>
                        <a:rPr sz="2950" spc="-55" dirty="0">
                          <a:latin typeface="Arial MT"/>
                          <a:cs typeface="Arial MT"/>
                        </a:rPr>
                        <a:t>entity </a:t>
                      </a:r>
                      <a:r>
                        <a:rPr sz="2950" spc="-35" dirty="0">
                          <a:latin typeface="Arial MT"/>
                          <a:cs typeface="Arial MT"/>
                        </a:rPr>
                        <a:t>networks</a:t>
                      </a:r>
                      <a:endParaRPr sz="2950">
                        <a:latin typeface="Arial MT"/>
                        <a:cs typeface="Arial MT"/>
                      </a:endParaRPr>
                    </a:p>
                  </a:txBody>
                  <a:tcPr marL="0" marR="0" marT="219710" marB="0">
                    <a:lnL w="12700">
                      <a:solidFill>
                        <a:srgbClr val="54575B"/>
                      </a:solidFill>
                      <a:prstDash val="solid"/>
                    </a:lnL>
                    <a:lnR w="12700">
                      <a:solidFill>
                        <a:srgbClr val="54575B"/>
                      </a:solidFill>
                      <a:prstDash val="solid"/>
                    </a:lnR>
                    <a:lnT w="12700">
                      <a:solidFill>
                        <a:srgbClr val="54575B"/>
                      </a:solidFill>
                      <a:prstDash val="solid"/>
                    </a:lnT>
                    <a:lnB w="12700">
                      <a:solidFill>
                        <a:srgbClr val="54575B"/>
                      </a:solidFill>
                      <a:prstDash val="solid"/>
                    </a:lnB>
                  </a:tcPr>
                </a:tc>
              </a:tr>
              <a:tr h="1320800">
                <a:tc>
                  <a:txBody>
                    <a:bodyPr/>
                    <a:lstStyle/>
                    <a:p>
                      <a:pPr marL="232410">
                        <a:lnSpc>
                          <a:spcPct val="100000"/>
                        </a:lnSpc>
                        <a:spcBef>
                          <a:spcPts val="2780"/>
                        </a:spcBef>
                      </a:pPr>
                      <a:r>
                        <a:rPr sz="3050" spc="-70" dirty="0">
                          <a:latin typeface="Arial MT"/>
                          <a:cs typeface="Arial MT"/>
                        </a:rPr>
                        <a:t>Complex</a:t>
                      </a:r>
                      <a:r>
                        <a:rPr sz="3050" spc="-95" dirty="0">
                          <a:latin typeface="Arial MT"/>
                          <a:cs typeface="Arial MT"/>
                        </a:rPr>
                        <a:t> </a:t>
                      </a:r>
                      <a:r>
                        <a:rPr sz="3050" spc="-10" dirty="0">
                          <a:latin typeface="Arial MT"/>
                          <a:cs typeface="Arial MT"/>
                        </a:rPr>
                        <a:t>Queries</a:t>
                      </a:r>
                      <a:endParaRPr sz="3050">
                        <a:latin typeface="Arial MT"/>
                        <a:cs typeface="Arial MT"/>
                      </a:endParaRPr>
                    </a:p>
                  </a:txBody>
                  <a:tcPr marL="0" marR="0" marT="353060" marB="0">
                    <a:lnL w="12700">
                      <a:solidFill>
                        <a:srgbClr val="54575B"/>
                      </a:solidFill>
                      <a:prstDash val="solid"/>
                    </a:lnL>
                    <a:lnR w="12700">
                      <a:solidFill>
                        <a:srgbClr val="54575B"/>
                      </a:solidFill>
                      <a:prstDash val="solid"/>
                    </a:lnR>
                    <a:lnT w="12700">
                      <a:solidFill>
                        <a:srgbClr val="54575B"/>
                      </a:solidFill>
                      <a:prstDash val="solid"/>
                    </a:lnT>
                    <a:lnB w="12700">
                      <a:solidFill>
                        <a:srgbClr val="54575B"/>
                      </a:solidFill>
                      <a:prstDash val="solid"/>
                    </a:lnB>
                  </a:tcPr>
                </a:tc>
                <a:tc>
                  <a:txBody>
                    <a:bodyPr/>
                    <a:lstStyle/>
                    <a:p>
                      <a:pPr marL="1763395">
                        <a:lnSpc>
                          <a:spcPts val="2660"/>
                        </a:lnSpc>
                        <a:spcBef>
                          <a:spcPts val="1780"/>
                        </a:spcBef>
                      </a:pPr>
                      <a:r>
                        <a:rPr sz="2350" dirty="0">
                          <a:latin typeface="Arial MT"/>
                          <a:cs typeface="Arial MT"/>
                        </a:rPr>
                        <a:t>Fails</a:t>
                      </a:r>
                      <a:r>
                        <a:rPr sz="2350" spc="130" dirty="0">
                          <a:latin typeface="Arial MT"/>
                          <a:cs typeface="Arial MT"/>
                        </a:rPr>
                        <a:t> </a:t>
                      </a:r>
                      <a:r>
                        <a:rPr sz="2350" dirty="0">
                          <a:latin typeface="Arial MT"/>
                          <a:cs typeface="Arial MT"/>
                        </a:rPr>
                        <a:t>at</a:t>
                      </a:r>
                      <a:r>
                        <a:rPr sz="2350" spc="365" dirty="0">
                          <a:latin typeface="Arial MT"/>
                          <a:cs typeface="Arial MT"/>
                        </a:rPr>
                        <a:t> </a:t>
                      </a:r>
                      <a:r>
                        <a:rPr sz="2350" spc="114" dirty="0">
                          <a:latin typeface="Arial MT"/>
                          <a:cs typeface="Arial MT"/>
                        </a:rPr>
                        <a:t>multi-</a:t>
                      </a:r>
                      <a:r>
                        <a:rPr sz="2350" spc="165" dirty="0">
                          <a:latin typeface="Arial MT"/>
                          <a:cs typeface="Arial MT"/>
                        </a:rPr>
                        <a:t>hD</a:t>
                      </a:r>
                      <a:endParaRPr sz="2350">
                        <a:latin typeface="Arial MT"/>
                        <a:cs typeface="Arial MT"/>
                      </a:endParaRPr>
                    </a:p>
                    <a:p>
                      <a:pPr marL="1751964">
                        <a:lnSpc>
                          <a:spcPts val="3260"/>
                        </a:lnSpc>
                      </a:pPr>
                      <a:r>
                        <a:rPr sz="2850" spc="-35" dirty="0">
                          <a:latin typeface="Arial MT"/>
                          <a:cs typeface="Arial MT"/>
                        </a:rPr>
                        <a:t>synthesis</a:t>
                      </a:r>
                      <a:endParaRPr sz="2850">
                        <a:latin typeface="Arial MT"/>
                        <a:cs typeface="Arial MT"/>
                      </a:endParaRPr>
                    </a:p>
                  </a:txBody>
                  <a:tcPr marL="0" marR="0" marT="226060" marB="0">
                    <a:lnL w="12700">
                      <a:solidFill>
                        <a:srgbClr val="54575B"/>
                      </a:solidFill>
                      <a:prstDash val="solid"/>
                    </a:lnL>
                    <a:lnR w="12700">
                      <a:solidFill>
                        <a:srgbClr val="54575B"/>
                      </a:solidFill>
                      <a:prstDash val="solid"/>
                    </a:lnR>
                    <a:lnT w="12700">
                      <a:solidFill>
                        <a:srgbClr val="54575B"/>
                      </a:solidFill>
                      <a:prstDash val="solid"/>
                    </a:lnT>
                    <a:lnB w="12700">
                      <a:solidFill>
                        <a:srgbClr val="54575B"/>
                      </a:solidFill>
                      <a:prstDash val="solid"/>
                    </a:lnB>
                  </a:tcPr>
                </a:tc>
                <a:tc>
                  <a:txBody>
                    <a:bodyPr/>
                    <a:lstStyle/>
                    <a:p>
                      <a:pPr marL="1753235" marR="337820" indent="7620">
                        <a:lnSpc>
                          <a:spcPts val="2950"/>
                        </a:lnSpc>
                        <a:spcBef>
                          <a:spcPts val="1820"/>
                        </a:spcBef>
                      </a:pPr>
                      <a:r>
                        <a:rPr sz="2700" spc="-165" dirty="0">
                          <a:latin typeface="Arial MT"/>
                          <a:cs typeface="Arial MT"/>
                        </a:rPr>
                        <a:t>Excels</a:t>
                      </a:r>
                      <a:r>
                        <a:rPr sz="2700" spc="20" dirty="0">
                          <a:latin typeface="Arial MT"/>
                          <a:cs typeface="Arial MT"/>
                        </a:rPr>
                        <a:t> </a:t>
                      </a:r>
                      <a:r>
                        <a:rPr sz="2700" dirty="0">
                          <a:latin typeface="Arial MT"/>
                          <a:cs typeface="Arial MT"/>
                        </a:rPr>
                        <a:t>at</a:t>
                      </a:r>
                      <a:r>
                        <a:rPr sz="2700" spc="70" dirty="0">
                          <a:latin typeface="Arial MT"/>
                          <a:cs typeface="Arial MT"/>
                        </a:rPr>
                        <a:t> </a:t>
                      </a:r>
                      <a:r>
                        <a:rPr sz="2700" dirty="0">
                          <a:latin typeface="Arial MT"/>
                          <a:cs typeface="Arial MT"/>
                        </a:rPr>
                        <a:t>multi-</a:t>
                      </a:r>
                      <a:r>
                        <a:rPr sz="2700" spc="-25" dirty="0">
                          <a:latin typeface="Arial MT"/>
                          <a:cs typeface="Arial MT"/>
                        </a:rPr>
                        <a:t>hop </a:t>
                      </a:r>
                      <a:r>
                        <a:rPr sz="2700" spc="-45" dirty="0">
                          <a:latin typeface="Arial MT"/>
                          <a:cs typeface="Arial MT"/>
                        </a:rPr>
                        <a:t>reasoning</a:t>
                      </a:r>
                      <a:r>
                        <a:rPr sz="2700" spc="-80" dirty="0">
                          <a:latin typeface="Arial MT"/>
                          <a:cs typeface="Arial MT"/>
                        </a:rPr>
                        <a:t> </a:t>
                      </a:r>
                      <a:r>
                        <a:rPr sz="2700" spc="-10" dirty="0">
                          <a:latin typeface="Arial MT"/>
                          <a:cs typeface="Arial MT"/>
                        </a:rPr>
                        <a:t>and</a:t>
                      </a:r>
                      <a:r>
                        <a:rPr sz="2700" spc="-180" dirty="0">
                          <a:latin typeface="Arial MT"/>
                          <a:cs typeface="Arial MT"/>
                        </a:rPr>
                        <a:t> </a:t>
                      </a:r>
                      <a:r>
                        <a:rPr sz="2700" spc="-10" dirty="0">
                          <a:latin typeface="Arial MT"/>
                          <a:cs typeface="Arial MT"/>
                        </a:rPr>
                        <a:t>composition</a:t>
                      </a:r>
                      <a:endParaRPr sz="2700">
                        <a:latin typeface="Arial MT"/>
                        <a:cs typeface="Arial MT"/>
                      </a:endParaRPr>
                    </a:p>
                  </a:txBody>
                  <a:tcPr marL="0" marR="0" marT="231140" marB="0">
                    <a:lnL w="12700">
                      <a:solidFill>
                        <a:srgbClr val="54575B"/>
                      </a:solidFill>
                      <a:prstDash val="solid"/>
                    </a:lnL>
                    <a:lnR w="12700">
                      <a:solidFill>
                        <a:srgbClr val="54575B"/>
                      </a:solidFill>
                      <a:prstDash val="solid"/>
                    </a:lnR>
                    <a:lnT w="12700">
                      <a:solidFill>
                        <a:srgbClr val="54575B"/>
                      </a:solidFill>
                      <a:prstDash val="solid"/>
                    </a:lnT>
                    <a:lnB w="12700">
                      <a:solidFill>
                        <a:srgbClr val="54575B"/>
                      </a:solidFill>
                      <a:prstDash val="solid"/>
                    </a:lnB>
                  </a:tcPr>
                </a:tc>
              </a:tr>
              <a:tr h="1320800">
                <a:tc>
                  <a:txBody>
                    <a:bodyPr/>
                    <a:lstStyle/>
                    <a:p>
                      <a:pPr marL="239395">
                        <a:lnSpc>
                          <a:spcPts val="3485"/>
                        </a:lnSpc>
                        <a:spcBef>
                          <a:spcPts val="1130"/>
                        </a:spcBef>
                      </a:pPr>
                      <a:r>
                        <a:rPr sz="3100" spc="-25" dirty="0">
                          <a:latin typeface="Arial MT"/>
                          <a:cs typeface="Arial MT"/>
                        </a:rPr>
                        <a:t>Auditability</a:t>
                      </a:r>
                      <a:r>
                        <a:rPr sz="3100" spc="-110" dirty="0">
                          <a:latin typeface="Arial MT"/>
                          <a:cs typeface="Arial MT"/>
                        </a:rPr>
                        <a:t> </a:t>
                      </a:r>
                      <a:r>
                        <a:rPr sz="3100" spc="-405" dirty="0">
                          <a:solidFill>
                            <a:srgbClr val="0F0F0F"/>
                          </a:solidFill>
                          <a:latin typeface="Arial MT"/>
                          <a:cs typeface="Arial MT"/>
                        </a:rPr>
                        <a:t>&amp;</a:t>
                      </a:r>
                      <a:endParaRPr sz="3100">
                        <a:latin typeface="Arial MT"/>
                        <a:cs typeface="Arial MT"/>
                      </a:endParaRPr>
                    </a:p>
                    <a:p>
                      <a:pPr marL="232410">
                        <a:lnSpc>
                          <a:spcPts val="3304"/>
                        </a:lnSpc>
                      </a:pPr>
                      <a:r>
                        <a:rPr sz="2950" spc="-10" dirty="0">
                          <a:latin typeface="Arial MT"/>
                          <a:cs typeface="Arial MT"/>
                        </a:rPr>
                        <a:t>Compliance</a:t>
                      </a:r>
                      <a:endParaRPr sz="2950">
                        <a:latin typeface="Arial MT"/>
                        <a:cs typeface="Arial MT"/>
                      </a:endParaRPr>
                    </a:p>
                  </a:txBody>
                  <a:tcPr marL="0" marR="0" marT="143510" marB="0">
                    <a:lnL w="12700">
                      <a:solidFill>
                        <a:srgbClr val="54575B"/>
                      </a:solidFill>
                      <a:prstDash val="solid"/>
                    </a:lnL>
                    <a:lnR w="12700">
                      <a:solidFill>
                        <a:srgbClr val="54575B"/>
                      </a:solidFill>
                      <a:prstDash val="solid"/>
                    </a:lnR>
                    <a:lnT w="12700">
                      <a:solidFill>
                        <a:srgbClr val="54575B"/>
                      </a:solidFill>
                      <a:prstDash val="solid"/>
                    </a:lnT>
                    <a:lnB w="12700">
                      <a:solidFill>
                        <a:srgbClr val="54575B"/>
                      </a:solidFill>
                      <a:prstDash val="solid"/>
                    </a:lnB>
                  </a:tcPr>
                </a:tc>
                <a:tc>
                  <a:txBody>
                    <a:bodyPr/>
                    <a:lstStyle/>
                    <a:p>
                      <a:pPr marL="1764030">
                        <a:lnSpc>
                          <a:spcPts val="2985"/>
                        </a:lnSpc>
                        <a:spcBef>
                          <a:spcPts val="1530"/>
                        </a:spcBef>
                      </a:pPr>
                      <a:r>
                        <a:rPr sz="2600" dirty="0">
                          <a:latin typeface="Arial MT"/>
                          <a:cs typeface="Arial MT"/>
                        </a:rPr>
                        <a:t>Black</a:t>
                      </a:r>
                      <a:r>
                        <a:rPr sz="2600" spc="-114" dirty="0">
                          <a:latin typeface="Arial MT"/>
                          <a:cs typeface="Arial MT"/>
                        </a:rPr>
                        <a:t> </a:t>
                      </a:r>
                      <a:r>
                        <a:rPr sz="2600" spc="-25" dirty="0">
                          <a:latin typeface="Arial MT"/>
                          <a:cs typeface="Arial MT"/>
                        </a:rPr>
                        <a:t>Box</a:t>
                      </a:r>
                      <a:endParaRPr sz="2600">
                        <a:latin typeface="Arial MT"/>
                        <a:cs typeface="Arial MT"/>
                      </a:endParaRPr>
                    </a:p>
                    <a:p>
                      <a:pPr marL="1767205">
                        <a:lnSpc>
                          <a:spcPts val="3165"/>
                        </a:lnSpc>
                      </a:pPr>
                      <a:r>
                        <a:rPr sz="2750" spc="-90" dirty="0">
                          <a:latin typeface="Arial MT"/>
                          <a:cs typeface="Arial MT"/>
                        </a:rPr>
                        <a:t>(opaque</a:t>
                      </a:r>
                      <a:r>
                        <a:rPr sz="2750" spc="-70" dirty="0">
                          <a:latin typeface="Arial MT"/>
                          <a:cs typeface="Arial MT"/>
                        </a:rPr>
                        <a:t> </a:t>
                      </a:r>
                      <a:r>
                        <a:rPr sz="2750" spc="-10" dirty="0">
                          <a:latin typeface="Arial MT"/>
                          <a:cs typeface="Arial MT"/>
                        </a:rPr>
                        <a:t>origins)</a:t>
                      </a:r>
                      <a:endParaRPr sz="2750">
                        <a:latin typeface="Arial MT"/>
                        <a:cs typeface="Arial MT"/>
                      </a:endParaRPr>
                    </a:p>
                  </a:txBody>
                  <a:tcPr marL="0" marR="0" marT="194310" marB="0">
                    <a:lnL w="12700">
                      <a:solidFill>
                        <a:srgbClr val="54575B"/>
                      </a:solidFill>
                      <a:prstDash val="solid"/>
                    </a:lnL>
                    <a:lnR w="12700">
                      <a:solidFill>
                        <a:srgbClr val="54575B"/>
                      </a:solidFill>
                      <a:prstDash val="solid"/>
                    </a:lnR>
                    <a:lnT w="12700">
                      <a:solidFill>
                        <a:srgbClr val="54575B"/>
                      </a:solidFill>
                      <a:prstDash val="solid"/>
                    </a:lnT>
                    <a:lnB w="12700">
                      <a:solidFill>
                        <a:srgbClr val="54575B"/>
                      </a:solidFill>
                      <a:prstDash val="solid"/>
                    </a:lnB>
                  </a:tcPr>
                </a:tc>
                <a:tc>
                  <a:txBody>
                    <a:bodyPr/>
                    <a:lstStyle/>
                    <a:p>
                      <a:pPr marL="1751330" marR="245110" indent="6350">
                        <a:lnSpc>
                          <a:spcPts val="2950"/>
                        </a:lnSpc>
                        <a:spcBef>
                          <a:spcPts val="1820"/>
                        </a:spcBef>
                      </a:pPr>
                      <a:r>
                        <a:rPr sz="2900" spc="-105" dirty="0">
                          <a:latin typeface="Arial MT"/>
                          <a:cs typeface="Arial MT"/>
                        </a:rPr>
                        <a:t>F</a:t>
                      </a:r>
                      <a:r>
                        <a:rPr sz="3225" spc="-157" baseline="1291" dirty="0">
                          <a:latin typeface="Arial MT"/>
                          <a:cs typeface="Arial MT"/>
                        </a:rPr>
                        <a:t>U</a:t>
                      </a:r>
                      <a:r>
                        <a:rPr sz="2900" spc="-105" dirty="0">
                          <a:latin typeface="Arial MT"/>
                          <a:cs typeface="Arial MT"/>
                        </a:rPr>
                        <a:t>IIytransparent</a:t>
                      </a:r>
                      <a:r>
                        <a:rPr sz="2900" spc="-60" dirty="0">
                          <a:latin typeface="Arial MT"/>
                          <a:cs typeface="Arial MT"/>
                        </a:rPr>
                        <a:t> </a:t>
                      </a:r>
                      <a:r>
                        <a:rPr sz="2900" spc="-95" dirty="0">
                          <a:latin typeface="Arial MT"/>
                          <a:cs typeface="Arial MT"/>
                        </a:rPr>
                        <a:t>(100</a:t>
                      </a:r>
                      <a:r>
                        <a:rPr sz="2175" spc="-142" baseline="32567" dirty="0">
                          <a:latin typeface="Arial MT"/>
                          <a:cs typeface="Arial MT"/>
                        </a:rPr>
                        <a:t>0</a:t>
                      </a:r>
                      <a:r>
                        <a:rPr sz="2900" spc="-95" dirty="0">
                          <a:latin typeface="Arial MT"/>
                          <a:cs typeface="Arial MT"/>
                        </a:rPr>
                        <a:t>/o </a:t>
                      </a:r>
                      <a:r>
                        <a:rPr sz="2900" spc="-165" dirty="0">
                          <a:latin typeface="Arial MT"/>
                          <a:cs typeface="Arial MT"/>
                        </a:rPr>
                        <a:t>source-</a:t>
                      </a:r>
                      <a:r>
                        <a:rPr sz="2900" spc="-140" dirty="0">
                          <a:latin typeface="Arial MT"/>
                          <a:cs typeface="Arial MT"/>
                        </a:rPr>
                        <a:t>traced</a:t>
                      </a:r>
                      <a:r>
                        <a:rPr sz="2900" spc="10" dirty="0">
                          <a:latin typeface="Arial MT"/>
                          <a:cs typeface="Arial MT"/>
                        </a:rPr>
                        <a:t> </a:t>
                      </a:r>
                      <a:r>
                        <a:rPr sz="2900" spc="-114" dirty="0">
                          <a:latin typeface="Arial MT"/>
                          <a:cs typeface="Arial MT"/>
                        </a:rPr>
                        <a:t>relationships)</a:t>
                      </a:r>
                      <a:endParaRPr sz="2900">
                        <a:latin typeface="Arial MT"/>
                        <a:cs typeface="Arial MT"/>
                      </a:endParaRPr>
                    </a:p>
                  </a:txBody>
                  <a:tcPr marL="0" marR="0" marT="231140" marB="0">
                    <a:lnL w="12700">
                      <a:solidFill>
                        <a:srgbClr val="54575B"/>
                      </a:solidFill>
                      <a:prstDash val="solid"/>
                    </a:lnL>
                    <a:lnR w="12700">
                      <a:solidFill>
                        <a:srgbClr val="54575B"/>
                      </a:solidFill>
                      <a:prstDash val="solid"/>
                    </a:lnR>
                    <a:lnT w="12700">
                      <a:solidFill>
                        <a:srgbClr val="54575B"/>
                      </a:solidFill>
                      <a:prstDash val="solid"/>
                    </a:lnT>
                    <a:lnB w="12700">
                      <a:solidFill>
                        <a:srgbClr val="54575B"/>
                      </a:solidFill>
                      <a:prstDash val="solid"/>
                    </a:lnB>
                  </a:tcPr>
                </a:tc>
              </a:tr>
              <a:tr h="1354455">
                <a:tc>
                  <a:txBody>
                    <a:bodyPr/>
                    <a:lstStyle/>
                    <a:p>
                      <a:pPr marL="233045" marR="1976120" indent="-635">
                        <a:lnSpc>
                          <a:spcPts val="3100"/>
                        </a:lnSpc>
                        <a:spcBef>
                          <a:spcPts val="1850"/>
                        </a:spcBef>
                      </a:pPr>
                      <a:r>
                        <a:rPr sz="3100" spc="-100" dirty="0">
                          <a:latin typeface="Arial MT"/>
                          <a:cs typeface="Arial MT"/>
                        </a:rPr>
                        <a:t>Enterprise </a:t>
                      </a:r>
                      <a:r>
                        <a:rPr sz="3100" spc="-170" dirty="0">
                          <a:latin typeface="Arial MT"/>
                          <a:cs typeface="Arial MT"/>
                        </a:rPr>
                        <a:t>Readiness</a:t>
                      </a:r>
                      <a:endParaRPr sz="3100">
                        <a:latin typeface="Arial MT"/>
                        <a:cs typeface="Arial MT"/>
                      </a:endParaRPr>
                    </a:p>
                  </a:txBody>
                  <a:tcPr marL="0" marR="0" marT="234950" marB="0">
                    <a:lnL w="12700">
                      <a:solidFill>
                        <a:srgbClr val="54575B"/>
                      </a:solidFill>
                      <a:prstDash val="solid"/>
                    </a:lnL>
                    <a:lnR w="12700">
                      <a:solidFill>
                        <a:srgbClr val="54575B"/>
                      </a:solidFill>
                      <a:prstDash val="solid"/>
                    </a:lnR>
                    <a:lnT w="12700">
                      <a:solidFill>
                        <a:srgbClr val="54575B"/>
                      </a:solidFill>
                      <a:prstDash val="solid"/>
                    </a:lnT>
                    <a:lnB w="12700">
                      <a:solidFill>
                        <a:srgbClr val="54575B"/>
                      </a:solidFill>
                      <a:prstDash val="solid"/>
                    </a:lnB>
                  </a:tcPr>
                </a:tc>
                <a:tc>
                  <a:txBody>
                    <a:bodyPr/>
                    <a:lstStyle/>
                    <a:p>
                      <a:pPr marL="1764030" marR="642620" indent="-4445">
                        <a:lnSpc>
                          <a:spcPts val="3000"/>
                        </a:lnSpc>
                        <a:spcBef>
                          <a:spcPts val="1930"/>
                        </a:spcBef>
                      </a:pPr>
                      <a:r>
                        <a:rPr sz="2750" spc="-10" dirty="0">
                          <a:latin typeface="Arial MT"/>
                          <a:cs typeface="Arial MT"/>
                        </a:rPr>
                        <a:t>High</a:t>
                      </a:r>
                      <a:r>
                        <a:rPr sz="2750" spc="-170" dirty="0">
                          <a:latin typeface="Arial MT"/>
                          <a:cs typeface="Arial MT"/>
                        </a:rPr>
                        <a:t> </a:t>
                      </a:r>
                      <a:r>
                        <a:rPr sz="2750" spc="-25" dirty="0">
                          <a:latin typeface="Arial MT"/>
                          <a:cs typeface="Arial MT"/>
                        </a:rPr>
                        <a:t>hallucination</a:t>
                      </a:r>
                      <a:r>
                        <a:rPr sz="2750" spc="-65" dirty="0">
                          <a:latin typeface="Arial MT"/>
                          <a:cs typeface="Arial MT"/>
                        </a:rPr>
                        <a:t> risk </a:t>
                      </a:r>
                      <a:r>
                        <a:rPr sz="2750" spc="-50" dirty="0">
                          <a:latin typeface="Arial MT"/>
                          <a:cs typeface="Arial MT"/>
                        </a:rPr>
                        <a:t>on</a:t>
                      </a:r>
                      <a:r>
                        <a:rPr sz="2750" spc="-125" dirty="0">
                          <a:latin typeface="Arial MT"/>
                          <a:cs typeface="Arial MT"/>
                        </a:rPr>
                        <a:t> </a:t>
                      </a:r>
                      <a:r>
                        <a:rPr sz="2750" spc="-100" dirty="0">
                          <a:latin typeface="Arial MT"/>
                          <a:cs typeface="Arial MT"/>
                        </a:rPr>
                        <a:t>dense</a:t>
                      </a:r>
                      <a:r>
                        <a:rPr sz="2750" spc="-85" dirty="0">
                          <a:latin typeface="Arial MT"/>
                          <a:cs typeface="Arial MT"/>
                        </a:rPr>
                        <a:t> </a:t>
                      </a:r>
                      <a:r>
                        <a:rPr sz="2750" spc="-20" dirty="0">
                          <a:latin typeface="Arial MT"/>
                          <a:cs typeface="Arial MT"/>
                        </a:rPr>
                        <a:t>data</a:t>
                      </a:r>
                      <a:endParaRPr sz="2750">
                        <a:latin typeface="Arial MT"/>
                        <a:cs typeface="Arial MT"/>
                      </a:endParaRPr>
                    </a:p>
                  </a:txBody>
                  <a:tcPr marL="0" marR="0" marT="245110" marB="0">
                    <a:lnL w="12700">
                      <a:solidFill>
                        <a:srgbClr val="54575B"/>
                      </a:solidFill>
                      <a:prstDash val="solid"/>
                    </a:lnL>
                    <a:lnR w="12700">
                      <a:solidFill>
                        <a:srgbClr val="54575B"/>
                      </a:solidFill>
                      <a:prstDash val="solid"/>
                    </a:lnR>
                    <a:lnT w="12700">
                      <a:solidFill>
                        <a:srgbClr val="54575B"/>
                      </a:solidFill>
                      <a:prstDash val="solid"/>
                    </a:lnT>
                    <a:lnB w="12700">
                      <a:solidFill>
                        <a:srgbClr val="54575B"/>
                      </a:solidFill>
                      <a:prstDash val="solid"/>
                    </a:lnB>
                  </a:tcPr>
                </a:tc>
                <a:tc>
                  <a:txBody>
                    <a:bodyPr/>
                    <a:lstStyle/>
                    <a:p>
                      <a:pPr marL="1763395" marR="935990" indent="-2540">
                        <a:lnSpc>
                          <a:spcPts val="3000"/>
                        </a:lnSpc>
                        <a:spcBef>
                          <a:spcPts val="1930"/>
                        </a:spcBef>
                      </a:pPr>
                      <a:r>
                        <a:rPr sz="2600" dirty="0">
                          <a:latin typeface="Arial MT"/>
                          <a:cs typeface="Arial MT"/>
                        </a:rPr>
                        <a:t>High</a:t>
                      </a:r>
                      <a:r>
                        <a:rPr sz="2600" spc="50" dirty="0">
                          <a:latin typeface="Arial MT"/>
                          <a:cs typeface="Arial MT"/>
                        </a:rPr>
                        <a:t> </a:t>
                      </a:r>
                      <a:r>
                        <a:rPr sz="2600" dirty="0">
                          <a:latin typeface="Arial MT"/>
                          <a:cs typeface="Arial MT"/>
                        </a:rPr>
                        <a:t>fidelity,</a:t>
                      </a:r>
                      <a:r>
                        <a:rPr sz="2600" spc="-40" dirty="0">
                          <a:latin typeface="Arial MT"/>
                          <a:cs typeface="Arial MT"/>
                        </a:rPr>
                        <a:t> </a:t>
                      </a:r>
                      <a:r>
                        <a:rPr sz="2600" spc="-10" dirty="0">
                          <a:latin typeface="Arial MT"/>
                          <a:cs typeface="Arial MT"/>
                        </a:rPr>
                        <a:t>condition- </a:t>
                      </a:r>
                      <a:r>
                        <a:rPr sz="2600" spc="-20" dirty="0">
                          <a:latin typeface="Arial MT"/>
                          <a:cs typeface="Arial MT"/>
                        </a:rPr>
                        <a:t>aware</a:t>
                      </a:r>
                      <a:r>
                        <a:rPr sz="2600" spc="-135" dirty="0">
                          <a:latin typeface="Arial MT"/>
                          <a:cs typeface="Arial MT"/>
                        </a:rPr>
                        <a:t> </a:t>
                      </a:r>
                      <a:r>
                        <a:rPr sz="2600" spc="-10" dirty="0">
                          <a:latin typeface="Arial MT"/>
                          <a:cs typeface="Arial MT"/>
                        </a:rPr>
                        <a:t>precision</a:t>
                      </a:r>
                      <a:endParaRPr sz="2600">
                        <a:latin typeface="Arial MT"/>
                        <a:cs typeface="Arial MT"/>
                      </a:endParaRPr>
                    </a:p>
                  </a:txBody>
                  <a:tcPr marL="0" marR="0" marT="245110" marB="0">
                    <a:lnL w="12700">
                      <a:solidFill>
                        <a:srgbClr val="54575B"/>
                      </a:solidFill>
                      <a:prstDash val="solid"/>
                    </a:lnL>
                    <a:lnR w="12700">
                      <a:solidFill>
                        <a:srgbClr val="54575B"/>
                      </a:solidFill>
                      <a:prstDash val="solid"/>
                    </a:lnR>
                    <a:lnT w="12700">
                      <a:solidFill>
                        <a:srgbClr val="54575B"/>
                      </a:solidFill>
                      <a:prstDash val="solid"/>
                    </a:lnT>
                    <a:lnB w="12700">
                      <a:solidFill>
                        <a:srgbClr val="54575B"/>
                      </a:solidFill>
                      <a:prstDash val="solid"/>
                    </a:lnB>
                  </a:tcPr>
                </a:tc>
              </a:tr>
            </a:tbl>
          </a:graphicData>
        </a:graphic>
      </p:graphicFrame>
      <p:pic>
        <p:nvPicPr>
          <p:cNvPr id="9" name="object 9"/>
          <p:cNvPicPr/>
          <p:nvPr/>
        </p:nvPicPr>
        <p:blipFill>
          <a:blip r:embed="rId8" cstate="print"/>
          <a:stretch>
            <a:fillRect/>
          </a:stretch>
        </p:blipFill>
        <p:spPr>
          <a:xfrm>
            <a:off x="5130800" y="3822700"/>
            <a:ext cx="317500" cy="393700"/>
          </a:xfrm>
          <a:prstGeom prst="rect">
            <a:avLst/>
          </a:prstGeom>
        </p:spPr>
      </p:pic>
      <p:pic>
        <p:nvPicPr>
          <p:cNvPr id="10" name="object 10"/>
          <p:cNvPicPr/>
          <p:nvPr/>
        </p:nvPicPr>
        <p:blipFill>
          <a:blip r:embed="rId9" cstate="print"/>
          <a:stretch>
            <a:fillRect/>
          </a:stretch>
        </p:blipFill>
        <p:spPr>
          <a:xfrm>
            <a:off x="5588000" y="3822700"/>
            <a:ext cx="457200" cy="241300"/>
          </a:xfrm>
          <a:prstGeom prst="rect">
            <a:avLst/>
          </a:prstGeom>
        </p:spPr>
      </p:pic>
      <p:pic>
        <p:nvPicPr>
          <p:cNvPr id="11" name="object 11"/>
          <p:cNvPicPr/>
          <p:nvPr/>
        </p:nvPicPr>
        <p:blipFill>
          <a:blip r:embed="rId10" cstate="print"/>
          <a:stretch>
            <a:fillRect/>
          </a:stretch>
        </p:blipFill>
        <p:spPr>
          <a:xfrm>
            <a:off x="4991100" y="5207000"/>
            <a:ext cx="1181100" cy="660400"/>
          </a:xfrm>
          <a:prstGeom prst="rect">
            <a:avLst/>
          </a:prstGeom>
        </p:spPr>
      </p:pic>
      <p:pic>
        <p:nvPicPr>
          <p:cNvPr id="12" name="object 12"/>
          <p:cNvPicPr/>
          <p:nvPr/>
        </p:nvPicPr>
        <p:blipFill>
          <a:blip r:embed="rId11" cstate="print"/>
          <a:stretch>
            <a:fillRect/>
          </a:stretch>
        </p:blipFill>
        <p:spPr>
          <a:xfrm>
            <a:off x="5130800" y="4114800"/>
            <a:ext cx="914400" cy="495300"/>
          </a:xfrm>
          <a:prstGeom prst="rect">
            <a:avLst/>
          </a:prstGeom>
        </p:spPr>
      </p:pic>
      <p:sp>
        <p:nvSpPr>
          <p:cNvPr id="13" name="object 13"/>
          <p:cNvSpPr txBox="1">
            <a:spLocks noGrp="1"/>
          </p:cNvSpPr>
          <p:nvPr>
            <p:ph type="title"/>
          </p:nvPr>
        </p:nvSpPr>
        <p:spPr>
          <a:prstGeom prst="rect">
            <a:avLst/>
          </a:prstGeom>
        </p:spPr>
        <p:txBody>
          <a:bodyPr vert="horz" wrap="square" lIns="0" tIns="15875" rIns="0" bIns="0" rtlCol="0">
            <a:spAutoFit/>
          </a:bodyPr>
          <a:lstStyle/>
          <a:p>
            <a:pPr marL="12700">
              <a:lnSpc>
                <a:spcPts val="7234"/>
              </a:lnSpc>
              <a:spcBef>
                <a:spcPts val="125"/>
              </a:spcBef>
            </a:pPr>
            <a:r>
              <a:rPr spc="-320" dirty="0">
                <a:solidFill>
                  <a:srgbClr val="282828"/>
                </a:solidFill>
                <a:latin typeface="Arial MT"/>
                <a:cs typeface="Arial MT"/>
              </a:rPr>
              <a:t>ENTERPRISE</a:t>
            </a:r>
            <a:r>
              <a:rPr spc="645" dirty="0">
                <a:solidFill>
                  <a:srgbClr val="282828"/>
                </a:solidFill>
                <a:latin typeface="Arial MT"/>
                <a:cs typeface="Arial MT"/>
              </a:rPr>
              <a:t> </a:t>
            </a:r>
            <a:r>
              <a:rPr spc="-70" dirty="0">
                <a:solidFill>
                  <a:srgbClr val="2B2B2B"/>
                </a:solidFill>
                <a:latin typeface="Arial MT"/>
                <a:cs typeface="Arial MT"/>
              </a:rPr>
              <a:t>DIAGNOSTIC:</a:t>
            </a:r>
          </a:p>
          <a:p>
            <a:pPr marL="13970">
              <a:lnSpc>
                <a:spcPts val="7475"/>
              </a:lnSpc>
            </a:pPr>
            <a:r>
              <a:rPr sz="7050" spc="-495" dirty="0">
                <a:solidFill>
                  <a:srgbClr val="282828"/>
                </a:solidFill>
                <a:latin typeface="Arial MT"/>
                <a:cs typeface="Arial MT"/>
              </a:rPr>
              <a:t>VECTOR</a:t>
            </a:r>
            <a:r>
              <a:rPr sz="7050" spc="465" dirty="0">
                <a:solidFill>
                  <a:srgbClr val="282828"/>
                </a:solidFill>
                <a:latin typeface="Arial MT"/>
                <a:cs typeface="Arial MT"/>
              </a:rPr>
              <a:t> </a:t>
            </a:r>
            <a:r>
              <a:rPr sz="7050" spc="-465" dirty="0">
                <a:solidFill>
                  <a:srgbClr val="282828"/>
                </a:solidFill>
                <a:latin typeface="Arial MT"/>
                <a:cs typeface="Arial MT"/>
              </a:rPr>
              <a:t>RAG</a:t>
            </a:r>
            <a:r>
              <a:rPr sz="7050" spc="10" dirty="0">
                <a:solidFill>
                  <a:srgbClr val="282828"/>
                </a:solidFill>
                <a:latin typeface="Arial MT"/>
                <a:cs typeface="Arial MT"/>
              </a:rPr>
              <a:t> </a:t>
            </a:r>
            <a:r>
              <a:rPr sz="7050" spc="-240" dirty="0">
                <a:solidFill>
                  <a:srgbClr val="2D2D2D"/>
                </a:solidFill>
                <a:latin typeface="Arial MT"/>
                <a:cs typeface="Arial MT"/>
              </a:rPr>
              <a:t>VS.</a:t>
            </a:r>
            <a:r>
              <a:rPr sz="7050" spc="-530" dirty="0">
                <a:solidFill>
                  <a:srgbClr val="2D2D2D"/>
                </a:solidFill>
                <a:latin typeface="Arial MT"/>
                <a:cs typeface="Arial MT"/>
              </a:rPr>
              <a:t> </a:t>
            </a:r>
            <a:r>
              <a:rPr sz="7050" spc="-305" dirty="0">
                <a:solidFill>
                  <a:srgbClr val="262626"/>
                </a:solidFill>
                <a:latin typeface="Arial MT"/>
                <a:cs typeface="Arial MT"/>
              </a:rPr>
              <a:t>GRAPH</a:t>
            </a:r>
            <a:r>
              <a:rPr sz="7050" spc="195" dirty="0">
                <a:solidFill>
                  <a:srgbClr val="262626"/>
                </a:solidFill>
                <a:latin typeface="Arial MT"/>
                <a:cs typeface="Arial MT"/>
              </a:rPr>
              <a:t> </a:t>
            </a:r>
            <a:r>
              <a:rPr sz="7050" spc="-495" dirty="0">
                <a:solidFill>
                  <a:srgbClr val="2B2B2B"/>
                </a:solidFill>
                <a:latin typeface="Arial MT"/>
                <a:cs typeface="Arial MT"/>
              </a:rPr>
              <a:t>RAG</a:t>
            </a:r>
            <a:endParaRPr sz="7050">
              <a:latin typeface="Arial MT"/>
              <a:cs typeface="Arial M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019800" y="2311400"/>
            <a:ext cx="6083300" cy="6959600"/>
          </a:xfrm>
          <a:prstGeom prst="rect">
            <a:avLst/>
          </a:prstGeom>
        </p:spPr>
      </p:pic>
      <p:sp>
        <p:nvSpPr>
          <p:cNvPr id="3" name="object 3"/>
          <p:cNvSpPr txBox="1">
            <a:spLocks noGrp="1"/>
          </p:cNvSpPr>
          <p:nvPr>
            <p:ph type="title"/>
          </p:nvPr>
        </p:nvSpPr>
        <p:spPr>
          <a:xfrm>
            <a:off x="894587" y="439313"/>
            <a:ext cx="14377035" cy="1765935"/>
          </a:xfrm>
          <a:prstGeom prst="rect">
            <a:avLst/>
          </a:prstGeom>
        </p:spPr>
        <p:txBody>
          <a:bodyPr vert="horz" wrap="square" lIns="0" tIns="93980" rIns="0" bIns="0" rtlCol="0">
            <a:spAutoFit/>
          </a:bodyPr>
          <a:lstStyle/>
          <a:p>
            <a:pPr marL="12700">
              <a:lnSpc>
                <a:spcPct val="100000"/>
              </a:lnSpc>
              <a:spcBef>
                <a:spcPts val="740"/>
              </a:spcBef>
            </a:pPr>
            <a:r>
              <a:rPr sz="5700" spc="-125" dirty="0">
                <a:solidFill>
                  <a:srgbClr val="343434"/>
                </a:solidFill>
                <a:latin typeface="Arial MT"/>
                <a:cs typeface="Arial MT"/>
              </a:rPr>
              <a:t>How</a:t>
            </a:r>
            <a:r>
              <a:rPr sz="5700" spc="-325" dirty="0">
                <a:solidFill>
                  <a:srgbClr val="343434"/>
                </a:solidFill>
                <a:latin typeface="Arial MT"/>
                <a:cs typeface="Arial MT"/>
              </a:rPr>
              <a:t> </a:t>
            </a:r>
            <a:r>
              <a:rPr sz="5700" dirty="0">
                <a:solidFill>
                  <a:srgbClr val="383838"/>
                </a:solidFill>
                <a:latin typeface="Arial MT"/>
                <a:cs typeface="Arial MT"/>
              </a:rPr>
              <a:t>It</a:t>
            </a:r>
            <a:r>
              <a:rPr sz="5700" spc="-105" dirty="0">
                <a:solidFill>
                  <a:srgbClr val="383838"/>
                </a:solidFill>
                <a:latin typeface="Arial MT"/>
                <a:cs typeface="Arial MT"/>
              </a:rPr>
              <a:t> </a:t>
            </a:r>
            <a:r>
              <a:rPr sz="5700" spc="-70" dirty="0">
                <a:solidFill>
                  <a:srgbClr val="383838"/>
                </a:solidFill>
                <a:latin typeface="Arial MT"/>
                <a:cs typeface="Arial MT"/>
              </a:rPr>
              <a:t>Works:</a:t>
            </a:r>
            <a:r>
              <a:rPr sz="5700" spc="-465" dirty="0">
                <a:solidFill>
                  <a:srgbClr val="383838"/>
                </a:solidFill>
                <a:latin typeface="Arial MT"/>
                <a:cs typeface="Arial MT"/>
              </a:rPr>
              <a:t> </a:t>
            </a:r>
            <a:r>
              <a:rPr sz="5700" spc="-40" dirty="0">
                <a:solidFill>
                  <a:srgbClr val="383838"/>
                </a:solidFill>
                <a:latin typeface="Arial MT"/>
                <a:cs typeface="Arial MT"/>
              </a:rPr>
              <a:t>The</a:t>
            </a:r>
            <a:r>
              <a:rPr sz="5700" spc="-385" dirty="0">
                <a:solidFill>
                  <a:srgbClr val="383838"/>
                </a:solidFill>
                <a:latin typeface="Arial MT"/>
                <a:cs typeface="Arial MT"/>
              </a:rPr>
              <a:t> </a:t>
            </a:r>
            <a:r>
              <a:rPr sz="5700" spc="-340" dirty="0">
                <a:solidFill>
                  <a:srgbClr val="363636"/>
                </a:solidFill>
                <a:latin typeface="Arial MT"/>
                <a:cs typeface="Arial MT"/>
              </a:rPr>
              <a:t>MDER</a:t>
            </a:r>
            <a:r>
              <a:rPr sz="5700" spc="-100" dirty="0">
                <a:solidFill>
                  <a:srgbClr val="363636"/>
                </a:solidFill>
                <a:latin typeface="Arial MT"/>
                <a:cs typeface="Arial MT"/>
              </a:rPr>
              <a:t> </a:t>
            </a:r>
            <a:r>
              <a:rPr sz="5700" dirty="0">
                <a:solidFill>
                  <a:srgbClr val="383838"/>
                </a:solidFill>
                <a:latin typeface="Arial MT"/>
                <a:cs typeface="Arial MT"/>
              </a:rPr>
              <a:t>Refinement</a:t>
            </a:r>
            <a:r>
              <a:rPr sz="5700" spc="160" dirty="0">
                <a:solidFill>
                  <a:srgbClr val="383838"/>
                </a:solidFill>
                <a:latin typeface="Arial MT"/>
                <a:cs typeface="Arial MT"/>
              </a:rPr>
              <a:t> </a:t>
            </a:r>
            <a:r>
              <a:rPr sz="5700" spc="-10" dirty="0">
                <a:solidFill>
                  <a:srgbClr val="363636"/>
                </a:solidFill>
                <a:latin typeface="Arial MT"/>
                <a:cs typeface="Arial MT"/>
              </a:rPr>
              <a:t>Engine</a:t>
            </a:r>
            <a:endParaRPr sz="5700">
              <a:latin typeface="Arial MT"/>
              <a:cs typeface="Arial MT"/>
            </a:endParaRPr>
          </a:p>
          <a:p>
            <a:pPr marL="20320" marR="5080" indent="-3175">
              <a:lnSpc>
                <a:spcPts val="2850"/>
              </a:lnSpc>
              <a:spcBef>
                <a:spcPts val="580"/>
              </a:spcBef>
            </a:pPr>
            <a:r>
              <a:rPr sz="2550" spc="-30" dirty="0">
                <a:solidFill>
                  <a:srgbClr val="0A0A0A"/>
                </a:solidFill>
                <a:latin typeface="Arial MT"/>
                <a:cs typeface="Arial MT"/>
              </a:rPr>
              <a:t>Shift</a:t>
            </a:r>
            <a:r>
              <a:rPr sz="2550" spc="-150" dirty="0">
                <a:solidFill>
                  <a:srgbClr val="0A0A0A"/>
                </a:solidFill>
                <a:latin typeface="Arial MT"/>
                <a:cs typeface="Arial MT"/>
              </a:rPr>
              <a:t> </a:t>
            </a:r>
            <a:r>
              <a:rPr sz="2550" spc="-40" dirty="0">
                <a:solidFill>
                  <a:srgbClr val="0E0E0E"/>
                </a:solidFill>
                <a:latin typeface="Arial MT"/>
                <a:cs typeface="Arial MT"/>
              </a:rPr>
              <a:t>the</a:t>
            </a:r>
            <a:r>
              <a:rPr sz="2550" spc="-160" dirty="0">
                <a:solidFill>
                  <a:srgbClr val="0E0E0E"/>
                </a:solidFill>
                <a:latin typeface="Arial MT"/>
                <a:cs typeface="Arial MT"/>
              </a:rPr>
              <a:t> </a:t>
            </a:r>
            <a:r>
              <a:rPr sz="2550" spc="-105" dirty="0">
                <a:solidFill>
                  <a:srgbClr val="000000"/>
                </a:solidFill>
                <a:latin typeface="Arial MT"/>
                <a:cs typeface="Arial MT"/>
              </a:rPr>
              <a:t>Workload:</a:t>
            </a:r>
            <a:r>
              <a:rPr sz="2550" spc="-70" dirty="0">
                <a:solidFill>
                  <a:srgbClr val="000000"/>
                </a:solidFill>
                <a:latin typeface="Arial MT"/>
                <a:cs typeface="Arial MT"/>
              </a:rPr>
              <a:t> </a:t>
            </a:r>
            <a:r>
              <a:rPr sz="2550" spc="-185" dirty="0">
                <a:solidFill>
                  <a:srgbClr val="000000"/>
                </a:solidFill>
                <a:latin typeface="Arial MT"/>
                <a:cs typeface="Arial MT"/>
              </a:rPr>
              <a:t>By</a:t>
            </a:r>
            <a:r>
              <a:rPr sz="2550" spc="-165" dirty="0">
                <a:solidFill>
                  <a:srgbClr val="000000"/>
                </a:solidFill>
                <a:latin typeface="Arial MT"/>
                <a:cs typeface="Arial MT"/>
              </a:rPr>
              <a:t> </a:t>
            </a:r>
            <a:r>
              <a:rPr sz="2550" spc="-55" dirty="0">
                <a:solidFill>
                  <a:srgbClr val="000000"/>
                </a:solidFill>
                <a:latin typeface="Arial MT"/>
                <a:cs typeface="Arial MT"/>
              </a:rPr>
              <a:t>compressing</a:t>
            </a:r>
            <a:r>
              <a:rPr sz="2550" spc="35" dirty="0">
                <a:solidFill>
                  <a:srgbClr val="000000"/>
                </a:solidFill>
                <a:latin typeface="Arial MT"/>
                <a:cs typeface="Arial MT"/>
              </a:rPr>
              <a:t> </a:t>
            </a:r>
            <a:r>
              <a:rPr sz="2550" spc="-45" dirty="0">
                <a:solidFill>
                  <a:srgbClr val="0A0A0A"/>
                </a:solidFill>
                <a:latin typeface="Arial MT"/>
                <a:cs typeface="Arial MT"/>
              </a:rPr>
              <a:t>multi-</a:t>
            </a:r>
            <a:r>
              <a:rPr sz="2550" dirty="0">
                <a:solidFill>
                  <a:srgbClr val="0A0A0A"/>
                </a:solidFill>
                <a:latin typeface="Arial MT"/>
                <a:cs typeface="Arial MT"/>
              </a:rPr>
              <a:t>hop</a:t>
            </a:r>
            <a:r>
              <a:rPr sz="2550" spc="-25" dirty="0">
                <a:solidFill>
                  <a:srgbClr val="0A0A0A"/>
                </a:solidFill>
                <a:latin typeface="Arial MT"/>
                <a:cs typeface="Arial MT"/>
              </a:rPr>
              <a:t> </a:t>
            </a:r>
            <a:r>
              <a:rPr sz="2550" spc="-70" dirty="0">
                <a:solidFill>
                  <a:srgbClr val="000000"/>
                </a:solidFill>
                <a:latin typeface="Arial MT"/>
                <a:cs typeface="Arial MT"/>
              </a:rPr>
              <a:t>evidence</a:t>
            </a:r>
            <a:r>
              <a:rPr sz="2550" spc="-85" dirty="0">
                <a:solidFill>
                  <a:srgbClr val="000000"/>
                </a:solidFill>
                <a:latin typeface="Arial MT"/>
                <a:cs typeface="Arial MT"/>
              </a:rPr>
              <a:t> </a:t>
            </a:r>
            <a:r>
              <a:rPr sz="2550" dirty="0">
                <a:solidFill>
                  <a:srgbClr val="0C0C0C"/>
                </a:solidFill>
                <a:latin typeface="Arial MT"/>
                <a:cs typeface="Arial MT"/>
              </a:rPr>
              <a:t>into</a:t>
            </a:r>
            <a:r>
              <a:rPr sz="2550" spc="-165" dirty="0">
                <a:solidFill>
                  <a:srgbClr val="0C0C0C"/>
                </a:solidFill>
                <a:latin typeface="Arial MT"/>
                <a:cs typeface="Arial MT"/>
              </a:rPr>
              <a:t> </a:t>
            </a:r>
            <a:r>
              <a:rPr sz="2550" spc="-25" dirty="0">
                <a:solidFill>
                  <a:srgbClr val="0A0A0A"/>
                </a:solidFill>
                <a:latin typeface="Arial MT"/>
                <a:cs typeface="Arial MT"/>
              </a:rPr>
              <a:t>entity-</a:t>
            </a:r>
            <a:r>
              <a:rPr sz="2550" spc="-30" dirty="0">
                <a:solidFill>
                  <a:srgbClr val="0A0A0A"/>
                </a:solidFill>
                <a:latin typeface="Arial MT"/>
                <a:cs typeface="Arial MT"/>
              </a:rPr>
              <a:t>centric</a:t>
            </a:r>
            <a:r>
              <a:rPr sz="2550" spc="-170" dirty="0">
                <a:solidFill>
                  <a:srgbClr val="0A0A0A"/>
                </a:solidFill>
                <a:latin typeface="Arial MT"/>
                <a:cs typeface="Arial MT"/>
              </a:rPr>
              <a:t> </a:t>
            </a:r>
            <a:r>
              <a:rPr sz="2550" spc="-65" dirty="0">
                <a:solidFill>
                  <a:srgbClr val="0C0C0C"/>
                </a:solidFill>
                <a:latin typeface="Arial MT"/>
                <a:cs typeface="Arial MT"/>
              </a:rPr>
              <a:t>summaries</a:t>
            </a:r>
            <a:r>
              <a:rPr sz="2550" spc="30" dirty="0">
                <a:solidFill>
                  <a:srgbClr val="0C0C0C"/>
                </a:solidFill>
                <a:latin typeface="Arial MT"/>
                <a:cs typeface="Arial MT"/>
              </a:rPr>
              <a:t> </a:t>
            </a:r>
            <a:r>
              <a:rPr sz="2550" spc="-50" dirty="0">
                <a:solidFill>
                  <a:srgbClr val="080808"/>
                </a:solidFill>
                <a:latin typeface="Arial MT"/>
                <a:cs typeface="Arial MT"/>
              </a:rPr>
              <a:t>during</a:t>
            </a:r>
            <a:r>
              <a:rPr sz="2550" spc="-110" dirty="0">
                <a:solidFill>
                  <a:srgbClr val="080808"/>
                </a:solidFill>
                <a:latin typeface="Arial MT"/>
                <a:cs typeface="Arial MT"/>
              </a:rPr>
              <a:t> </a:t>
            </a:r>
            <a:r>
              <a:rPr sz="2550" spc="-60" dirty="0">
                <a:solidFill>
                  <a:srgbClr val="0F0F0F"/>
                </a:solidFill>
                <a:latin typeface="Arial MT"/>
                <a:cs typeface="Arial MT"/>
              </a:rPr>
              <a:t>indexing,</a:t>
            </a:r>
            <a:r>
              <a:rPr sz="2550" spc="-114" dirty="0">
                <a:solidFill>
                  <a:srgbClr val="0F0F0F"/>
                </a:solidFill>
                <a:latin typeface="Arial MT"/>
                <a:cs typeface="Arial MT"/>
              </a:rPr>
              <a:t> </a:t>
            </a:r>
            <a:r>
              <a:rPr sz="2550" spc="-25" dirty="0">
                <a:solidFill>
                  <a:srgbClr val="0F0F0F"/>
                </a:solidFill>
                <a:latin typeface="Arial MT"/>
                <a:cs typeface="Arial MT"/>
              </a:rPr>
              <a:t>we </a:t>
            </a:r>
            <a:r>
              <a:rPr sz="2550" spc="-35" dirty="0">
                <a:solidFill>
                  <a:srgbClr val="000000"/>
                </a:solidFill>
                <a:latin typeface="Arial MT"/>
                <a:cs typeface="Arial MT"/>
              </a:rPr>
              <a:t>eliminate</a:t>
            </a:r>
            <a:r>
              <a:rPr sz="2550" spc="-90" dirty="0">
                <a:solidFill>
                  <a:srgbClr val="000000"/>
                </a:solidFill>
                <a:latin typeface="Arial MT"/>
                <a:cs typeface="Arial MT"/>
              </a:rPr>
              <a:t> </a:t>
            </a:r>
            <a:r>
              <a:rPr sz="2550" spc="-125" dirty="0">
                <a:solidFill>
                  <a:srgbClr val="000000"/>
                </a:solidFill>
                <a:latin typeface="Arial MT"/>
                <a:cs typeface="Arial MT"/>
              </a:rPr>
              <a:t>slow</a:t>
            </a:r>
            <a:r>
              <a:rPr sz="2550" spc="-55" dirty="0">
                <a:solidFill>
                  <a:srgbClr val="000000"/>
                </a:solidFill>
                <a:latin typeface="Arial MT"/>
                <a:cs typeface="Arial MT"/>
              </a:rPr>
              <a:t> </a:t>
            </a:r>
            <a:r>
              <a:rPr sz="2550" spc="-90" dirty="0">
                <a:solidFill>
                  <a:srgbClr val="000000"/>
                </a:solidFill>
                <a:latin typeface="Arial MT"/>
                <a:cs typeface="Arial MT"/>
              </a:rPr>
              <a:t>traversal</a:t>
            </a:r>
            <a:r>
              <a:rPr sz="2550" spc="-114" dirty="0">
                <a:solidFill>
                  <a:srgbClr val="000000"/>
                </a:solidFill>
                <a:latin typeface="Arial MT"/>
                <a:cs typeface="Arial MT"/>
              </a:rPr>
              <a:t> </a:t>
            </a:r>
            <a:r>
              <a:rPr sz="2550" spc="-25" dirty="0">
                <a:solidFill>
                  <a:srgbClr val="0A0A0A"/>
                </a:solidFill>
                <a:latin typeface="Arial MT"/>
                <a:cs typeface="Arial MT"/>
              </a:rPr>
              <a:t>during </a:t>
            </a:r>
            <a:r>
              <a:rPr sz="2550" spc="-10" dirty="0">
                <a:solidFill>
                  <a:srgbClr val="000000"/>
                </a:solidFill>
                <a:latin typeface="Arial MT"/>
                <a:cs typeface="Arial MT"/>
              </a:rPr>
              <a:t>retrieval.</a:t>
            </a:r>
            <a:endParaRPr sz="2550">
              <a:latin typeface="Arial MT"/>
              <a:cs typeface="Arial MT"/>
            </a:endParaRPr>
          </a:p>
        </p:txBody>
      </p:sp>
      <p:sp>
        <p:nvSpPr>
          <p:cNvPr id="4" name="object 4"/>
          <p:cNvSpPr txBox="1"/>
          <p:nvPr/>
        </p:nvSpPr>
        <p:spPr>
          <a:xfrm>
            <a:off x="2686067" y="3491794"/>
            <a:ext cx="3183255" cy="4108450"/>
          </a:xfrm>
          <a:prstGeom prst="rect">
            <a:avLst/>
          </a:prstGeom>
        </p:spPr>
        <p:txBody>
          <a:bodyPr vert="horz" wrap="square" lIns="0" tIns="13335" rIns="0" bIns="0" rtlCol="0">
            <a:spAutoFit/>
          </a:bodyPr>
          <a:lstStyle/>
          <a:p>
            <a:pPr marR="21590" algn="r">
              <a:lnSpc>
                <a:spcPts val="3654"/>
              </a:lnSpc>
              <a:spcBef>
                <a:spcPts val="105"/>
              </a:spcBef>
            </a:pPr>
            <a:r>
              <a:rPr sz="3050" spc="-25" dirty="0">
                <a:solidFill>
                  <a:srgbClr val="1C1C1C"/>
                </a:solidFill>
                <a:latin typeface="Arial MT"/>
                <a:cs typeface="Arial MT"/>
              </a:rPr>
              <a:t>Map</a:t>
            </a:r>
            <a:endParaRPr sz="3050">
              <a:latin typeface="Arial MT"/>
              <a:cs typeface="Arial MT"/>
            </a:endParaRPr>
          </a:p>
          <a:p>
            <a:pPr marL="1133475" marR="20320" indent="-480695" algn="r">
              <a:lnSpc>
                <a:spcPts val="1400"/>
              </a:lnSpc>
              <a:spcBef>
                <a:spcPts val="175"/>
              </a:spcBef>
            </a:pPr>
            <a:r>
              <a:rPr sz="1300" spc="-40" dirty="0">
                <a:solidFill>
                  <a:srgbClr val="0C0C0C"/>
                </a:solidFill>
                <a:latin typeface="Arial MT"/>
                <a:cs typeface="Arial MT"/>
              </a:rPr>
              <a:t>Extract</a:t>
            </a:r>
            <a:r>
              <a:rPr sz="1300" spc="20" dirty="0">
                <a:solidFill>
                  <a:srgbClr val="0C0C0C"/>
                </a:solidFill>
                <a:latin typeface="Arial MT"/>
                <a:cs typeface="Arial MT"/>
              </a:rPr>
              <a:t> </a:t>
            </a:r>
            <a:r>
              <a:rPr sz="1300" spc="-90" dirty="0">
                <a:solidFill>
                  <a:srgbClr val="161616"/>
                </a:solidFill>
                <a:latin typeface="Arial MT"/>
                <a:cs typeface="Arial MT"/>
              </a:rPr>
              <a:t>raw</a:t>
            </a:r>
            <a:r>
              <a:rPr sz="1300" spc="5" dirty="0">
                <a:solidFill>
                  <a:srgbClr val="161616"/>
                </a:solidFill>
                <a:latin typeface="Arial MT"/>
                <a:cs typeface="Arial MT"/>
              </a:rPr>
              <a:t> </a:t>
            </a:r>
            <a:r>
              <a:rPr sz="1300" spc="-30" dirty="0">
                <a:latin typeface="Arial MT"/>
                <a:cs typeface="Arial MT"/>
              </a:rPr>
              <a:t>subject-predicate-</a:t>
            </a:r>
            <a:r>
              <a:rPr sz="1300" spc="-10" dirty="0">
                <a:latin typeface="Arial MT"/>
                <a:cs typeface="Arial MT"/>
              </a:rPr>
              <a:t>object </a:t>
            </a:r>
            <a:r>
              <a:rPr sz="1300" spc="-30" dirty="0">
                <a:solidFill>
                  <a:srgbClr val="0C0C0C"/>
                </a:solidFill>
                <a:latin typeface="Arial MT"/>
                <a:cs typeface="Arial MT"/>
              </a:rPr>
              <a:t>trlples</a:t>
            </a:r>
            <a:r>
              <a:rPr sz="1300" spc="-25" dirty="0">
                <a:solidFill>
                  <a:srgbClr val="0C0C0C"/>
                </a:solidFill>
                <a:latin typeface="Arial MT"/>
                <a:cs typeface="Arial MT"/>
              </a:rPr>
              <a:t> </a:t>
            </a:r>
            <a:r>
              <a:rPr sz="1300" spc="-35" dirty="0">
                <a:solidFill>
                  <a:srgbClr val="3F3F3F"/>
                </a:solidFill>
                <a:latin typeface="Arial MT"/>
                <a:cs typeface="Arial MT"/>
              </a:rPr>
              <a:t>from</a:t>
            </a:r>
            <a:r>
              <a:rPr sz="1300" spc="-145" dirty="0">
                <a:solidFill>
                  <a:srgbClr val="3F3F3F"/>
                </a:solidFill>
                <a:latin typeface="Arial MT"/>
                <a:cs typeface="Arial MT"/>
              </a:rPr>
              <a:t> </a:t>
            </a:r>
            <a:r>
              <a:rPr sz="1300" spc="-25" dirty="0">
                <a:latin typeface="Arial MT"/>
                <a:cs typeface="Arial MT"/>
              </a:rPr>
              <a:t>unstructixed</a:t>
            </a:r>
            <a:r>
              <a:rPr sz="1300" spc="15" dirty="0">
                <a:latin typeface="Arial MT"/>
                <a:cs typeface="Arial MT"/>
              </a:rPr>
              <a:t> </a:t>
            </a:r>
            <a:r>
              <a:rPr sz="1300" spc="30" dirty="0">
                <a:latin typeface="Arial MT"/>
                <a:cs typeface="Arial MT"/>
              </a:rPr>
              <a:t>tmt.</a:t>
            </a:r>
            <a:endParaRPr sz="1300">
              <a:latin typeface="Arial MT"/>
              <a:cs typeface="Arial MT"/>
            </a:endParaRPr>
          </a:p>
          <a:p>
            <a:pPr>
              <a:lnSpc>
                <a:spcPct val="100000"/>
              </a:lnSpc>
              <a:spcBef>
                <a:spcPts val="75"/>
              </a:spcBef>
            </a:pPr>
            <a:endParaRPr sz="1300">
              <a:latin typeface="Arial MT"/>
              <a:cs typeface="Arial MT"/>
            </a:endParaRPr>
          </a:p>
          <a:p>
            <a:pPr marR="54610" algn="r">
              <a:lnSpc>
                <a:spcPts val="3629"/>
              </a:lnSpc>
            </a:pPr>
            <a:r>
              <a:rPr sz="3050" spc="-25" dirty="0">
                <a:solidFill>
                  <a:srgbClr val="181818"/>
                </a:solidFill>
                <a:latin typeface="Arial MT"/>
                <a:cs typeface="Arial MT"/>
              </a:rPr>
              <a:t>Disambiguate</a:t>
            </a:r>
            <a:endParaRPr sz="3050">
              <a:latin typeface="Arial MT"/>
              <a:cs typeface="Arial MT"/>
            </a:endParaRPr>
          </a:p>
          <a:p>
            <a:pPr marR="5080" algn="r">
              <a:lnSpc>
                <a:spcPts val="1530"/>
              </a:lnSpc>
            </a:pPr>
            <a:r>
              <a:rPr sz="1350" spc="-60" dirty="0">
                <a:solidFill>
                  <a:srgbClr val="1A1A1A"/>
                </a:solidFill>
                <a:latin typeface="Arial MT"/>
                <a:cs typeface="Arial MT"/>
              </a:rPr>
              <a:t>Unlly</a:t>
            </a:r>
            <a:r>
              <a:rPr sz="1350" spc="-130" dirty="0">
                <a:solidFill>
                  <a:srgbClr val="1A1A1A"/>
                </a:solidFill>
                <a:latin typeface="Arial MT"/>
                <a:cs typeface="Arial MT"/>
              </a:rPr>
              <a:t> </a:t>
            </a:r>
            <a:r>
              <a:rPr sz="1350" spc="-70" dirty="0">
                <a:latin typeface="Arial MT"/>
                <a:cs typeface="Arial MT"/>
              </a:rPr>
              <a:t>fragmented</a:t>
            </a:r>
            <a:r>
              <a:rPr sz="1350" spc="-25" dirty="0">
                <a:latin typeface="Arial MT"/>
                <a:cs typeface="Arial MT"/>
              </a:rPr>
              <a:t> </a:t>
            </a:r>
            <a:r>
              <a:rPr sz="1350" spc="-60" dirty="0">
                <a:latin typeface="Arial MT"/>
                <a:cs typeface="Arial MT"/>
              </a:rPr>
              <a:t>or</a:t>
            </a:r>
            <a:r>
              <a:rPr sz="1350" spc="-120" dirty="0">
                <a:latin typeface="Arial MT"/>
                <a:cs typeface="Arial MT"/>
              </a:rPr>
              <a:t> </a:t>
            </a:r>
            <a:r>
              <a:rPr sz="1350" spc="-10" dirty="0">
                <a:latin typeface="Arial MT"/>
                <a:cs typeface="Arial MT"/>
              </a:rPr>
              <a:t>re‹</a:t>
            </a:r>
            <a:r>
              <a:rPr sz="1350" spc="175" dirty="0">
                <a:latin typeface="Arial MT"/>
                <a:cs typeface="Arial MT"/>
              </a:rPr>
              <a:t> </a:t>
            </a:r>
            <a:r>
              <a:rPr sz="1350" spc="75" dirty="0">
                <a:latin typeface="Arial MT"/>
                <a:cs typeface="Arial MT"/>
              </a:rPr>
              <a:t>indet</a:t>
            </a:r>
            <a:r>
              <a:rPr sz="1350" spc="-95" dirty="0">
                <a:latin typeface="Arial MT"/>
                <a:cs typeface="Arial MT"/>
              </a:rPr>
              <a:t> </a:t>
            </a:r>
            <a:r>
              <a:rPr sz="1350" spc="200" dirty="0">
                <a:solidFill>
                  <a:srgbClr val="0A0A0A"/>
                </a:solidFill>
                <a:latin typeface="Arial MT"/>
                <a:cs typeface="Arial MT"/>
              </a:rPr>
              <a:t>entitl</a:t>
            </a:r>
            <a:endParaRPr sz="1350">
              <a:latin typeface="Arial MT"/>
              <a:cs typeface="Arial MT"/>
            </a:endParaRPr>
          </a:p>
          <a:p>
            <a:pPr marR="31115" algn="r">
              <a:lnSpc>
                <a:spcPts val="1440"/>
              </a:lnSpc>
            </a:pPr>
            <a:r>
              <a:rPr sz="1250" spc="-70" dirty="0">
                <a:solidFill>
                  <a:srgbClr val="0E0E0E"/>
                </a:solidFill>
                <a:latin typeface="Arial MT"/>
                <a:cs typeface="Arial MT"/>
              </a:rPr>
              <a:t>(e.g., </a:t>
            </a:r>
            <a:r>
              <a:rPr sz="1250" spc="-55" dirty="0">
                <a:latin typeface="Arial MT"/>
                <a:cs typeface="Arial MT"/>
              </a:rPr>
              <a:t>EU</a:t>
            </a:r>
            <a:r>
              <a:rPr sz="1250" spc="-160" dirty="0">
                <a:latin typeface="Arial MT"/>
                <a:cs typeface="Arial MT"/>
              </a:rPr>
              <a:t> </a:t>
            </a:r>
            <a:r>
              <a:rPr sz="1250" spc="-10" dirty="0">
                <a:solidFill>
                  <a:srgbClr val="282828"/>
                </a:solidFill>
                <a:latin typeface="Arial MT"/>
                <a:cs typeface="Arial MT"/>
              </a:rPr>
              <a:t>and</a:t>
            </a:r>
            <a:r>
              <a:rPr sz="1250" spc="-204" dirty="0">
                <a:solidFill>
                  <a:srgbClr val="282828"/>
                </a:solidFill>
                <a:latin typeface="Arial MT"/>
                <a:cs typeface="Arial MT"/>
              </a:rPr>
              <a:t> </a:t>
            </a:r>
            <a:r>
              <a:rPr sz="1250" spc="-40" dirty="0">
                <a:latin typeface="Arial MT"/>
                <a:cs typeface="Arial MT"/>
              </a:rPr>
              <a:t>European</a:t>
            </a:r>
            <a:r>
              <a:rPr sz="1250" spc="10" dirty="0">
                <a:latin typeface="Arial MT"/>
                <a:cs typeface="Arial MT"/>
              </a:rPr>
              <a:t> </a:t>
            </a:r>
            <a:r>
              <a:rPr sz="1250" spc="-10" dirty="0">
                <a:latin typeface="Arial MT"/>
                <a:cs typeface="Arial MT"/>
              </a:rPr>
              <a:t>Union).</a:t>
            </a:r>
            <a:endParaRPr sz="1250">
              <a:latin typeface="Arial MT"/>
              <a:cs typeface="Arial MT"/>
            </a:endParaRPr>
          </a:p>
          <a:p>
            <a:pPr>
              <a:lnSpc>
                <a:spcPct val="100000"/>
              </a:lnSpc>
              <a:spcBef>
                <a:spcPts val="1110"/>
              </a:spcBef>
            </a:pPr>
            <a:endParaRPr sz="1250">
              <a:latin typeface="Arial MT"/>
              <a:cs typeface="Arial MT"/>
            </a:endParaRPr>
          </a:p>
          <a:p>
            <a:pPr marR="25400" algn="r">
              <a:lnSpc>
                <a:spcPts val="3415"/>
              </a:lnSpc>
            </a:pPr>
            <a:r>
              <a:rPr sz="2900" spc="-10" dirty="0">
                <a:solidFill>
                  <a:srgbClr val="1A1A1A"/>
                </a:solidFill>
                <a:latin typeface="Arial MT"/>
                <a:cs typeface="Arial MT"/>
              </a:rPr>
              <a:t>Enrich</a:t>
            </a:r>
            <a:endParaRPr sz="2900">
              <a:latin typeface="Arial MT"/>
              <a:cs typeface="Arial MT"/>
            </a:endParaRPr>
          </a:p>
          <a:p>
            <a:pPr marL="12700" marR="16510" indent="182245" algn="r">
              <a:lnSpc>
                <a:spcPts val="1400"/>
              </a:lnSpc>
              <a:spcBef>
                <a:spcPts val="265"/>
              </a:spcBef>
            </a:pPr>
            <a:r>
              <a:rPr sz="1450" spc="-130" dirty="0">
                <a:latin typeface="Arial MT"/>
                <a:cs typeface="Arial MT"/>
              </a:rPr>
              <a:t>Reintroduce</a:t>
            </a:r>
            <a:r>
              <a:rPr sz="1450" spc="-25" dirty="0">
                <a:latin typeface="Arial MT"/>
                <a:cs typeface="Arial MT"/>
              </a:rPr>
              <a:t> </a:t>
            </a:r>
            <a:r>
              <a:rPr sz="1450" spc="-95" dirty="0">
                <a:latin typeface="Arial MT"/>
                <a:cs typeface="Arial MT"/>
              </a:rPr>
              <a:t>contedual</a:t>
            </a:r>
            <a:r>
              <a:rPr sz="1450" spc="-20" dirty="0">
                <a:latin typeface="Arial MT"/>
                <a:cs typeface="Arial MT"/>
              </a:rPr>
              <a:t> </a:t>
            </a:r>
            <a:r>
              <a:rPr sz="1450" spc="-95" dirty="0">
                <a:latin typeface="Arial MT"/>
                <a:cs typeface="Arial MT"/>
              </a:rPr>
              <a:t>nuance(conditions, </a:t>
            </a:r>
            <a:r>
              <a:rPr sz="1450" spc="-130" dirty="0">
                <a:latin typeface="Arial MT"/>
                <a:cs typeface="Arial MT"/>
              </a:rPr>
              <a:t>dates,</a:t>
            </a:r>
            <a:r>
              <a:rPr sz="1450" spc="-114" dirty="0">
                <a:latin typeface="Arial MT"/>
                <a:cs typeface="Arial MT"/>
              </a:rPr>
              <a:t> </a:t>
            </a:r>
            <a:r>
              <a:rPr sz="1450" spc="-95" dirty="0">
                <a:latin typeface="Arial MT"/>
                <a:cs typeface="Arial MT"/>
              </a:rPr>
              <a:t>qualillersl</a:t>
            </a:r>
            <a:r>
              <a:rPr sz="1450" spc="-50" dirty="0">
                <a:latin typeface="Arial MT"/>
                <a:cs typeface="Arial MT"/>
              </a:rPr>
              <a:t> </a:t>
            </a:r>
            <a:r>
              <a:rPr sz="1450" spc="-40" dirty="0">
                <a:solidFill>
                  <a:srgbClr val="111111"/>
                </a:solidFill>
                <a:latin typeface="Arial MT"/>
                <a:cs typeface="Arial MT"/>
              </a:rPr>
              <a:t>to</a:t>
            </a:r>
            <a:r>
              <a:rPr sz="1450" spc="-114" dirty="0">
                <a:solidFill>
                  <a:srgbClr val="111111"/>
                </a:solidFill>
                <a:latin typeface="Arial MT"/>
                <a:cs typeface="Arial MT"/>
              </a:rPr>
              <a:t> </a:t>
            </a:r>
            <a:r>
              <a:rPr sz="1450" spc="-105" dirty="0">
                <a:solidFill>
                  <a:srgbClr val="0C0C0C"/>
                </a:solidFill>
                <a:latin typeface="Arial MT"/>
                <a:cs typeface="Arial MT"/>
              </a:rPr>
              <a:t>the</a:t>
            </a:r>
            <a:r>
              <a:rPr sz="1450" spc="-130" dirty="0">
                <a:solidFill>
                  <a:srgbClr val="0C0C0C"/>
                </a:solidFill>
                <a:latin typeface="Arial MT"/>
                <a:cs typeface="Arial MT"/>
              </a:rPr>
              <a:t> </a:t>
            </a:r>
            <a:r>
              <a:rPr sz="1450" spc="-110" dirty="0">
                <a:latin typeface="Arial MT"/>
                <a:cs typeface="Arial MT"/>
              </a:rPr>
              <a:t>structural</a:t>
            </a:r>
            <a:r>
              <a:rPr sz="1450" spc="25" dirty="0">
                <a:latin typeface="Arial MT"/>
                <a:cs typeface="Arial MT"/>
              </a:rPr>
              <a:t> </a:t>
            </a:r>
            <a:r>
              <a:rPr sz="1450" spc="-70" dirty="0">
                <a:solidFill>
                  <a:srgbClr val="0F0F0F"/>
                </a:solidFill>
                <a:latin typeface="Arial MT"/>
                <a:cs typeface="Arial MT"/>
              </a:rPr>
              <a:t>oonnectlons</a:t>
            </a:r>
            <a:endParaRPr sz="1450">
              <a:latin typeface="Arial MT"/>
              <a:cs typeface="Arial MT"/>
            </a:endParaRPr>
          </a:p>
          <a:p>
            <a:pPr>
              <a:lnSpc>
                <a:spcPct val="100000"/>
              </a:lnSpc>
              <a:spcBef>
                <a:spcPts val="105"/>
              </a:spcBef>
            </a:pPr>
            <a:endParaRPr sz="1450">
              <a:latin typeface="Arial MT"/>
              <a:cs typeface="Arial MT"/>
            </a:endParaRPr>
          </a:p>
          <a:p>
            <a:pPr marR="38735" algn="r">
              <a:lnSpc>
                <a:spcPts val="3529"/>
              </a:lnSpc>
            </a:pPr>
            <a:r>
              <a:rPr sz="3050" spc="-10" dirty="0">
                <a:solidFill>
                  <a:srgbClr val="1D1D1D"/>
                </a:solidFill>
                <a:latin typeface="Arial MT"/>
                <a:cs typeface="Arial MT"/>
              </a:rPr>
              <a:t>Reduce</a:t>
            </a:r>
            <a:endParaRPr sz="3050">
              <a:latin typeface="Arial MT"/>
              <a:cs typeface="Arial MT"/>
            </a:endParaRPr>
          </a:p>
          <a:p>
            <a:pPr marR="29209" algn="r">
              <a:lnSpc>
                <a:spcPts val="1440"/>
              </a:lnSpc>
            </a:pPr>
            <a:r>
              <a:rPr sz="1450" spc="-130" dirty="0">
                <a:latin typeface="Arial MT"/>
                <a:cs typeface="Arial MT"/>
              </a:rPr>
              <a:t>Consolidate</a:t>
            </a:r>
            <a:r>
              <a:rPr sz="1450" spc="-110" dirty="0">
                <a:latin typeface="Arial MT"/>
                <a:cs typeface="Arial MT"/>
              </a:rPr>
              <a:t> </a:t>
            </a:r>
            <a:r>
              <a:rPr sz="1450" spc="-90" dirty="0">
                <a:solidFill>
                  <a:srgbClr val="0E0E0E"/>
                </a:solidFill>
                <a:latin typeface="Arial MT"/>
                <a:cs typeface="Arial MT"/>
              </a:rPr>
              <a:t>Into</a:t>
            </a:r>
            <a:r>
              <a:rPr sz="1450" spc="-130" dirty="0">
                <a:solidFill>
                  <a:srgbClr val="0E0E0E"/>
                </a:solidFill>
                <a:latin typeface="Arial MT"/>
                <a:cs typeface="Arial MT"/>
              </a:rPr>
              <a:t> </a:t>
            </a:r>
            <a:r>
              <a:rPr sz="1450" spc="-100" dirty="0">
                <a:latin typeface="Arial MT"/>
                <a:cs typeface="Arial MT"/>
              </a:rPr>
              <a:t>pristine,</a:t>
            </a:r>
            <a:r>
              <a:rPr sz="1450" spc="-10" dirty="0">
                <a:latin typeface="Arial MT"/>
                <a:cs typeface="Arial MT"/>
              </a:rPr>
              <a:t> </a:t>
            </a:r>
            <a:r>
              <a:rPr sz="1450" spc="-130" dirty="0">
                <a:latin typeface="Arial MT"/>
                <a:cs typeface="Arial MT"/>
              </a:rPr>
              <a:t>hop-</a:t>
            </a:r>
            <a:r>
              <a:rPr sz="1450" spc="-20" dirty="0">
                <a:latin typeface="Arial MT"/>
                <a:cs typeface="Arial MT"/>
              </a:rPr>
              <a:t>frae</a:t>
            </a:r>
            <a:endParaRPr sz="1450">
              <a:latin typeface="Arial MT"/>
              <a:cs typeface="Arial MT"/>
            </a:endParaRPr>
          </a:p>
          <a:p>
            <a:pPr marR="47625" algn="r">
              <a:lnSpc>
                <a:spcPts val="1570"/>
              </a:lnSpc>
            </a:pPr>
            <a:r>
              <a:rPr sz="1450" spc="-120" dirty="0">
                <a:solidFill>
                  <a:srgbClr val="111111"/>
                </a:solidFill>
                <a:latin typeface="Arial MT"/>
                <a:cs typeface="Arial MT"/>
              </a:rPr>
              <a:t>Entlty</a:t>
            </a:r>
            <a:r>
              <a:rPr sz="1450" spc="-80" dirty="0">
                <a:solidFill>
                  <a:srgbClr val="111111"/>
                </a:solidFill>
                <a:latin typeface="Arial MT"/>
                <a:cs typeface="Arial MT"/>
              </a:rPr>
              <a:t> </a:t>
            </a:r>
            <a:r>
              <a:rPr sz="1450" spc="-10" dirty="0">
                <a:latin typeface="Arial MT"/>
                <a:cs typeface="Arial MT"/>
              </a:rPr>
              <a:t>Summary</a:t>
            </a:r>
            <a:endParaRPr sz="1450">
              <a:latin typeface="Arial MT"/>
              <a:cs typeface="Arial MT"/>
            </a:endParaRPr>
          </a:p>
        </p:txBody>
      </p:sp>
      <p:sp>
        <p:nvSpPr>
          <p:cNvPr id="5" name="object 5"/>
          <p:cNvSpPr txBox="1"/>
          <p:nvPr/>
        </p:nvSpPr>
        <p:spPr>
          <a:xfrm>
            <a:off x="9095821" y="8125883"/>
            <a:ext cx="4281170" cy="909319"/>
          </a:xfrm>
          <a:prstGeom prst="rect">
            <a:avLst/>
          </a:prstGeom>
        </p:spPr>
        <p:txBody>
          <a:bodyPr vert="horz" wrap="square" lIns="0" tIns="14604" rIns="0" bIns="0" rtlCol="0">
            <a:spAutoFit/>
          </a:bodyPr>
          <a:lstStyle/>
          <a:p>
            <a:pPr marL="12700">
              <a:lnSpc>
                <a:spcPts val="4790"/>
              </a:lnSpc>
              <a:spcBef>
                <a:spcPts val="114"/>
              </a:spcBef>
              <a:tabLst>
                <a:tab pos="678815" algn="l"/>
              </a:tabLst>
            </a:pPr>
            <a:r>
              <a:rPr sz="4150" spc="-50" dirty="0">
                <a:solidFill>
                  <a:srgbClr val="A56449"/>
                </a:solidFill>
                <a:latin typeface="Arial MT"/>
                <a:cs typeface="Arial MT"/>
              </a:rPr>
              <a:t>]</a:t>
            </a:r>
            <a:r>
              <a:rPr sz="4150" dirty="0">
                <a:solidFill>
                  <a:srgbClr val="A56449"/>
                </a:solidFill>
                <a:latin typeface="Arial MT"/>
                <a:cs typeface="Arial MT"/>
              </a:rPr>
              <a:t>	</a:t>
            </a:r>
            <a:r>
              <a:rPr sz="4150" spc="-25" dirty="0">
                <a:solidFill>
                  <a:srgbClr val="2F2F2F"/>
                </a:solidFill>
                <a:latin typeface="Arial MT"/>
                <a:cs typeface="Arial MT"/>
              </a:rPr>
              <a:t>Entity</a:t>
            </a:r>
            <a:r>
              <a:rPr sz="4150" spc="-285" dirty="0">
                <a:solidFill>
                  <a:srgbClr val="2F2F2F"/>
                </a:solidFill>
                <a:latin typeface="Arial MT"/>
                <a:cs typeface="Arial MT"/>
              </a:rPr>
              <a:t> </a:t>
            </a:r>
            <a:r>
              <a:rPr sz="4150" spc="-85" dirty="0">
                <a:solidFill>
                  <a:srgbClr val="2D2D2D"/>
                </a:solidFill>
                <a:latin typeface="Arial MT"/>
                <a:cs typeface="Arial MT"/>
              </a:rPr>
              <a:t>Summary</a:t>
            </a:r>
            <a:endParaRPr sz="4150">
              <a:latin typeface="Arial MT"/>
              <a:cs typeface="Arial MT"/>
            </a:endParaRPr>
          </a:p>
          <a:p>
            <a:pPr marL="345440" algn="ctr">
              <a:lnSpc>
                <a:spcPts val="2150"/>
              </a:lnSpc>
            </a:pPr>
            <a:r>
              <a:rPr sz="1950" spc="-254" dirty="0">
                <a:latin typeface="Arial MT"/>
                <a:cs typeface="Arial MT"/>
              </a:rPr>
              <a:t>Ready</a:t>
            </a:r>
            <a:r>
              <a:rPr sz="1950" spc="-20" dirty="0">
                <a:latin typeface="Arial MT"/>
                <a:cs typeface="Arial MT"/>
              </a:rPr>
              <a:t> </a:t>
            </a:r>
            <a:r>
              <a:rPr sz="1950" spc="-160" dirty="0">
                <a:latin typeface="Arial MT"/>
                <a:cs typeface="Arial MT"/>
              </a:rPr>
              <a:t>for</a:t>
            </a:r>
            <a:r>
              <a:rPr sz="1950" spc="-60" dirty="0">
                <a:latin typeface="Arial MT"/>
                <a:cs typeface="Arial MT"/>
              </a:rPr>
              <a:t> </a:t>
            </a:r>
            <a:r>
              <a:rPr sz="1950" spc="-170" dirty="0">
                <a:latin typeface="Arial MT"/>
                <a:cs typeface="Arial MT"/>
              </a:rPr>
              <a:t>instant</a:t>
            </a:r>
            <a:r>
              <a:rPr sz="1950" spc="-10" dirty="0">
                <a:latin typeface="Arial MT"/>
                <a:cs typeface="Arial MT"/>
              </a:rPr>
              <a:t> </a:t>
            </a:r>
            <a:r>
              <a:rPr sz="1950" spc="-254" dirty="0">
                <a:latin typeface="Arial MT"/>
                <a:cs typeface="Arial MT"/>
              </a:rPr>
              <a:t>LLM</a:t>
            </a:r>
            <a:r>
              <a:rPr sz="1950" spc="-114" dirty="0">
                <a:latin typeface="Arial MT"/>
                <a:cs typeface="Arial MT"/>
              </a:rPr>
              <a:t> </a:t>
            </a:r>
            <a:r>
              <a:rPr sz="1950" spc="-80" dirty="0">
                <a:latin typeface="Arial MT"/>
                <a:cs typeface="Arial MT"/>
              </a:rPr>
              <a:t>consumption.</a:t>
            </a:r>
            <a:endParaRPr sz="1950">
              <a:latin typeface="Arial MT"/>
              <a:cs typeface="Arial M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6300" y="3225800"/>
            <a:ext cx="15811500" cy="4038600"/>
          </a:xfrm>
          <a:prstGeom prst="rect">
            <a:avLst/>
          </a:prstGeom>
        </p:spPr>
      </p:pic>
      <p:pic>
        <p:nvPicPr>
          <p:cNvPr id="3" name="object 3"/>
          <p:cNvPicPr/>
          <p:nvPr/>
        </p:nvPicPr>
        <p:blipFill>
          <a:blip r:embed="rId3" cstate="print"/>
          <a:stretch>
            <a:fillRect/>
          </a:stretch>
        </p:blipFill>
        <p:spPr>
          <a:xfrm>
            <a:off x="533400" y="7785100"/>
            <a:ext cx="12700" cy="355600"/>
          </a:xfrm>
          <a:prstGeom prst="rect">
            <a:avLst/>
          </a:prstGeom>
        </p:spPr>
      </p:pic>
      <p:pic>
        <p:nvPicPr>
          <p:cNvPr id="4" name="object 4"/>
          <p:cNvPicPr/>
          <p:nvPr/>
        </p:nvPicPr>
        <p:blipFill>
          <a:blip r:embed="rId4" cstate="print"/>
          <a:stretch>
            <a:fillRect/>
          </a:stretch>
        </p:blipFill>
        <p:spPr>
          <a:xfrm>
            <a:off x="533400" y="7518400"/>
            <a:ext cx="12700" cy="215900"/>
          </a:xfrm>
          <a:prstGeom prst="rect">
            <a:avLst/>
          </a:prstGeom>
        </p:spPr>
      </p:pic>
      <p:sp>
        <p:nvSpPr>
          <p:cNvPr id="5" name="object 5"/>
          <p:cNvSpPr txBox="1">
            <a:spLocks noGrp="1"/>
          </p:cNvSpPr>
          <p:nvPr>
            <p:ph type="title"/>
          </p:nvPr>
        </p:nvSpPr>
        <p:spPr>
          <a:prstGeom prst="rect">
            <a:avLst/>
          </a:prstGeom>
        </p:spPr>
        <p:txBody>
          <a:bodyPr vert="horz" wrap="square" lIns="0" tIns="320616" rIns="0" bIns="0" rtlCol="0">
            <a:spAutoFit/>
          </a:bodyPr>
          <a:lstStyle/>
          <a:p>
            <a:pPr marL="27305">
              <a:lnSpc>
                <a:spcPct val="100000"/>
              </a:lnSpc>
              <a:spcBef>
                <a:spcPts val="1260"/>
              </a:spcBef>
            </a:pPr>
            <a:r>
              <a:rPr sz="5400" spc="-1005" dirty="0">
                <a:solidFill>
                  <a:srgbClr val="383838"/>
                </a:solidFill>
              </a:rPr>
              <a:t>The</a:t>
            </a:r>
            <a:r>
              <a:rPr sz="5400" spc="-490" dirty="0">
                <a:solidFill>
                  <a:srgbClr val="383838"/>
                </a:solidFill>
              </a:rPr>
              <a:t> </a:t>
            </a:r>
            <a:r>
              <a:rPr sz="5400" spc="-1019" dirty="0">
                <a:solidFill>
                  <a:srgbClr val="2F2F2F"/>
                </a:solidFill>
              </a:rPr>
              <a:t>Best</a:t>
            </a:r>
            <a:r>
              <a:rPr sz="5400" spc="-350" dirty="0">
                <a:solidFill>
                  <a:srgbClr val="2F2F2F"/>
                </a:solidFill>
              </a:rPr>
              <a:t> </a:t>
            </a:r>
            <a:r>
              <a:rPr sz="5400" spc="-745" dirty="0">
                <a:solidFill>
                  <a:srgbClr val="343434"/>
                </a:solidFill>
              </a:rPr>
              <a:t>of</a:t>
            </a:r>
            <a:r>
              <a:rPr sz="5400" spc="-530" dirty="0">
                <a:solidFill>
                  <a:srgbClr val="343434"/>
                </a:solidFill>
              </a:rPr>
              <a:t> </a:t>
            </a:r>
            <a:r>
              <a:rPr sz="5400" spc="-1005" dirty="0"/>
              <a:t>Both</a:t>
            </a:r>
            <a:r>
              <a:rPr sz="5400" spc="-204" dirty="0"/>
              <a:t> </a:t>
            </a:r>
            <a:r>
              <a:rPr sz="5400" spc="-880" dirty="0">
                <a:solidFill>
                  <a:srgbClr val="2A2A2A"/>
                </a:solidFill>
              </a:rPr>
              <a:t>Worlds:</a:t>
            </a:r>
            <a:r>
              <a:rPr sz="5400" spc="-204" dirty="0">
                <a:solidFill>
                  <a:srgbClr val="2A2A2A"/>
                </a:solidFill>
              </a:rPr>
              <a:t> </a:t>
            </a:r>
            <a:r>
              <a:rPr sz="5400" spc="-869" dirty="0">
                <a:solidFill>
                  <a:srgbClr val="2D2D2D"/>
                </a:solidFill>
              </a:rPr>
              <a:t>Hybrid</a:t>
            </a:r>
            <a:r>
              <a:rPr sz="5400" spc="-235" dirty="0">
                <a:solidFill>
                  <a:srgbClr val="2D2D2D"/>
                </a:solidFill>
              </a:rPr>
              <a:t> </a:t>
            </a:r>
            <a:r>
              <a:rPr sz="5400" spc="-1005" dirty="0">
                <a:solidFill>
                  <a:srgbClr val="2B2B2B"/>
                </a:solidFill>
              </a:rPr>
              <a:t>Retrie'vaI</a:t>
            </a:r>
            <a:r>
              <a:rPr sz="5400" spc="-55" dirty="0">
                <a:solidFill>
                  <a:srgbClr val="2B2B2B"/>
                </a:solidFill>
              </a:rPr>
              <a:t> </a:t>
            </a:r>
            <a:r>
              <a:rPr sz="5400" spc="-944" dirty="0">
                <a:solidFill>
                  <a:srgbClr val="2D2D2D"/>
                </a:solidFill>
              </a:rPr>
              <a:t>Architecture</a:t>
            </a:r>
            <a:endParaRPr sz="5400"/>
          </a:p>
          <a:p>
            <a:pPr marL="30480">
              <a:lnSpc>
                <a:spcPct val="100000"/>
              </a:lnSpc>
              <a:spcBef>
                <a:spcPts val="670"/>
              </a:spcBef>
            </a:pPr>
            <a:r>
              <a:rPr sz="2950" spc="-220" dirty="0">
                <a:solidFill>
                  <a:srgbClr val="262626"/>
                </a:solidFill>
                <a:latin typeface="Arial MT"/>
                <a:cs typeface="Arial MT"/>
              </a:rPr>
              <a:t>A</a:t>
            </a:r>
            <a:r>
              <a:rPr sz="2950" spc="5" dirty="0">
                <a:solidFill>
                  <a:srgbClr val="262626"/>
                </a:solidFill>
                <a:latin typeface="Arial MT"/>
                <a:cs typeface="Arial MT"/>
              </a:rPr>
              <a:t> </a:t>
            </a:r>
            <a:r>
              <a:rPr sz="2950" dirty="0">
                <a:solidFill>
                  <a:srgbClr val="161616"/>
                </a:solidFill>
                <a:latin typeface="Arial MT"/>
                <a:cs typeface="Arial MT"/>
              </a:rPr>
              <a:t>cascaded</a:t>
            </a:r>
            <a:r>
              <a:rPr sz="2950" spc="100" dirty="0">
                <a:solidFill>
                  <a:srgbClr val="161616"/>
                </a:solidFill>
                <a:latin typeface="Arial MT"/>
                <a:cs typeface="Arial MT"/>
              </a:rPr>
              <a:t> </a:t>
            </a:r>
            <a:r>
              <a:rPr sz="2950" dirty="0">
                <a:solidFill>
                  <a:srgbClr val="111111"/>
                </a:solidFill>
                <a:latin typeface="Arial MT"/>
                <a:cs typeface="Arial MT"/>
              </a:rPr>
              <a:t>retrieval</a:t>
            </a:r>
            <a:r>
              <a:rPr sz="2950" spc="135" dirty="0">
                <a:solidFill>
                  <a:srgbClr val="111111"/>
                </a:solidFill>
                <a:latin typeface="Arial MT"/>
                <a:cs typeface="Arial MT"/>
              </a:rPr>
              <a:t> </a:t>
            </a:r>
            <a:r>
              <a:rPr sz="2950" dirty="0">
                <a:solidFill>
                  <a:srgbClr val="161616"/>
                </a:solidFill>
                <a:latin typeface="Arial MT"/>
                <a:cs typeface="Arial MT"/>
              </a:rPr>
              <a:t>strategy</a:t>
            </a:r>
            <a:r>
              <a:rPr sz="2950" spc="160" dirty="0">
                <a:solidFill>
                  <a:srgbClr val="161616"/>
                </a:solidFill>
                <a:latin typeface="Arial MT"/>
                <a:cs typeface="Arial MT"/>
              </a:rPr>
              <a:t> </a:t>
            </a:r>
            <a:r>
              <a:rPr sz="2950" dirty="0">
                <a:solidFill>
                  <a:srgbClr val="1A1A1A"/>
                </a:solidFill>
                <a:latin typeface="Arial MT"/>
                <a:cs typeface="Arial MT"/>
              </a:rPr>
              <a:t>that</a:t>
            </a:r>
            <a:r>
              <a:rPr sz="2950" spc="120" dirty="0">
                <a:solidFill>
                  <a:srgbClr val="1A1A1A"/>
                </a:solidFill>
                <a:latin typeface="Arial MT"/>
                <a:cs typeface="Arial MT"/>
              </a:rPr>
              <a:t> </a:t>
            </a:r>
            <a:r>
              <a:rPr sz="2950" spc="-10" dirty="0">
                <a:solidFill>
                  <a:srgbClr val="181818"/>
                </a:solidFill>
                <a:latin typeface="Arial MT"/>
                <a:cs typeface="Arial MT"/>
              </a:rPr>
              <a:t>guarantees</a:t>
            </a:r>
            <a:r>
              <a:rPr sz="2950" spc="190" dirty="0">
                <a:solidFill>
                  <a:srgbClr val="181818"/>
                </a:solidFill>
                <a:latin typeface="Arial MT"/>
                <a:cs typeface="Arial MT"/>
              </a:rPr>
              <a:t> </a:t>
            </a:r>
            <a:r>
              <a:rPr sz="2950" dirty="0">
                <a:solidFill>
                  <a:srgbClr val="111111"/>
                </a:solidFill>
                <a:latin typeface="Arial MT"/>
                <a:cs typeface="Arial MT"/>
              </a:rPr>
              <a:t>high</a:t>
            </a:r>
            <a:r>
              <a:rPr sz="2950" spc="-40" dirty="0">
                <a:solidFill>
                  <a:srgbClr val="111111"/>
                </a:solidFill>
                <a:latin typeface="Arial MT"/>
                <a:cs typeface="Arial MT"/>
              </a:rPr>
              <a:t> </a:t>
            </a:r>
            <a:r>
              <a:rPr sz="2950" dirty="0">
                <a:solidFill>
                  <a:srgbClr val="181818"/>
                </a:solidFill>
                <a:latin typeface="Arial MT"/>
                <a:cs typeface="Arial MT"/>
              </a:rPr>
              <a:t>recall</a:t>
            </a:r>
            <a:r>
              <a:rPr sz="2950" spc="40" dirty="0">
                <a:solidFill>
                  <a:srgbClr val="181818"/>
                </a:solidFill>
                <a:latin typeface="Arial MT"/>
                <a:cs typeface="Arial MT"/>
              </a:rPr>
              <a:t> </a:t>
            </a:r>
            <a:r>
              <a:rPr sz="2950" dirty="0">
                <a:solidFill>
                  <a:srgbClr val="161616"/>
                </a:solidFill>
                <a:latin typeface="Arial MT"/>
                <a:cs typeface="Arial MT"/>
              </a:rPr>
              <a:t>without</a:t>
            </a:r>
            <a:r>
              <a:rPr sz="2950" spc="120" dirty="0">
                <a:solidFill>
                  <a:srgbClr val="161616"/>
                </a:solidFill>
                <a:latin typeface="Arial MT"/>
                <a:cs typeface="Arial MT"/>
              </a:rPr>
              <a:t> </a:t>
            </a:r>
            <a:r>
              <a:rPr sz="2950" dirty="0">
                <a:solidFill>
                  <a:srgbClr val="151515"/>
                </a:solidFill>
                <a:latin typeface="Arial MT"/>
                <a:cs typeface="Arial MT"/>
              </a:rPr>
              <a:t>sacrificing</a:t>
            </a:r>
            <a:r>
              <a:rPr sz="2950" spc="50" dirty="0">
                <a:solidFill>
                  <a:srgbClr val="151515"/>
                </a:solidFill>
                <a:latin typeface="Arial MT"/>
                <a:cs typeface="Arial MT"/>
              </a:rPr>
              <a:t> </a:t>
            </a:r>
            <a:r>
              <a:rPr sz="2950" spc="-10" dirty="0">
                <a:solidFill>
                  <a:srgbClr val="131313"/>
                </a:solidFill>
                <a:latin typeface="Arial MT"/>
                <a:cs typeface="Arial MT"/>
              </a:rPr>
              <a:t>accuracy.</a:t>
            </a:r>
            <a:endParaRPr sz="2950">
              <a:latin typeface="Arial MT"/>
              <a:cs typeface="Arial MT"/>
            </a:endParaRPr>
          </a:p>
        </p:txBody>
      </p:sp>
      <p:sp>
        <p:nvSpPr>
          <p:cNvPr id="6" name="object 6"/>
          <p:cNvSpPr txBox="1"/>
          <p:nvPr/>
        </p:nvSpPr>
        <p:spPr>
          <a:xfrm>
            <a:off x="4147227" y="3427588"/>
            <a:ext cx="3185160" cy="1619250"/>
          </a:xfrm>
          <a:prstGeom prst="rect">
            <a:avLst/>
          </a:prstGeom>
        </p:spPr>
        <p:txBody>
          <a:bodyPr vert="horz" wrap="square" lIns="0" tIns="13970" rIns="0" bIns="0" rtlCol="0">
            <a:spAutoFit/>
          </a:bodyPr>
          <a:lstStyle/>
          <a:p>
            <a:pPr marL="934719">
              <a:lnSpc>
                <a:spcPts val="2785"/>
              </a:lnSpc>
              <a:spcBef>
                <a:spcPts val="110"/>
              </a:spcBef>
            </a:pPr>
            <a:r>
              <a:rPr sz="2350" spc="-50" dirty="0">
                <a:solidFill>
                  <a:srgbClr val="131313"/>
                </a:solidFill>
                <a:latin typeface="Arial MT"/>
                <a:cs typeface="Arial MT"/>
              </a:rPr>
              <a:t>Dense</a:t>
            </a:r>
            <a:r>
              <a:rPr sz="2350" spc="-80" dirty="0">
                <a:solidFill>
                  <a:srgbClr val="131313"/>
                </a:solidFill>
                <a:latin typeface="Arial MT"/>
                <a:cs typeface="Arial MT"/>
              </a:rPr>
              <a:t> </a:t>
            </a:r>
            <a:r>
              <a:rPr sz="2350" spc="-10" dirty="0">
                <a:solidFill>
                  <a:srgbClr val="111111"/>
                </a:solidFill>
                <a:latin typeface="Arial MT"/>
                <a:cs typeface="Arial MT"/>
              </a:rPr>
              <a:t>Vector</a:t>
            </a:r>
            <a:endParaRPr sz="2350">
              <a:latin typeface="Arial MT"/>
              <a:cs typeface="Arial MT"/>
            </a:endParaRPr>
          </a:p>
          <a:p>
            <a:pPr marL="932180">
              <a:lnSpc>
                <a:spcPts val="2605"/>
              </a:lnSpc>
            </a:pPr>
            <a:r>
              <a:rPr sz="2200" spc="-10" dirty="0">
                <a:solidFill>
                  <a:srgbClr val="131313"/>
                </a:solidFill>
                <a:latin typeface="Arial MT"/>
                <a:cs typeface="Arial MT"/>
              </a:rPr>
              <a:t>Search</a:t>
            </a:r>
            <a:endParaRPr sz="2200">
              <a:latin typeface="Arial MT"/>
              <a:cs typeface="Arial MT"/>
            </a:endParaRPr>
          </a:p>
          <a:p>
            <a:pPr>
              <a:lnSpc>
                <a:spcPct val="100000"/>
              </a:lnSpc>
              <a:spcBef>
                <a:spcPts val="180"/>
              </a:spcBef>
            </a:pPr>
            <a:endParaRPr sz="2200">
              <a:latin typeface="Arial MT"/>
              <a:cs typeface="Arial MT"/>
            </a:endParaRPr>
          </a:p>
          <a:p>
            <a:pPr marL="12700">
              <a:lnSpc>
                <a:spcPts val="2160"/>
              </a:lnSpc>
            </a:pPr>
            <a:r>
              <a:rPr sz="1850" spc="-25" dirty="0">
                <a:solidFill>
                  <a:srgbClr val="344856"/>
                </a:solidFill>
                <a:latin typeface="Arial MT"/>
                <a:cs typeface="Arial MT"/>
              </a:rPr>
              <a:t>Provides</a:t>
            </a:r>
            <a:r>
              <a:rPr sz="1850" spc="-45" dirty="0">
                <a:solidFill>
                  <a:srgbClr val="344856"/>
                </a:solidFill>
                <a:latin typeface="Arial MT"/>
                <a:cs typeface="Arial MT"/>
              </a:rPr>
              <a:t> </a:t>
            </a:r>
            <a:r>
              <a:rPr sz="1850" dirty="0">
                <a:solidFill>
                  <a:srgbClr val="87A1AF"/>
                </a:solidFill>
                <a:latin typeface="Arial MT"/>
                <a:cs typeface="Arial MT"/>
              </a:rPr>
              <a:t>broad</a:t>
            </a:r>
            <a:r>
              <a:rPr sz="1850" spc="-80" dirty="0">
                <a:solidFill>
                  <a:srgbClr val="87A1AF"/>
                </a:solidFill>
                <a:latin typeface="Arial MT"/>
                <a:cs typeface="Arial MT"/>
              </a:rPr>
              <a:t> </a:t>
            </a:r>
            <a:r>
              <a:rPr sz="1850" spc="-10" dirty="0">
                <a:solidFill>
                  <a:srgbClr val="5D7B89"/>
                </a:solidFill>
                <a:latin typeface="Arial MT"/>
                <a:cs typeface="Arial MT"/>
              </a:rPr>
              <a:t>semantic</a:t>
            </a:r>
            <a:endParaRPr sz="1850">
              <a:latin typeface="Arial MT"/>
              <a:cs typeface="Arial MT"/>
            </a:endParaRPr>
          </a:p>
          <a:p>
            <a:pPr marL="15875">
              <a:lnSpc>
                <a:spcPts val="2280"/>
              </a:lnSpc>
            </a:pPr>
            <a:r>
              <a:rPr sz="1950" spc="-25" dirty="0">
                <a:solidFill>
                  <a:srgbClr val="8AA8C1"/>
                </a:solidFill>
                <a:latin typeface="Arial MT"/>
                <a:cs typeface="Arial MT"/>
              </a:rPr>
              <a:t>flexibility</a:t>
            </a:r>
            <a:r>
              <a:rPr sz="1950" spc="-45" dirty="0">
                <a:solidFill>
                  <a:srgbClr val="8AA8C1"/>
                </a:solidFill>
                <a:latin typeface="Arial MT"/>
                <a:cs typeface="Arial MT"/>
              </a:rPr>
              <a:t> </a:t>
            </a:r>
            <a:r>
              <a:rPr sz="1950" spc="-105" dirty="0">
                <a:solidFill>
                  <a:srgbClr val="4D6D7C"/>
                </a:solidFill>
                <a:latin typeface="Arial MT"/>
                <a:cs typeface="Arial MT"/>
              </a:rPr>
              <a:t>and</a:t>
            </a:r>
            <a:r>
              <a:rPr sz="1950" spc="-30" dirty="0">
                <a:solidFill>
                  <a:srgbClr val="4D6D7C"/>
                </a:solidFill>
                <a:latin typeface="Arial MT"/>
                <a:cs typeface="Arial MT"/>
              </a:rPr>
              <a:t> </a:t>
            </a:r>
            <a:r>
              <a:rPr sz="1950" spc="-55" dirty="0">
                <a:solidFill>
                  <a:srgbClr val="466074"/>
                </a:solidFill>
                <a:latin typeface="Arial MT"/>
                <a:cs typeface="Arial MT"/>
              </a:rPr>
              <a:t>contextual</a:t>
            </a:r>
            <a:r>
              <a:rPr sz="1950" spc="-40" dirty="0">
                <a:solidFill>
                  <a:srgbClr val="466074"/>
                </a:solidFill>
                <a:latin typeface="Arial MT"/>
                <a:cs typeface="Arial MT"/>
              </a:rPr>
              <a:t> </a:t>
            </a:r>
            <a:r>
              <a:rPr sz="1950" spc="-40" dirty="0">
                <a:solidFill>
                  <a:srgbClr val="9CB8CD"/>
                </a:solidFill>
                <a:latin typeface="Arial MT"/>
                <a:cs typeface="Arial MT"/>
              </a:rPr>
              <a:t>recall.</a:t>
            </a:r>
            <a:endParaRPr sz="1950">
              <a:latin typeface="Arial MT"/>
              <a:cs typeface="Arial MT"/>
            </a:endParaRPr>
          </a:p>
        </p:txBody>
      </p:sp>
      <p:sp>
        <p:nvSpPr>
          <p:cNvPr id="7" name="object 7"/>
          <p:cNvSpPr txBox="1"/>
          <p:nvPr/>
        </p:nvSpPr>
        <p:spPr>
          <a:xfrm>
            <a:off x="4184541" y="6239933"/>
            <a:ext cx="485140" cy="660400"/>
          </a:xfrm>
          <a:prstGeom prst="rect">
            <a:avLst/>
          </a:prstGeom>
        </p:spPr>
        <p:txBody>
          <a:bodyPr vert="horz" wrap="square" lIns="0" tIns="14604" rIns="0" bIns="0" rtlCol="0">
            <a:spAutoFit/>
          </a:bodyPr>
          <a:lstStyle/>
          <a:p>
            <a:pPr marL="12700">
              <a:lnSpc>
                <a:spcPct val="100000"/>
              </a:lnSpc>
              <a:spcBef>
                <a:spcPts val="114"/>
              </a:spcBef>
            </a:pPr>
            <a:r>
              <a:rPr sz="4150" spc="-365" dirty="0">
                <a:solidFill>
                  <a:srgbClr val="7C5742"/>
                </a:solidFill>
                <a:latin typeface="Arial MT"/>
                <a:cs typeface="Arial MT"/>
              </a:rPr>
              <a:t>W</a:t>
            </a:r>
            <a:endParaRPr sz="4150">
              <a:latin typeface="Arial MT"/>
              <a:cs typeface="Arial MT"/>
            </a:endParaRPr>
          </a:p>
        </p:txBody>
      </p:sp>
      <p:sp>
        <p:nvSpPr>
          <p:cNvPr id="8" name="object 8"/>
          <p:cNvSpPr txBox="1"/>
          <p:nvPr/>
        </p:nvSpPr>
        <p:spPr>
          <a:xfrm>
            <a:off x="5045426" y="6337300"/>
            <a:ext cx="1701164" cy="742950"/>
          </a:xfrm>
          <a:prstGeom prst="rect">
            <a:avLst/>
          </a:prstGeom>
        </p:spPr>
        <p:txBody>
          <a:bodyPr vert="horz" wrap="square" lIns="0" tIns="60960" rIns="0" bIns="0" rtlCol="0">
            <a:spAutoFit/>
          </a:bodyPr>
          <a:lstStyle/>
          <a:p>
            <a:pPr marL="39370" marR="5080" indent="-27305">
              <a:lnSpc>
                <a:spcPts val="2650"/>
              </a:lnSpc>
              <a:spcBef>
                <a:spcPts val="480"/>
              </a:spcBef>
            </a:pPr>
            <a:r>
              <a:rPr sz="2500" spc="-100" dirty="0">
                <a:solidFill>
                  <a:srgbClr val="1D1D1D"/>
                </a:solidFill>
                <a:latin typeface="Arial MT"/>
                <a:cs typeface="Arial MT"/>
              </a:rPr>
              <a:t>1-</a:t>
            </a:r>
            <a:r>
              <a:rPr sz="2500" spc="-114" dirty="0">
                <a:solidFill>
                  <a:srgbClr val="1D1D1D"/>
                </a:solidFill>
                <a:latin typeface="Arial MT"/>
                <a:cs typeface="Arial MT"/>
              </a:rPr>
              <a:t>Hop</a:t>
            </a:r>
            <a:r>
              <a:rPr sz="2500" spc="-65" dirty="0">
                <a:solidFill>
                  <a:srgbClr val="1D1D1D"/>
                </a:solidFill>
                <a:latin typeface="Arial MT"/>
                <a:cs typeface="Arial MT"/>
              </a:rPr>
              <a:t> </a:t>
            </a:r>
            <a:r>
              <a:rPr sz="2500" spc="-145" dirty="0">
                <a:solidFill>
                  <a:srgbClr val="161616"/>
                </a:solidFill>
                <a:latin typeface="Arial MT"/>
                <a:cs typeface="Arial MT"/>
              </a:rPr>
              <a:t>Graph </a:t>
            </a:r>
            <a:r>
              <a:rPr sz="2500" spc="-20" dirty="0">
                <a:solidFill>
                  <a:srgbClr val="1A1A1A"/>
                </a:solidFill>
                <a:latin typeface="Arial MT"/>
                <a:cs typeface="Arial MT"/>
              </a:rPr>
              <a:t>Traversal</a:t>
            </a:r>
            <a:endParaRPr sz="2500">
              <a:latin typeface="Arial MT"/>
              <a:cs typeface="Arial MT"/>
            </a:endParaRPr>
          </a:p>
        </p:txBody>
      </p:sp>
      <p:sp>
        <p:nvSpPr>
          <p:cNvPr id="9" name="object 9"/>
          <p:cNvSpPr txBox="1"/>
          <p:nvPr/>
        </p:nvSpPr>
        <p:spPr>
          <a:xfrm>
            <a:off x="4145866" y="7383285"/>
            <a:ext cx="2987040" cy="612140"/>
          </a:xfrm>
          <a:prstGeom prst="rect">
            <a:avLst/>
          </a:prstGeom>
        </p:spPr>
        <p:txBody>
          <a:bodyPr vert="horz" wrap="square" lIns="0" tIns="44450" rIns="0" bIns="0" rtlCol="0">
            <a:spAutoFit/>
          </a:bodyPr>
          <a:lstStyle/>
          <a:p>
            <a:pPr marL="15240" marR="5080" indent="-3175">
              <a:lnSpc>
                <a:spcPts val="2200"/>
              </a:lnSpc>
              <a:spcBef>
                <a:spcPts val="350"/>
              </a:spcBef>
            </a:pPr>
            <a:r>
              <a:rPr sz="2000" spc="-125" dirty="0">
                <a:solidFill>
                  <a:srgbClr val="725949"/>
                </a:solidFill>
                <a:latin typeface="Arial MT"/>
                <a:cs typeface="Arial MT"/>
              </a:rPr>
              <a:t>Provides</a:t>
            </a:r>
            <a:r>
              <a:rPr sz="2000" spc="-15" dirty="0">
                <a:solidFill>
                  <a:srgbClr val="725949"/>
                </a:solidFill>
                <a:latin typeface="Arial MT"/>
                <a:cs typeface="Arial MT"/>
              </a:rPr>
              <a:t> </a:t>
            </a:r>
            <a:r>
              <a:rPr sz="2000" spc="-90" dirty="0">
                <a:solidFill>
                  <a:srgbClr val="724B36"/>
                </a:solidFill>
                <a:latin typeface="Arial MT"/>
                <a:cs typeface="Arial MT"/>
              </a:rPr>
              <a:t>precise,</a:t>
            </a:r>
            <a:r>
              <a:rPr sz="2000" spc="-45" dirty="0">
                <a:solidFill>
                  <a:srgbClr val="724B36"/>
                </a:solidFill>
                <a:latin typeface="Arial MT"/>
                <a:cs typeface="Arial MT"/>
              </a:rPr>
              <a:t> </a:t>
            </a:r>
            <a:r>
              <a:rPr sz="2000" spc="-30" dirty="0">
                <a:solidFill>
                  <a:srgbClr val="B8B8B8"/>
                </a:solidFill>
                <a:latin typeface="Arial MT"/>
                <a:cs typeface="Arial MT"/>
              </a:rPr>
              <a:t>multi</a:t>
            </a:r>
            <a:r>
              <a:rPr sz="2000" spc="110" dirty="0">
                <a:solidFill>
                  <a:srgbClr val="B8B8B8"/>
                </a:solidFill>
                <a:latin typeface="Arial MT"/>
                <a:cs typeface="Arial MT"/>
              </a:rPr>
              <a:t> </a:t>
            </a:r>
            <a:r>
              <a:rPr sz="2000" spc="-25" dirty="0">
                <a:solidFill>
                  <a:srgbClr val="A89789"/>
                </a:solidFill>
                <a:latin typeface="Arial MT"/>
                <a:cs typeface="Arial MT"/>
              </a:rPr>
              <a:t>hop </a:t>
            </a:r>
            <a:r>
              <a:rPr sz="2000" spc="-90" dirty="0">
                <a:solidFill>
                  <a:srgbClr val="7E6D60"/>
                </a:solidFill>
                <a:latin typeface="Arial MT"/>
                <a:cs typeface="Arial MT"/>
              </a:rPr>
              <a:t>relational</a:t>
            </a:r>
            <a:r>
              <a:rPr sz="2000" spc="-5" dirty="0">
                <a:solidFill>
                  <a:srgbClr val="7E6D60"/>
                </a:solidFill>
                <a:latin typeface="Arial MT"/>
                <a:cs typeface="Arial MT"/>
              </a:rPr>
              <a:t> </a:t>
            </a:r>
            <a:r>
              <a:rPr sz="2000" spc="-80" dirty="0">
                <a:solidFill>
                  <a:srgbClr val="B8B8B8"/>
                </a:solidFill>
                <a:latin typeface="Arial MT"/>
                <a:cs typeface="Arial MT"/>
              </a:rPr>
              <a:t>logic</a:t>
            </a:r>
            <a:r>
              <a:rPr sz="2000" spc="15" dirty="0">
                <a:solidFill>
                  <a:srgbClr val="B8B8B8"/>
                </a:solidFill>
                <a:latin typeface="Arial MT"/>
                <a:cs typeface="Arial MT"/>
              </a:rPr>
              <a:t> </a:t>
            </a:r>
            <a:r>
              <a:rPr sz="2000" spc="-120" dirty="0">
                <a:solidFill>
                  <a:srgbClr val="A18A79"/>
                </a:solidFill>
                <a:latin typeface="Arial MT"/>
                <a:cs typeface="Arial MT"/>
              </a:rPr>
              <a:t>and</a:t>
            </a:r>
            <a:r>
              <a:rPr sz="2000" spc="-70" dirty="0">
                <a:solidFill>
                  <a:srgbClr val="A18A79"/>
                </a:solidFill>
                <a:latin typeface="Arial MT"/>
                <a:cs typeface="Arial MT"/>
              </a:rPr>
              <a:t> </a:t>
            </a:r>
            <a:r>
              <a:rPr sz="2000" spc="-65" dirty="0">
                <a:solidFill>
                  <a:srgbClr val="907967"/>
                </a:solidFill>
                <a:latin typeface="Arial MT"/>
                <a:cs typeface="Arial MT"/>
              </a:rPr>
              <a:t>structure.</a:t>
            </a:r>
            <a:endParaRPr sz="2000">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79600" y="6870700"/>
            <a:ext cx="3086100" cy="1866900"/>
          </a:xfrm>
          <a:prstGeom prst="rect">
            <a:avLst/>
          </a:prstGeom>
        </p:spPr>
      </p:pic>
      <p:pic>
        <p:nvPicPr>
          <p:cNvPr id="3" name="object 3"/>
          <p:cNvPicPr/>
          <p:nvPr/>
        </p:nvPicPr>
        <p:blipFill>
          <a:blip r:embed="rId3" cstate="print"/>
          <a:stretch>
            <a:fillRect/>
          </a:stretch>
        </p:blipFill>
        <p:spPr>
          <a:xfrm>
            <a:off x="8128000" y="7175500"/>
            <a:ext cx="1219200" cy="1701800"/>
          </a:xfrm>
          <a:prstGeom prst="rect">
            <a:avLst/>
          </a:prstGeom>
        </p:spPr>
      </p:pic>
      <p:pic>
        <p:nvPicPr>
          <p:cNvPr id="4" name="object 4"/>
          <p:cNvPicPr/>
          <p:nvPr/>
        </p:nvPicPr>
        <p:blipFill>
          <a:blip r:embed="rId4" cstate="print"/>
          <a:stretch>
            <a:fillRect/>
          </a:stretch>
        </p:blipFill>
        <p:spPr>
          <a:xfrm>
            <a:off x="11719931" y="3058583"/>
            <a:ext cx="5130800" cy="6235700"/>
          </a:xfrm>
          <a:prstGeom prst="rect">
            <a:avLst/>
          </a:prstGeom>
        </p:spPr>
      </p:pic>
      <p:sp>
        <p:nvSpPr>
          <p:cNvPr id="5" name="object 5"/>
          <p:cNvSpPr/>
          <p:nvPr/>
        </p:nvSpPr>
        <p:spPr>
          <a:xfrm>
            <a:off x="611716" y="3064932"/>
            <a:ext cx="0" cy="6235700"/>
          </a:xfrm>
          <a:custGeom>
            <a:avLst/>
            <a:gdLst/>
            <a:ahLst/>
            <a:cxnLst/>
            <a:rect l="l" t="t" r="r" b="b"/>
            <a:pathLst>
              <a:path h="6235700">
                <a:moveTo>
                  <a:pt x="0" y="6235700"/>
                </a:moveTo>
                <a:lnTo>
                  <a:pt x="0" y="0"/>
                </a:lnTo>
              </a:path>
            </a:pathLst>
          </a:custGeom>
          <a:ln w="12700">
            <a:solidFill>
              <a:srgbClr val="383F48"/>
            </a:solidFill>
          </a:ln>
        </p:spPr>
        <p:txBody>
          <a:bodyPr wrap="square" lIns="0" tIns="0" rIns="0" bIns="0" rtlCol="0"/>
          <a:lstStyle/>
          <a:p>
            <a:endParaRPr/>
          </a:p>
        </p:txBody>
      </p:sp>
      <p:grpSp>
        <p:nvGrpSpPr>
          <p:cNvPr id="6" name="object 6"/>
          <p:cNvGrpSpPr/>
          <p:nvPr/>
        </p:nvGrpSpPr>
        <p:grpSpPr>
          <a:xfrm>
            <a:off x="605366" y="3064932"/>
            <a:ext cx="5130800" cy="6235700"/>
            <a:chOff x="605366" y="3064932"/>
            <a:chExt cx="5130800" cy="6235700"/>
          </a:xfrm>
        </p:grpSpPr>
        <p:sp>
          <p:nvSpPr>
            <p:cNvPr id="7" name="object 7"/>
            <p:cNvSpPr/>
            <p:nvPr/>
          </p:nvSpPr>
          <p:spPr>
            <a:xfrm>
              <a:off x="5729817" y="3064932"/>
              <a:ext cx="0" cy="6235700"/>
            </a:xfrm>
            <a:custGeom>
              <a:avLst/>
              <a:gdLst/>
              <a:ahLst/>
              <a:cxnLst/>
              <a:rect l="l" t="t" r="r" b="b"/>
              <a:pathLst>
                <a:path h="6235700">
                  <a:moveTo>
                    <a:pt x="0" y="6235700"/>
                  </a:moveTo>
                  <a:lnTo>
                    <a:pt x="0" y="0"/>
                  </a:lnTo>
                </a:path>
              </a:pathLst>
            </a:custGeom>
            <a:ln w="12700">
              <a:solidFill>
                <a:srgbClr val="383F48"/>
              </a:solidFill>
            </a:ln>
          </p:spPr>
          <p:txBody>
            <a:bodyPr wrap="square" lIns="0" tIns="0" rIns="0" bIns="0" rtlCol="0"/>
            <a:lstStyle/>
            <a:p>
              <a:endParaRPr/>
            </a:p>
          </p:txBody>
        </p:sp>
        <p:sp>
          <p:nvSpPr>
            <p:cNvPr id="8" name="object 8"/>
            <p:cNvSpPr/>
            <p:nvPr/>
          </p:nvSpPr>
          <p:spPr>
            <a:xfrm>
              <a:off x="605366" y="3071282"/>
              <a:ext cx="5130800" cy="0"/>
            </a:xfrm>
            <a:custGeom>
              <a:avLst/>
              <a:gdLst/>
              <a:ahLst/>
              <a:cxnLst/>
              <a:rect l="l" t="t" r="r" b="b"/>
              <a:pathLst>
                <a:path w="5130800">
                  <a:moveTo>
                    <a:pt x="0" y="0"/>
                  </a:moveTo>
                  <a:lnTo>
                    <a:pt x="5130800" y="0"/>
                  </a:lnTo>
                </a:path>
              </a:pathLst>
            </a:custGeom>
            <a:ln w="12700">
              <a:solidFill>
                <a:srgbClr val="383F48"/>
              </a:solidFill>
            </a:ln>
          </p:spPr>
          <p:txBody>
            <a:bodyPr wrap="square" lIns="0" tIns="0" rIns="0" bIns="0" rtlCol="0"/>
            <a:lstStyle/>
            <a:p>
              <a:endParaRPr/>
            </a:p>
          </p:txBody>
        </p:sp>
        <p:sp>
          <p:nvSpPr>
            <p:cNvPr id="9" name="object 9"/>
            <p:cNvSpPr/>
            <p:nvPr/>
          </p:nvSpPr>
          <p:spPr>
            <a:xfrm>
              <a:off x="605366" y="9294283"/>
              <a:ext cx="5130800" cy="0"/>
            </a:xfrm>
            <a:custGeom>
              <a:avLst/>
              <a:gdLst/>
              <a:ahLst/>
              <a:cxnLst/>
              <a:rect l="l" t="t" r="r" b="b"/>
              <a:pathLst>
                <a:path w="5130800">
                  <a:moveTo>
                    <a:pt x="0" y="0"/>
                  </a:moveTo>
                  <a:lnTo>
                    <a:pt x="5130800" y="0"/>
                  </a:lnTo>
                </a:path>
              </a:pathLst>
            </a:custGeom>
            <a:ln w="12700">
              <a:solidFill>
                <a:srgbClr val="383F48"/>
              </a:solidFill>
            </a:ln>
          </p:spPr>
          <p:txBody>
            <a:bodyPr wrap="square" lIns="0" tIns="0" rIns="0" bIns="0" rtlCol="0"/>
            <a:lstStyle/>
            <a:p>
              <a:endParaRPr/>
            </a:p>
          </p:txBody>
        </p:sp>
      </p:grpSp>
      <p:sp>
        <p:nvSpPr>
          <p:cNvPr id="10" name="object 10"/>
          <p:cNvSpPr/>
          <p:nvPr/>
        </p:nvSpPr>
        <p:spPr>
          <a:xfrm>
            <a:off x="6148916" y="3060700"/>
            <a:ext cx="0" cy="6244590"/>
          </a:xfrm>
          <a:custGeom>
            <a:avLst/>
            <a:gdLst/>
            <a:ahLst/>
            <a:cxnLst/>
            <a:rect l="l" t="t" r="r" b="b"/>
            <a:pathLst>
              <a:path h="6244590">
                <a:moveTo>
                  <a:pt x="0" y="6244166"/>
                </a:moveTo>
                <a:lnTo>
                  <a:pt x="0" y="0"/>
                </a:lnTo>
              </a:path>
            </a:pathLst>
          </a:custGeom>
          <a:ln w="21166">
            <a:solidFill>
              <a:srgbClr val="484F57"/>
            </a:solidFill>
          </a:ln>
        </p:spPr>
        <p:txBody>
          <a:bodyPr wrap="square" lIns="0" tIns="0" rIns="0" bIns="0" rtlCol="0"/>
          <a:lstStyle/>
          <a:p>
            <a:endParaRPr/>
          </a:p>
        </p:txBody>
      </p:sp>
      <p:grpSp>
        <p:nvGrpSpPr>
          <p:cNvPr id="11" name="object 11"/>
          <p:cNvGrpSpPr/>
          <p:nvPr/>
        </p:nvGrpSpPr>
        <p:grpSpPr>
          <a:xfrm>
            <a:off x="6138333" y="3060700"/>
            <a:ext cx="5139690" cy="6244590"/>
            <a:chOff x="6138333" y="3060700"/>
            <a:chExt cx="5139690" cy="6244590"/>
          </a:xfrm>
        </p:grpSpPr>
        <p:sp>
          <p:nvSpPr>
            <p:cNvPr id="12" name="object 12"/>
            <p:cNvSpPr/>
            <p:nvPr/>
          </p:nvSpPr>
          <p:spPr>
            <a:xfrm>
              <a:off x="11267016" y="3060700"/>
              <a:ext cx="0" cy="6244590"/>
            </a:xfrm>
            <a:custGeom>
              <a:avLst/>
              <a:gdLst/>
              <a:ahLst/>
              <a:cxnLst/>
              <a:rect l="l" t="t" r="r" b="b"/>
              <a:pathLst>
                <a:path h="6244590">
                  <a:moveTo>
                    <a:pt x="0" y="6244166"/>
                  </a:moveTo>
                  <a:lnTo>
                    <a:pt x="0" y="0"/>
                  </a:lnTo>
                </a:path>
              </a:pathLst>
            </a:custGeom>
            <a:ln w="21166">
              <a:solidFill>
                <a:srgbClr val="484F57"/>
              </a:solidFill>
            </a:ln>
          </p:spPr>
          <p:txBody>
            <a:bodyPr wrap="square" lIns="0" tIns="0" rIns="0" bIns="0" rtlCol="0"/>
            <a:lstStyle/>
            <a:p>
              <a:endParaRPr/>
            </a:p>
          </p:txBody>
        </p:sp>
        <p:sp>
          <p:nvSpPr>
            <p:cNvPr id="13" name="object 13"/>
            <p:cNvSpPr/>
            <p:nvPr/>
          </p:nvSpPr>
          <p:spPr>
            <a:xfrm>
              <a:off x="6138333" y="3071283"/>
              <a:ext cx="5139690" cy="0"/>
            </a:xfrm>
            <a:custGeom>
              <a:avLst/>
              <a:gdLst/>
              <a:ahLst/>
              <a:cxnLst/>
              <a:rect l="l" t="t" r="r" b="b"/>
              <a:pathLst>
                <a:path w="5139690">
                  <a:moveTo>
                    <a:pt x="0" y="0"/>
                  </a:moveTo>
                  <a:lnTo>
                    <a:pt x="5139266" y="0"/>
                  </a:lnTo>
                </a:path>
              </a:pathLst>
            </a:custGeom>
            <a:ln w="21166">
              <a:solidFill>
                <a:srgbClr val="484F57"/>
              </a:solidFill>
            </a:ln>
          </p:spPr>
          <p:txBody>
            <a:bodyPr wrap="square" lIns="0" tIns="0" rIns="0" bIns="0" rtlCol="0"/>
            <a:lstStyle/>
            <a:p>
              <a:endParaRPr/>
            </a:p>
          </p:txBody>
        </p:sp>
        <p:sp>
          <p:nvSpPr>
            <p:cNvPr id="14" name="object 14"/>
            <p:cNvSpPr/>
            <p:nvPr/>
          </p:nvSpPr>
          <p:spPr>
            <a:xfrm>
              <a:off x="6138333" y="9294283"/>
              <a:ext cx="5139690" cy="0"/>
            </a:xfrm>
            <a:custGeom>
              <a:avLst/>
              <a:gdLst/>
              <a:ahLst/>
              <a:cxnLst/>
              <a:rect l="l" t="t" r="r" b="b"/>
              <a:pathLst>
                <a:path w="5139690">
                  <a:moveTo>
                    <a:pt x="0" y="0"/>
                  </a:moveTo>
                  <a:lnTo>
                    <a:pt x="5139266" y="0"/>
                  </a:lnTo>
                </a:path>
              </a:pathLst>
            </a:custGeom>
            <a:ln w="21166">
              <a:solidFill>
                <a:srgbClr val="484F57"/>
              </a:solidFill>
            </a:ln>
          </p:spPr>
          <p:txBody>
            <a:bodyPr wrap="square" lIns="0" tIns="0" rIns="0" bIns="0" rtlCol="0"/>
            <a:lstStyle/>
            <a:p>
              <a:endParaRPr/>
            </a:p>
          </p:txBody>
        </p:sp>
      </p:grpSp>
      <p:sp>
        <p:nvSpPr>
          <p:cNvPr id="15" name="object 15"/>
          <p:cNvSpPr txBox="1"/>
          <p:nvPr/>
        </p:nvSpPr>
        <p:spPr>
          <a:xfrm>
            <a:off x="651778" y="348544"/>
            <a:ext cx="14756765" cy="1443990"/>
          </a:xfrm>
          <a:prstGeom prst="rect">
            <a:avLst/>
          </a:prstGeom>
        </p:spPr>
        <p:txBody>
          <a:bodyPr vert="horz" wrap="square" lIns="0" tIns="13335" rIns="0" bIns="0" rtlCol="0">
            <a:spAutoFit/>
          </a:bodyPr>
          <a:lstStyle/>
          <a:p>
            <a:pPr marL="12700">
              <a:lnSpc>
                <a:spcPct val="100000"/>
              </a:lnSpc>
              <a:spcBef>
                <a:spcPts val="105"/>
              </a:spcBef>
            </a:pPr>
            <a:r>
              <a:rPr sz="9300" spc="-175" dirty="0">
                <a:solidFill>
                  <a:srgbClr val="262626"/>
                </a:solidFill>
                <a:latin typeface="Arial MT"/>
                <a:cs typeface="Arial MT"/>
              </a:rPr>
              <a:t>Industry</a:t>
            </a:r>
            <a:r>
              <a:rPr sz="9300" spc="-620" dirty="0">
                <a:solidFill>
                  <a:srgbClr val="262626"/>
                </a:solidFill>
                <a:latin typeface="Arial MT"/>
                <a:cs typeface="Arial MT"/>
              </a:rPr>
              <a:t> </a:t>
            </a:r>
            <a:r>
              <a:rPr sz="9300" spc="-409" dirty="0">
                <a:solidFill>
                  <a:srgbClr val="232323"/>
                </a:solidFill>
                <a:latin typeface="Arial MT"/>
                <a:cs typeface="Arial MT"/>
              </a:rPr>
              <a:t>Outcomes:</a:t>
            </a:r>
            <a:r>
              <a:rPr sz="9300" spc="-465" dirty="0">
                <a:solidFill>
                  <a:srgbClr val="232323"/>
                </a:solidFill>
                <a:latin typeface="Arial MT"/>
                <a:cs typeface="Arial MT"/>
              </a:rPr>
              <a:t> </a:t>
            </a:r>
            <a:r>
              <a:rPr sz="9300" spc="-484" dirty="0">
                <a:solidFill>
                  <a:srgbClr val="262626"/>
                </a:solidFill>
                <a:latin typeface="Arial MT"/>
                <a:cs typeface="Arial MT"/>
              </a:rPr>
              <a:t>The</a:t>
            </a:r>
            <a:r>
              <a:rPr sz="9300" spc="-1070" dirty="0">
                <a:solidFill>
                  <a:srgbClr val="262626"/>
                </a:solidFill>
                <a:latin typeface="Arial MT"/>
                <a:cs typeface="Arial MT"/>
              </a:rPr>
              <a:t> </a:t>
            </a:r>
            <a:r>
              <a:rPr sz="9300" spc="-944" dirty="0">
                <a:solidFill>
                  <a:srgbClr val="262626"/>
                </a:solidFill>
                <a:latin typeface="Arial MT"/>
                <a:cs typeface="Arial MT"/>
              </a:rPr>
              <a:t>ROI</a:t>
            </a:r>
            <a:r>
              <a:rPr sz="9300" spc="-960" dirty="0">
                <a:solidFill>
                  <a:srgbClr val="262626"/>
                </a:solidFill>
                <a:latin typeface="Arial MT"/>
                <a:cs typeface="Arial MT"/>
              </a:rPr>
              <a:t> </a:t>
            </a:r>
            <a:r>
              <a:rPr sz="9300" spc="-120" dirty="0">
                <a:solidFill>
                  <a:srgbClr val="282828"/>
                </a:solidFill>
                <a:latin typeface="Arial MT"/>
                <a:cs typeface="Arial MT"/>
              </a:rPr>
              <a:t>of</a:t>
            </a:r>
            <a:endParaRPr sz="9300">
              <a:latin typeface="Arial MT"/>
              <a:cs typeface="Arial MT"/>
            </a:endParaRPr>
          </a:p>
        </p:txBody>
      </p:sp>
      <p:sp>
        <p:nvSpPr>
          <p:cNvPr id="16" name="object 16"/>
          <p:cNvSpPr txBox="1">
            <a:spLocks noGrp="1"/>
          </p:cNvSpPr>
          <p:nvPr>
            <p:ph type="title"/>
          </p:nvPr>
        </p:nvSpPr>
        <p:spPr>
          <a:xfrm>
            <a:off x="684997" y="1344436"/>
            <a:ext cx="9803765" cy="1475740"/>
          </a:xfrm>
          <a:prstGeom prst="rect">
            <a:avLst/>
          </a:prstGeom>
        </p:spPr>
        <p:txBody>
          <a:bodyPr vert="horz" wrap="square" lIns="0" tIns="13970" rIns="0" bIns="0" rtlCol="0">
            <a:spAutoFit/>
          </a:bodyPr>
          <a:lstStyle/>
          <a:p>
            <a:pPr marL="12700">
              <a:lnSpc>
                <a:spcPct val="100000"/>
              </a:lnSpc>
              <a:spcBef>
                <a:spcPts val="110"/>
              </a:spcBef>
            </a:pPr>
            <a:r>
              <a:rPr sz="9500" spc="-890" dirty="0">
                <a:solidFill>
                  <a:srgbClr val="242424"/>
                </a:solidFill>
                <a:latin typeface="Arial MT"/>
                <a:cs typeface="Arial MT"/>
              </a:rPr>
              <a:t>GraphRAG</a:t>
            </a:r>
            <a:r>
              <a:rPr sz="9500" spc="-515" dirty="0">
                <a:solidFill>
                  <a:srgbClr val="242424"/>
                </a:solidFill>
                <a:latin typeface="Arial MT"/>
                <a:cs typeface="Arial MT"/>
              </a:rPr>
              <a:t> </a:t>
            </a:r>
            <a:r>
              <a:rPr sz="9500" spc="-40" dirty="0">
                <a:solidFill>
                  <a:srgbClr val="232323"/>
                </a:solidFill>
                <a:latin typeface="Arial MT"/>
                <a:cs typeface="Arial MT"/>
              </a:rPr>
              <a:t>is</a:t>
            </a:r>
            <a:r>
              <a:rPr sz="9500" spc="-1340" dirty="0">
                <a:solidFill>
                  <a:srgbClr val="232323"/>
                </a:solidFill>
                <a:latin typeface="Arial MT"/>
                <a:cs typeface="Arial MT"/>
              </a:rPr>
              <a:t> </a:t>
            </a:r>
            <a:r>
              <a:rPr sz="9500" spc="-570" dirty="0">
                <a:solidFill>
                  <a:srgbClr val="232323"/>
                </a:solidFill>
                <a:latin typeface="Arial MT"/>
                <a:cs typeface="Arial MT"/>
              </a:rPr>
              <a:t>Proven</a:t>
            </a:r>
            <a:endParaRPr sz="9500">
              <a:latin typeface="Arial MT"/>
              <a:cs typeface="Arial MT"/>
            </a:endParaRPr>
          </a:p>
        </p:txBody>
      </p:sp>
      <p:sp>
        <p:nvSpPr>
          <p:cNvPr id="17" name="object 17"/>
          <p:cNvSpPr txBox="1"/>
          <p:nvPr/>
        </p:nvSpPr>
        <p:spPr>
          <a:xfrm>
            <a:off x="904489" y="2973210"/>
            <a:ext cx="4792980" cy="3528695"/>
          </a:xfrm>
          <a:prstGeom prst="rect">
            <a:avLst/>
          </a:prstGeom>
        </p:spPr>
        <p:txBody>
          <a:bodyPr vert="horz" wrap="square" lIns="0" tIns="17145" rIns="0" bIns="0" rtlCol="0">
            <a:spAutoFit/>
          </a:bodyPr>
          <a:lstStyle/>
          <a:p>
            <a:pPr marR="144780" algn="ctr">
              <a:lnSpc>
                <a:spcPts val="11735"/>
              </a:lnSpc>
              <a:spcBef>
                <a:spcPts val="135"/>
              </a:spcBef>
            </a:pPr>
            <a:r>
              <a:rPr sz="10100" spc="-645" dirty="0">
                <a:solidFill>
                  <a:srgbClr val="262626"/>
                </a:solidFill>
                <a:latin typeface="Arial MT"/>
                <a:cs typeface="Arial MT"/>
              </a:rPr>
              <a:t>28.6%</a:t>
            </a:r>
            <a:endParaRPr sz="10100">
              <a:latin typeface="Arial MT"/>
              <a:cs typeface="Arial MT"/>
            </a:endParaRPr>
          </a:p>
          <a:p>
            <a:pPr marR="117475" algn="ctr">
              <a:lnSpc>
                <a:spcPts val="3754"/>
              </a:lnSpc>
            </a:pPr>
            <a:r>
              <a:rPr sz="3450" spc="-180" dirty="0">
                <a:solidFill>
                  <a:srgbClr val="313131"/>
                </a:solidFill>
                <a:latin typeface="Arial MT"/>
                <a:cs typeface="Arial MT"/>
              </a:rPr>
              <a:t>Drop</a:t>
            </a:r>
            <a:r>
              <a:rPr sz="3450" spc="-70" dirty="0">
                <a:solidFill>
                  <a:srgbClr val="313131"/>
                </a:solidFill>
                <a:latin typeface="Arial MT"/>
                <a:cs typeface="Arial MT"/>
              </a:rPr>
              <a:t> </a:t>
            </a:r>
            <a:r>
              <a:rPr sz="3450" spc="-50" dirty="0">
                <a:solidFill>
                  <a:srgbClr val="3D3D3D"/>
                </a:solidFill>
                <a:latin typeface="Arial MT"/>
                <a:cs typeface="Arial MT"/>
              </a:rPr>
              <a:t>in</a:t>
            </a:r>
            <a:r>
              <a:rPr sz="3450" spc="-225" dirty="0">
                <a:solidFill>
                  <a:srgbClr val="3D3D3D"/>
                </a:solidFill>
                <a:latin typeface="Arial MT"/>
                <a:cs typeface="Arial MT"/>
              </a:rPr>
              <a:t> </a:t>
            </a:r>
            <a:r>
              <a:rPr sz="3450" spc="-145" dirty="0">
                <a:solidFill>
                  <a:srgbClr val="363636"/>
                </a:solidFill>
                <a:latin typeface="Arial MT"/>
                <a:cs typeface="Arial MT"/>
              </a:rPr>
              <a:t>Resolution</a:t>
            </a:r>
            <a:r>
              <a:rPr sz="3450" spc="-5" dirty="0">
                <a:solidFill>
                  <a:srgbClr val="363636"/>
                </a:solidFill>
                <a:latin typeface="Arial MT"/>
                <a:cs typeface="Arial MT"/>
              </a:rPr>
              <a:t> </a:t>
            </a:r>
            <a:r>
              <a:rPr sz="3450" spc="-20" dirty="0">
                <a:solidFill>
                  <a:srgbClr val="383838"/>
                </a:solidFill>
                <a:latin typeface="Arial MT"/>
                <a:cs typeface="Arial MT"/>
              </a:rPr>
              <a:t>Time</a:t>
            </a:r>
            <a:endParaRPr sz="3450">
              <a:latin typeface="Arial MT"/>
              <a:cs typeface="Arial MT"/>
            </a:endParaRPr>
          </a:p>
          <a:p>
            <a:pPr marL="4445" marR="217804" indent="-5080">
              <a:lnSpc>
                <a:spcPct val="88600"/>
              </a:lnSpc>
              <a:spcBef>
                <a:spcPts val="2190"/>
              </a:spcBef>
            </a:pPr>
            <a:r>
              <a:rPr sz="2400" spc="-114" dirty="0">
                <a:latin typeface="Arial MT"/>
                <a:cs typeface="Arial MT"/>
              </a:rPr>
              <a:t>Linkedln:</a:t>
            </a:r>
            <a:r>
              <a:rPr sz="2400" spc="15" dirty="0">
                <a:latin typeface="Arial MT"/>
                <a:cs typeface="Arial MT"/>
              </a:rPr>
              <a:t> </a:t>
            </a:r>
            <a:r>
              <a:rPr sz="2400" spc="-220" dirty="0">
                <a:latin typeface="Arial MT"/>
                <a:cs typeface="Arial MT"/>
              </a:rPr>
              <a:t>Reduced</a:t>
            </a:r>
            <a:r>
              <a:rPr sz="2400" spc="35" dirty="0">
                <a:latin typeface="Arial MT"/>
                <a:cs typeface="Arial MT"/>
              </a:rPr>
              <a:t> </a:t>
            </a:r>
            <a:r>
              <a:rPr sz="2400" spc="-235" dirty="0">
                <a:latin typeface="Arial MT"/>
                <a:cs typeface="Arial MT"/>
              </a:rPr>
              <a:t>mean</a:t>
            </a:r>
            <a:r>
              <a:rPr sz="2400" spc="-30" dirty="0">
                <a:latin typeface="Arial MT"/>
                <a:cs typeface="Arial MT"/>
              </a:rPr>
              <a:t> </a:t>
            </a:r>
            <a:r>
              <a:rPr sz="2400" spc="-10" dirty="0">
                <a:latin typeface="Arial MT"/>
                <a:cs typeface="Arial MT"/>
              </a:rPr>
              <a:t>customer </a:t>
            </a:r>
            <a:r>
              <a:rPr sz="2300" spc="-105" dirty="0">
                <a:latin typeface="Arial MT"/>
                <a:cs typeface="Arial MT"/>
              </a:rPr>
              <a:t>service</a:t>
            </a:r>
            <a:r>
              <a:rPr sz="2300" spc="-100" dirty="0">
                <a:latin typeface="Arial MT"/>
                <a:cs typeface="Arial MT"/>
              </a:rPr>
              <a:t> </a:t>
            </a:r>
            <a:r>
              <a:rPr sz="2300" spc="-105" dirty="0">
                <a:latin typeface="Arial MT"/>
                <a:cs typeface="Arial MT"/>
              </a:rPr>
              <a:t>issue</a:t>
            </a:r>
            <a:r>
              <a:rPr sz="2300" spc="-60" dirty="0">
                <a:latin typeface="Arial MT"/>
                <a:cs typeface="Arial MT"/>
              </a:rPr>
              <a:t> </a:t>
            </a:r>
            <a:r>
              <a:rPr sz="2300" spc="-80" dirty="0">
                <a:latin typeface="Arial MT"/>
                <a:cs typeface="Arial MT"/>
              </a:rPr>
              <a:t>resolution</a:t>
            </a:r>
            <a:r>
              <a:rPr sz="2300" spc="35" dirty="0">
                <a:latin typeface="Arial MT"/>
                <a:cs typeface="Arial MT"/>
              </a:rPr>
              <a:t> </a:t>
            </a:r>
            <a:r>
              <a:rPr sz="2300" spc="-75" dirty="0">
                <a:latin typeface="Arial MT"/>
                <a:cs typeface="Arial MT"/>
              </a:rPr>
              <a:t>from</a:t>
            </a:r>
            <a:r>
              <a:rPr sz="2300" spc="-15" dirty="0">
                <a:latin typeface="Arial MT"/>
                <a:cs typeface="Arial MT"/>
              </a:rPr>
              <a:t> </a:t>
            </a:r>
            <a:r>
              <a:rPr sz="2300" spc="-50" dirty="0">
                <a:latin typeface="Arial MT"/>
                <a:cs typeface="Arial MT"/>
              </a:rPr>
              <a:t>40</a:t>
            </a:r>
            <a:r>
              <a:rPr sz="2300" spc="-160" dirty="0">
                <a:latin typeface="Arial MT"/>
                <a:cs typeface="Arial MT"/>
              </a:rPr>
              <a:t> </a:t>
            </a:r>
            <a:r>
              <a:rPr sz="2300" spc="-10" dirty="0">
                <a:latin typeface="Arial MT"/>
                <a:cs typeface="Arial MT"/>
              </a:rPr>
              <a:t>hours </a:t>
            </a:r>
            <a:r>
              <a:rPr sz="2350" spc="-50" dirty="0">
                <a:latin typeface="Arial MT"/>
                <a:cs typeface="Arial MT"/>
              </a:rPr>
              <a:t>to</a:t>
            </a:r>
            <a:r>
              <a:rPr sz="2350" spc="-245" dirty="0">
                <a:latin typeface="Arial MT"/>
                <a:cs typeface="Arial MT"/>
              </a:rPr>
              <a:t> </a:t>
            </a:r>
            <a:r>
              <a:rPr sz="2350" spc="-195" dirty="0">
                <a:latin typeface="Arial MT"/>
                <a:cs typeface="Arial MT"/>
              </a:rPr>
              <a:t>15</a:t>
            </a:r>
            <a:r>
              <a:rPr sz="2350" spc="-85" dirty="0">
                <a:latin typeface="Arial MT"/>
                <a:cs typeface="Arial MT"/>
              </a:rPr>
              <a:t> </a:t>
            </a:r>
            <a:r>
              <a:rPr sz="2350" spc="-125" dirty="0">
                <a:latin typeface="Arial MT"/>
                <a:cs typeface="Arial MT"/>
              </a:rPr>
              <a:t>hours</a:t>
            </a:r>
            <a:r>
              <a:rPr sz="2350" spc="-45" dirty="0">
                <a:latin typeface="Arial MT"/>
                <a:cs typeface="Arial MT"/>
              </a:rPr>
              <a:t> </a:t>
            </a:r>
            <a:r>
              <a:rPr sz="2350" spc="-145" dirty="0">
                <a:latin typeface="Arial MT"/>
                <a:cs typeface="Arial MT"/>
              </a:rPr>
              <a:t>by</a:t>
            </a:r>
            <a:r>
              <a:rPr sz="2350" spc="-50" dirty="0">
                <a:latin typeface="Arial MT"/>
                <a:cs typeface="Arial MT"/>
              </a:rPr>
              <a:t> </a:t>
            </a:r>
            <a:r>
              <a:rPr sz="2350" spc="-114" dirty="0">
                <a:latin typeface="Arial MT"/>
                <a:cs typeface="Arial MT"/>
              </a:rPr>
              <a:t>parsing</a:t>
            </a:r>
            <a:r>
              <a:rPr sz="2350" spc="20" dirty="0">
                <a:latin typeface="Arial MT"/>
                <a:cs typeface="Arial MT"/>
              </a:rPr>
              <a:t> </a:t>
            </a:r>
            <a:r>
              <a:rPr sz="2350" spc="-75" dirty="0">
                <a:latin typeface="Arial MT"/>
                <a:cs typeface="Arial MT"/>
              </a:rPr>
              <a:t>tickets</a:t>
            </a:r>
            <a:r>
              <a:rPr sz="2350" spc="-70" dirty="0">
                <a:latin typeface="Arial MT"/>
                <a:cs typeface="Arial MT"/>
              </a:rPr>
              <a:t> </a:t>
            </a:r>
            <a:r>
              <a:rPr sz="2350" spc="-20" dirty="0">
                <a:latin typeface="Arial MT"/>
                <a:cs typeface="Arial MT"/>
              </a:rPr>
              <a:t>into</a:t>
            </a:r>
            <a:endParaRPr sz="2350">
              <a:latin typeface="Arial MT"/>
              <a:cs typeface="Arial MT"/>
            </a:endParaRPr>
          </a:p>
          <a:p>
            <a:pPr marL="3810">
              <a:lnSpc>
                <a:spcPts val="2370"/>
              </a:lnSpc>
            </a:pPr>
            <a:r>
              <a:rPr sz="2200" spc="-40" dirty="0">
                <a:latin typeface="Arial MT"/>
                <a:cs typeface="Arial MT"/>
              </a:rPr>
              <a:t>intra-</a:t>
            </a:r>
            <a:r>
              <a:rPr sz="2200" dirty="0">
                <a:latin typeface="Arial MT"/>
                <a:cs typeface="Arial MT"/>
              </a:rPr>
              <a:t>issue</a:t>
            </a:r>
            <a:r>
              <a:rPr sz="2200" spc="-110" dirty="0">
                <a:latin typeface="Arial MT"/>
                <a:cs typeface="Arial MT"/>
              </a:rPr>
              <a:t> </a:t>
            </a:r>
            <a:r>
              <a:rPr sz="2200" spc="-20" dirty="0">
                <a:latin typeface="Arial MT"/>
                <a:cs typeface="Arial MT"/>
              </a:rPr>
              <a:t>trees</a:t>
            </a:r>
            <a:r>
              <a:rPr sz="2200" spc="-100" dirty="0">
                <a:latin typeface="Arial MT"/>
                <a:cs typeface="Arial MT"/>
              </a:rPr>
              <a:t> </a:t>
            </a:r>
            <a:r>
              <a:rPr sz="2200" spc="-80" dirty="0">
                <a:latin typeface="Arial MT"/>
                <a:cs typeface="Arial MT"/>
              </a:rPr>
              <a:t>and</a:t>
            </a:r>
            <a:r>
              <a:rPr sz="2200" spc="-70" dirty="0">
                <a:latin typeface="Arial MT"/>
                <a:cs typeface="Arial MT"/>
              </a:rPr>
              <a:t> </a:t>
            </a:r>
            <a:r>
              <a:rPr sz="2200" spc="-45" dirty="0">
                <a:latin typeface="Arial MT"/>
                <a:cs typeface="Arial MT"/>
              </a:rPr>
              <a:t>inter-</a:t>
            </a:r>
            <a:r>
              <a:rPr sz="2200" dirty="0">
                <a:latin typeface="Arial MT"/>
                <a:cs typeface="Arial MT"/>
              </a:rPr>
              <a:t>issue</a:t>
            </a:r>
            <a:r>
              <a:rPr sz="2200" spc="5" dirty="0">
                <a:latin typeface="Arial MT"/>
                <a:cs typeface="Arial MT"/>
              </a:rPr>
              <a:t> </a:t>
            </a:r>
            <a:r>
              <a:rPr sz="2200" spc="-10" dirty="0">
                <a:latin typeface="Arial MT"/>
                <a:cs typeface="Arial MT"/>
              </a:rPr>
              <a:t>graphs.</a:t>
            </a:r>
            <a:endParaRPr sz="2200">
              <a:latin typeface="Arial MT"/>
              <a:cs typeface="Arial MT"/>
            </a:endParaRPr>
          </a:p>
        </p:txBody>
      </p:sp>
      <p:sp>
        <p:nvSpPr>
          <p:cNvPr id="18" name="object 18"/>
          <p:cNvSpPr txBox="1"/>
          <p:nvPr/>
        </p:nvSpPr>
        <p:spPr>
          <a:xfrm>
            <a:off x="6298688" y="2973210"/>
            <a:ext cx="4704715" cy="1998345"/>
          </a:xfrm>
          <a:prstGeom prst="rect">
            <a:avLst/>
          </a:prstGeom>
        </p:spPr>
        <p:txBody>
          <a:bodyPr vert="horz" wrap="square" lIns="0" tIns="17145" rIns="0" bIns="0" rtlCol="0">
            <a:spAutoFit/>
          </a:bodyPr>
          <a:lstStyle/>
          <a:p>
            <a:pPr>
              <a:lnSpc>
                <a:spcPts val="11735"/>
              </a:lnSpc>
              <a:spcBef>
                <a:spcPts val="135"/>
              </a:spcBef>
            </a:pPr>
            <a:r>
              <a:rPr sz="10100" spc="-415" dirty="0">
                <a:solidFill>
                  <a:srgbClr val="282828"/>
                </a:solidFill>
                <a:latin typeface="Arial MT"/>
                <a:cs typeface="Arial MT"/>
              </a:rPr>
              <a:t>1st</a:t>
            </a:r>
            <a:r>
              <a:rPr sz="10100" spc="-969" dirty="0">
                <a:solidFill>
                  <a:srgbClr val="282828"/>
                </a:solidFill>
                <a:latin typeface="Arial MT"/>
                <a:cs typeface="Arial MT"/>
              </a:rPr>
              <a:t> </a:t>
            </a:r>
            <a:r>
              <a:rPr sz="10100" spc="-525" dirty="0">
                <a:solidFill>
                  <a:srgbClr val="242424"/>
                </a:solidFill>
                <a:latin typeface="Arial MT"/>
                <a:cs typeface="Arial MT"/>
              </a:rPr>
              <a:t>Place</a:t>
            </a:r>
            <a:endParaRPr sz="10100">
              <a:latin typeface="Arial MT"/>
              <a:cs typeface="Arial MT"/>
            </a:endParaRPr>
          </a:p>
          <a:p>
            <a:pPr marL="501015">
              <a:lnSpc>
                <a:spcPts val="3754"/>
              </a:lnSpc>
            </a:pPr>
            <a:r>
              <a:rPr sz="3450" spc="-145" dirty="0">
                <a:solidFill>
                  <a:srgbClr val="313131"/>
                </a:solidFill>
                <a:latin typeface="Arial MT"/>
                <a:cs typeface="Arial MT"/>
              </a:rPr>
              <a:t>Benchmark</a:t>
            </a:r>
            <a:r>
              <a:rPr sz="3450" spc="-45" dirty="0">
                <a:solidFill>
                  <a:srgbClr val="313131"/>
                </a:solidFill>
                <a:latin typeface="Arial MT"/>
                <a:cs typeface="Arial MT"/>
              </a:rPr>
              <a:t> </a:t>
            </a:r>
            <a:r>
              <a:rPr sz="3450" spc="-20" dirty="0">
                <a:solidFill>
                  <a:srgbClr val="333333"/>
                </a:solidFill>
                <a:latin typeface="Arial MT"/>
                <a:cs typeface="Arial MT"/>
              </a:rPr>
              <a:t>Accuracy</a:t>
            </a:r>
            <a:endParaRPr sz="3450">
              <a:latin typeface="Arial MT"/>
              <a:cs typeface="Arial MT"/>
            </a:endParaRPr>
          </a:p>
        </p:txBody>
      </p:sp>
      <p:sp>
        <p:nvSpPr>
          <p:cNvPr id="19" name="object 19"/>
          <p:cNvSpPr txBox="1"/>
          <p:nvPr/>
        </p:nvSpPr>
        <p:spPr>
          <a:xfrm>
            <a:off x="11963819" y="2973210"/>
            <a:ext cx="4480560" cy="3848100"/>
          </a:xfrm>
          <a:prstGeom prst="rect">
            <a:avLst/>
          </a:prstGeom>
        </p:spPr>
        <p:txBody>
          <a:bodyPr vert="horz" wrap="square" lIns="0" tIns="17145" rIns="0" bIns="0" rtlCol="0">
            <a:spAutoFit/>
          </a:bodyPr>
          <a:lstStyle/>
          <a:p>
            <a:pPr marL="5080" algn="ctr">
              <a:lnSpc>
                <a:spcPts val="11735"/>
              </a:lnSpc>
              <a:spcBef>
                <a:spcPts val="135"/>
              </a:spcBef>
            </a:pPr>
            <a:r>
              <a:rPr sz="10100" spc="-705" dirty="0">
                <a:solidFill>
                  <a:srgbClr val="232323"/>
                </a:solidFill>
                <a:latin typeface="Arial MT"/>
                <a:cs typeface="Arial MT"/>
              </a:rPr>
              <a:t>78.5%</a:t>
            </a:r>
            <a:endParaRPr sz="10100" dirty="0">
              <a:latin typeface="Arial MT"/>
              <a:cs typeface="Arial MT"/>
            </a:endParaRPr>
          </a:p>
          <a:p>
            <a:pPr marL="107314" algn="ctr">
              <a:lnSpc>
                <a:spcPts val="3754"/>
              </a:lnSpc>
            </a:pPr>
            <a:r>
              <a:rPr sz="3450" spc="-190" dirty="0">
                <a:solidFill>
                  <a:srgbClr val="343434"/>
                </a:solidFill>
                <a:latin typeface="Arial MT"/>
                <a:cs typeface="Arial MT"/>
              </a:rPr>
              <a:t>Win-</a:t>
            </a:r>
            <a:r>
              <a:rPr sz="3450" spc="-20" dirty="0">
                <a:solidFill>
                  <a:srgbClr val="343434"/>
                </a:solidFill>
                <a:latin typeface="Arial MT"/>
                <a:cs typeface="Arial MT"/>
              </a:rPr>
              <a:t>Rate</a:t>
            </a:r>
            <a:endParaRPr sz="3450" dirty="0">
              <a:latin typeface="Arial MT"/>
              <a:cs typeface="Arial MT"/>
            </a:endParaRPr>
          </a:p>
          <a:p>
            <a:pPr marL="19050" marR="5080" indent="-6985">
              <a:lnSpc>
                <a:spcPct val="94000"/>
              </a:lnSpc>
              <a:spcBef>
                <a:spcPts val="2215"/>
              </a:spcBef>
            </a:pPr>
            <a:r>
              <a:rPr sz="2150" spc="-75" dirty="0">
                <a:latin typeface="Arial MT"/>
                <a:cs typeface="Arial MT"/>
              </a:rPr>
              <a:t>SAP:</a:t>
            </a:r>
            <a:r>
              <a:rPr sz="2150" spc="-110" dirty="0">
                <a:latin typeface="Arial MT"/>
                <a:cs typeface="Arial MT"/>
              </a:rPr>
              <a:t> </a:t>
            </a:r>
            <a:r>
              <a:rPr sz="2150" spc="-25" dirty="0">
                <a:latin typeface="Arial MT"/>
                <a:cs typeface="Arial MT"/>
              </a:rPr>
              <a:t>Overpowered</a:t>
            </a:r>
            <a:r>
              <a:rPr sz="2150" spc="-75" dirty="0">
                <a:latin typeface="Arial MT"/>
                <a:cs typeface="Arial MT"/>
              </a:rPr>
              <a:t> </a:t>
            </a:r>
            <a:r>
              <a:rPr sz="2150" spc="-20" dirty="0">
                <a:latin typeface="Arial MT"/>
                <a:cs typeface="Arial MT"/>
              </a:rPr>
              <a:t>dense</a:t>
            </a:r>
            <a:r>
              <a:rPr sz="2150" spc="-75" dirty="0">
                <a:latin typeface="Arial MT"/>
                <a:cs typeface="Arial MT"/>
              </a:rPr>
              <a:t> </a:t>
            </a:r>
            <a:r>
              <a:rPr sz="2150" spc="-10" dirty="0">
                <a:latin typeface="Arial MT"/>
                <a:cs typeface="Arial MT"/>
              </a:rPr>
              <a:t>vector </a:t>
            </a:r>
            <a:r>
              <a:rPr sz="2150" dirty="0">
                <a:latin typeface="Arial MT"/>
                <a:cs typeface="Arial MT"/>
              </a:rPr>
              <a:t>retrieval</a:t>
            </a:r>
            <a:r>
              <a:rPr sz="2150" spc="-130" dirty="0">
                <a:latin typeface="Arial MT"/>
                <a:cs typeface="Arial MT"/>
              </a:rPr>
              <a:t> </a:t>
            </a:r>
            <a:r>
              <a:rPr sz="2150" dirty="0">
                <a:latin typeface="Arial MT"/>
                <a:cs typeface="Arial MT"/>
              </a:rPr>
              <a:t>in</a:t>
            </a:r>
            <a:r>
              <a:rPr sz="2150" spc="-150" dirty="0">
                <a:latin typeface="Arial MT"/>
                <a:cs typeface="Arial MT"/>
              </a:rPr>
              <a:t> </a:t>
            </a:r>
            <a:r>
              <a:rPr sz="2150" dirty="0">
                <a:latin typeface="Arial MT"/>
                <a:cs typeface="Arial MT"/>
              </a:rPr>
              <a:t>complex</a:t>
            </a:r>
            <a:r>
              <a:rPr sz="2150" spc="-30" dirty="0">
                <a:latin typeface="Arial MT"/>
                <a:cs typeface="Arial MT"/>
              </a:rPr>
              <a:t> </a:t>
            </a:r>
            <a:r>
              <a:rPr sz="2150" dirty="0">
                <a:latin typeface="Arial MT"/>
                <a:cs typeface="Arial MT"/>
              </a:rPr>
              <a:t>legacy</a:t>
            </a:r>
            <a:r>
              <a:rPr sz="2150" spc="-110" dirty="0">
                <a:latin typeface="Arial MT"/>
                <a:cs typeface="Arial MT"/>
              </a:rPr>
              <a:t> </a:t>
            </a:r>
            <a:r>
              <a:rPr sz="2150" spc="-20" dirty="0">
                <a:latin typeface="Arial MT"/>
                <a:cs typeface="Arial MT"/>
              </a:rPr>
              <a:t>code </a:t>
            </a:r>
            <a:r>
              <a:rPr sz="2200" spc="-25" dirty="0">
                <a:latin typeface="Arial MT"/>
                <a:cs typeface="Arial MT"/>
              </a:rPr>
              <a:t>migration</a:t>
            </a:r>
            <a:r>
              <a:rPr sz="2200" spc="-60" dirty="0">
                <a:latin typeface="Arial MT"/>
                <a:cs typeface="Arial MT"/>
              </a:rPr>
              <a:t> </a:t>
            </a:r>
            <a:r>
              <a:rPr sz="2200" spc="-145" dirty="0">
                <a:latin typeface="Arial MT"/>
                <a:cs typeface="Arial MT"/>
              </a:rPr>
              <a:t>(ABAP</a:t>
            </a:r>
            <a:r>
              <a:rPr sz="2200" spc="-5" dirty="0">
                <a:latin typeface="Arial MT"/>
                <a:cs typeface="Arial MT"/>
              </a:rPr>
              <a:t> </a:t>
            </a:r>
            <a:r>
              <a:rPr sz="2200" dirty="0">
                <a:latin typeface="Arial MT"/>
                <a:cs typeface="Arial MT"/>
              </a:rPr>
              <a:t>to</a:t>
            </a:r>
            <a:r>
              <a:rPr sz="2200" spc="-150" dirty="0">
                <a:latin typeface="Arial MT"/>
                <a:cs typeface="Arial MT"/>
              </a:rPr>
              <a:t> </a:t>
            </a:r>
            <a:r>
              <a:rPr sz="2200" spc="-75" dirty="0">
                <a:latin typeface="Arial MT"/>
                <a:cs typeface="Arial MT"/>
              </a:rPr>
              <a:t>S/4HANA)</a:t>
            </a:r>
            <a:r>
              <a:rPr sz="2200" spc="100" dirty="0">
                <a:latin typeface="Arial MT"/>
                <a:cs typeface="Arial MT"/>
              </a:rPr>
              <a:t> </a:t>
            </a:r>
            <a:r>
              <a:rPr sz="2200" spc="-25" dirty="0">
                <a:latin typeface="Arial MT"/>
                <a:cs typeface="Arial MT"/>
              </a:rPr>
              <a:t>by </a:t>
            </a:r>
            <a:r>
              <a:rPr sz="2150" spc="-10" dirty="0">
                <a:latin typeface="Arial MT"/>
                <a:cs typeface="Arial MT"/>
              </a:rPr>
              <a:t>understanding</a:t>
            </a:r>
            <a:r>
              <a:rPr sz="2150" spc="90" dirty="0">
                <a:latin typeface="Arial MT"/>
                <a:cs typeface="Arial MT"/>
              </a:rPr>
              <a:t> </a:t>
            </a:r>
            <a:r>
              <a:rPr sz="2150" dirty="0">
                <a:latin typeface="Arial MT"/>
                <a:cs typeface="Arial MT"/>
              </a:rPr>
              <a:t>transaction-to-</a:t>
            </a:r>
            <a:r>
              <a:rPr sz="2150" spc="-10" dirty="0">
                <a:latin typeface="Arial MT"/>
                <a:cs typeface="Arial MT"/>
              </a:rPr>
              <a:t>screen </a:t>
            </a:r>
            <a:r>
              <a:rPr sz="2300" spc="-65" dirty="0">
                <a:latin typeface="Arial MT"/>
                <a:cs typeface="Arial MT"/>
              </a:rPr>
              <a:t>structural </a:t>
            </a:r>
            <a:r>
              <a:rPr sz="2300" spc="-25" dirty="0">
                <a:latin typeface="Arial MT"/>
                <a:cs typeface="Arial MT"/>
              </a:rPr>
              <a:t>dependencies.</a:t>
            </a:r>
            <a:endParaRPr sz="2300" dirty="0">
              <a:latin typeface="Arial MT"/>
              <a:cs typeface="Arial MT"/>
            </a:endParaRPr>
          </a:p>
        </p:txBody>
      </p:sp>
      <p:sp>
        <p:nvSpPr>
          <p:cNvPr id="20" name="object 20"/>
          <p:cNvSpPr txBox="1"/>
          <p:nvPr/>
        </p:nvSpPr>
        <p:spPr>
          <a:xfrm>
            <a:off x="975211" y="6919383"/>
            <a:ext cx="797560" cy="279400"/>
          </a:xfrm>
          <a:prstGeom prst="rect">
            <a:avLst/>
          </a:prstGeom>
        </p:spPr>
        <p:txBody>
          <a:bodyPr vert="horz" wrap="square" lIns="0" tIns="14604" rIns="0" bIns="0" rtlCol="0">
            <a:spAutoFit/>
          </a:bodyPr>
          <a:lstStyle/>
          <a:p>
            <a:pPr>
              <a:lnSpc>
                <a:spcPct val="100000"/>
              </a:lnSpc>
              <a:spcBef>
                <a:spcPts val="114"/>
              </a:spcBef>
            </a:pPr>
            <a:r>
              <a:rPr sz="1650" spc="-45" dirty="0">
                <a:latin typeface="Arial MT"/>
                <a:cs typeface="Arial MT"/>
              </a:rPr>
              <a:t>40</a:t>
            </a:r>
            <a:r>
              <a:rPr sz="1650" spc="-125" dirty="0">
                <a:latin typeface="Arial MT"/>
                <a:cs typeface="Arial MT"/>
              </a:rPr>
              <a:t> </a:t>
            </a:r>
            <a:r>
              <a:rPr sz="1650" spc="-55" dirty="0">
                <a:latin typeface="Arial MT"/>
                <a:cs typeface="Arial MT"/>
              </a:rPr>
              <a:t>Hours</a:t>
            </a:r>
            <a:endParaRPr sz="1650">
              <a:latin typeface="Arial MT"/>
              <a:cs typeface="Arial MT"/>
            </a:endParaRPr>
          </a:p>
        </p:txBody>
      </p:sp>
      <p:sp>
        <p:nvSpPr>
          <p:cNvPr id="21" name="object 21"/>
          <p:cNvSpPr txBox="1"/>
          <p:nvPr/>
        </p:nvSpPr>
        <p:spPr>
          <a:xfrm>
            <a:off x="979291" y="8148814"/>
            <a:ext cx="791210" cy="290195"/>
          </a:xfrm>
          <a:prstGeom prst="rect">
            <a:avLst/>
          </a:prstGeom>
        </p:spPr>
        <p:txBody>
          <a:bodyPr vert="horz" wrap="square" lIns="0" tIns="17145" rIns="0" bIns="0" rtlCol="0">
            <a:spAutoFit/>
          </a:bodyPr>
          <a:lstStyle/>
          <a:p>
            <a:pPr>
              <a:lnSpc>
                <a:spcPct val="100000"/>
              </a:lnSpc>
              <a:spcBef>
                <a:spcPts val="135"/>
              </a:spcBef>
            </a:pPr>
            <a:r>
              <a:rPr sz="1700" spc="-114" dirty="0">
                <a:latin typeface="Arial MT"/>
                <a:cs typeface="Arial MT"/>
              </a:rPr>
              <a:t>15</a:t>
            </a:r>
            <a:r>
              <a:rPr sz="1700" spc="-110" dirty="0">
                <a:latin typeface="Arial MT"/>
                <a:cs typeface="Arial MT"/>
              </a:rPr>
              <a:t> </a:t>
            </a:r>
            <a:r>
              <a:rPr sz="1700" spc="-85" dirty="0">
                <a:latin typeface="Arial MT"/>
                <a:cs typeface="Arial MT"/>
              </a:rPr>
              <a:t>Hours</a:t>
            </a:r>
            <a:endParaRPr sz="1700">
              <a:latin typeface="Arial MT"/>
              <a:cs typeface="Arial MT"/>
            </a:endParaRPr>
          </a:p>
        </p:txBody>
      </p:sp>
      <p:sp>
        <p:nvSpPr>
          <p:cNvPr id="22" name="object 22"/>
          <p:cNvSpPr txBox="1"/>
          <p:nvPr/>
        </p:nvSpPr>
        <p:spPr>
          <a:xfrm>
            <a:off x="2224899" y="8755944"/>
            <a:ext cx="419100" cy="300990"/>
          </a:xfrm>
          <a:prstGeom prst="rect">
            <a:avLst/>
          </a:prstGeom>
        </p:spPr>
        <p:txBody>
          <a:bodyPr vert="horz" wrap="square" lIns="0" tIns="13335" rIns="0" bIns="0" rtlCol="0">
            <a:spAutoFit/>
          </a:bodyPr>
          <a:lstStyle/>
          <a:p>
            <a:pPr>
              <a:lnSpc>
                <a:spcPct val="100000"/>
              </a:lnSpc>
              <a:spcBef>
                <a:spcPts val="105"/>
              </a:spcBef>
            </a:pPr>
            <a:r>
              <a:rPr sz="1800" spc="-110" dirty="0">
                <a:latin typeface="Arial MT"/>
                <a:cs typeface="Arial MT"/>
              </a:rPr>
              <a:t>Start</a:t>
            </a:r>
            <a:endParaRPr sz="1800">
              <a:latin typeface="Arial MT"/>
              <a:cs typeface="Arial MT"/>
            </a:endParaRPr>
          </a:p>
        </p:txBody>
      </p:sp>
      <p:sp>
        <p:nvSpPr>
          <p:cNvPr id="23" name="object 23"/>
          <p:cNvSpPr txBox="1"/>
          <p:nvPr/>
        </p:nvSpPr>
        <p:spPr>
          <a:xfrm>
            <a:off x="4235662" y="8747125"/>
            <a:ext cx="339090" cy="311150"/>
          </a:xfrm>
          <a:prstGeom prst="rect">
            <a:avLst/>
          </a:prstGeom>
        </p:spPr>
        <p:txBody>
          <a:bodyPr vert="horz" wrap="square" lIns="0" tIns="15875" rIns="0" bIns="0" rtlCol="0">
            <a:spAutoFit/>
          </a:bodyPr>
          <a:lstStyle/>
          <a:p>
            <a:pPr>
              <a:lnSpc>
                <a:spcPct val="100000"/>
              </a:lnSpc>
              <a:spcBef>
                <a:spcPts val="125"/>
              </a:spcBef>
            </a:pPr>
            <a:r>
              <a:rPr sz="1850" spc="-229" dirty="0">
                <a:latin typeface="Arial MT"/>
                <a:cs typeface="Arial MT"/>
              </a:rPr>
              <a:t>End</a:t>
            </a:r>
            <a:endParaRPr sz="1850">
              <a:latin typeface="Arial MT"/>
              <a:cs typeface="Arial MT"/>
            </a:endParaRPr>
          </a:p>
        </p:txBody>
      </p:sp>
      <p:sp>
        <p:nvSpPr>
          <p:cNvPr id="24" name="object 24"/>
          <p:cNvSpPr txBox="1"/>
          <p:nvPr/>
        </p:nvSpPr>
        <p:spPr>
          <a:xfrm>
            <a:off x="6451753" y="5168900"/>
            <a:ext cx="4327525" cy="406400"/>
          </a:xfrm>
          <a:prstGeom prst="rect">
            <a:avLst/>
          </a:prstGeom>
        </p:spPr>
        <p:txBody>
          <a:bodyPr vert="horz" wrap="square" lIns="0" tIns="12700" rIns="0" bIns="0" rtlCol="0">
            <a:spAutoFit/>
          </a:bodyPr>
          <a:lstStyle/>
          <a:p>
            <a:pPr>
              <a:lnSpc>
                <a:spcPct val="100000"/>
              </a:lnSpc>
              <a:spcBef>
                <a:spcPts val="100"/>
              </a:spcBef>
            </a:pPr>
            <a:r>
              <a:rPr sz="2500" spc="-395" dirty="0">
                <a:latin typeface="Arial Black"/>
                <a:cs typeface="Arial Black"/>
              </a:rPr>
              <a:t>Writer:</a:t>
            </a:r>
            <a:r>
              <a:rPr sz="2500" spc="-220" dirty="0">
                <a:latin typeface="Arial Black"/>
                <a:cs typeface="Arial Black"/>
              </a:rPr>
              <a:t> </a:t>
            </a:r>
            <a:r>
              <a:rPr sz="2500" spc="-500" dirty="0">
                <a:latin typeface="Arial Black"/>
                <a:cs typeface="Arial Black"/>
              </a:rPr>
              <a:t>Defeated</a:t>
            </a:r>
            <a:r>
              <a:rPr sz="2500" spc="65" dirty="0">
                <a:latin typeface="Arial Black"/>
                <a:cs typeface="Arial Black"/>
              </a:rPr>
              <a:t> </a:t>
            </a:r>
            <a:r>
              <a:rPr sz="2500" spc="-550" dirty="0">
                <a:latin typeface="Arial Black"/>
                <a:cs typeface="Arial Black"/>
              </a:rPr>
              <a:t>7</a:t>
            </a:r>
            <a:r>
              <a:rPr sz="2500" spc="-215" dirty="0">
                <a:latin typeface="Arial Black"/>
                <a:cs typeface="Arial Black"/>
              </a:rPr>
              <a:t> </a:t>
            </a:r>
            <a:r>
              <a:rPr sz="2500" spc="-484" dirty="0">
                <a:latin typeface="Arial Black"/>
                <a:cs typeface="Arial Black"/>
              </a:rPr>
              <a:t>enterprise</a:t>
            </a:r>
            <a:r>
              <a:rPr sz="2500" spc="125" dirty="0">
                <a:latin typeface="Arial Black"/>
                <a:cs typeface="Arial Black"/>
              </a:rPr>
              <a:t> </a:t>
            </a:r>
            <a:r>
              <a:rPr sz="2500" spc="-525" dirty="0">
                <a:latin typeface="Arial Black"/>
                <a:cs typeface="Arial Black"/>
              </a:rPr>
              <a:t>vector</a:t>
            </a:r>
            <a:endParaRPr sz="2500">
              <a:latin typeface="Arial Black"/>
              <a:cs typeface="Arial Black"/>
            </a:endParaRPr>
          </a:p>
        </p:txBody>
      </p:sp>
      <p:sp>
        <p:nvSpPr>
          <p:cNvPr id="25" name="object 25"/>
          <p:cNvSpPr txBox="1"/>
          <p:nvPr/>
        </p:nvSpPr>
        <p:spPr>
          <a:xfrm>
            <a:off x="6456391" y="5480050"/>
            <a:ext cx="3862070" cy="406400"/>
          </a:xfrm>
          <a:prstGeom prst="rect">
            <a:avLst/>
          </a:prstGeom>
        </p:spPr>
        <p:txBody>
          <a:bodyPr vert="horz" wrap="square" lIns="0" tIns="12700" rIns="0" bIns="0" rtlCol="0">
            <a:spAutoFit/>
          </a:bodyPr>
          <a:lstStyle/>
          <a:p>
            <a:pPr>
              <a:lnSpc>
                <a:spcPct val="100000"/>
              </a:lnSpc>
              <a:spcBef>
                <a:spcPts val="100"/>
              </a:spcBef>
            </a:pPr>
            <a:r>
              <a:rPr sz="2500" spc="-520" dirty="0">
                <a:latin typeface="Arial Black"/>
                <a:cs typeface="Arial Black"/>
              </a:rPr>
              <a:t>systems.</a:t>
            </a:r>
            <a:r>
              <a:rPr sz="2500" spc="-15" dirty="0">
                <a:latin typeface="Arial Black"/>
                <a:cs typeface="Arial Black"/>
              </a:rPr>
              <a:t> </a:t>
            </a:r>
            <a:r>
              <a:rPr sz="2500" spc="-505" dirty="0">
                <a:latin typeface="Arial Black"/>
                <a:cs typeface="Arial Black"/>
              </a:rPr>
              <a:t>Enabled</a:t>
            </a:r>
            <a:r>
              <a:rPr sz="2500" spc="-5" dirty="0">
                <a:latin typeface="Arial Black"/>
                <a:cs typeface="Arial Black"/>
              </a:rPr>
              <a:t> </a:t>
            </a:r>
            <a:r>
              <a:rPr sz="2500" spc="-590" dirty="0">
                <a:latin typeface="Arial Black"/>
                <a:cs typeface="Arial Black"/>
              </a:rPr>
              <a:t>AI</a:t>
            </a:r>
            <a:r>
              <a:rPr sz="2500" spc="-280" dirty="0">
                <a:latin typeface="Arial Black"/>
                <a:cs typeface="Arial Black"/>
              </a:rPr>
              <a:t> </a:t>
            </a:r>
            <a:r>
              <a:rPr sz="2500" spc="-480" dirty="0">
                <a:latin typeface="Arial Black"/>
                <a:cs typeface="Arial Black"/>
              </a:rPr>
              <a:t>in</a:t>
            </a:r>
            <a:r>
              <a:rPr sz="2500" spc="-165" dirty="0">
                <a:latin typeface="Arial Black"/>
                <a:cs typeface="Arial Black"/>
              </a:rPr>
              <a:t> </a:t>
            </a:r>
            <a:r>
              <a:rPr sz="2500" spc="-509" dirty="0">
                <a:latin typeface="Arial Black"/>
                <a:cs typeface="Arial Black"/>
              </a:rPr>
              <a:t>regulated</a:t>
            </a:r>
            <a:endParaRPr sz="2500" dirty="0">
              <a:latin typeface="Arial Black"/>
              <a:cs typeface="Arial Black"/>
            </a:endParaRPr>
          </a:p>
        </p:txBody>
      </p:sp>
      <p:sp>
        <p:nvSpPr>
          <p:cNvPr id="26" name="object 26"/>
          <p:cNvSpPr txBox="1"/>
          <p:nvPr/>
        </p:nvSpPr>
        <p:spPr>
          <a:xfrm>
            <a:off x="6456870" y="5779911"/>
            <a:ext cx="4466590" cy="427990"/>
          </a:xfrm>
          <a:prstGeom prst="rect">
            <a:avLst/>
          </a:prstGeom>
        </p:spPr>
        <p:txBody>
          <a:bodyPr vert="horz" wrap="square" lIns="0" tIns="17145" rIns="0" bIns="0" rtlCol="0">
            <a:spAutoFit/>
          </a:bodyPr>
          <a:lstStyle/>
          <a:p>
            <a:pPr>
              <a:lnSpc>
                <a:spcPct val="100000"/>
              </a:lnSpc>
              <a:spcBef>
                <a:spcPts val="135"/>
              </a:spcBef>
            </a:pPr>
            <a:r>
              <a:rPr sz="2600" spc="-525" dirty="0">
                <a:latin typeface="Arial Black"/>
                <a:cs typeface="Arial Black"/>
              </a:rPr>
              <a:t>healthcare/finance</a:t>
            </a:r>
            <a:r>
              <a:rPr sz="2600" spc="-265" dirty="0">
                <a:latin typeface="Arial Black"/>
                <a:cs typeface="Arial Black"/>
              </a:rPr>
              <a:t> </a:t>
            </a:r>
            <a:r>
              <a:rPr sz="2600" spc="-570" dirty="0">
                <a:latin typeface="Arial Black"/>
                <a:cs typeface="Arial Black"/>
              </a:rPr>
              <a:t>by</a:t>
            </a:r>
            <a:r>
              <a:rPr sz="2600" spc="-200" dirty="0">
                <a:latin typeface="Arial Black"/>
                <a:cs typeface="Arial Black"/>
              </a:rPr>
              <a:t> </a:t>
            </a:r>
            <a:r>
              <a:rPr sz="2600" spc="-585" dirty="0">
                <a:latin typeface="Arial Black"/>
                <a:cs typeface="Arial Black"/>
              </a:rPr>
              <a:t>exposing</a:t>
            </a:r>
            <a:r>
              <a:rPr sz="2600" spc="-85" dirty="0">
                <a:latin typeface="Arial Black"/>
                <a:cs typeface="Arial Black"/>
              </a:rPr>
              <a:t> </a:t>
            </a:r>
            <a:r>
              <a:rPr sz="2600" spc="-650" dirty="0">
                <a:latin typeface="Arial Black"/>
                <a:cs typeface="Arial Black"/>
              </a:rPr>
              <a:t>exact</a:t>
            </a:r>
            <a:endParaRPr sz="2600">
              <a:latin typeface="Arial Black"/>
              <a:cs typeface="Arial Black"/>
            </a:endParaRPr>
          </a:p>
        </p:txBody>
      </p:sp>
      <p:sp>
        <p:nvSpPr>
          <p:cNvPr id="27" name="object 27"/>
          <p:cNvSpPr txBox="1"/>
          <p:nvPr/>
        </p:nvSpPr>
        <p:spPr>
          <a:xfrm>
            <a:off x="6444609" y="6102350"/>
            <a:ext cx="3881754" cy="406400"/>
          </a:xfrm>
          <a:prstGeom prst="rect">
            <a:avLst/>
          </a:prstGeom>
        </p:spPr>
        <p:txBody>
          <a:bodyPr vert="horz" wrap="square" lIns="0" tIns="12700" rIns="0" bIns="0" rtlCol="0">
            <a:spAutoFit/>
          </a:bodyPr>
          <a:lstStyle/>
          <a:p>
            <a:pPr>
              <a:lnSpc>
                <a:spcPct val="100000"/>
              </a:lnSpc>
              <a:spcBef>
                <a:spcPts val="100"/>
              </a:spcBef>
            </a:pPr>
            <a:r>
              <a:rPr sz="2500" spc="-500" dirty="0">
                <a:latin typeface="Arial Black"/>
                <a:cs typeface="Arial Black"/>
              </a:rPr>
              <a:t>reasoning</a:t>
            </a:r>
            <a:r>
              <a:rPr sz="2500" spc="65" dirty="0">
                <a:latin typeface="Arial Black"/>
                <a:cs typeface="Arial Black"/>
              </a:rPr>
              <a:t> </a:t>
            </a:r>
            <a:r>
              <a:rPr sz="2500" spc="-475" dirty="0">
                <a:latin typeface="Arial Black"/>
                <a:cs typeface="Arial Black"/>
              </a:rPr>
              <a:t>snippets</a:t>
            </a:r>
            <a:r>
              <a:rPr sz="2500" spc="-170" dirty="0">
                <a:latin typeface="Arial Black"/>
                <a:cs typeface="Arial Black"/>
              </a:rPr>
              <a:t> </a:t>
            </a:r>
            <a:r>
              <a:rPr sz="2500" spc="-520" dirty="0">
                <a:latin typeface="Arial Black"/>
                <a:cs typeface="Arial Black"/>
              </a:rPr>
              <a:t>and</a:t>
            </a:r>
            <a:r>
              <a:rPr sz="2500" spc="-165" dirty="0">
                <a:latin typeface="Arial Black"/>
                <a:cs typeface="Arial Black"/>
              </a:rPr>
              <a:t> </a:t>
            </a:r>
            <a:r>
              <a:rPr sz="2500" spc="-505" dirty="0">
                <a:latin typeface="Arial Black"/>
                <a:cs typeface="Arial Black"/>
              </a:rPr>
              <a:t>ensuring</a:t>
            </a:r>
            <a:endParaRPr sz="2500">
              <a:latin typeface="Arial Black"/>
              <a:cs typeface="Arial Black"/>
            </a:endParaRPr>
          </a:p>
        </p:txBody>
      </p:sp>
      <p:sp>
        <p:nvSpPr>
          <p:cNvPr id="28" name="object 28"/>
          <p:cNvSpPr txBox="1"/>
          <p:nvPr/>
        </p:nvSpPr>
        <p:spPr>
          <a:xfrm>
            <a:off x="6458245" y="6402211"/>
            <a:ext cx="3557904" cy="427990"/>
          </a:xfrm>
          <a:prstGeom prst="rect">
            <a:avLst/>
          </a:prstGeom>
        </p:spPr>
        <p:txBody>
          <a:bodyPr vert="horz" wrap="square" lIns="0" tIns="17145" rIns="0" bIns="0" rtlCol="0">
            <a:spAutoFit/>
          </a:bodyPr>
          <a:lstStyle/>
          <a:p>
            <a:pPr>
              <a:lnSpc>
                <a:spcPct val="100000"/>
              </a:lnSpc>
              <a:spcBef>
                <a:spcPts val="135"/>
              </a:spcBef>
            </a:pPr>
            <a:r>
              <a:rPr sz="2600" spc="-480" dirty="0">
                <a:latin typeface="Arial Black"/>
                <a:cs typeface="Arial Black"/>
              </a:rPr>
              <a:t>zero-</a:t>
            </a:r>
            <a:r>
              <a:rPr sz="2600" spc="-490" dirty="0">
                <a:latin typeface="Arial Black"/>
                <a:cs typeface="Arial Black"/>
              </a:rPr>
              <a:t>hallucination</a:t>
            </a:r>
            <a:r>
              <a:rPr sz="2600" spc="-385" dirty="0">
                <a:latin typeface="Arial Black"/>
                <a:cs typeface="Arial Black"/>
              </a:rPr>
              <a:t> </a:t>
            </a:r>
            <a:r>
              <a:rPr sz="2600" spc="-520" dirty="0">
                <a:latin typeface="Arial Black"/>
                <a:cs typeface="Arial Black"/>
              </a:rPr>
              <a:t>auditability.</a:t>
            </a:r>
            <a:endParaRPr sz="2600">
              <a:latin typeface="Arial Black"/>
              <a:cs typeface="Arial Black"/>
            </a:endParaRPr>
          </a:p>
        </p:txBody>
      </p:sp>
      <p:sp>
        <p:nvSpPr>
          <p:cNvPr id="29" name="object 29"/>
          <p:cNvSpPr txBox="1"/>
          <p:nvPr/>
        </p:nvSpPr>
        <p:spPr>
          <a:xfrm>
            <a:off x="12968744" y="8764764"/>
            <a:ext cx="1186815" cy="290195"/>
          </a:xfrm>
          <a:prstGeom prst="rect">
            <a:avLst/>
          </a:prstGeom>
        </p:spPr>
        <p:txBody>
          <a:bodyPr vert="horz" wrap="square" lIns="0" tIns="17145" rIns="0" bIns="0" rtlCol="0">
            <a:spAutoFit/>
          </a:bodyPr>
          <a:lstStyle/>
          <a:p>
            <a:pPr marL="12700">
              <a:lnSpc>
                <a:spcPct val="100000"/>
              </a:lnSpc>
              <a:spcBef>
                <a:spcPts val="135"/>
              </a:spcBef>
            </a:pPr>
            <a:r>
              <a:rPr sz="1700" spc="-150" dirty="0">
                <a:latin typeface="Arial MT"/>
                <a:cs typeface="Arial MT"/>
              </a:rPr>
              <a:t>Oense</a:t>
            </a:r>
            <a:r>
              <a:rPr sz="1700" spc="-20" dirty="0">
                <a:latin typeface="Arial MT"/>
                <a:cs typeface="Arial MT"/>
              </a:rPr>
              <a:t> </a:t>
            </a:r>
            <a:r>
              <a:rPr sz="1700" spc="-85" dirty="0">
                <a:latin typeface="Arial MT"/>
                <a:cs typeface="Arial MT"/>
              </a:rPr>
              <a:t>Vector</a:t>
            </a:r>
            <a:endParaRPr sz="1700">
              <a:latin typeface="Arial MT"/>
              <a:cs typeface="Arial M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263900" y="2908300"/>
            <a:ext cx="3213100" cy="3695700"/>
            <a:chOff x="3263900" y="2908300"/>
            <a:chExt cx="3213100" cy="3695700"/>
          </a:xfrm>
        </p:grpSpPr>
        <p:pic>
          <p:nvPicPr>
            <p:cNvPr id="3" name="object 3"/>
            <p:cNvPicPr/>
            <p:nvPr/>
          </p:nvPicPr>
          <p:blipFill>
            <a:blip r:embed="rId2" cstate="print"/>
            <a:stretch>
              <a:fillRect/>
            </a:stretch>
          </p:blipFill>
          <p:spPr>
            <a:xfrm>
              <a:off x="3263900" y="3708400"/>
              <a:ext cx="3009900" cy="2895600"/>
            </a:xfrm>
            <a:prstGeom prst="rect">
              <a:avLst/>
            </a:prstGeom>
          </p:spPr>
        </p:pic>
        <p:pic>
          <p:nvPicPr>
            <p:cNvPr id="4" name="object 4"/>
            <p:cNvPicPr/>
            <p:nvPr/>
          </p:nvPicPr>
          <p:blipFill>
            <a:blip r:embed="rId3" cstate="print"/>
            <a:stretch>
              <a:fillRect/>
            </a:stretch>
          </p:blipFill>
          <p:spPr>
            <a:xfrm>
              <a:off x="3276600" y="2908300"/>
              <a:ext cx="3200400" cy="1257300"/>
            </a:xfrm>
            <a:prstGeom prst="rect">
              <a:avLst/>
            </a:prstGeom>
          </p:spPr>
        </p:pic>
      </p:grpSp>
      <p:sp>
        <p:nvSpPr>
          <p:cNvPr id="5" name="object 5"/>
          <p:cNvSpPr txBox="1">
            <a:spLocks noGrp="1"/>
          </p:cNvSpPr>
          <p:nvPr>
            <p:ph type="title"/>
          </p:nvPr>
        </p:nvSpPr>
        <p:spPr>
          <a:prstGeom prst="rect">
            <a:avLst/>
          </a:prstGeom>
        </p:spPr>
        <p:txBody>
          <a:bodyPr vert="horz" wrap="square" lIns="0" tIns="422123" rIns="0" bIns="0" rtlCol="0">
            <a:spAutoFit/>
          </a:bodyPr>
          <a:lstStyle/>
          <a:p>
            <a:pPr marL="127000">
              <a:lnSpc>
                <a:spcPct val="100000"/>
              </a:lnSpc>
              <a:spcBef>
                <a:spcPts val="1220"/>
              </a:spcBef>
            </a:pPr>
            <a:r>
              <a:rPr sz="6050" spc="-80" dirty="0">
                <a:solidFill>
                  <a:srgbClr val="2F2F2F"/>
                </a:solidFill>
                <a:latin typeface="Arial MT"/>
                <a:cs typeface="Arial MT"/>
              </a:rPr>
              <a:t>The</a:t>
            </a:r>
            <a:r>
              <a:rPr sz="6050" spc="-525" dirty="0">
                <a:solidFill>
                  <a:srgbClr val="2F2F2F"/>
                </a:solidFill>
                <a:latin typeface="Arial MT"/>
                <a:cs typeface="Arial MT"/>
              </a:rPr>
              <a:t> </a:t>
            </a:r>
            <a:r>
              <a:rPr sz="6050" spc="-55" dirty="0">
                <a:latin typeface="Arial MT"/>
                <a:cs typeface="Arial MT"/>
              </a:rPr>
              <a:t>Elephant</a:t>
            </a:r>
            <a:r>
              <a:rPr sz="6050" spc="-350" dirty="0">
                <a:latin typeface="Arial MT"/>
                <a:cs typeface="Arial MT"/>
              </a:rPr>
              <a:t> </a:t>
            </a:r>
            <a:r>
              <a:rPr sz="6050" dirty="0">
                <a:solidFill>
                  <a:srgbClr val="333333"/>
                </a:solidFill>
                <a:latin typeface="Arial MT"/>
                <a:cs typeface="Arial MT"/>
              </a:rPr>
              <a:t>in</a:t>
            </a:r>
            <a:r>
              <a:rPr sz="6050" spc="-75" dirty="0">
                <a:solidFill>
                  <a:srgbClr val="333333"/>
                </a:solidFill>
                <a:latin typeface="Arial MT"/>
                <a:cs typeface="Arial MT"/>
              </a:rPr>
              <a:t> </a:t>
            </a:r>
            <a:r>
              <a:rPr sz="6050" spc="105" dirty="0">
                <a:solidFill>
                  <a:srgbClr val="2F2F2F"/>
                </a:solidFill>
                <a:latin typeface="Arial MT"/>
                <a:cs typeface="Arial MT"/>
              </a:rPr>
              <a:t>the</a:t>
            </a:r>
            <a:r>
              <a:rPr sz="6050" spc="-570" dirty="0">
                <a:solidFill>
                  <a:srgbClr val="2F2F2F"/>
                </a:solidFill>
                <a:latin typeface="Arial MT"/>
                <a:cs typeface="Arial MT"/>
              </a:rPr>
              <a:t> </a:t>
            </a:r>
            <a:r>
              <a:rPr sz="6050" spc="-190" dirty="0">
                <a:solidFill>
                  <a:srgbClr val="2F2F2F"/>
                </a:solidFill>
                <a:latin typeface="Arial MT"/>
                <a:cs typeface="Arial MT"/>
              </a:rPr>
              <a:t>Room:</a:t>
            </a:r>
            <a:r>
              <a:rPr sz="6050" spc="-375" dirty="0">
                <a:solidFill>
                  <a:srgbClr val="2F2F2F"/>
                </a:solidFill>
                <a:latin typeface="Arial MT"/>
                <a:cs typeface="Arial MT"/>
              </a:rPr>
              <a:t> </a:t>
            </a:r>
            <a:r>
              <a:rPr sz="6050" dirty="0">
                <a:solidFill>
                  <a:srgbClr val="2D2D2D"/>
                </a:solidFill>
                <a:latin typeface="Arial MT"/>
                <a:cs typeface="Arial MT"/>
              </a:rPr>
              <a:t>Cost</a:t>
            </a:r>
            <a:r>
              <a:rPr sz="6050" spc="-225" dirty="0">
                <a:solidFill>
                  <a:srgbClr val="2D2D2D"/>
                </a:solidFill>
                <a:latin typeface="Arial MT"/>
                <a:cs typeface="Arial MT"/>
              </a:rPr>
              <a:t> </a:t>
            </a:r>
            <a:r>
              <a:rPr sz="6050" spc="-170" dirty="0">
                <a:solidFill>
                  <a:srgbClr val="343434"/>
                </a:solidFill>
                <a:latin typeface="Arial MT"/>
                <a:cs typeface="Arial MT"/>
              </a:rPr>
              <a:t>&amp;</a:t>
            </a:r>
            <a:r>
              <a:rPr sz="6050" spc="-505" dirty="0">
                <a:solidFill>
                  <a:srgbClr val="343434"/>
                </a:solidFill>
                <a:latin typeface="Arial MT"/>
                <a:cs typeface="Arial MT"/>
              </a:rPr>
              <a:t> </a:t>
            </a:r>
            <a:r>
              <a:rPr sz="6050" spc="-10" dirty="0">
                <a:solidFill>
                  <a:srgbClr val="2F2F2F"/>
                </a:solidFill>
                <a:latin typeface="Arial MT"/>
                <a:cs typeface="Arial MT"/>
              </a:rPr>
              <a:t>Scalability</a:t>
            </a:r>
            <a:endParaRPr sz="6050">
              <a:latin typeface="Arial MT"/>
              <a:cs typeface="Arial MT"/>
            </a:endParaRPr>
          </a:p>
          <a:p>
            <a:pPr marL="127000">
              <a:lnSpc>
                <a:spcPct val="100000"/>
              </a:lnSpc>
              <a:spcBef>
                <a:spcPts val="590"/>
              </a:spcBef>
            </a:pPr>
            <a:r>
              <a:rPr sz="3200" spc="-105" dirty="0">
                <a:solidFill>
                  <a:srgbClr val="0A0A0A"/>
                </a:solidFill>
                <a:latin typeface="Arial MT"/>
                <a:cs typeface="Arial MT"/>
              </a:rPr>
              <a:t>Standard</a:t>
            </a:r>
            <a:r>
              <a:rPr sz="3200" spc="-120" dirty="0">
                <a:solidFill>
                  <a:srgbClr val="0A0A0A"/>
                </a:solidFill>
                <a:latin typeface="Arial MT"/>
                <a:cs typeface="Arial MT"/>
              </a:rPr>
              <a:t> </a:t>
            </a:r>
            <a:r>
              <a:rPr sz="3200" spc="-285" dirty="0">
                <a:solidFill>
                  <a:srgbClr val="0A0A0A"/>
                </a:solidFill>
                <a:latin typeface="Arial MT"/>
                <a:cs typeface="Arial MT"/>
              </a:rPr>
              <a:t>GraphRAG</a:t>
            </a:r>
            <a:r>
              <a:rPr sz="3200" spc="35" dirty="0">
                <a:solidFill>
                  <a:srgbClr val="0A0A0A"/>
                </a:solidFill>
                <a:latin typeface="Arial MT"/>
                <a:cs typeface="Arial MT"/>
              </a:rPr>
              <a:t> </a:t>
            </a:r>
            <a:r>
              <a:rPr sz="3200" spc="-75" dirty="0">
                <a:solidFill>
                  <a:srgbClr val="000000"/>
                </a:solidFill>
                <a:latin typeface="Arial MT"/>
                <a:cs typeface="Arial MT"/>
              </a:rPr>
              <a:t>architectures</a:t>
            </a:r>
            <a:r>
              <a:rPr sz="3200" spc="-130" dirty="0">
                <a:solidFill>
                  <a:srgbClr val="000000"/>
                </a:solidFill>
                <a:latin typeface="Arial MT"/>
                <a:cs typeface="Arial MT"/>
              </a:rPr>
              <a:t> </a:t>
            </a:r>
            <a:r>
              <a:rPr sz="3200" spc="-40" dirty="0">
                <a:solidFill>
                  <a:srgbClr val="080808"/>
                </a:solidFill>
                <a:latin typeface="Arial MT"/>
                <a:cs typeface="Arial MT"/>
              </a:rPr>
              <a:t>trade</a:t>
            </a:r>
            <a:r>
              <a:rPr sz="3200" spc="-180" dirty="0">
                <a:solidFill>
                  <a:srgbClr val="080808"/>
                </a:solidFill>
                <a:latin typeface="Arial MT"/>
                <a:cs typeface="Arial MT"/>
              </a:rPr>
              <a:t> </a:t>
            </a:r>
            <a:r>
              <a:rPr sz="3200" spc="-75" dirty="0">
                <a:solidFill>
                  <a:srgbClr val="080808"/>
                </a:solidFill>
                <a:latin typeface="Arial MT"/>
                <a:cs typeface="Arial MT"/>
              </a:rPr>
              <a:t>retrieval</a:t>
            </a:r>
            <a:r>
              <a:rPr sz="3200" spc="-85" dirty="0">
                <a:solidFill>
                  <a:srgbClr val="080808"/>
                </a:solidFill>
                <a:latin typeface="Arial MT"/>
                <a:cs typeface="Arial MT"/>
              </a:rPr>
              <a:t> </a:t>
            </a:r>
            <a:r>
              <a:rPr sz="3200" spc="-90" dirty="0">
                <a:solidFill>
                  <a:srgbClr val="0A0A0A"/>
                </a:solidFill>
                <a:latin typeface="Arial MT"/>
                <a:cs typeface="Arial MT"/>
              </a:rPr>
              <a:t>accuracy</a:t>
            </a:r>
            <a:r>
              <a:rPr sz="3200" spc="-5" dirty="0">
                <a:solidFill>
                  <a:srgbClr val="0A0A0A"/>
                </a:solidFill>
                <a:latin typeface="Arial MT"/>
                <a:cs typeface="Arial MT"/>
              </a:rPr>
              <a:t> </a:t>
            </a:r>
            <a:r>
              <a:rPr sz="3200" dirty="0">
                <a:solidFill>
                  <a:srgbClr val="0C0C0C"/>
                </a:solidFill>
                <a:latin typeface="Arial MT"/>
                <a:cs typeface="Arial MT"/>
              </a:rPr>
              <a:t>for</a:t>
            </a:r>
            <a:r>
              <a:rPr sz="3200" spc="-150" dirty="0">
                <a:solidFill>
                  <a:srgbClr val="0C0C0C"/>
                </a:solidFill>
                <a:latin typeface="Arial MT"/>
                <a:cs typeface="Arial MT"/>
              </a:rPr>
              <a:t> </a:t>
            </a:r>
            <a:r>
              <a:rPr sz="3200" spc="-105" dirty="0">
                <a:solidFill>
                  <a:srgbClr val="000000"/>
                </a:solidFill>
                <a:latin typeface="Arial MT"/>
                <a:cs typeface="Arial MT"/>
              </a:rPr>
              <a:t>unsustainable</a:t>
            </a:r>
            <a:r>
              <a:rPr sz="3200" spc="-35" dirty="0">
                <a:solidFill>
                  <a:srgbClr val="000000"/>
                </a:solidFill>
                <a:latin typeface="Arial MT"/>
                <a:cs typeface="Arial MT"/>
              </a:rPr>
              <a:t> </a:t>
            </a:r>
            <a:r>
              <a:rPr sz="3200" spc="-95" dirty="0">
                <a:solidFill>
                  <a:srgbClr val="0A0A0A"/>
                </a:solidFill>
                <a:latin typeface="Arial MT"/>
                <a:cs typeface="Arial MT"/>
              </a:rPr>
              <a:t>indexing</a:t>
            </a:r>
            <a:r>
              <a:rPr sz="3200" spc="-130" dirty="0">
                <a:solidFill>
                  <a:srgbClr val="0A0A0A"/>
                </a:solidFill>
                <a:latin typeface="Arial MT"/>
                <a:cs typeface="Arial MT"/>
              </a:rPr>
              <a:t> </a:t>
            </a:r>
            <a:r>
              <a:rPr sz="3200" spc="-10" dirty="0">
                <a:solidFill>
                  <a:srgbClr val="0C0C0C"/>
                </a:solidFill>
                <a:latin typeface="Arial MT"/>
                <a:cs typeface="Arial MT"/>
              </a:rPr>
              <a:t>costs.</a:t>
            </a:r>
            <a:endParaRPr sz="3200">
              <a:latin typeface="Arial MT"/>
              <a:cs typeface="Arial MT"/>
            </a:endParaRPr>
          </a:p>
        </p:txBody>
      </p:sp>
      <p:sp>
        <p:nvSpPr>
          <p:cNvPr id="6" name="object 6"/>
          <p:cNvSpPr txBox="1"/>
          <p:nvPr/>
        </p:nvSpPr>
        <p:spPr>
          <a:xfrm>
            <a:off x="1207095" y="7183966"/>
            <a:ext cx="5600700" cy="1934210"/>
          </a:xfrm>
          <a:prstGeom prst="rect">
            <a:avLst/>
          </a:prstGeom>
        </p:spPr>
        <p:txBody>
          <a:bodyPr vert="horz" wrap="square" lIns="0" tIns="33020" rIns="0" bIns="0" rtlCol="0">
            <a:spAutoFit/>
          </a:bodyPr>
          <a:lstStyle/>
          <a:p>
            <a:pPr marL="247015" marR="222250" indent="-224154">
              <a:lnSpc>
                <a:spcPts val="2400"/>
              </a:lnSpc>
              <a:spcBef>
                <a:spcPts val="260"/>
              </a:spcBef>
              <a:buClr>
                <a:srgbClr val="444444"/>
              </a:buClr>
              <a:buChar char="•"/>
              <a:tabLst>
                <a:tab pos="248920" algn="l"/>
              </a:tabLst>
            </a:pPr>
            <a:r>
              <a:rPr sz="2050" spc="-105" dirty="0">
                <a:solidFill>
                  <a:srgbClr val="080808"/>
                </a:solidFill>
                <a:latin typeface="Arial MT"/>
                <a:cs typeface="Arial MT"/>
              </a:rPr>
              <a:t>The</a:t>
            </a:r>
            <a:r>
              <a:rPr sz="2050" spc="-150" dirty="0">
                <a:solidFill>
                  <a:srgbClr val="080808"/>
                </a:solidFill>
                <a:latin typeface="Arial MT"/>
                <a:cs typeface="Arial MT"/>
              </a:rPr>
              <a:t> </a:t>
            </a:r>
            <a:r>
              <a:rPr sz="2050" spc="-95" dirty="0">
                <a:solidFill>
                  <a:srgbClr val="070707"/>
                </a:solidFill>
                <a:latin typeface="Arial MT"/>
                <a:cs typeface="Arial MT"/>
              </a:rPr>
              <a:t>Problem:</a:t>
            </a:r>
            <a:r>
              <a:rPr sz="2050" spc="-150" dirty="0">
                <a:solidFill>
                  <a:srgbClr val="070707"/>
                </a:solidFill>
                <a:latin typeface="Arial MT"/>
                <a:cs typeface="Arial MT"/>
              </a:rPr>
              <a:t> </a:t>
            </a:r>
            <a:r>
              <a:rPr sz="2050" spc="-90" dirty="0">
                <a:latin typeface="Arial MT"/>
                <a:cs typeface="Arial MT"/>
              </a:rPr>
              <a:t>Extracting</a:t>
            </a:r>
            <a:r>
              <a:rPr sz="2050" spc="-55" dirty="0">
                <a:latin typeface="Arial MT"/>
                <a:cs typeface="Arial MT"/>
              </a:rPr>
              <a:t> </a:t>
            </a:r>
            <a:r>
              <a:rPr sz="2050" spc="-85" dirty="0">
                <a:latin typeface="Arial MT"/>
                <a:cs typeface="Arial MT"/>
              </a:rPr>
              <a:t>billions</a:t>
            </a:r>
            <a:r>
              <a:rPr sz="2050" spc="5" dirty="0">
                <a:latin typeface="Arial MT"/>
                <a:cs typeface="Arial MT"/>
              </a:rPr>
              <a:t> </a:t>
            </a:r>
            <a:r>
              <a:rPr sz="2050" dirty="0">
                <a:latin typeface="Arial MT"/>
                <a:cs typeface="Arial MT"/>
              </a:rPr>
              <a:t>of</a:t>
            </a:r>
            <a:r>
              <a:rPr sz="2050" spc="20" dirty="0">
                <a:latin typeface="Arial MT"/>
                <a:cs typeface="Arial MT"/>
              </a:rPr>
              <a:t> </a:t>
            </a:r>
            <a:r>
              <a:rPr sz="2050" spc="-145" dirty="0">
                <a:latin typeface="Arial MT"/>
                <a:cs typeface="Arial MT"/>
              </a:rPr>
              <a:t>graph</a:t>
            </a:r>
            <a:r>
              <a:rPr sz="2050" spc="-25" dirty="0">
                <a:latin typeface="Arial MT"/>
                <a:cs typeface="Arial MT"/>
              </a:rPr>
              <a:t> </a:t>
            </a:r>
            <a:r>
              <a:rPr sz="2050" spc="-10" dirty="0">
                <a:latin typeface="Arial MT"/>
                <a:cs typeface="Arial MT"/>
              </a:rPr>
              <a:t>nodes 	</a:t>
            </a:r>
            <a:r>
              <a:rPr sz="2050" spc="-125" dirty="0">
                <a:latin typeface="Arial MT"/>
                <a:cs typeface="Arial MT"/>
              </a:rPr>
              <a:t>using</a:t>
            </a:r>
            <a:r>
              <a:rPr sz="2050" spc="-35" dirty="0">
                <a:latin typeface="Arial MT"/>
                <a:cs typeface="Arial MT"/>
              </a:rPr>
              <a:t> </a:t>
            </a:r>
            <a:r>
              <a:rPr sz="2050" spc="-185" dirty="0">
                <a:latin typeface="Arial MT"/>
                <a:cs typeface="Arial MT"/>
              </a:rPr>
              <a:t>LLMs</a:t>
            </a:r>
            <a:r>
              <a:rPr sz="2050" spc="40" dirty="0">
                <a:latin typeface="Arial MT"/>
                <a:cs typeface="Arial MT"/>
              </a:rPr>
              <a:t> </a:t>
            </a:r>
            <a:r>
              <a:rPr sz="2050" spc="-100" dirty="0">
                <a:latin typeface="Arial MT"/>
                <a:cs typeface="Arial MT"/>
              </a:rPr>
              <a:t>(like</a:t>
            </a:r>
            <a:r>
              <a:rPr sz="2050" spc="-80" dirty="0">
                <a:latin typeface="Arial MT"/>
                <a:cs typeface="Arial MT"/>
              </a:rPr>
              <a:t> </a:t>
            </a:r>
            <a:r>
              <a:rPr sz="2050" spc="-220" dirty="0">
                <a:latin typeface="Arial MT"/>
                <a:cs typeface="Arial MT"/>
              </a:rPr>
              <a:t>GPT-</a:t>
            </a:r>
            <a:r>
              <a:rPr sz="2050" spc="-85" dirty="0">
                <a:latin typeface="Arial MT"/>
                <a:cs typeface="Arial MT"/>
              </a:rPr>
              <a:t>4)</a:t>
            </a:r>
            <a:r>
              <a:rPr sz="2050" spc="-60" dirty="0">
                <a:latin typeface="Arial MT"/>
                <a:cs typeface="Arial MT"/>
              </a:rPr>
              <a:t> </a:t>
            </a:r>
            <a:r>
              <a:rPr sz="2050" spc="-20" dirty="0">
                <a:latin typeface="Arial MT"/>
                <a:cs typeface="Arial MT"/>
              </a:rPr>
              <a:t>is</a:t>
            </a:r>
            <a:r>
              <a:rPr sz="2050" spc="-95" dirty="0">
                <a:latin typeface="Arial MT"/>
                <a:cs typeface="Arial MT"/>
              </a:rPr>
              <a:t> </a:t>
            </a:r>
            <a:r>
              <a:rPr sz="2050" spc="-80" dirty="0">
                <a:latin typeface="Arial MT"/>
                <a:cs typeface="Arial MT"/>
              </a:rPr>
              <a:t>prohibitively</a:t>
            </a:r>
            <a:r>
              <a:rPr sz="2050" spc="145" dirty="0">
                <a:latin typeface="Arial MT"/>
                <a:cs typeface="Arial MT"/>
              </a:rPr>
              <a:t> </a:t>
            </a:r>
            <a:r>
              <a:rPr sz="2050" spc="-114" dirty="0">
                <a:latin typeface="Arial MT"/>
                <a:cs typeface="Arial MT"/>
              </a:rPr>
              <a:t>expensive 	</a:t>
            </a:r>
            <a:r>
              <a:rPr sz="2050" spc="-145" dirty="0">
                <a:latin typeface="Arial MT"/>
                <a:cs typeface="Arial MT"/>
              </a:rPr>
              <a:t>and</a:t>
            </a:r>
            <a:r>
              <a:rPr sz="2050" spc="-160" dirty="0">
                <a:latin typeface="Arial MT"/>
                <a:cs typeface="Arial MT"/>
              </a:rPr>
              <a:t> </a:t>
            </a:r>
            <a:r>
              <a:rPr sz="2050" spc="-70" dirty="0">
                <a:latin typeface="Arial MT"/>
                <a:cs typeface="Arial MT"/>
              </a:rPr>
              <a:t>incredibly</a:t>
            </a:r>
            <a:r>
              <a:rPr sz="2050" spc="20" dirty="0">
                <a:latin typeface="Arial MT"/>
                <a:cs typeface="Arial MT"/>
              </a:rPr>
              <a:t> </a:t>
            </a:r>
            <a:r>
              <a:rPr sz="2050" spc="-20" dirty="0">
                <a:latin typeface="Arial MT"/>
                <a:cs typeface="Arial MT"/>
              </a:rPr>
              <a:t>slow.</a:t>
            </a:r>
            <a:endParaRPr sz="2050">
              <a:latin typeface="Arial MT"/>
              <a:cs typeface="Arial MT"/>
            </a:endParaRPr>
          </a:p>
          <a:p>
            <a:pPr marL="246379" marR="5080" indent="-234315">
              <a:lnSpc>
                <a:spcPct val="92200"/>
              </a:lnSpc>
              <a:spcBef>
                <a:spcPts val="530"/>
              </a:spcBef>
              <a:buClr>
                <a:srgbClr val="3D3D3D"/>
              </a:buClr>
              <a:buChar char="•"/>
              <a:tabLst>
                <a:tab pos="255904" algn="l"/>
              </a:tabLst>
            </a:pPr>
            <a:r>
              <a:rPr sz="2200" spc="-455" dirty="0">
                <a:solidFill>
                  <a:srgbClr val="0A0A0A"/>
                </a:solidFill>
                <a:latin typeface="Arial Black"/>
                <a:cs typeface="Arial Black"/>
              </a:rPr>
              <a:t>The</a:t>
            </a:r>
            <a:r>
              <a:rPr sz="2200" spc="-240" dirty="0">
                <a:solidFill>
                  <a:srgbClr val="0A0A0A"/>
                </a:solidFill>
                <a:latin typeface="Arial Black"/>
                <a:cs typeface="Arial Black"/>
              </a:rPr>
              <a:t> </a:t>
            </a:r>
            <a:r>
              <a:rPr sz="2200" spc="-420" dirty="0">
                <a:latin typeface="Arial Black"/>
                <a:cs typeface="Arial Black"/>
              </a:rPr>
              <a:t>Bottleneck:</a:t>
            </a:r>
            <a:r>
              <a:rPr sz="2200" spc="55" dirty="0">
                <a:latin typeface="Arial Black"/>
                <a:cs typeface="Arial Black"/>
              </a:rPr>
              <a:t> </a:t>
            </a:r>
            <a:r>
              <a:rPr sz="2200" spc="-440" dirty="0">
                <a:latin typeface="Arial Black"/>
                <a:cs typeface="Arial Black"/>
              </a:rPr>
              <a:t>Traditional</a:t>
            </a:r>
            <a:r>
              <a:rPr sz="2200" spc="25" dirty="0">
                <a:latin typeface="Arial Black"/>
                <a:cs typeface="Arial Black"/>
              </a:rPr>
              <a:t> </a:t>
            </a:r>
            <a:r>
              <a:rPr sz="2200" spc="-455" dirty="0">
                <a:latin typeface="Arial Black"/>
                <a:cs typeface="Arial Black"/>
              </a:rPr>
              <a:t>graph</a:t>
            </a:r>
            <a:r>
              <a:rPr sz="2200" spc="-155" dirty="0">
                <a:latin typeface="Arial Black"/>
                <a:cs typeface="Arial Black"/>
              </a:rPr>
              <a:t> </a:t>
            </a:r>
            <a:r>
              <a:rPr sz="2200" spc="-475" dirty="0">
                <a:latin typeface="Arial Black"/>
                <a:cs typeface="Arial Black"/>
              </a:rPr>
              <a:t>databases</a:t>
            </a:r>
            <a:r>
              <a:rPr sz="2200" spc="-30" dirty="0">
                <a:latin typeface="Arial Black"/>
                <a:cs typeface="Arial Black"/>
              </a:rPr>
              <a:t> </a:t>
            </a:r>
            <a:r>
              <a:rPr sz="2200" spc="-515" dirty="0">
                <a:latin typeface="Arial Black"/>
                <a:cs typeface="Arial Black"/>
              </a:rPr>
              <a:t>choke 	</a:t>
            </a:r>
            <a:r>
              <a:rPr sz="2050" spc="-375" dirty="0">
                <a:solidFill>
                  <a:srgbClr val="0A0A0A"/>
                </a:solidFill>
                <a:latin typeface="Arial Black"/>
                <a:cs typeface="Arial Black"/>
              </a:rPr>
              <a:t>on</a:t>
            </a:r>
            <a:r>
              <a:rPr sz="2050" spc="-170" dirty="0">
                <a:solidFill>
                  <a:srgbClr val="0A0A0A"/>
                </a:solidFill>
                <a:latin typeface="Arial Black"/>
                <a:cs typeface="Arial Black"/>
              </a:rPr>
              <a:t> </a:t>
            </a:r>
            <a:r>
              <a:rPr sz="2050" spc="-415" dirty="0">
                <a:latin typeface="Arial Black"/>
                <a:cs typeface="Arial Black"/>
              </a:rPr>
              <a:t>complex</a:t>
            </a:r>
            <a:r>
              <a:rPr sz="2050" spc="50" dirty="0">
                <a:latin typeface="Arial Black"/>
                <a:cs typeface="Arial Black"/>
              </a:rPr>
              <a:t> </a:t>
            </a:r>
            <a:r>
              <a:rPr sz="2050" spc="-360" dirty="0">
                <a:latin typeface="Arial Black"/>
                <a:cs typeface="Arial Black"/>
              </a:rPr>
              <a:t>traversal</a:t>
            </a:r>
            <a:r>
              <a:rPr sz="2050" spc="-5" dirty="0">
                <a:latin typeface="Arial Black"/>
                <a:cs typeface="Arial Black"/>
              </a:rPr>
              <a:t> </a:t>
            </a:r>
            <a:r>
              <a:rPr sz="2050" spc="-355" dirty="0">
                <a:latin typeface="Arial Black"/>
                <a:cs typeface="Arial Black"/>
              </a:rPr>
              <a:t>operations</a:t>
            </a:r>
            <a:r>
              <a:rPr sz="2050" spc="35" dirty="0">
                <a:latin typeface="Arial Black"/>
                <a:cs typeface="Arial Black"/>
              </a:rPr>
              <a:t> </a:t>
            </a:r>
            <a:r>
              <a:rPr sz="2050" spc="-325" dirty="0">
                <a:latin typeface="Arial Black"/>
                <a:cs typeface="Arial Black"/>
              </a:rPr>
              <a:t>at</a:t>
            </a:r>
            <a:r>
              <a:rPr sz="2050" spc="-210" dirty="0">
                <a:latin typeface="Arial Black"/>
                <a:cs typeface="Arial Black"/>
              </a:rPr>
              <a:t> </a:t>
            </a:r>
            <a:r>
              <a:rPr sz="2050" spc="-355" dirty="0">
                <a:latin typeface="Arial Black"/>
                <a:cs typeface="Arial Black"/>
              </a:rPr>
              <a:t>query</a:t>
            </a:r>
            <a:r>
              <a:rPr sz="2050" spc="35" dirty="0">
                <a:latin typeface="Arial Black"/>
                <a:cs typeface="Arial Black"/>
              </a:rPr>
              <a:t> </a:t>
            </a:r>
            <a:r>
              <a:rPr sz="2050" spc="-420" dirty="0">
                <a:latin typeface="Arial Black"/>
                <a:cs typeface="Arial Black"/>
              </a:rPr>
              <a:t>time</a:t>
            </a:r>
            <a:r>
              <a:rPr sz="2050" spc="-45" dirty="0">
                <a:latin typeface="Arial Black"/>
                <a:cs typeface="Arial Black"/>
              </a:rPr>
              <a:t> </a:t>
            </a:r>
            <a:r>
              <a:rPr sz="2050" spc="-409" dirty="0">
                <a:solidFill>
                  <a:srgbClr val="0E0E0E"/>
                </a:solidFill>
                <a:latin typeface="Arial Black"/>
                <a:cs typeface="Arial Black"/>
              </a:rPr>
              <a:t>as 	</a:t>
            </a:r>
            <a:r>
              <a:rPr sz="2200" spc="-450" dirty="0">
                <a:latin typeface="Arial Black"/>
                <a:cs typeface="Arial Black"/>
              </a:rPr>
              <a:t>enterprise</a:t>
            </a:r>
            <a:r>
              <a:rPr sz="2200" dirty="0">
                <a:latin typeface="Arial Black"/>
                <a:cs typeface="Arial Black"/>
              </a:rPr>
              <a:t> </a:t>
            </a:r>
            <a:r>
              <a:rPr sz="2200" spc="-490" dirty="0">
                <a:latin typeface="Arial Black"/>
                <a:cs typeface="Arial Black"/>
              </a:rPr>
              <a:t>data</a:t>
            </a:r>
            <a:r>
              <a:rPr sz="2200" spc="30" dirty="0">
                <a:latin typeface="Arial Black"/>
                <a:cs typeface="Arial Black"/>
              </a:rPr>
              <a:t> </a:t>
            </a:r>
            <a:r>
              <a:rPr sz="2200" spc="-500" dirty="0">
                <a:latin typeface="Arial Black"/>
                <a:cs typeface="Arial Black"/>
              </a:rPr>
              <a:t>scales</a:t>
            </a:r>
            <a:r>
              <a:rPr sz="2200" spc="-120" dirty="0">
                <a:latin typeface="Arial Black"/>
                <a:cs typeface="Arial Black"/>
              </a:rPr>
              <a:t> </a:t>
            </a:r>
            <a:r>
              <a:rPr sz="2200" spc="-409" dirty="0">
                <a:latin typeface="Arial Black"/>
                <a:cs typeface="Arial Black"/>
              </a:rPr>
              <a:t>into</a:t>
            </a:r>
            <a:r>
              <a:rPr sz="2200" spc="-180" dirty="0">
                <a:latin typeface="Arial Black"/>
                <a:cs typeface="Arial Black"/>
              </a:rPr>
              <a:t> </a:t>
            </a:r>
            <a:r>
              <a:rPr sz="2200" spc="-430" dirty="0">
                <a:latin typeface="Arial Black"/>
                <a:cs typeface="Arial Black"/>
              </a:rPr>
              <a:t>terabytes.</a:t>
            </a:r>
            <a:endParaRPr sz="2200">
              <a:latin typeface="Arial Black"/>
              <a:cs typeface="Arial Black"/>
            </a:endParaRPr>
          </a:p>
        </p:txBody>
      </p:sp>
      <p:sp>
        <p:nvSpPr>
          <p:cNvPr id="7" name="object 7"/>
          <p:cNvSpPr txBox="1"/>
          <p:nvPr/>
        </p:nvSpPr>
        <p:spPr>
          <a:xfrm>
            <a:off x="13201929" y="3565172"/>
            <a:ext cx="2054860" cy="448945"/>
          </a:xfrm>
          <a:prstGeom prst="rect">
            <a:avLst/>
          </a:prstGeom>
        </p:spPr>
        <p:txBody>
          <a:bodyPr vert="horz" wrap="square" lIns="0" tIns="15875" rIns="0" bIns="0" rtlCol="0">
            <a:spAutoFit/>
          </a:bodyPr>
          <a:lstStyle/>
          <a:p>
            <a:pPr marL="12700">
              <a:lnSpc>
                <a:spcPct val="100000"/>
              </a:lnSpc>
              <a:spcBef>
                <a:spcPts val="125"/>
              </a:spcBef>
            </a:pPr>
            <a:r>
              <a:rPr sz="2750" spc="-225" dirty="0">
                <a:solidFill>
                  <a:srgbClr val="0C0C0C"/>
                </a:solidFill>
                <a:latin typeface="Arial MT"/>
                <a:cs typeface="Arial MT"/>
              </a:rPr>
              <a:t>Graph</a:t>
            </a:r>
            <a:r>
              <a:rPr sz="2750" spc="-250" dirty="0">
                <a:solidFill>
                  <a:srgbClr val="0C0C0C"/>
                </a:solidFill>
                <a:latin typeface="Arial MT"/>
                <a:cs typeface="Arial MT"/>
              </a:rPr>
              <a:t> </a:t>
            </a:r>
            <a:r>
              <a:rPr sz="2750" spc="-120" dirty="0">
                <a:solidFill>
                  <a:srgbClr val="0F0F0F"/>
                </a:solidFill>
                <a:latin typeface="Arial MT"/>
                <a:cs typeface="Arial MT"/>
              </a:rPr>
              <a:t>Benefits</a:t>
            </a:r>
            <a:endParaRPr sz="2750">
              <a:latin typeface="Arial MT"/>
              <a:cs typeface="Arial M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94992" rIns="0" bIns="0" rtlCol="0">
            <a:spAutoFit/>
          </a:bodyPr>
          <a:lstStyle/>
          <a:p>
            <a:pPr marL="1623695">
              <a:lnSpc>
                <a:spcPct val="100000"/>
              </a:lnSpc>
              <a:spcBef>
                <a:spcPts val="120"/>
              </a:spcBef>
            </a:pPr>
            <a:r>
              <a:rPr sz="7200" spc="-355" dirty="0">
                <a:solidFill>
                  <a:srgbClr val="262626"/>
                </a:solidFill>
                <a:latin typeface="Arial MT"/>
                <a:cs typeface="Arial MT"/>
              </a:rPr>
              <a:t>Pragmatic,</a:t>
            </a:r>
            <a:r>
              <a:rPr sz="7200" spc="-570" dirty="0">
                <a:solidFill>
                  <a:srgbClr val="262626"/>
                </a:solidFill>
                <a:latin typeface="Arial MT"/>
                <a:cs typeface="Arial MT"/>
              </a:rPr>
              <a:t> </a:t>
            </a:r>
            <a:r>
              <a:rPr sz="7200" spc="-420" dirty="0">
                <a:solidFill>
                  <a:srgbClr val="2A2A2A"/>
                </a:solidFill>
                <a:latin typeface="Arial MT"/>
                <a:cs typeface="Arial MT"/>
              </a:rPr>
              <a:t>Scalable</a:t>
            </a:r>
            <a:r>
              <a:rPr sz="7200" spc="-509" dirty="0">
                <a:solidFill>
                  <a:srgbClr val="2A2A2A"/>
                </a:solidFill>
                <a:latin typeface="Arial MT"/>
                <a:cs typeface="Arial MT"/>
              </a:rPr>
              <a:t> </a:t>
            </a:r>
            <a:r>
              <a:rPr sz="7200" spc="-190" dirty="0">
                <a:solidFill>
                  <a:srgbClr val="232323"/>
                </a:solidFill>
                <a:latin typeface="Arial MT"/>
                <a:cs typeface="Arial MT"/>
              </a:rPr>
              <a:t>Intervention</a:t>
            </a:r>
            <a:endParaRPr sz="7200">
              <a:latin typeface="Arial MT"/>
              <a:cs typeface="Arial MT"/>
            </a:endParaRPr>
          </a:p>
        </p:txBody>
      </p:sp>
      <p:sp>
        <p:nvSpPr>
          <p:cNvPr id="3" name="object 3"/>
          <p:cNvSpPr txBox="1"/>
          <p:nvPr/>
        </p:nvSpPr>
        <p:spPr>
          <a:xfrm>
            <a:off x="1241045" y="2728030"/>
            <a:ext cx="2914015" cy="417195"/>
          </a:xfrm>
          <a:prstGeom prst="rect">
            <a:avLst/>
          </a:prstGeom>
        </p:spPr>
        <p:txBody>
          <a:bodyPr vert="horz" wrap="square" lIns="0" tIns="15240" rIns="0" bIns="0" rtlCol="0">
            <a:spAutoFit/>
          </a:bodyPr>
          <a:lstStyle/>
          <a:p>
            <a:pPr marL="12700">
              <a:lnSpc>
                <a:spcPct val="100000"/>
              </a:lnSpc>
              <a:spcBef>
                <a:spcPts val="120"/>
              </a:spcBef>
            </a:pPr>
            <a:r>
              <a:rPr sz="2550" spc="-65" dirty="0">
                <a:latin typeface="Arial MT"/>
                <a:cs typeface="Arial MT"/>
              </a:rPr>
              <a:t>Classical</a:t>
            </a:r>
            <a:r>
              <a:rPr sz="2550" spc="-110" dirty="0">
                <a:latin typeface="Arial MT"/>
                <a:cs typeface="Arial MT"/>
              </a:rPr>
              <a:t> </a:t>
            </a:r>
            <a:r>
              <a:rPr sz="2550" spc="-210" dirty="0">
                <a:latin typeface="Arial MT"/>
                <a:cs typeface="Arial MT"/>
              </a:rPr>
              <a:t>NLP</a:t>
            </a:r>
            <a:r>
              <a:rPr sz="2550" spc="-185" dirty="0">
                <a:latin typeface="Arial MT"/>
                <a:cs typeface="Arial MT"/>
              </a:rPr>
              <a:t> </a:t>
            </a:r>
            <a:r>
              <a:rPr sz="2550" spc="-35" dirty="0">
                <a:latin typeface="Arial MT"/>
                <a:cs typeface="Arial MT"/>
              </a:rPr>
              <a:t>Engine</a:t>
            </a:r>
            <a:endParaRPr sz="2550">
              <a:latin typeface="Arial MT"/>
              <a:cs typeface="Arial MT"/>
            </a:endParaRPr>
          </a:p>
        </p:txBody>
      </p:sp>
      <p:sp>
        <p:nvSpPr>
          <p:cNvPr id="4" name="object 4"/>
          <p:cNvSpPr txBox="1"/>
          <p:nvPr/>
        </p:nvSpPr>
        <p:spPr>
          <a:xfrm>
            <a:off x="1085908" y="6268508"/>
            <a:ext cx="3218815" cy="1849755"/>
          </a:xfrm>
          <a:prstGeom prst="rect">
            <a:avLst/>
          </a:prstGeom>
        </p:spPr>
        <p:txBody>
          <a:bodyPr vert="horz" wrap="square" lIns="0" tIns="11430" rIns="0" bIns="0" rtlCol="0">
            <a:spAutoFit/>
          </a:bodyPr>
          <a:lstStyle/>
          <a:p>
            <a:pPr marL="12700">
              <a:lnSpc>
                <a:spcPts val="2530"/>
              </a:lnSpc>
              <a:spcBef>
                <a:spcPts val="90"/>
              </a:spcBef>
            </a:pPr>
            <a:r>
              <a:rPr sz="2300" spc="-210" dirty="0">
                <a:latin typeface="Arial MT"/>
                <a:cs typeface="Arial MT"/>
              </a:rPr>
              <a:t>1.</a:t>
            </a:r>
            <a:r>
              <a:rPr sz="2300" spc="-200" dirty="0">
                <a:latin typeface="Arial MT"/>
                <a:cs typeface="Arial MT"/>
              </a:rPr>
              <a:t> </a:t>
            </a:r>
            <a:r>
              <a:rPr sz="2300" spc="-65" dirty="0">
                <a:latin typeface="Arial MT"/>
                <a:cs typeface="Arial MT"/>
              </a:rPr>
              <a:t>Cost-</a:t>
            </a:r>
            <a:r>
              <a:rPr sz="2300" spc="-55" dirty="0">
                <a:latin typeface="Arial MT"/>
                <a:cs typeface="Arial MT"/>
              </a:rPr>
              <a:t>Efficient</a:t>
            </a:r>
            <a:r>
              <a:rPr sz="2300" spc="-114" dirty="0">
                <a:latin typeface="Arial MT"/>
                <a:cs typeface="Arial MT"/>
              </a:rPr>
              <a:t> </a:t>
            </a:r>
            <a:r>
              <a:rPr sz="2300" spc="-40" dirty="0">
                <a:latin typeface="Arial MT"/>
                <a:cs typeface="Arial MT"/>
              </a:rPr>
              <a:t>Extraction</a:t>
            </a:r>
            <a:endParaRPr sz="2300" dirty="0">
              <a:latin typeface="Arial MT"/>
              <a:cs typeface="Arial MT"/>
            </a:endParaRPr>
          </a:p>
          <a:p>
            <a:pPr marL="26034">
              <a:lnSpc>
                <a:spcPts val="2280"/>
              </a:lnSpc>
            </a:pPr>
            <a:r>
              <a:rPr sz="2350" spc="-140" dirty="0">
                <a:latin typeface="Arial MT"/>
                <a:cs typeface="Arial MT"/>
              </a:rPr>
              <a:t>(The</a:t>
            </a:r>
            <a:r>
              <a:rPr sz="2350" spc="-135" dirty="0">
                <a:latin typeface="Arial MT"/>
                <a:cs typeface="Arial MT"/>
              </a:rPr>
              <a:t> </a:t>
            </a:r>
            <a:r>
              <a:rPr sz="2350" spc="-285" dirty="0">
                <a:latin typeface="Arial MT"/>
                <a:cs typeface="Arial MT"/>
              </a:rPr>
              <a:t>SAP</a:t>
            </a:r>
            <a:r>
              <a:rPr sz="2350" spc="-195" dirty="0">
                <a:latin typeface="Arial MT"/>
                <a:cs typeface="Arial MT"/>
              </a:rPr>
              <a:t> </a:t>
            </a:r>
            <a:r>
              <a:rPr sz="2350" spc="-10" dirty="0">
                <a:latin typeface="Arial MT"/>
                <a:cs typeface="Arial MT"/>
              </a:rPr>
              <a:t>Method):</a:t>
            </a:r>
            <a:endParaRPr sz="2350" dirty="0">
              <a:latin typeface="Arial MT"/>
              <a:cs typeface="Arial MT"/>
            </a:endParaRPr>
          </a:p>
          <a:p>
            <a:pPr marL="23495" marR="68580" indent="3810">
              <a:lnSpc>
                <a:spcPct val="80100"/>
              </a:lnSpc>
              <a:spcBef>
                <a:spcPts val="285"/>
              </a:spcBef>
            </a:pPr>
            <a:r>
              <a:rPr sz="2500" spc="-475" dirty="0">
                <a:latin typeface="Arial MT"/>
                <a:cs typeface="Arial MT"/>
              </a:rPr>
              <a:t>We</a:t>
            </a:r>
            <a:r>
              <a:rPr sz="2500" spc="-140" dirty="0">
                <a:latin typeface="Arial MT"/>
                <a:cs typeface="Arial MT"/>
              </a:rPr>
              <a:t> </a:t>
            </a:r>
            <a:r>
              <a:rPr sz="2500" spc="-240" dirty="0">
                <a:latin typeface="Arial MT"/>
                <a:cs typeface="Arial MT"/>
              </a:rPr>
              <a:t>deploy</a:t>
            </a:r>
            <a:r>
              <a:rPr sz="2500" spc="65" dirty="0">
                <a:latin typeface="Arial MT"/>
                <a:cs typeface="Arial MT"/>
              </a:rPr>
              <a:t> </a:t>
            </a:r>
            <a:r>
              <a:rPr sz="2500" spc="-220" dirty="0">
                <a:latin typeface="Arial MT"/>
                <a:cs typeface="Arial MT"/>
              </a:rPr>
              <a:t>classical</a:t>
            </a:r>
            <a:r>
              <a:rPr sz="2500" spc="-5" dirty="0">
                <a:latin typeface="Arial MT"/>
                <a:cs typeface="Arial MT"/>
              </a:rPr>
              <a:t> </a:t>
            </a:r>
            <a:r>
              <a:rPr sz="2500" spc="-434" dirty="0">
                <a:latin typeface="Arial MT"/>
                <a:cs typeface="Arial MT"/>
              </a:rPr>
              <a:t>NLP </a:t>
            </a:r>
            <a:r>
              <a:rPr sz="2400" spc="-245" dirty="0">
                <a:latin typeface="Arial MT"/>
                <a:cs typeface="Arial MT"/>
              </a:rPr>
              <a:t>(Dependency</a:t>
            </a:r>
            <a:r>
              <a:rPr sz="2400" spc="95" dirty="0">
                <a:latin typeface="Arial MT"/>
                <a:cs typeface="Arial MT"/>
              </a:rPr>
              <a:t> </a:t>
            </a:r>
            <a:r>
              <a:rPr sz="2400" spc="-220" dirty="0">
                <a:latin typeface="Arial MT"/>
                <a:cs typeface="Arial MT"/>
              </a:rPr>
              <a:t>Parsing)</a:t>
            </a:r>
            <a:r>
              <a:rPr sz="2400" spc="155" dirty="0">
                <a:latin typeface="Arial MT"/>
                <a:cs typeface="Arial MT"/>
              </a:rPr>
              <a:t> </a:t>
            </a:r>
            <a:r>
              <a:rPr sz="2400" spc="-25" dirty="0">
                <a:latin typeface="Arial MT"/>
                <a:cs typeface="Arial MT"/>
              </a:rPr>
              <a:t>for </a:t>
            </a:r>
            <a:r>
              <a:rPr sz="2400" spc="-215" dirty="0">
                <a:latin typeface="Arial MT"/>
                <a:cs typeface="Arial MT"/>
              </a:rPr>
              <a:t>knowledge</a:t>
            </a:r>
            <a:r>
              <a:rPr sz="2400" spc="100" dirty="0">
                <a:latin typeface="Arial MT"/>
                <a:cs typeface="Arial MT"/>
              </a:rPr>
              <a:t> </a:t>
            </a:r>
            <a:r>
              <a:rPr sz="2400" spc="-55" dirty="0">
                <a:latin typeface="Arial MT"/>
                <a:cs typeface="Arial MT"/>
              </a:rPr>
              <a:t>extraction </a:t>
            </a:r>
            <a:r>
              <a:rPr sz="2350" spc="-165" dirty="0">
                <a:latin typeface="Arial MT"/>
                <a:cs typeface="Arial MT"/>
              </a:rPr>
              <a:t>instead</a:t>
            </a:r>
            <a:r>
              <a:rPr sz="2350" spc="-25" dirty="0">
                <a:latin typeface="Arial MT"/>
                <a:cs typeface="Arial MT"/>
              </a:rPr>
              <a:t> </a:t>
            </a:r>
            <a:r>
              <a:rPr sz="2350" spc="-80" dirty="0">
                <a:latin typeface="Arial MT"/>
                <a:cs typeface="Arial MT"/>
              </a:rPr>
              <a:t>of</a:t>
            </a:r>
            <a:r>
              <a:rPr sz="2350" spc="-60" dirty="0">
                <a:latin typeface="Arial MT"/>
                <a:cs typeface="Arial MT"/>
              </a:rPr>
              <a:t> </a:t>
            </a:r>
            <a:r>
              <a:rPr sz="2350" spc="-185" dirty="0">
                <a:latin typeface="Arial MT"/>
                <a:cs typeface="Arial MT"/>
              </a:rPr>
              <a:t>expensive</a:t>
            </a:r>
            <a:r>
              <a:rPr sz="2350" spc="100" dirty="0">
                <a:latin typeface="Arial MT"/>
                <a:cs typeface="Arial MT"/>
              </a:rPr>
              <a:t> </a:t>
            </a:r>
            <a:r>
              <a:rPr sz="2350" spc="-220" dirty="0">
                <a:latin typeface="Arial MT"/>
                <a:cs typeface="Arial MT"/>
              </a:rPr>
              <a:t>LLMs.</a:t>
            </a:r>
            <a:endParaRPr sz="2350" dirty="0">
              <a:latin typeface="Arial MT"/>
              <a:cs typeface="Arial MT"/>
            </a:endParaRPr>
          </a:p>
        </p:txBody>
      </p:sp>
      <p:sp>
        <p:nvSpPr>
          <p:cNvPr id="5" name="object 5"/>
          <p:cNvSpPr txBox="1"/>
          <p:nvPr/>
        </p:nvSpPr>
        <p:spPr>
          <a:xfrm>
            <a:off x="7785074" y="2736850"/>
            <a:ext cx="2955290" cy="406400"/>
          </a:xfrm>
          <a:prstGeom prst="rect">
            <a:avLst/>
          </a:prstGeom>
        </p:spPr>
        <p:txBody>
          <a:bodyPr vert="horz" wrap="square" lIns="0" tIns="12700" rIns="0" bIns="0" rtlCol="0">
            <a:spAutoFit/>
          </a:bodyPr>
          <a:lstStyle/>
          <a:p>
            <a:pPr marL="12700">
              <a:lnSpc>
                <a:spcPct val="100000"/>
              </a:lnSpc>
              <a:spcBef>
                <a:spcPts val="100"/>
              </a:spcBef>
            </a:pPr>
            <a:r>
              <a:rPr sz="2500" dirty="0">
                <a:latin typeface="Arial MT"/>
                <a:cs typeface="Arial MT"/>
              </a:rPr>
              <a:t>Hybrid</a:t>
            </a:r>
            <a:r>
              <a:rPr sz="2500" spc="-90" dirty="0">
                <a:latin typeface="Arial MT"/>
                <a:cs typeface="Arial MT"/>
              </a:rPr>
              <a:t> </a:t>
            </a:r>
            <a:r>
              <a:rPr sz="2500" spc="-145" dirty="0">
                <a:latin typeface="Arial MT"/>
                <a:cs typeface="Arial MT"/>
              </a:rPr>
              <a:t>JSON</a:t>
            </a:r>
            <a:r>
              <a:rPr sz="2500" spc="-170" dirty="0">
                <a:latin typeface="Arial MT"/>
                <a:cs typeface="Arial MT"/>
              </a:rPr>
              <a:t> </a:t>
            </a:r>
            <a:r>
              <a:rPr sz="2500" spc="-10" dirty="0">
                <a:latin typeface="Arial MT"/>
                <a:cs typeface="Arial MT"/>
              </a:rPr>
              <a:t>Storage</a:t>
            </a:r>
            <a:endParaRPr sz="2500" dirty="0">
              <a:latin typeface="Arial MT"/>
              <a:cs typeface="Arial MT"/>
            </a:endParaRPr>
          </a:p>
        </p:txBody>
      </p:sp>
      <p:sp>
        <p:nvSpPr>
          <p:cNvPr id="6" name="object 6"/>
          <p:cNvSpPr txBox="1"/>
          <p:nvPr/>
        </p:nvSpPr>
        <p:spPr>
          <a:xfrm>
            <a:off x="7816855" y="6268508"/>
            <a:ext cx="3151505" cy="2152650"/>
          </a:xfrm>
          <a:prstGeom prst="rect">
            <a:avLst/>
          </a:prstGeom>
        </p:spPr>
        <p:txBody>
          <a:bodyPr vert="horz" wrap="square" lIns="0" tIns="64769" rIns="0" bIns="0" rtlCol="0">
            <a:spAutoFit/>
          </a:bodyPr>
          <a:lstStyle/>
          <a:p>
            <a:pPr marL="15240" marR="457834" indent="7620">
              <a:lnSpc>
                <a:spcPts val="2350"/>
              </a:lnSpc>
              <a:spcBef>
                <a:spcPts val="509"/>
              </a:spcBef>
            </a:pPr>
            <a:r>
              <a:rPr sz="2300" spc="-125" dirty="0">
                <a:latin typeface="Arial MT"/>
                <a:cs typeface="Arial MT"/>
              </a:rPr>
              <a:t>2.</a:t>
            </a:r>
            <a:r>
              <a:rPr sz="2300" spc="-229" dirty="0">
                <a:latin typeface="Arial MT"/>
                <a:cs typeface="Arial MT"/>
              </a:rPr>
              <a:t> </a:t>
            </a:r>
            <a:r>
              <a:rPr sz="2300" spc="-90" dirty="0">
                <a:latin typeface="Arial MT"/>
                <a:cs typeface="Arial MT"/>
              </a:rPr>
              <a:t>Hybrid</a:t>
            </a:r>
            <a:r>
              <a:rPr sz="2300" spc="-150" dirty="0">
                <a:latin typeface="Arial MT"/>
                <a:cs typeface="Arial MT"/>
              </a:rPr>
              <a:t> </a:t>
            </a:r>
            <a:r>
              <a:rPr sz="2300" spc="-125" dirty="0">
                <a:latin typeface="Arial MT"/>
                <a:cs typeface="Arial MT"/>
              </a:rPr>
              <a:t>Storage</a:t>
            </a:r>
            <a:r>
              <a:rPr sz="2300" spc="-35" dirty="0">
                <a:latin typeface="Arial MT"/>
                <a:cs typeface="Arial MT"/>
              </a:rPr>
              <a:t> </a:t>
            </a:r>
            <a:r>
              <a:rPr sz="2300" spc="-60" dirty="0">
                <a:latin typeface="Arial MT"/>
                <a:cs typeface="Arial MT"/>
              </a:rPr>
              <a:t>(The </a:t>
            </a:r>
            <a:r>
              <a:rPr sz="2300" spc="-70" dirty="0">
                <a:latin typeface="Arial MT"/>
                <a:cs typeface="Arial MT"/>
              </a:rPr>
              <a:t>Writer</a:t>
            </a:r>
            <a:r>
              <a:rPr sz="2300" spc="-140" dirty="0">
                <a:latin typeface="Arial MT"/>
                <a:cs typeface="Arial MT"/>
              </a:rPr>
              <a:t> </a:t>
            </a:r>
            <a:r>
              <a:rPr sz="2300" spc="-10" dirty="0">
                <a:latin typeface="Arial MT"/>
                <a:cs typeface="Arial MT"/>
              </a:rPr>
              <a:t>Method):</a:t>
            </a:r>
            <a:endParaRPr sz="2300">
              <a:latin typeface="Arial MT"/>
              <a:cs typeface="Arial MT"/>
            </a:endParaRPr>
          </a:p>
          <a:p>
            <a:pPr marL="12700" marR="5080" indent="2540">
              <a:lnSpc>
                <a:spcPct val="84200"/>
              </a:lnSpc>
              <a:spcBef>
                <a:spcPts val="15"/>
              </a:spcBef>
            </a:pPr>
            <a:r>
              <a:rPr sz="2300" spc="-315" dirty="0">
                <a:latin typeface="Arial MT"/>
                <a:cs typeface="Arial MT"/>
              </a:rPr>
              <a:t>We</a:t>
            </a:r>
            <a:r>
              <a:rPr sz="2300" spc="-30" dirty="0">
                <a:latin typeface="Arial MT"/>
                <a:cs typeface="Arial MT"/>
              </a:rPr>
              <a:t> </a:t>
            </a:r>
            <a:r>
              <a:rPr sz="2300" spc="-140" dirty="0">
                <a:latin typeface="Arial MT"/>
                <a:cs typeface="Arial MT"/>
              </a:rPr>
              <a:t>store</a:t>
            </a:r>
            <a:r>
              <a:rPr sz="2300" spc="30" dirty="0">
                <a:latin typeface="Arial MT"/>
                <a:cs typeface="Arial MT"/>
              </a:rPr>
              <a:t> </a:t>
            </a:r>
            <a:r>
              <a:rPr sz="2300" spc="-150" dirty="0">
                <a:latin typeface="Arial MT"/>
                <a:cs typeface="Arial MT"/>
              </a:rPr>
              <a:t>graph</a:t>
            </a:r>
            <a:r>
              <a:rPr sz="2300" spc="-50" dirty="0">
                <a:latin typeface="Arial MT"/>
                <a:cs typeface="Arial MT"/>
              </a:rPr>
              <a:t> </a:t>
            </a:r>
            <a:r>
              <a:rPr sz="2300" spc="-145" dirty="0">
                <a:latin typeface="Arial MT"/>
                <a:cs typeface="Arial MT"/>
              </a:rPr>
              <a:t>data</a:t>
            </a:r>
            <a:r>
              <a:rPr sz="2300" spc="-80" dirty="0">
                <a:latin typeface="Arial MT"/>
                <a:cs typeface="Arial MT"/>
              </a:rPr>
              <a:t> </a:t>
            </a:r>
            <a:r>
              <a:rPr sz="2300" spc="-40" dirty="0">
                <a:latin typeface="Arial MT"/>
                <a:cs typeface="Arial MT"/>
              </a:rPr>
              <a:t>points </a:t>
            </a:r>
            <a:r>
              <a:rPr sz="2300" spc="-235" dirty="0">
                <a:latin typeface="Arial MT"/>
                <a:cs typeface="Arial MT"/>
              </a:rPr>
              <a:t>as</a:t>
            </a:r>
            <a:r>
              <a:rPr sz="2300" spc="-5" dirty="0">
                <a:latin typeface="Arial MT"/>
                <a:cs typeface="Arial MT"/>
              </a:rPr>
              <a:t> </a:t>
            </a:r>
            <a:r>
              <a:rPr sz="2300" spc="-300" dirty="0">
                <a:latin typeface="Arial MT"/>
                <a:cs typeface="Arial MT"/>
              </a:rPr>
              <a:t>JSON</a:t>
            </a:r>
            <a:r>
              <a:rPr sz="2300" spc="-35" dirty="0">
                <a:latin typeface="Arial MT"/>
                <a:cs typeface="Arial MT"/>
              </a:rPr>
              <a:t> </a:t>
            </a:r>
            <a:r>
              <a:rPr sz="2300" spc="-80" dirty="0">
                <a:latin typeface="Arial MT"/>
                <a:cs typeface="Arial MT"/>
              </a:rPr>
              <a:t>in</a:t>
            </a:r>
            <a:r>
              <a:rPr sz="2300" spc="-170" dirty="0">
                <a:latin typeface="Arial MT"/>
                <a:cs typeface="Arial MT"/>
              </a:rPr>
              <a:t> </a:t>
            </a:r>
            <a:r>
              <a:rPr sz="2300" spc="-85" dirty="0">
                <a:latin typeface="Arial MT"/>
                <a:cs typeface="Arial MT"/>
              </a:rPr>
              <a:t>fast,</a:t>
            </a:r>
            <a:r>
              <a:rPr sz="2300" spc="-35" dirty="0">
                <a:latin typeface="Arial MT"/>
                <a:cs typeface="Arial MT"/>
              </a:rPr>
              <a:t> </a:t>
            </a:r>
            <a:r>
              <a:rPr sz="2300" spc="-10" dirty="0">
                <a:latin typeface="Arial MT"/>
                <a:cs typeface="Arial MT"/>
              </a:rPr>
              <a:t>existing </a:t>
            </a:r>
            <a:r>
              <a:rPr sz="2300" spc="-165" dirty="0">
                <a:latin typeface="Arial MT"/>
                <a:cs typeface="Arial MT"/>
              </a:rPr>
              <a:t>Lucene-</a:t>
            </a:r>
            <a:r>
              <a:rPr sz="2300" spc="-130" dirty="0">
                <a:latin typeface="Arial MT"/>
                <a:cs typeface="Arial MT"/>
              </a:rPr>
              <a:t>based</a:t>
            </a:r>
            <a:r>
              <a:rPr sz="2300" spc="35" dirty="0">
                <a:latin typeface="Arial MT"/>
                <a:cs typeface="Arial MT"/>
              </a:rPr>
              <a:t> </a:t>
            </a:r>
            <a:r>
              <a:rPr sz="2300" spc="-10" dirty="0">
                <a:latin typeface="Arial MT"/>
                <a:cs typeface="Arial MT"/>
              </a:rPr>
              <a:t>search </a:t>
            </a:r>
            <a:r>
              <a:rPr sz="2300" spc="-165" dirty="0">
                <a:latin typeface="Arial MT"/>
                <a:cs typeface="Arial MT"/>
              </a:rPr>
              <a:t>engines,</a:t>
            </a:r>
            <a:r>
              <a:rPr sz="2300" spc="5" dirty="0">
                <a:latin typeface="Arial MT"/>
                <a:cs typeface="Arial MT"/>
              </a:rPr>
              <a:t> </a:t>
            </a:r>
            <a:r>
              <a:rPr sz="2300" spc="-120" dirty="0">
                <a:latin typeface="Arial MT"/>
                <a:cs typeface="Arial MT"/>
              </a:rPr>
              <a:t>preventing</a:t>
            </a:r>
            <a:r>
              <a:rPr sz="2300" spc="15" dirty="0">
                <a:latin typeface="Arial MT"/>
                <a:cs typeface="Arial MT"/>
              </a:rPr>
              <a:t> </a:t>
            </a:r>
            <a:r>
              <a:rPr sz="2300" spc="-114" dirty="0">
                <a:latin typeface="Arial MT"/>
                <a:cs typeface="Arial MT"/>
              </a:rPr>
              <a:t>scaling </a:t>
            </a:r>
            <a:r>
              <a:rPr sz="2300" spc="-25" dirty="0">
                <a:latin typeface="Arial MT"/>
                <a:cs typeface="Arial MT"/>
              </a:rPr>
              <a:t>bottlenecks.</a:t>
            </a:r>
            <a:endParaRPr sz="2300">
              <a:latin typeface="Arial MT"/>
              <a:cs typeface="Arial MT"/>
            </a:endParaRPr>
          </a:p>
        </p:txBody>
      </p:sp>
      <p:sp>
        <p:nvSpPr>
          <p:cNvPr id="7" name="object 7"/>
          <p:cNvSpPr txBox="1"/>
          <p:nvPr/>
        </p:nvSpPr>
        <p:spPr>
          <a:xfrm>
            <a:off x="12785788" y="2584450"/>
            <a:ext cx="664210" cy="406400"/>
          </a:xfrm>
          <a:prstGeom prst="rect">
            <a:avLst/>
          </a:prstGeom>
        </p:spPr>
        <p:txBody>
          <a:bodyPr vert="horz" wrap="square" lIns="0" tIns="12700" rIns="0" bIns="0" rtlCol="0">
            <a:spAutoFit/>
          </a:bodyPr>
          <a:lstStyle/>
          <a:p>
            <a:pPr marL="12700">
              <a:lnSpc>
                <a:spcPct val="100000"/>
              </a:lnSpc>
              <a:spcBef>
                <a:spcPts val="100"/>
              </a:spcBef>
            </a:pPr>
            <a:r>
              <a:rPr sz="2500" spc="-20" dirty="0">
                <a:latin typeface="Arial MT"/>
                <a:cs typeface="Arial MT"/>
              </a:rPr>
              <a:t>Cost</a:t>
            </a:r>
            <a:endParaRPr sz="2500">
              <a:latin typeface="Arial MT"/>
              <a:cs typeface="Arial MT"/>
            </a:endParaRPr>
          </a:p>
        </p:txBody>
      </p:sp>
      <p:sp>
        <p:nvSpPr>
          <p:cNvPr id="8" name="object 8"/>
          <p:cNvSpPr txBox="1"/>
          <p:nvPr/>
        </p:nvSpPr>
        <p:spPr>
          <a:xfrm>
            <a:off x="13297242" y="5181952"/>
            <a:ext cx="713105" cy="789940"/>
          </a:xfrm>
          <a:prstGeom prst="rect">
            <a:avLst/>
          </a:prstGeom>
        </p:spPr>
        <p:txBody>
          <a:bodyPr vert="horz" wrap="square" lIns="0" tIns="12065" rIns="0" bIns="0" rtlCol="0">
            <a:spAutoFit/>
          </a:bodyPr>
          <a:lstStyle/>
          <a:p>
            <a:pPr marL="22225">
              <a:lnSpc>
                <a:spcPts val="3010"/>
              </a:lnSpc>
              <a:spcBef>
                <a:spcPts val="95"/>
              </a:spcBef>
            </a:pPr>
            <a:r>
              <a:rPr sz="2850" spc="-114" dirty="0">
                <a:solidFill>
                  <a:srgbClr val="232323"/>
                </a:solidFill>
                <a:latin typeface="Arial MT"/>
                <a:cs typeface="Arial MT"/>
              </a:rPr>
              <a:t>90%</a:t>
            </a:r>
            <a:endParaRPr sz="2850" dirty="0">
              <a:latin typeface="Arial MT"/>
              <a:cs typeface="Arial MT"/>
            </a:endParaRPr>
          </a:p>
          <a:p>
            <a:pPr marL="12700">
              <a:lnSpc>
                <a:spcPts val="3010"/>
              </a:lnSpc>
            </a:pPr>
            <a:r>
              <a:rPr sz="2850" spc="-70" dirty="0">
                <a:solidFill>
                  <a:srgbClr val="212121"/>
                </a:solidFill>
                <a:latin typeface="Arial MT"/>
                <a:cs typeface="Arial MT"/>
              </a:rPr>
              <a:t>drop</a:t>
            </a:r>
            <a:endParaRPr sz="2850" dirty="0">
              <a:latin typeface="Arial MT"/>
              <a:cs typeface="Arial MT"/>
            </a:endParaRPr>
          </a:p>
        </p:txBody>
      </p:sp>
      <p:sp>
        <p:nvSpPr>
          <p:cNvPr id="9" name="object 9"/>
          <p:cNvSpPr txBox="1"/>
          <p:nvPr/>
        </p:nvSpPr>
        <p:spPr>
          <a:xfrm>
            <a:off x="14808657" y="2593269"/>
            <a:ext cx="1308100" cy="396240"/>
          </a:xfrm>
          <a:prstGeom prst="rect">
            <a:avLst/>
          </a:prstGeom>
        </p:spPr>
        <p:txBody>
          <a:bodyPr vert="horz" wrap="square" lIns="0" tIns="16510" rIns="0" bIns="0" rtlCol="0">
            <a:spAutoFit/>
          </a:bodyPr>
          <a:lstStyle/>
          <a:p>
            <a:pPr marL="12700">
              <a:lnSpc>
                <a:spcPct val="100000"/>
              </a:lnSpc>
              <a:spcBef>
                <a:spcPts val="130"/>
              </a:spcBef>
            </a:pPr>
            <a:r>
              <a:rPr sz="2400" spc="-10" dirty="0">
                <a:latin typeface="Arial MT"/>
                <a:cs typeface="Arial MT"/>
              </a:rPr>
              <a:t>Accuracy</a:t>
            </a:r>
            <a:endParaRPr sz="2400">
              <a:latin typeface="Arial MT"/>
              <a:cs typeface="Arial MT"/>
            </a:endParaRPr>
          </a:p>
        </p:txBody>
      </p:sp>
      <p:sp>
        <p:nvSpPr>
          <p:cNvPr id="10" name="object 10"/>
          <p:cNvSpPr txBox="1"/>
          <p:nvPr/>
        </p:nvSpPr>
        <p:spPr>
          <a:xfrm>
            <a:off x="14657551" y="5443008"/>
            <a:ext cx="1576705" cy="869950"/>
          </a:xfrm>
          <a:prstGeom prst="rect">
            <a:avLst/>
          </a:prstGeom>
        </p:spPr>
        <p:txBody>
          <a:bodyPr vert="horz" wrap="square" lIns="0" tIns="11430" rIns="0" bIns="0" rtlCol="0">
            <a:spAutoFit/>
          </a:bodyPr>
          <a:lstStyle/>
          <a:p>
            <a:pPr marL="6350" algn="ctr">
              <a:lnSpc>
                <a:spcPts val="2380"/>
              </a:lnSpc>
              <a:spcBef>
                <a:spcPts val="90"/>
              </a:spcBef>
            </a:pPr>
            <a:r>
              <a:rPr sz="2300" dirty="0">
                <a:latin typeface="Arial MT"/>
                <a:cs typeface="Arial MT"/>
              </a:rPr>
              <a:t>04s</a:t>
            </a:r>
            <a:r>
              <a:rPr sz="2300" spc="-130" dirty="0">
                <a:latin typeface="Arial MT"/>
                <a:cs typeface="Arial MT"/>
              </a:rPr>
              <a:t> </a:t>
            </a:r>
            <a:r>
              <a:rPr sz="2300" spc="-45" dirty="0">
                <a:latin typeface="Arial MT"/>
                <a:cs typeface="Arial MT"/>
              </a:rPr>
              <a:t>retained</a:t>
            </a:r>
            <a:endParaRPr sz="2300">
              <a:latin typeface="Arial MT"/>
              <a:cs typeface="Arial MT"/>
            </a:endParaRPr>
          </a:p>
          <a:p>
            <a:pPr marL="12065" marR="5080" indent="1905" algn="ctr">
              <a:lnSpc>
                <a:spcPct val="68800"/>
              </a:lnSpc>
              <a:spcBef>
                <a:spcPts val="480"/>
              </a:spcBef>
            </a:pPr>
            <a:r>
              <a:rPr sz="2300" spc="-85" dirty="0">
                <a:latin typeface="Arial MT"/>
                <a:cs typeface="Arial MT"/>
              </a:rPr>
              <a:t>accuracy: </a:t>
            </a:r>
            <a:r>
              <a:rPr sz="2300" spc="-330" dirty="0">
                <a:latin typeface="Arial MT"/>
                <a:cs typeface="Arial MT"/>
              </a:rPr>
              <a:t>65.8%</a:t>
            </a:r>
            <a:r>
              <a:rPr sz="2300" spc="-30" dirty="0">
                <a:latin typeface="Arial MT"/>
                <a:cs typeface="Arial MT"/>
              </a:rPr>
              <a:t> </a:t>
            </a:r>
            <a:r>
              <a:rPr sz="2300" spc="-190" dirty="0">
                <a:latin typeface="Arial MT"/>
                <a:cs typeface="Arial MT"/>
              </a:rPr>
              <a:t>to</a:t>
            </a:r>
            <a:r>
              <a:rPr sz="2300" spc="-150" dirty="0">
                <a:latin typeface="Arial MT"/>
                <a:cs typeface="Arial MT"/>
              </a:rPr>
              <a:t> </a:t>
            </a:r>
            <a:r>
              <a:rPr sz="2300" spc="-409" dirty="0">
                <a:latin typeface="Arial MT"/>
                <a:cs typeface="Arial MT"/>
              </a:rPr>
              <a:t>61.8%</a:t>
            </a:r>
            <a:endParaRPr sz="2300">
              <a:latin typeface="Arial MT"/>
              <a:cs typeface="Arial MT"/>
            </a:endParaRPr>
          </a:p>
        </p:txBody>
      </p:sp>
      <p:graphicFrame>
        <p:nvGraphicFramePr>
          <p:cNvPr id="11" name="object 11"/>
          <p:cNvGraphicFramePr>
            <a:graphicFrameLocks noGrp="1"/>
          </p:cNvGraphicFramePr>
          <p:nvPr/>
        </p:nvGraphicFramePr>
        <p:xfrm>
          <a:off x="12206730" y="8172781"/>
          <a:ext cx="4194174" cy="902969"/>
        </p:xfrm>
        <a:graphic>
          <a:graphicData uri="http://schemas.openxmlformats.org/drawingml/2006/table">
            <a:tbl>
              <a:tblPr firstRow="1" bandRow="1">
                <a:tableStyleId>{2D5ABB26-0587-4C30-8999-92F81FD0307C}</a:tableStyleId>
              </a:tblPr>
              <a:tblGrid>
                <a:gridCol w="930910"/>
                <a:gridCol w="1093469"/>
                <a:gridCol w="1258570"/>
                <a:gridCol w="911225"/>
              </a:tblGrid>
              <a:tr h="257175">
                <a:tc>
                  <a:txBody>
                    <a:bodyPr/>
                    <a:lstStyle/>
                    <a:p>
                      <a:pPr marR="87630" algn="ctr">
                        <a:lnSpc>
                          <a:spcPts val="1930"/>
                        </a:lnSpc>
                      </a:pPr>
                      <a:r>
                        <a:rPr sz="1850" spc="-25" dirty="0">
                          <a:latin typeface="Arial MT"/>
                          <a:cs typeface="Arial MT"/>
                        </a:rPr>
                        <a:t>LLM</a:t>
                      </a:r>
                      <a:endParaRPr sz="1850">
                        <a:latin typeface="Arial MT"/>
                        <a:cs typeface="Arial MT"/>
                      </a:endParaRPr>
                    </a:p>
                  </a:txBody>
                  <a:tcPr marL="0" marR="0" marT="0" marB="0"/>
                </a:tc>
                <a:tc>
                  <a:txBody>
                    <a:bodyPr/>
                    <a:lstStyle/>
                    <a:p>
                      <a:pPr marR="50165" algn="ctr">
                        <a:lnSpc>
                          <a:spcPts val="1930"/>
                        </a:lnSpc>
                      </a:pPr>
                      <a:r>
                        <a:rPr sz="1850" spc="-25" dirty="0">
                          <a:latin typeface="Arial MT"/>
                          <a:cs typeface="Arial MT"/>
                        </a:rPr>
                        <a:t>NLP</a:t>
                      </a:r>
                      <a:endParaRPr sz="1850">
                        <a:latin typeface="Arial MT"/>
                        <a:cs typeface="Arial MT"/>
                      </a:endParaRPr>
                    </a:p>
                  </a:txBody>
                  <a:tcPr marL="0" marR="0" marT="0" marB="0"/>
                </a:tc>
                <a:tc>
                  <a:txBody>
                    <a:bodyPr/>
                    <a:lstStyle/>
                    <a:p>
                      <a:pPr marL="149860" algn="ctr">
                        <a:lnSpc>
                          <a:spcPts val="1930"/>
                        </a:lnSpc>
                      </a:pPr>
                      <a:r>
                        <a:rPr sz="1850" spc="-25" dirty="0">
                          <a:latin typeface="Arial MT"/>
                          <a:cs typeface="Arial MT"/>
                        </a:rPr>
                        <a:t>LLM</a:t>
                      </a:r>
                      <a:endParaRPr sz="1850">
                        <a:latin typeface="Arial MT"/>
                        <a:cs typeface="Arial MT"/>
                      </a:endParaRPr>
                    </a:p>
                  </a:txBody>
                  <a:tcPr marL="0" marR="0" marT="0" marB="0"/>
                </a:tc>
                <a:tc>
                  <a:txBody>
                    <a:bodyPr/>
                    <a:lstStyle/>
                    <a:p>
                      <a:pPr marL="41910" algn="ctr">
                        <a:lnSpc>
                          <a:spcPts val="1930"/>
                        </a:lnSpc>
                      </a:pPr>
                      <a:r>
                        <a:rPr sz="1850" spc="-25" dirty="0">
                          <a:latin typeface="Arial MT"/>
                          <a:cs typeface="Arial MT"/>
                        </a:rPr>
                        <a:t>NLP</a:t>
                      </a:r>
                      <a:endParaRPr sz="1850">
                        <a:latin typeface="Arial MT"/>
                        <a:cs typeface="Arial MT"/>
                      </a:endParaRPr>
                    </a:p>
                  </a:txBody>
                  <a:tcPr marL="0" marR="0" marT="0" marB="0"/>
                </a:tc>
              </a:tr>
              <a:tr h="236854">
                <a:tc>
                  <a:txBody>
                    <a:bodyPr/>
                    <a:lstStyle/>
                    <a:p>
                      <a:pPr marR="102235" algn="ctr">
                        <a:lnSpc>
                          <a:spcPts val="1770"/>
                        </a:lnSpc>
                      </a:pPr>
                      <a:r>
                        <a:rPr sz="1800" spc="-10" dirty="0">
                          <a:latin typeface="Arial MT"/>
                          <a:cs typeface="Arial MT"/>
                        </a:rPr>
                        <a:t>Method</a:t>
                      </a:r>
                      <a:endParaRPr sz="1800">
                        <a:latin typeface="Arial MT"/>
                        <a:cs typeface="Arial MT"/>
                      </a:endParaRPr>
                    </a:p>
                  </a:txBody>
                  <a:tcPr marL="0" marR="0" marT="0" marB="0"/>
                </a:tc>
                <a:tc>
                  <a:txBody>
                    <a:bodyPr/>
                    <a:lstStyle/>
                    <a:p>
                      <a:pPr marR="59690" algn="ctr">
                        <a:lnSpc>
                          <a:spcPts val="1770"/>
                        </a:lnSpc>
                      </a:pPr>
                      <a:r>
                        <a:rPr sz="1800" spc="-10" dirty="0">
                          <a:latin typeface="Arial MT"/>
                          <a:cs typeface="Arial MT"/>
                        </a:rPr>
                        <a:t>Method</a:t>
                      </a:r>
                      <a:endParaRPr sz="1800">
                        <a:latin typeface="Arial MT"/>
                        <a:cs typeface="Arial MT"/>
                      </a:endParaRPr>
                    </a:p>
                  </a:txBody>
                  <a:tcPr marL="0" marR="0" marT="0" marB="0"/>
                </a:tc>
                <a:tc>
                  <a:txBody>
                    <a:bodyPr/>
                    <a:lstStyle/>
                    <a:p>
                      <a:pPr marL="145415" algn="ctr">
                        <a:lnSpc>
                          <a:spcPts val="1770"/>
                        </a:lnSpc>
                      </a:pPr>
                      <a:r>
                        <a:rPr sz="1800" spc="-10" dirty="0">
                          <a:latin typeface="Arial MT"/>
                          <a:cs typeface="Arial MT"/>
                        </a:rPr>
                        <a:t>Method</a:t>
                      </a:r>
                      <a:endParaRPr sz="1800">
                        <a:latin typeface="Arial MT"/>
                        <a:cs typeface="Arial MT"/>
                      </a:endParaRPr>
                    </a:p>
                  </a:txBody>
                  <a:tcPr marL="0" marR="0" marT="0" marB="0"/>
                </a:tc>
                <a:tc>
                  <a:txBody>
                    <a:bodyPr/>
                    <a:lstStyle/>
                    <a:p>
                      <a:pPr marL="47625" algn="ctr">
                        <a:lnSpc>
                          <a:spcPts val="1770"/>
                        </a:lnSpc>
                      </a:pPr>
                      <a:r>
                        <a:rPr sz="1800" spc="-10" dirty="0">
                          <a:latin typeface="Arial MT"/>
                          <a:cs typeface="Arial MT"/>
                        </a:rPr>
                        <a:t>Method</a:t>
                      </a:r>
                      <a:endParaRPr sz="1800">
                        <a:latin typeface="Arial MT"/>
                        <a:cs typeface="Arial MT"/>
                      </a:endParaRPr>
                    </a:p>
                  </a:txBody>
                  <a:tcPr marL="0" marR="0" marT="0" marB="0"/>
                </a:tc>
              </a:tr>
              <a:tr h="199390">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marL="128270" algn="ctr">
                        <a:lnSpc>
                          <a:spcPts val="1470"/>
                        </a:lnSpc>
                      </a:pPr>
                      <a:r>
                        <a:rPr sz="1500" spc="-10" dirty="0">
                          <a:latin typeface="Arial MT"/>
                          <a:cs typeface="Arial MT"/>
                        </a:rPr>
                        <a:t>(GraphRAG)</a:t>
                      </a:r>
                      <a:endParaRPr sz="1500">
                        <a:latin typeface="Arial MT"/>
                        <a:cs typeface="Arial MT"/>
                      </a:endParaRPr>
                    </a:p>
                  </a:txBody>
                  <a:tcPr marL="0" marR="0" marT="0" marB="0"/>
                </a:tc>
                <a:tc>
                  <a:txBody>
                    <a:bodyPr/>
                    <a:lstStyle/>
                    <a:p>
                      <a:pPr marL="48895" algn="ctr">
                        <a:lnSpc>
                          <a:spcPts val="1470"/>
                        </a:lnSpc>
                      </a:pPr>
                      <a:r>
                        <a:rPr sz="1500" spc="-10" dirty="0">
                          <a:latin typeface="Arial MT"/>
                          <a:cs typeface="Arial MT"/>
                        </a:rPr>
                        <a:t>(Classical</a:t>
                      </a:r>
                      <a:endParaRPr sz="1500">
                        <a:latin typeface="Arial MT"/>
                        <a:cs typeface="Arial MT"/>
                      </a:endParaRPr>
                    </a:p>
                  </a:txBody>
                  <a:tcPr marL="0" marR="0" marT="0" marB="0"/>
                </a:tc>
              </a:tr>
              <a:tr h="209550">
                <a:tc>
                  <a:txBody>
                    <a:bodyPr/>
                    <a:lstStyle/>
                    <a:p>
                      <a:pPr>
                        <a:lnSpc>
                          <a:spcPct val="100000"/>
                        </a:lnSpc>
                      </a:pPr>
                      <a:endParaRPr sz="1200">
                        <a:latin typeface="Times New Roman"/>
                        <a:cs typeface="Times New Roman"/>
                      </a:endParaRPr>
                    </a:p>
                  </a:txBody>
                  <a:tcPr marL="0" marR="0" marT="0" marB="0"/>
                </a:tc>
                <a:tc>
                  <a:txBody>
                    <a:bodyPr/>
                    <a:lstStyle/>
                    <a:p>
                      <a:pPr>
                        <a:lnSpc>
                          <a:spcPct val="100000"/>
                        </a:lnSpc>
                      </a:pPr>
                      <a:endParaRPr sz="1200">
                        <a:latin typeface="Times New Roman"/>
                        <a:cs typeface="Times New Roman"/>
                      </a:endParaRPr>
                    </a:p>
                  </a:txBody>
                  <a:tcPr marL="0" marR="0" marT="0" marB="0"/>
                </a:tc>
                <a:tc>
                  <a:txBody>
                    <a:bodyPr/>
                    <a:lstStyle/>
                    <a:p>
                      <a:pPr>
                        <a:lnSpc>
                          <a:spcPct val="100000"/>
                        </a:lnSpc>
                      </a:pPr>
                      <a:endParaRPr sz="1200">
                        <a:latin typeface="Times New Roman"/>
                        <a:cs typeface="Times New Roman"/>
                      </a:endParaRPr>
                    </a:p>
                  </a:txBody>
                  <a:tcPr marL="0" marR="0" marT="0" marB="0"/>
                </a:tc>
                <a:tc>
                  <a:txBody>
                    <a:bodyPr/>
                    <a:lstStyle/>
                    <a:p>
                      <a:pPr marL="43815" algn="ctr">
                        <a:lnSpc>
                          <a:spcPts val="1555"/>
                        </a:lnSpc>
                      </a:pPr>
                      <a:r>
                        <a:rPr sz="1500" spc="-20" dirty="0">
                          <a:latin typeface="Arial MT"/>
                          <a:cs typeface="Arial MT"/>
                        </a:rPr>
                        <a:t>NLP)</a:t>
                      </a:r>
                      <a:endParaRPr sz="1500">
                        <a:latin typeface="Arial MT"/>
                        <a:cs typeface="Arial MT"/>
                      </a:endParaRPr>
                    </a:p>
                  </a:txBody>
                  <a:tcPr marL="0" marR="0" marT="0" marB="0"/>
                </a:tc>
              </a:tr>
            </a:tbl>
          </a:graphicData>
        </a:graphic>
      </p:graphicFrame>
      <p:sp>
        <p:nvSpPr>
          <p:cNvPr id="12" name="object 12"/>
          <p:cNvSpPr txBox="1"/>
          <p:nvPr/>
        </p:nvSpPr>
        <p:spPr>
          <a:xfrm>
            <a:off x="16114039" y="9422341"/>
            <a:ext cx="1223645" cy="247650"/>
          </a:xfrm>
          <a:prstGeom prst="rect">
            <a:avLst/>
          </a:prstGeom>
        </p:spPr>
        <p:txBody>
          <a:bodyPr vert="horz" wrap="square" lIns="0" tIns="13335" rIns="0" bIns="0" rtlCol="0">
            <a:spAutoFit/>
          </a:bodyPr>
          <a:lstStyle/>
          <a:p>
            <a:pPr marL="12700">
              <a:lnSpc>
                <a:spcPct val="100000"/>
              </a:lnSpc>
              <a:spcBef>
                <a:spcPts val="105"/>
              </a:spcBef>
            </a:pPr>
            <a:r>
              <a:rPr sz="1450" dirty="0">
                <a:latin typeface="Arial MT"/>
                <a:cs typeface="Arial MT"/>
              </a:rPr>
              <a:t>W</a:t>
            </a:r>
            <a:r>
              <a:rPr sz="1450" spc="135" dirty="0">
                <a:latin typeface="Arial MT"/>
                <a:cs typeface="Arial MT"/>
              </a:rPr>
              <a:t> </a:t>
            </a:r>
            <a:r>
              <a:rPr sz="1450" spc="-75" dirty="0">
                <a:latin typeface="Arial MT"/>
                <a:cs typeface="Arial MT"/>
              </a:rPr>
              <a:t>NotebaokLM</a:t>
            </a:r>
            <a:endParaRPr sz="1450">
              <a:latin typeface="Arial MT"/>
              <a:cs typeface="Arial M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42900" y="234374"/>
            <a:ext cx="16789400" cy="9131300"/>
          </a:xfrm>
          <a:prstGeom prst="rect">
            <a:avLst/>
          </a:prstGeom>
        </p:spPr>
      </p:pic>
      <p:sp>
        <p:nvSpPr>
          <p:cNvPr id="3" name="object 3"/>
          <p:cNvSpPr txBox="1">
            <a:spLocks noGrp="1"/>
          </p:cNvSpPr>
          <p:nvPr>
            <p:ph type="title"/>
          </p:nvPr>
        </p:nvSpPr>
        <p:spPr>
          <a:xfrm>
            <a:off x="956565" y="629355"/>
            <a:ext cx="15478125" cy="2125345"/>
          </a:xfrm>
          <a:prstGeom prst="rect">
            <a:avLst/>
          </a:prstGeom>
        </p:spPr>
        <p:txBody>
          <a:bodyPr vert="horz" wrap="square" lIns="0" tIns="139065" rIns="0" bIns="0" rtlCol="0">
            <a:spAutoFit/>
          </a:bodyPr>
          <a:lstStyle/>
          <a:p>
            <a:pPr marL="12700">
              <a:lnSpc>
                <a:spcPct val="100000"/>
              </a:lnSpc>
              <a:spcBef>
                <a:spcPts val="1095"/>
              </a:spcBef>
            </a:pPr>
            <a:r>
              <a:rPr sz="6350" spc="-25" dirty="0">
                <a:solidFill>
                  <a:srgbClr val="212121"/>
                </a:solidFill>
                <a:latin typeface="Arial MT"/>
                <a:cs typeface="Arial MT"/>
              </a:rPr>
              <a:t>Blueprint:</a:t>
            </a:r>
            <a:r>
              <a:rPr sz="6350" spc="-420" dirty="0">
                <a:solidFill>
                  <a:srgbClr val="212121"/>
                </a:solidFill>
                <a:latin typeface="Arial MT"/>
                <a:cs typeface="Arial MT"/>
              </a:rPr>
              <a:t> </a:t>
            </a:r>
            <a:r>
              <a:rPr sz="6350" spc="-355" dirty="0">
                <a:solidFill>
                  <a:srgbClr val="262626"/>
                </a:solidFill>
                <a:latin typeface="Arial MT"/>
                <a:cs typeface="Arial MT"/>
              </a:rPr>
              <a:t>Our</a:t>
            </a:r>
            <a:r>
              <a:rPr sz="6350" spc="-90" dirty="0">
                <a:solidFill>
                  <a:srgbClr val="262626"/>
                </a:solidFill>
                <a:latin typeface="Arial MT"/>
                <a:cs typeface="Arial MT"/>
              </a:rPr>
              <a:t> </a:t>
            </a:r>
            <a:r>
              <a:rPr sz="6350" spc="-150" dirty="0">
                <a:solidFill>
                  <a:srgbClr val="242424"/>
                </a:solidFill>
                <a:latin typeface="Arial MT"/>
                <a:cs typeface="Arial MT"/>
              </a:rPr>
              <a:t>Target</a:t>
            </a:r>
            <a:r>
              <a:rPr sz="6350" spc="-295" dirty="0">
                <a:solidFill>
                  <a:srgbClr val="242424"/>
                </a:solidFill>
                <a:latin typeface="Arial MT"/>
                <a:cs typeface="Arial MT"/>
              </a:rPr>
              <a:t> </a:t>
            </a:r>
            <a:r>
              <a:rPr sz="6350" spc="-80" dirty="0">
                <a:solidFill>
                  <a:srgbClr val="232323"/>
                </a:solidFill>
                <a:latin typeface="Arial MT"/>
                <a:cs typeface="Arial MT"/>
              </a:rPr>
              <a:t>Enterprise</a:t>
            </a:r>
            <a:r>
              <a:rPr sz="6350" spc="-250" dirty="0">
                <a:solidFill>
                  <a:srgbClr val="232323"/>
                </a:solidFill>
                <a:latin typeface="Arial MT"/>
                <a:cs typeface="Arial MT"/>
              </a:rPr>
              <a:t> </a:t>
            </a:r>
            <a:r>
              <a:rPr sz="6350" spc="-10" dirty="0">
                <a:solidFill>
                  <a:srgbClr val="2A2A2A"/>
                </a:solidFill>
                <a:latin typeface="Arial MT"/>
                <a:cs typeface="Arial MT"/>
              </a:rPr>
              <a:t>Architecture</a:t>
            </a:r>
            <a:endParaRPr sz="6350">
              <a:latin typeface="Arial MT"/>
              <a:cs typeface="Arial MT"/>
            </a:endParaRPr>
          </a:p>
          <a:p>
            <a:pPr marL="33020" marR="496570" indent="1270">
              <a:lnSpc>
                <a:spcPts val="3600"/>
              </a:lnSpc>
              <a:spcBef>
                <a:spcPts val="800"/>
              </a:spcBef>
            </a:pPr>
            <a:r>
              <a:rPr sz="3200" spc="-220" dirty="0">
                <a:solidFill>
                  <a:srgbClr val="000000"/>
                </a:solidFill>
                <a:latin typeface="Arial MT"/>
                <a:cs typeface="Arial MT"/>
              </a:rPr>
              <a:t>An</a:t>
            </a:r>
            <a:r>
              <a:rPr sz="3200" spc="-30" dirty="0">
                <a:solidFill>
                  <a:srgbClr val="000000"/>
                </a:solidFill>
                <a:latin typeface="Arial MT"/>
                <a:cs typeface="Arial MT"/>
              </a:rPr>
              <a:t> </a:t>
            </a:r>
            <a:r>
              <a:rPr sz="3200" spc="-190" dirty="0">
                <a:solidFill>
                  <a:srgbClr val="000000"/>
                </a:solidFill>
                <a:latin typeface="Arial MT"/>
                <a:cs typeface="Arial MT"/>
              </a:rPr>
              <a:t>end-</a:t>
            </a:r>
            <a:r>
              <a:rPr sz="3200" spc="-150" dirty="0">
                <a:solidFill>
                  <a:srgbClr val="000000"/>
                </a:solidFill>
                <a:latin typeface="Arial MT"/>
                <a:cs typeface="Arial MT"/>
              </a:rPr>
              <a:t>to-</a:t>
            </a:r>
            <a:r>
              <a:rPr sz="3200" spc="-135" dirty="0">
                <a:solidFill>
                  <a:srgbClr val="000000"/>
                </a:solidFill>
                <a:latin typeface="Arial MT"/>
                <a:cs typeface="Arial MT"/>
              </a:rPr>
              <a:t>end,</a:t>
            </a:r>
            <a:r>
              <a:rPr sz="3200" spc="-90" dirty="0">
                <a:solidFill>
                  <a:srgbClr val="000000"/>
                </a:solidFill>
                <a:latin typeface="Arial MT"/>
                <a:cs typeface="Arial MT"/>
              </a:rPr>
              <a:t> </a:t>
            </a:r>
            <a:r>
              <a:rPr sz="3200" spc="-95" dirty="0">
                <a:solidFill>
                  <a:srgbClr val="000000"/>
                </a:solidFill>
                <a:latin typeface="Arial MT"/>
                <a:cs typeface="Arial MT"/>
              </a:rPr>
              <a:t>production-</a:t>
            </a:r>
            <a:r>
              <a:rPr sz="3200" spc="-100" dirty="0">
                <a:solidFill>
                  <a:srgbClr val="000000"/>
                </a:solidFill>
                <a:latin typeface="Arial MT"/>
                <a:cs typeface="Arial MT"/>
              </a:rPr>
              <a:t>ready</a:t>
            </a:r>
            <a:r>
              <a:rPr sz="3200" spc="-125" dirty="0">
                <a:solidFill>
                  <a:srgbClr val="000000"/>
                </a:solidFill>
                <a:latin typeface="Arial MT"/>
                <a:cs typeface="Arial MT"/>
              </a:rPr>
              <a:t> </a:t>
            </a:r>
            <a:r>
              <a:rPr sz="3200" spc="-100" dirty="0">
                <a:solidFill>
                  <a:srgbClr val="000000"/>
                </a:solidFill>
                <a:latin typeface="Arial MT"/>
                <a:cs typeface="Arial MT"/>
              </a:rPr>
              <a:t>pipeline</a:t>
            </a:r>
            <a:r>
              <a:rPr sz="3200" spc="-120" dirty="0">
                <a:solidFill>
                  <a:srgbClr val="000000"/>
                </a:solidFill>
                <a:latin typeface="Arial MT"/>
                <a:cs typeface="Arial MT"/>
              </a:rPr>
              <a:t> </a:t>
            </a:r>
            <a:r>
              <a:rPr sz="3200" spc="-20" dirty="0">
                <a:solidFill>
                  <a:srgbClr val="000000"/>
                </a:solidFill>
                <a:latin typeface="Arial MT"/>
                <a:cs typeface="Arial MT"/>
              </a:rPr>
              <a:t>that</a:t>
            </a:r>
            <a:r>
              <a:rPr sz="3200" spc="-204" dirty="0">
                <a:solidFill>
                  <a:srgbClr val="000000"/>
                </a:solidFill>
                <a:latin typeface="Arial MT"/>
                <a:cs typeface="Arial MT"/>
              </a:rPr>
              <a:t> </a:t>
            </a:r>
            <a:r>
              <a:rPr sz="3200" spc="-125" dirty="0">
                <a:solidFill>
                  <a:srgbClr val="000000"/>
                </a:solidFill>
                <a:latin typeface="Arial MT"/>
                <a:cs typeface="Arial MT"/>
              </a:rPr>
              <a:t>balances</a:t>
            </a:r>
            <a:r>
              <a:rPr sz="3200" spc="-75" dirty="0">
                <a:solidFill>
                  <a:srgbClr val="000000"/>
                </a:solidFill>
                <a:latin typeface="Arial MT"/>
                <a:cs typeface="Arial MT"/>
              </a:rPr>
              <a:t> </a:t>
            </a:r>
            <a:r>
              <a:rPr sz="3200" spc="-60" dirty="0">
                <a:solidFill>
                  <a:srgbClr val="000000"/>
                </a:solidFill>
                <a:latin typeface="Arial MT"/>
                <a:cs typeface="Arial MT"/>
              </a:rPr>
              <a:t>theoretical</a:t>
            </a:r>
            <a:r>
              <a:rPr sz="3200" spc="60" dirty="0">
                <a:solidFill>
                  <a:srgbClr val="000000"/>
                </a:solidFill>
                <a:latin typeface="Arial MT"/>
                <a:cs typeface="Arial MT"/>
              </a:rPr>
              <a:t> </a:t>
            </a:r>
            <a:r>
              <a:rPr sz="3200" spc="-85" dirty="0">
                <a:solidFill>
                  <a:srgbClr val="000000"/>
                </a:solidFill>
                <a:latin typeface="Arial MT"/>
                <a:cs typeface="Arial MT"/>
              </a:rPr>
              <a:t>ideals</a:t>
            </a:r>
            <a:r>
              <a:rPr sz="3200" spc="-70" dirty="0">
                <a:solidFill>
                  <a:srgbClr val="000000"/>
                </a:solidFill>
                <a:latin typeface="Arial MT"/>
                <a:cs typeface="Arial MT"/>
              </a:rPr>
              <a:t> </a:t>
            </a:r>
            <a:r>
              <a:rPr sz="3200" spc="-10" dirty="0">
                <a:solidFill>
                  <a:srgbClr val="000000"/>
                </a:solidFill>
                <a:latin typeface="Arial MT"/>
                <a:cs typeface="Arial MT"/>
              </a:rPr>
              <a:t>with</a:t>
            </a:r>
            <a:r>
              <a:rPr sz="3200" spc="-114" dirty="0">
                <a:solidFill>
                  <a:srgbClr val="000000"/>
                </a:solidFill>
                <a:latin typeface="Arial MT"/>
                <a:cs typeface="Arial MT"/>
              </a:rPr>
              <a:t> </a:t>
            </a:r>
            <a:r>
              <a:rPr sz="3200" spc="-70" dirty="0">
                <a:solidFill>
                  <a:srgbClr val="000000"/>
                </a:solidFill>
                <a:latin typeface="Arial MT"/>
                <a:cs typeface="Arial MT"/>
              </a:rPr>
              <a:t>operational </a:t>
            </a:r>
            <a:r>
              <a:rPr sz="3200" spc="-80" dirty="0">
                <a:solidFill>
                  <a:srgbClr val="000000"/>
                </a:solidFill>
                <a:latin typeface="Arial MT"/>
                <a:cs typeface="Arial MT"/>
              </a:rPr>
              <a:t>realities.</a:t>
            </a:r>
            <a:r>
              <a:rPr sz="3200" spc="-145" dirty="0">
                <a:solidFill>
                  <a:srgbClr val="000000"/>
                </a:solidFill>
                <a:latin typeface="Arial MT"/>
                <a:cs typeface="Arial MT"/>
              </a:rPr>
              <a:t> </a:t>
            </a:r>
            <a:r>
              <a:rPr sz="3200" spc="-70" dirty="0">
                <a:solidFill>
                  <a:srgbClr val="000000"/>
                </a:solidFill>
                <a:latin typeface="Arial MT"/>
                <a:cs typeface="Arial MT"/>
              </a:rPr>
              <a:t>Built</a:t>
            </a:r>
            <a:r>
              <a:rPr sz="3200" spc="-150" dirty="0">
                <a:solidFill>
                  <a:srgbClr val="000000"/>
                </a:solidFill>
                <a:latin typeface="Arial MT"/>
                <a:cs typeface="Arial MT"/>
              </a:rPr>
              <a:t> </a:t>
            </a:r>
            <a:r>
              <a:rPr sz="3200" dirty="0">
                <a:solidFill>
                  <a:srgbClr val="000000"/>
                </a:solidFill>
                <a:latin typeface="Arial MT"/>
                <a:cs typeface="Arial MT"/>
              </a:rPr>
              <a:t>for</a:t>
            </a:r>
            <a:r>
              <a:rPr sz="3200" spc="-150" dirty="0">
                <a:solidFill>
                  <a:srgbClr val="000000"/>
                </a:solidFill>
                <a:latin typeface="Arial MT"/>
                <a:cs typeface="Arial MT"/>
              </a:rPr>
              <a:t> scale,</a:t>
            </a:r>
            <a:r>
              <a:rPr sz="3200" spc="-90" dirty="0">
                <a:solidFill>
                  <a:srgbClr val="000000"/>
                </a:solidFill>
                <a:latin typeface="Arial MT"/>
                <a:cs typeface="Arial MT"/>
              </a:rPr>
              <a:t> </a:t>
            </a:r>
            <a:r>
              <a:rPr sz="3200" spc="-130" dirty="0">
                <a:solidFill>
                  <a:srgbClr val="000000"/>
                </a:solidFill>
                <a:latin typeface="Arial MT"/>
                <a:cs typeface="Arial MT"/>
              </a:rPr>
              <a:t>engineered</a:t>
            </a:r>
            <a:r>
              <a:rPr sz="3200" spc="110" dirty="0">
                <a:solidFill>
                  <a:srgbClr val="000000"/>
                </a:solidFill>
                <a:latin typeface="Arial MT"/>
                <a:cs typeface="Arial MT"/>
              </a:rPr>
              <a:t> </a:t>
            </a:r>
            <a:r>
              <a:rPr sz="3200" dirty="0">
                <a:solidFill>
                  <a:srgbClr val="000000"/>
                </a:solidFill>
                <a:latin typeface="Arial MT"/>
                <a:cs typeface="Arial MT"/>
              </a:rPr>
              <a:t>for</a:t>
            </a:r>
            <a:r>
              <a:rPr sz="3200" spc="-135" dirty="0">
                <a:solidFill>
                  <a:srgbClr val="000000"/>
                </a:solidFill>
                <a:latin typeface="Arial MT"/>
                <a:cs typeface="Arial MT"/>
              </a:rPr>
              <a:t> </a:t>
            </a:r>
            <a:r>
              <a:rPr sz="3200" spc="-10" dirty="0">
                <a:solidFill>
                  <a:srgbClr val="000000"/>
                </a:solidFill>
                <a:latin typeface="Arial MT"/>
                <a:cs typeface="Arial MT"/>
              </a:rPr>
              <a:t>efficiency.</a:t>
            </a:r>
            <a:endParaRPr sz="3200">
              <a:latin typeface="Arial MT"/>
              <a:cs typeface="Arial MT"/>
            </a:endParaRPr>
          </a:p>
        </p:txBody>
      </p:sp>
      <p:sp>
        <p:nvSpPr>
          <p:cNvPr id="4" name="object 4"/>
          <p:cNvSpPr txBox="1"/>
          <p:nvPr/>
        </p:nvSpPr>
        <p:spPr>
          <a:xfrm>
            <a:off x="2884787" y="4066469"/>
            <a:ext cx="1400810" cy="396240"/>
          </a:xfrm>
          <a:prstGeom prst="rect">
            <a:avLst/>
          </a:prstGeom>
        </p:spPr>
        <p:txBody>
          <a:bodyPr vert="horz" wrap="square" lIns="0" tIns="16510" rIns="0" bIns="0" rtlCol="0">
            <a:spAutoFit/>
          </a:bodyPr>
          <a:lstStyle/>
          <a:p>
            <a:pPr marL="12700">
              <a:lnSpc>
                <a:spcPct val="100000"/>
              </a:lnSpc>
              <a:spcBef>
                <a:spcPts val="130"/>
              </a:spcBef>
            </a:pPr>
            <a:r>
              <a:rPr sz="2400" spc="-229" dirty="0">
                <a:latin typeface="Arial MT"/>
                <a:cs typeface="Arial MT"/>
              </a:rPr>
              <a:t>NLP</a:t>
            </a:r>
            <a:r>
              <a:rPr sz="2400" spc="-110" dirty="0">
                <a:latin typeface="Arial MT"/>
                <a:cs typeface="Arial MT"/>
              </a:rPr>
              <a:t> </a:t>
            </a:r>
            <a:r>
              <a:rPr sz="2400" spc="-130" dirty="0">
                <a:latin typeface="Arial MT"/>
                <a:cs typeface="Arial MT"/>
              </a:rPr>
              <a:t>Parser</a:t>
            </a:r>
            <a:endParaRPr sz="2400" dirty="0">
              <a:latin typeface="Arial MT"/>
              <a:cs typeface="Arial MT"/>
            </a:endParaRPr>
          </a:p>
        </p:txBody>
      </p:sp>
      <p:sp>
        <p:nvSpPr>
          <p:cNvPr id="5" name="object 5"/>
          <p:cNvSpPr txBox="1"/>
          <p:nvPr/>
        </p:nvSpPr>
        <p:spPr>
          <a:xfrm>
            <a:off x="2643183" y="5952419"/>
            <a:ext cx="1882139" cy="694690"/>
          </a:xfrm>
          <a:prstGeom prst="rect">
            <a:avLst/>
          </a:prstGeom>
        </p:spPr>
        <p:txBody>
          <a:bodyPr vert="horz" wrap="square" lIns="0" tIns="82550" rIns="0" bIns="0" rtlCol="0">
            <a:spAutoFit/>
          </a:bodyPr>
          <a:lstStyle/>
          <a:p>
            <a:pPr marL="444500" marR="5080" indent="-431800">
              <a:lnSpc>
                <a:spcPts val="2350"/>
              </a:lnSpc>
              <a:spcBef>
                <a:spcPts val="650"/>
              </a:spcBef>
            </a:pPr>
            <a:r>
              <a:rPr sz="2400" spc="-185" dirty="0">
                <a:latin typeface="Arial MT"/>
                <a:cs typeface="Arial MT"/>
              </a:rPr>
              <a:t>Dual</a:t>
            </a:r>
            <a:r>
              <a:rPr sz="2400" spc="-40" dirty="0">
                <a:latin typeface="Arial MT"/>
                <a:cs typeface="Arial MT"/>
              </a:rPr>
              <a:t> </a:t>
            </a:r>
            <a:r>
              <a:rPr sz="2400" spc="-100" dirty="0">
                <a:latin typeface="Arial MT"/>
                <a:cs typeface="Arial MT"/>
              </a:rPr>
              <a:t>Extraction </a:t>
            </a:r>
            <a:r>
              <a:rPr sz="2400" spc="-10" dirty="0">
                <a:latin typeface="Arial MT"/>
                <a:cs typeface="Arial MT"/>
              </a:rPr>
              <a:t>Pipeline</a:t>
            </a:r>
            <a:endParaRPr sz="2400" dirty="0">
              <a:latin typeface="Arial MT"/>
              <a:cs typeface="Arial MT"/>
            </a:endParaRPr>
          </a:p>
        </p:txBody>
      </p:sp>
      <p:sp>
        <p:nvSpPr>
          <p:cNvPr id="6" name="object 6"/>
          <p:cNvSpPr txBox="1"/>
          <p:nvPr/>
        </p:nvSpPr>
        <p:spPr>
          <a:xfrm>
            <a:off x="3307373" y="8229247"/>
            <a:ext cx="562610" cy="353695"/>
          </a:xfrm>
          <a:prstGeom prst="rect">
            <a:avLst/>
          </a:prstGeom>
        </p:spPr>
        <p:txBody>
          <a:bodyPr vert="horz" wrap="square" lIns="0" tIns="12700" rIns="0" bIns="0" rtlCol="0">
            <a:spAutoFit/>
          </a:bodyPr>
          <a:lstStyle/>
          <a:p>
            <a:pPr marL="12700">
              <a:lnSpc>
                <a:spcPct val="100000"/>
              </a:lnSpc>
              <a:spcBef>
                <a:spcPts val="100"/>
              </a:spcBef>
            </a:pPr>
            <a:r>
              <a:rPr sz="2150" spc="-25" dirty="0">
                <a:latin typeface="Arial MT"/>
                <a:cs typeface="Arial MT"/>
              </a:rPr>
              <a:t>LLM</a:t>
            </a:r>
            <a:endParaRPr sz="2150">
              <a:latin typeface="Arial MT"/>
              <a:cs typeface="Arial MT"/>
            </a:endParaRPr>
          </a:p>
        </p:txBody>
      </p:sp>
      <p:sp>
        <p:nvSpPr>
          <p:cNvPr id="7" name="object 7"/>
          <p:cNvSpPr txBox="1"/>
          <p:nvPr/>
        </p:nvSpPr>
        <p:spPr>
          <a:xfrm>
            <a:off x="5245322" y="6991350"/>
            <a:ext cx="1016000" cy="713105"/>
          </a:xfrm>
          <a:prstGeom prst="rect">
            <a:avLst/>
          </a:prstGeom>
        </p:spPr>
        <p:txBody>
          <a:bodyPr vert="horz" wrap="square" lIns="0" tIns="12700" rIns="0" bIns="0" rtlCol="0">
            <a:spAutoFit/>
          </a:bodyPr>
          <a:lstStyle/>
          <a:p>
            <a:pPr marL="140970">
              <a:lnSpc>
                <a:spcPts val="2675"/>
              </a:lnSpc>
              <a:spcBef>
                <a:spcPts val="100"/>
              </a:spcBef>
            </a:pPr>
            <a:r>
              <a:rPr sz="2500" spc="-430" dirty="0">
                <a:latin typeface="Arial MT"/>
                <a:cs typeface="Arial MT"/>
              </a:rPr>
              <a:t>MDER</a:t>
            </a:r>
            <a:endParaRPr sz="2500">
              <a:latin typeface="Arial MT"/>
              <a:cs typeface="Arial MT"/>
            </a:endParaRPr>
          </a:p>
          <a:p>
            <a:pPr marL="12700">
              <a:lnSpc>
                <a:spcPts val="2735"/>
              </a:lnSpc>
            </a:pPr>
            <a:r>
              <a:rPr sz="2550" spc="-200" dirty="0">
                <a:latin typeface="Arial MT"/>
                <a:cs typeface="Arial MT"/>
              </a:rPr>
              <a:t>Process</a:t>
            </a:r>
            <a:endParaRPr sz="2550">
              <a:latin typeface="Arial MT"/>
              <a:cs typeface="Arial MT"/>
            </a:endParaRPr>
          </a:p>
        </p:txBody>
      </p:sp>
      <p:sp>
        <p:nvSpPr>
          <p:cNvPr id="8" name="object 8"/>
          <p:cNvSpPr txBox="1"/>
          <p:nvPr/>
        </p:nvSpPr>
        <p:spPr>
          <a:xfrm>
            <a:off x="7212284" y="7897989"/>
            <a:ext cx="1246505" cy="385445"/>
          </a:xfrm>
          <a:prstGeom prst="rect">
            <a:avLst/>
          </a:prstGeom>
        </p:spPr>
        <p:txBody>
          <a:bodyPr vert="horz" wrap="square" lIns="0" tIns="13970" rIns="0" bIns="0" rtlCol="0">
            <a:spAutoFit/>
          </a:bodyPr>
          <a:lstStyle/>
          <a:p>
            <a:pPr marL="12700">
              <a:lnSpc>
                <a:spcPct val="100000"/>
              </a:lnSpc>
              <a:spcBef>
                <a:spcPts val="110"/>
              </a:spcBef>
            </a:pPr>
            <a:r>
              <a:rPr sz="2350" spc="-100" dirty="0">
                <a:latin typeface="Arial MT"/>
                <a:cs typeface="Arial MT"/>
              </a:rPr>
              <a:t>Vector</a:t>
            </a:r>
            <a:r>
              <a:rPr sz="2350" spc="-50" dirty="0">
                <a:latin typeface="Arial MT"/>
                <a:cs typeface="Arial MT"/>
              </a:rPr>
              <a:t> </a:t>
            </a:r>
            <a:r>
              <a:rPr sz="2350" spc="-204" dirty="0">
                <a:latin typeface="Arial MT"/>
                <a:cs typeface="Arial MT"/>
              </a:rPr>
              <a:t>DB</a:t>
            </a:r>
            <a:endParaRPr sz="2350">
              <a:latin typeface="Arial MT"/>
              <a:cs typeface="Arial MT"/>
            </a:endParaRPr>
          </a:p>
        </p:txBody>
      </p:sp>
      <p:sp>
        <p:nvSpPr>
          <p:cNvPr id="9" name="object 9"/>
          <p:cNvSpPr txBox="1"/>
          <p:nvPr/>
        </p:nvSpPr>
        <p:spPr>
          <a:xfrm>
            <a:off x="8982335" y="7593189"/>
            <a:ext cx="1679575" cy="995044"/>
          </a:xfrm>
          <a:prstGeom prst="rect">
            <a:avLst/>
          </a:prstGeom>
        </p:spPr>
        <p:txBody>
          <a:bodyPr vert="horz" wrap="square" lIns="0" tIns="68580" rIns="0" bIns="0" rtlCol="0">
            <a:spAutoFit/>
          </a:bodyPr>
          <a:lstStyle/>
          <a:p>
            <a:pPr marL="12700" marR="5080" indent="-1905" algn="ctr">
              <a:lnSpc>
                <a:spcPts val="2400"/>
              </a:lnSpc>
              <a:spcBef>
                <a:spcPts val="540"/>
              </a:spcBef>
            </a:pPr>
            <a:r>
              <a:rPr sz="2350" spc="-10" dirty="0">
                <a:latin typeface="Arial MT"/>
                <a:cs typeface="Arial MT"/>
              </a:rPr>
              <a:t>iGraph </a:t>
            </a:r>
            <a:r>
              <a:rPr sz="2350" spc="-75" dirty="0">
                <a:latin typeface="Arial MT"/>
                <a:cs typeface="Arial MT"/>
              </a:rPr>
              <a:t>Memory</a:t>
            </a:r>
            <a:r>
              <a:rPr sz="2350" spc="-60" dirty="0">
                <a:latin typeface="Arial MT"/>
                <a:cs typeface="Arial MT"/>
              </a:rPr>
              <a:t> </a:t>
            </a:r>
            <a:r>
              <a:rPr sz="2350" spc="-50" dirty="0">
                <a:latin typeface="Arial MT"/>
                <a:cs typeface="Arial MT"/>
              </a:rPr>
              <a:t>/ </a:t>
            </a:r>
            <a:r>
              <a:rPr sz="2350" spc="-135" dirty="0">
                <a:latin typeface="Arial MT"/>
                <a:cs typeface="Arial MT"/>
              </a:rPr>
              <a:t>Lucene</a:t>
            </a:r>
            <a:r>
              <a:rPr sz="2350" spc="-5" dirty="0">
                <a:latin typeface="Arial MT"/>
                <a:cs typeface="Arial MT"/>
              </a:rPr>
              <a:t> </a:t>
            </a:r>
            <a:r>
              <a:rPr sz="2350" spc="-220" dirty="0">
                <a:latin typeface="Arial MT"/>
                <a:cs typeface="Arial MT"/>
              </a:rPr>
              <a:t>JSON</a:t>
            </a:r>
            <a:endParaRPr sz="2350">
              <a:latin typeface="Arial MT"/>
              <a:cs typeface="Arial MT"/>
            </a:endParaRPr>
          </a:p>
        </p:txBody>
      </p:sp>
      <p:sp>
        <p:nvSpPr>
          <p:cNvPr id="10" name="object 10"/>
          <p:cNvSpPr txBox="1"/>
          <p:nvPr/>
        </p:nvSpPr>
        <p:spPr>
          <a:xfrm>
            <a:off x="1848887" y="3276952"/>
            <a:ext cx="13710285" cy="459740"/>
          </a:xfrm>
          <a:prstGeom prst="rect">
            <a:avLst/>
          </a:prstGeom>
        </p:spPr>
        <p:txBody>
          <a:bodyPr vert="horz" wrap="square" lIns="0" tIns="12065" rIns="0" bIns="0" rtlCol="0">
            <a:spAutoFit/>
          </a:bodyPr>
          <a:lstStyle/>
          <a:p>
            <a:pPr marL="12700">
              <a:lnSpc>
                <a:spcPct val="100000"/>
              </a:lnSpc>
              <a:spcBef>
                <a:spcPts val="95"/>
              </a:spcBef>
              <a:tabLst>
                <a:tab pos="5755005" algn="l"/>
                <a:tab pos="10276205" algn="l"/>
              </a:tabLst>
            </a:pPr>
            <a:r>
              <a:rPr sz="2850" dirty="0">
                <a:latin typeface="Arial MT"/>
                <a:cs typeface="Arial MT"/>
              </a:rPr>
              <a:t>Cost-Efficient</a:t>
            </a:r>
            <a:r>
              <a:rPr sz="2850" spc="40" dirty="0">
                <a:latin typeface="Arial MT"/>
                <a:cs typeface="Arial MT"/>
              </a:rPr>
              <a:t> </a:t>
            </a:r>
            <a:r>
              <a:rPr sz="2850" spc="-10" dirty="0">
                <a:latin typeface="Arial MT"/>
                <a:cs typeface="Arial MT"/>
              </a:rPr>
              <a:t>Indexing</a:t>
            </a:r>
            <a:r>
              <a:rPr sz="2850" dirty="0">
                <a:latin typeface="Arial MT"/>
                <a:cs typeface="Arial MT"/>
              </a:rPr>
              <a:t>	</a:t>
            </a:r>
            <a:r>
              <a:rPr sz="2750" dirty="0">
                <a:latin typeface="Arial MT"/>
                <a:cs typeface="Arial MT"/>
              </a:rPr>
              <a:t>Hybrid</a:t>
            </a:r>
            <a:r>
              <a:rPr sz="2750" spc="250" dirty="0">
                <a:latin typeface="Arial MT"/>
                <a:cs typeface="Arial MT"/>
              </a:rPr>
              <a:t> </a:t>
            </a:r>
            <a:r>
              <a:rPr sz="2750" spc="-10" dirty="0">
                <a:latin typeface="Arial MT"/>
                <a:cs typeface="Arial MT"/>
              </a:rPr>
              <a:t>Storage</a:t>
            </a:r>
            <a:r>
              <a:rPr sz="2750" dirty="0">
                <a:latin typeface="Arial MT"/>
                <a:cs typeface="Arial MT"/>
              </a:rPr>
              <a:t>	</a:t>
            </a:r>
            <a:r>
              <a:rPr sz="2850" spc="-25" dirty="0">
                <a:latin typeface="Arial MT"/>
                <a:cs typeface="Arial MT"/>
              </a:rPr>
              <a:t>Relational</a:t>
            </a:r>
            <a:r>
              <a:rPr sz="2850" spc="-105" dirty="0">
                <a:latin typeface="Arial MT"/>
                <a:cs typeface="Arial MT"/>
              </a:rPr>
              <a:t> </a:t>
            </a:r>
            <a:r>
              <a:rPr sz="2850" spc="-35" dirty="0">
                <a:latin typeface="Arial MT"/>
                <a:cs typeface="Arial MT"/>
              </a:rPr>
              <a:t>Generation</a:t>
            </a:r>
            <a:endParaRPr sz="2850">
              <a:latin typeface="Arial MT"/>
              <a:cs typeface="Arial MT"/>
            </a:endParaRPr>
          </a:p>
        </p:txBody>
      </p:sp>
      <p:sp>
        <p:nvSpPr>
          <p:cNvPr id="11" name="object 11"/>
          <p:cNvSpPr txBox="1"/>
          <p:nvPr/>
        </p:nvSpPr>
        <p:spPr>
          <a:xfrm>
            <a:off x="12767411" y="4165247"/>
            <a:ext cx="1392555" cy="353695"/>
          </a:xfrm>
          <a:prstGeom prst="rect">
            <a:avLst/>
          </a:prstGeom>
        </p:spPr>
        <p:txBody>
          <a:bodyPr vert="horz" wrap="square" lIns="0" tIns="12700" rIns="0" bIns="0" rtlCol="0">
            <a:spAutoFit/>
          </a:bodyPr>
          <a:lstStyle/>
          <a:p>
            <a:pPr marL="12700">
              <a:lnSpc>
                <a:spcPct val="100000"/>
              </a:lnSpc>
              <a:spcBef>
                <a:spcPts val="100"/>
              </a:spcBef>
            </a:pPr>
            <a:r>
              <a:rPr sz="2150" dirty="0">
                <a:latin typeface="Arial MT"/>
                <a:cs typeface="Arial MT"/>
              </a:rPr>
              <a:t>User</a:t>
            </a:r>
            <a:r>
              <a:rPr sz="2150" spc="-70" dirty="0">
                <a:latin typeface="Arial MT"/>
                <a:cs typeface="Arial MT"/>
              </a:rPr>
              <a:t> </a:t>
            </a:r>
            <a:r>
              <a:rPr sz="2150" spc="-30" dirty="0">
                <a:latin typeface="Arial MT"/>
                <a:cs typeface="Arial MT"/>
              </a:rPr>
              <a:t>Query</a:t>
            </a:r>
            <a:endParaRPr sz="2150">
              <a:latin typeface="Arial MT"/>
              <a:cs typeface="Arial MT"/>
            </a:endParaRPr>
          </a:p>
        </p:txBody>
      </p:sp>
      <p:sp>
        <p:nvSpPr>
          <p:cNvPr id="12" name="object 12"/>
          <p:cNvSpPr txBox="1"/>
          <p:nvPr/>
        </p:nvSpPr>
        <p:spPr>
          <a:xfrm>
            <a:off x="11610320" y="7602008"/>
            <a:ext cx="1417320" cy="679450"/>
          </a:xfrm>
          <a:prstGeom prst="rect">
            <a:avLst/>
          </a:prstGeom>
        </p:spPr>
        <p:txBody>
          <a:bodyPr vert="horz" wrap="square" lIns="0" tIns="59690" rIns="0" bIns="0" rtlCol="0">
            <a:spAutoFit/>
          </a:bodyPr>
          <a:lstStyle/>
          <a:p>
            <a:pPr marL="291465" marR="5080" indent="-279400">
              <a:lnSpc>
                <a:spcPts val="2400"/>
              </a:lnSpc>
              <a:spcBef>
                <a:spcPts val="470"/>
              </a:spcBef>
            </a:pPr>
            <a:r>
              <a:rPr sz="2300" spc="-275" dirty="0">
                <a:latin typeface="Arial MT"/>
                <a:cs typeface="Arial MT"/>
              </a:rPr>
              <a:t>RRF</a:t>
            </a:r>
            <a:r>
              <a:rPr sz="2300" spc="-90" dirty="0">
                <a:latin typeface="Arial MT"/>
                <a:cs typeface="Arial MT"/>
              </a:rPr>
              <a:t> </a:t>
            </a:r>
            <a:r>
              <a:rPr sz="2300" spc="-75" dirty="0">
                <a:latin typeface="Arial MT"/>
                <a:cs typeface="Arial MT"/>
              </a:rPr>
              <a:t>Fusion </a:t>
            </a:r>
            <a:r>
              <a:rPr sz="2300" spc="-10" dirty="0">
                <a:latin typeface="Arial MT"/>
                <a:cs typeface="Arial MT"/>
              </a:rPr>
              <a:t>Engine</a:t>
            </a:r>
            <a:endParaRPr sz="2300">
              <a:latin typeface="Arial MT"/>
              <a:cs typeface="Arial MT"/>
            </a:endParaRPr>
          </a:p>
        </p:txBody>
      </p:sp>
      <p:sp>
        <p:nvSpPr>
          <p:cNvPr id="13" name="object 13"/>
          <p:cNvSpPr txBox="1"/>
          <p:nvPr/>
        </p:nvSpPr>
        <p:spPr>
          <a:xfrm>
            <a:off x="13972145" y="6921500"/>
            <a:ext cx="550545" cy="406400"/>
          </a:xfrm>
          <a:prstGeom prst="rect">
            <a:avLst/>
          </a:prstGeom>
        </p:spPr>
        <p:txBody>
          <a:bodyPr vert="horz" wrap="square" lIns="0" tIns="12700" rIns="0" bIns="0" rtlCol="0">
            <a:spAutoFit/>
          </a:bodyPr>
          <a:lstStyle/>
          <a:p>
            <a:pPr marL="12700">
              <a:lnSpc>
                <a:spcPct val="100000"/>
              </a:lnSpc>
              <a:spcBef>
                <a:spcPts val="100"/>
              </a:spcBef>
            </a:pPr>
            <a:r>
              <a:rPr sz="2500" spc="-235" dirty="0">
                <a:latin typeface="Arial MT"/>
                <a:cs typeface="Arial MT"/>
              </a:rPr>
              <a:t>LLM</a:t>
            </a:r>
            <a:endParaRPr sz="2500">
              <a:latin typeface="Arial MT"/>
              <a:cs typeface="Arial MT"/>
            </a:endParaRPr>
          </a:p>
        </p:txBody>
      </p:sp>
      <p:sp>
        <p:nvSpPr>
          <p:cNvPr id="14" name="object 14"/>
          <p:cNvSpPr txBox="1"/>
          <p:nvPr/>
        </p:nvSpPr>
        <p:spPr>
          <a:xfrm>
            <a:off x="15278569" y="6921500"/>
            <a:ext cx="1177290" cy="688975"/>
          </a:xfrm>
          <a:prstGeom prst="rect">
            <a:avLst/>
          </a:prstGeom>
        </p:spPr>
        <p:txBody>
          <a:bodyPr vert="horz" wrap="square" lIns="0" tIns="12700" rIns="0" bIns="0" rtlCol="0">
            <a:spAutoFit/>
          </a:bodyPr>
          <a:lstStyle/>
          <a:p>
            <a:pPr marL="12700">
              <a:lnSpc>
                <a:spcPts val="2700"/>
              </a:lnSpc>
              <a:spcBef>
                <a:spcPts val="100"/>
              </a:spcBef>
            </a:pPr>
            <a:r>
              <a:rPr sz="2500" spc="-150" dirty="0">
                <a:latin typeface="Arial MT"/>
                <a:cs typeface="Arial MT"/>
              </a:rPr>
              <a:t>Auditable</a:t>
            </a:r>
            <a:endParaRPr sz="2500">
              <a:latin typeface="Arial MT"/>
              <a:cs typeface="Arial MT"/>
            </a:endParaRPr>
          </a:p>
          <a:p>
            <a:pPr marL="175260">
              <a:lnSpc>
                <a:spcPts val="2520"/>
              </a:lnSpc>
            </a:pPr>
            <a:r>
              <a:rPr sz="2350" spc="-10" dirty="0">
                <a:latin typeface="Arial MT"/>
                <a:cs typeface="Arial MT"/>
              </a:rPr>
              <a:t>Output</a:t>
            </a:r>
            <a:endParaRPr sz="2350">
              <a:latin typeface="Arial MT"/>
              <a:cs typeface="Arial MT"/>
            </a:endParaRPr>
          </a:p>
        </p:txBody>
      </p:sp>
      <p:sp>
        <p:nvSpPr>
          <p:cNvPr id="15" name="object 15"/>
          <p:cNvSpPr txBox="1"/>
          <p:nvPr/>
        </p:nvSpPr>
        <p:spPr>
          <a:xfrm>
            <a:off x="16114255" y="9439980"/>
            <a:ext cx="1228725" cy="226695"/>
          </a:xfrm>
          <a:prstGeom prst="rect">
            <a:avLst/>
          </a:prstGeom>
        </p:spPr>
        <p:txBody>
          <a:bodyPr vert="horz" wrap="square" lIns="0" tIns="15240" rIns="0" bIns="0" rtlCol="0">
            <a:spAutoFit/>
          </a:bodyPr>
          <a:lstStyle/>
          <a:p>
            <a:pPr marL="12700">
              <a:lnSpc>
                <a:spcPct val="100000"/>
              </a:lnSpc>
              <a:spcBef>
                <a:spcPts val="120"/>
              </a:spcBef>
            </a:pPr>
            <a:r>
              <a:rPr sz="1300" dirty="0">
                <a:latin typeface="Arial MT"/>
                <a:cs typeface="Arial MT"/>
              </a:rPr>
              <a:t>W</a:t>
            </a:r>
            <a:r>
              <a:rPr sz="1300" spc="315" dirty="0">
                <a:latin typeface="Arial MT"/>
                <a:cs typeface="Arial MT"/>
              </a:rPr>
              <a:t> </a:t>
            </a:r>
            <a:r>
              <a:rPr sz="1300" spc="-10" dirty="0">
                <a:latin typeface="Arial MT"/>
                <a:cs typeface="Arial MT"/>
              </a:rPr>
              <a:t>NotebaokLM</a:t>
            </a:r>
            <a:endParaRPr sz="1300">
              <a:latin typeface="Arial MT"/>
              <a:cs typeface="Arial M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826000" y="1879600"/>
            <a:ext cx="7823200" cy="7315200"/>
          </a:xfrm>
          <a:prstGeom prst="rect">
            <a:avLst/>
          </a:prstGeom>
        </p:spPr>
      </p:pic>
      <p:sp>
        <p:nvSpPr>
          <p:cNvPr id="3" name="object 3"/>
          <p:cNvSpPr/>
          <p:nvPr/>
        </p:nvSpPr>
        <p:spPr>
          <a:xfrm>
            <a:off x="319616" y="347132"/>
            <a:ext cx="0" cy="9131300"/>
          </a:xfrm>
          <a:custGeom>
            <a:avLst/>
            <a:gdLst/>
            <a:ahLst/>
            <a:cxnLst/>
            <a:rect l="l" t="t" r="r" b="b"/>
            <a:pathLst>
              <a:path h="9131300">
                <a:moveTo>
                  <a:pt x="0" y="9131300"/>
                </a:moveTo>
                <a:lnTo>
                  <a:pt x="0" y="0"/>
                </a:lnTo>
              </a:path>
            </a:pathLst>
          </a:custGeom>
          <a:ln w="12700">
            <a:solidFill>
              <a:srgbClr val="5B6464"/>
            </a:solidFill>
          </a:ln>
        </p:spPr>
        <p:txBody>
          <a:bodyPr wrap="square" lIns="0" tIns="0" rIns="0" bIns="0" rtlCol="0"/>
          <a:lstStyle/>
          <a:p>
            <a:endParaRPr/>
          </a:p>
        </p:txBody>
      </p:sp>
      <p:grpSp>
        <p:nvGrpSpPr>
          <p:cNvPr id="4" name="object 4"/>
          <p:cNvGrpSpPr/>
          <p:nvPr/>
        </p:nvGrpSpPr>
        <p:grpSpPr>
          <a:xfrm>
            <a:off x="313266" y="347132"/>
            <a:ext cx="16789400" cy="9131300"/>
            <a:chOff x="313266" y="347132"/>
            <a:chExt cx="16789400" cy="9131300"/>
          </a:xfrm>
        </p:grpSpPr>
        <p:sp>
          <p:nvSpPr>
            <p:cNvPr id="5" name="object 5"/>
            <p:cNvSpPr/>
            <p:nvPr/>
          </p:nvSpPr>
          <p:spPr>
            <a:xfrm>
              <a:off x="17096321" y="347132"/>
              <a:ext cx="0" cy="9131300"/>
            </a:xfrm>
            <a:custGeom>
              <a:avLst/>
              <a:gdLst/>
              <a:ahLst/>
              <a:cxnLst/>
              <a:rect l="l" t="t" r="r" b="b"/>
              <a:pathLst>
                <a:path h="9131300">
                  <a:moveTo>
                    <a:pt x="0" y="9131300"/>
                  </a:moveTo>
                  <a:lnTo>
                    <a:pt x="0" y="0"/>
                  </a:lnTo>
                </a:path>
              </a:pathLst>
            </a:custGeom>
            <a:ln w="12700">
              <a:solidFill>
                <a:srgbClr val="5B6464"/>
              </a:solidFill>
            </a:ln>
          </p:spPr>
          <p:txBody>
            <a:bodyPr wrap="square" lIns="0" tIns="0" rIns="0" bIns="0" rtlCol="0"/>
            <a:lstStyle/>
            <a:p>
              <a:endParaRPr/>
            </a:p>
          </p:txBody>
        </p:sp>
        <p:sp>
          <p:nvSpPr>
            <p:cNvPr id="6" name="object 6"/>
            <p:cNvSpPr/>
            <p:nvPr/>
          </p:nvSpPr>
          <p:spPr>
            <a:xfrm>
              <a:off x="313266" y="353482"/>
              <a:ext cx="16789400" cy="0"/>
            </a:xfrm>
            <a:custGeom>
              <a:avLst/>
              <a:gdLst/>
              <a:ahLst/>
              <a:cxnLst/>
              <a:rect l="l" t="t" r="r" b="b"/>
              <a:pathLst>
                <a:path w="16789400">
                  <a:moveTo>
                    <a:pt x="0" y="0"/>
                  </a:moveTo>
                  <a:lnTo>
                    <a:pt x="16789400" y="0"/>
                  </a:lnTo>
                </a:path>
              </a:pathLst>
            </a:custGeom>
            <a:ln w="12700">
              <a:solidFill>
                <a:srgbClr val="5B6464"/>
              </a:solidFill>
            </a:ln>
          </p:spPr>
          <p:txBody>
            <a:bodyPr wrap="square" lIns="0" tIns="0" rIns="0" bIns="0" rtlCol="0"/>
            <a:lstStyle/>
            <a:p>
              <a:endParaRPr/>
            </a:p>
          </p:txBody>
        </p:sp>
        <p:sp>
          <p:nvSpPr>
            <p:cNvPr id="7" name="object 7"/>
            <p:cNvSpPr/>
            <p:nvPr/>
          </p:nvSpPr>
          <p:spPr>
            <a:xfrm>
              <a:off x="313266" y="9472082"/>
              <a:ext cx="16789400" cy="0"/>
            </a:xfrm>
            <a:custGeom>
              <a:avLst/>
              <a:gdLst/>
              <a:ahLst/>
              <a:cxnLst/>
              <a:rect l="l" t="t" r="r" b="b"/>
              <a:pathLst>
                <a:path w="16789400">
                  <a:moveTo>
                    <a:pt x="0" y="0"/>
                  </a:moveTo>
                  <a:lnTo>
                    <a:pt x="16789400" y="0"/>
                  </a:lnTo>
                </a:path>
              </a:pathLst>
            </a:custGeom>
            <a:ln w="12700">
              <a:solidFill>
                <a:srgbClr val="5B6464"/>
              </a:solidFill>
            </a:ln>
          </p:spPr>
          <p:txBody>
            <a:bodyPr wrap="square" lIns="0" tIns="0" rIns="0" bIns="0" rtlCol="0"/>
            <a:lstStyle/>
            <a:p>
              <a:endParaRPr/>
            </a:p>
          </p:txBody>
        </p:sp>
      </p:grpSp>
      <p:sp>
        <p:nvSpPr>
          <p:cNvPr id="8" name="object 8"/>
          <p:cNvSpPr txBox="1">
            <a:spLocks noGrp="1"/>
          </p:cNvSpPr>
          <p:nvPr>
            <p:ph type="title"/>
          </p:nvPr>
        </p:nvSpPr>
        <p:spPr>
          <a:xfrm>
            <a:off x="952566" y="734483"/>
            <a:ext cx="10609580" cy="1041400"/>
          </a:xfrm>
          <a:prstGeom prst="rect">
            <a:avLst/>
          </a:prstGeom>
        </p:spPr>
        <p:txBody>
          <a:bodyPr vert="horz" wrap="square" lIns="0" tIns="14604" rIns="0" bIns="0" rtlCol="0">
            <a:spAutoFit/>
          </a:bodyPr>
          <a:lstStyle/>
          <a:p>
            <a:pPr marL="12700">
              <a:lnSpc>
                <a:spcPct val="100000"/>
              </a:lnSpc>
              <a:spcBef>
                <a:spcPts val="114"/>
              </a:spcBef>
            </a:pPr>
            <a:r>
              <a:rPr sz="6650" spc="-50" dirty="0">
                <a:solidFill>
                  <a:srgbClr val="2B2B2B"/>
                </a:solidFill>
                <a:latin typeface="Arial MT"/>
                <a:cs typeface="Arial MT"/>
              </a:rPr>
              <a:t>Strategic</a:t>
            </a:r>
            <a:r>
              <a:rPr sz="6650" spc="-350" dirty="0">
                <a:solidFill>
                  <a:srgbClr val="2B2B2B"/>
                </a:solidFill>
                <a:latin typeface="Arial MT"/>
                <a:cs typeface="Arial MT"/>
              </a:rPr>
              <a:t> </a:t>
            </a:r>
            <a:r>
              <a:rPr sz="6650" spc="-145" dirty="0">
                <a:solidFill>
                  <a:srgbClr val="282828"/>
                </a:solidFill>
                <a:latin typeface="Arial MT"/>
                <a:cs typeface="Arial MT"/>
              </a:rPr>
              <a:t>Business</a:t>
            </a:r>
            <a:r>
              <a:rPr sz="6650" spc="-315" dirty="0">
                <a:solidFill>
                  <a:srgbClr val="282828"/>
                </a:solidFill>
                <a:latin typeface="Arial MT"/>
                <a:cs typeface="Arial MT"/>
              </a:rPr>
              <a:t> </a:t>
            </a:r>
            <a:r>
              <a:rPr sz="6650" spc="-204" dirty="0">
                <a:solidFill>
                  <a:srgbClr val="232323"/>
                </a:solidFill>
                <a:latin typeface="Arial MT"/>
                <a:cs typeface="Arial MT"/>
              </a:rPr>
              <a:t>Outcomes</a:t>
            </a:r>
            <a:endParaRPr sz="6650">
              <a:latin typeface="Arial MT"/>
              <a:cs typeface="Arial MT"/>
            </a:endParaRPr>
          </a:p>
        </p:txBody>
      </p:sp>
      <p:sp>
        <p:nvSpPr>
          <p:cNvPr id="9" name="object 9"/>
          <p:cNvSpPr txBox="1"/>
          <p:nvPr/>
        </p:nvSpPr>
        <p:spPr>
          <a:xfrm>
            <a:off x="1107951" y="6564489"/>
            <a:ext cx="3585845" cy="1557020"/>
          </a:xfrm>
          <a:prstGeom prst="rect">
            <a:avLst/>
          </a:prstGeom>
        </p:spPr>
        <p:txBody>
          <a:bodyPr vert="horz" wrap="square" lIns="0" tIns="64135" rIns="0" bIns="0" rtlCol="0">
            <a:spAutoFit/>
          </a:bodyPr>
          <a:lstStyle/>
          <a:p>
            <a:pPr marL="12700" marR="5080">
              <a:lnSpc>
                <a:spcPct val="85900"/>
              </a:lnSpc>
              <a:spcBef>
                <a:spcPts val="505"/>
              </a:spcBef>
            </a:pPr>
            <a:r>
              <a:rPr sz="2350" spc="-155" dirty="0">
                <a:latin typeface="Arial MT"/>
                <a:cs typeface="Arial MT"/>
              </a:rPr>
              <a:t>Linear</a:t>
            </a:r>
            <a:r>
              <a:rPr sz="2350" spc="70" dirty="0">
                <a:latin typeface="Arial MT"/>
                <a:cs typeface="Arial MT"/>
              </a:rPr>
              <a:t> </a:t>
            </a:r>
            <a:r>
              <a:rPr sz="2350" spc="-135" dirty="0">
                <a:latin typeface="Arial MT"/>
                <a:cs typeface="Arial MT"/>
              </a:rPr>
              <a:t>scaling</a:t>
            </a:r>
            <a:r>
              <a:rPr sz="2350" spc="-35" dirty="0">
                <a:latin typeface="Arial MT"/>
                <a:cs typeface="Arial MT"/>
              </a:rPr>
              <a:t> </a:t>
            </a:r>
            <a:r>
              <a:rPr sz="2350" spc="-170" dirty="0">
                <a:latin typeface="Arial MT"/>
                <a:cs typeface="Arial MT"/>
              </a:rPr>
              <a:t>and</a:t>
            </a:r>
            <a:r>
              <a:rPr sz="2350" spc="-190" dirty="0">
                <a:latin typeface="Arial MT"/>
                <a:cs typeface="Arial MT"/>
              </a:rPr>
              <a:t> </a:t>
            </a:r>
            <a:r>
              <a:rPr sz="2350" spc="-45" dirty="0">
                <a:latin typeface="Arial MT"/>
                <a:cs typeface="Arial MT"/>
              </a:rPr>
              <a:t>bounded </a:t>
            </a:r>
            <a:r>
              <a:rPr sz="2200" spc="-90" dirty="0">
                <a:latin typeface="Arial MT"/>
                <a:cs typeface="Arial MT"/>
              </a:rPr>
              <a:t>latency.</a:t>
            </a:r>
            <a:r>
              <a:rPr sz="2200" spc="-65" dirty="0">
                <a:latin typeface="Arial MT"/>
                <a:cs typeface="Arial MT"/>
              </a:rPr>
              <a:t> </a:t>
            </a:r>
            <a:r>
              <a:rPr sz="2200" spc="-100" dirty="0">
                <a:latin typeface="Arial MT"/>
                <a:cs typeface="Arial MT"/>
              </a:rPr>
              <a:t>Slash</a:t>
            </a:r>
            <a:r>
              <a:rPr sz="2200" spc="-55" dirty="0">
                <a:latin typeface="Arial MT"/>
                <a:cs typeface="Arial MT"/>
              </a:rPr>
              <a:t> resolution</a:t>
            </a:r>
            <a:r>
              <a:rPr sz="2200" spc="30" dirty="0">
                <a:latin typeface="Arial MT"/>
                <a:cs typeface="Arial MT"/>
              </a:rPr>
              <a:t> </a:t>
            </a:r>
            <a:r>
              <a:rPr sz="2200" spc="-10" dirty="0">
                <a:latin typeface="Arial MT"/>
                <a:cs typeface="Arial MT"/>
              </a:rPr>
              <a:t>times </a:t>
            </a:r>
            <a:r>
              <a:rPr sz="2200" spc="-125" dirty="0">
                <a:latin typeface="Arial MT"/>
                <a:cs typeface="Arial MT"/>
              </a:rPr>
              <a:t>by</a:t>
            </a:r>
            <a:r>
              <a:rPr sz="2200" spc="-45" dirty="0">
                <a:latin typeface="Arial MT"/>
                <a:cs typeface="Arial MT"/>
              </a:rPr>
              <a:t> </a:t>
            </a:r>
            <a:r>
              <a:rPr sz="2200" spc="-185" dirty="0">
                <a:latin typeface="Arial MT"/>
                <a:cs typeface="Arial MT"/>
              </a:rPr>
              <a:t>20°4+</a:t>
            </a:r>
            <a:r>
              <a:rPr sz="2200" spc="90" dirty="0">
                <a:latin typeface="Arial MT"/>
                <a:cs typeface="Arial MT"/>
              </a:rPr>
              <a:t> </a:t>
            </a:r>
            <a:r>
              <a:rPr sz="2200" spc="-75" dirty="0">
                <a:latin typeface="Arial MT"/>
                <a:cs typeface="Arial MT"/>
              </a:rPr>
              <a:t>while</a:t>
            </a:r>
            <a:r>
              <a:rPr sz="2200" spc="-60" dirty="0">
                <a:latin typeface="Arial MT"/>
                <a:cs typeface="Arial MT"/>
              </a:rPr>
              <a:t> </a:t>
            </a:r>
            <a:r>
              <a:rPr sz="2200" spc="-10" dirty="0">
                <a:latin typeface="Arial MT"/>
                <a:cs typeface="Arial MT"/>
              </a:rPr>
              <a:t>bypassing </a:t>
            </a:r>
            <a:r>
              <a:rPr sz="2350" spc="-170" dirty="0">
                <a:latin typeface="Arial MT"/>
                <a:cs typeface="Arial MT"/>
              </a:rPr>
              <a:t>massive</a:t>
            </a:r>
            <a:r>
              <a:rPr sz="2350" spc="-15" dirty="0">
                <a:latin typeface="Arial MT"/>
                <a:cs typeface="Arial MT"/>
              </a:rPr>
              <a:t> </a:t>
            </a:r>
            <a:r>
              <a:rPr sz="2350" spc="-229" dirty="0">
                <a:latin typeface="Arial MT"/>
                <a:cs typeface="Arial MT"/>
              </a:rPr>
              <a:t>LLM</a:t>
            </a:r>
            <a:r>
              <a:rPr sz="2350" spc="20" dirty="0">
                <a:latin typeface="Arial MT"/>
                <a:cs typeface="Arial MT"/>
              </a:rPr>
              <a:t> </a:t>
            </a:r>
            <a:r>
              <a:rPr sz="2350" spc="-150" dirty="0">
                <a:latin typeface="Arial MT"/>
                <a:cs typeface="Arial MT"/>
              </a:rPr>
              <a:t>compute</a:t>
            </a:r>
            <a:r>
              <a:rPr sz="2350" spc="50" dirty="0">
                <a:latin typeface="Arial MT"/>
                <a:cs typeface="Arial MT"/>
              </a:rPr>
              <a:t> </a:t>
            </a:r>
            <a:r>
              <a:rPr sz="2350" spc="-10" dirty="0">
                <a:latin typeface="Arial MT"/>
                <a:cs typeface="Arial MT"/>
              </a:rPr>
              <a:t>costs </a:t>
            </a:r>
            <a:r>
              <a:rPr sz="2200" spc="-55" dirty="0">
                <a:latin typeface="Arial MT"/>
                <a:cs typeface="Arial MT"/>
              </a:rPr>
              <a:t>during </a:t>
            </a:r>
            <a:r>
              <a:rPr sz="2200" spc="-10" dirty="0">
                <a:latin typeface="Arial MT"/>
                <a:cs typeface="Arial MT"/>
              </a:rPr>
              <a:t>indexing.</a:t>
            </a:r>
            <a:endParaRPr sz="2200">
              <a:latin typeface="Arial MT"/>
              <a:cs typeface="Arial MT"/>
            </a:endParaRPr>
          </a:p>
        </p:txBody>
      </p:sp>
      <p:sp>
        <p:nvSpPr>
          <p:cNvPr id="10" name="object 10"/>
          <p:cNvSpPr txBox="1"/>
          <p:nvPr/>
        </p:nvSpPr>
        <p:spPr>
          <a:xfrm>
            <a:off x="6996781" y="2260952"/>
            <a:ext cx="3447415" cy="2067560"/>
          </a:xfrm>
          <a:prstGeom prst="rect">
            <a:avLst/>
          </a:prstGeom>
        </p:spPr>
        <p:txBody>
          <a:bodyPr vert="horz" wrap="square" lIns="0" tIns="79375" rIns="0" bIns="0" rtlCol="0">
            <a:spAutoFit/>
          </a:bodyPr>
          <a:lstStyle/>
          <a:p>
            <a:pPr marL="835660" marR="828675" algn="ctr">
              <a:lnSpc>
                <a:spcPts val="2900"/>
              </a:lnSpc>
              <a:spcBef>
                <a:spcPts val="625"/>
              </a:spcBef>
            </a:pPr>
            <a:r>
              <a:rPr sz="2850" spc="-80" dirty="0">
                <a:latin typeface="Arial MT"/>
                <a:cs typeface="Arial MT"/>
              </a:rPr>
              <a:t>Unmatched </a:t>
            </a:r>
            <a:r>
              <a:rPr sz="2850" spc="-10" dirty="0">
                <a:latin typeface="Arial MT"/>
                <a:cs typeface="Arial MT"/>
              </a:rPr>
              <a:t>Accuracy</a:t>
            </a:r>
            <a:endParaRPr sz="2850">
              <a:latin typeface="Arial MT"/>
              <a:cs typeface="Arial MT"/>
            </a:endParaRPr>
          </a:p>
          <a:p>
            <a:pPr marL="12700" marR="5080" algn="ctr">
              <a:lnSpc>
                <a:spcPct val="90400"/>
              </a:lnSpc>
              <a:spcBef>
                <a:spcPts val="420"/>
              </a:spcBef>
            </a:pPr>
            <a:r>
              <a:rPr sz="2150" spc="-100" dirty="0">
                <a:latin typeface="Arial MT"/>
                <a:cs typeface="Arial MT"/>
              </a:rPr>
              <a:t>Conquer</a:t>
            </a:r>
            <a:r>
              <a:rPr sz="2150" spc="-30" dirty="0">
                <a:latin typeface="Arial MT"/>
                <a:cs typeface="Arial MT"/>
              </a:rPr>
              <a:t> </a:t>
            </a:r>
            <a:r>
              <a:rPr sz="2150" spc="-40" dirty="0">
                <a:latin typeface="Arial MT"/>
                <a:cs typeface="Arial MT"/>
              </a:rPr>
              <a:t>complex,</a:t>
            </a:r>
            <a:r>
              <a:rPr sz="2150" spc="-90" dirty="0">
                <a:latin typeface="Arial MT"/>
                <a:cs typeface="Arial MT"/>
              </a:rPr>
              <a:t> </a:t>
            </a:r>
            <a:r>
              <a:rPr sz="2150" spc="-70" dirty="0">
                <a:latin typeface="Arial MT"/>
                <a:cs typeface="Arial MT"/>
              </a:rPr>
              <a:t>specialized </a:t>
            </a:r>
            <a:r>
              <a:rPr sz="2150" spc="-80" dirty="0">
                <a:latin typeface="Arial MT"/>
                <a:cs typeface="Arial MT"/>
              </a:rPr>
              <a:t>legacy</a:t>
            </a:r>
            <a:r>
              <a:rPr sz="2150" spc="-70" dirty="0">
                <a:latin typeface="Arial MT"/>
                <a:cs typeface="Arial MT"/>
              </a:rPr>
              <a:t> </a:t>
            </a:r>
            <a:r>
              <a:rPr sz="2150" spc="-10" dirty="0">
                <a:latin typeface="Arial MT"/>
                <a:cs typeface="Arial MT"/>
              </a:rPr>
              <a:t>data</a:t>
            </a:r>
            <a:r>
              <a:rPr sz="2150" spc="-80" dirty="0">
                <a:latin typeface="Arial MT"/>
                <a:cs typeface="Arial MT"/>
              </a:rPr>
              <a:t> </a:t>
            </a:r>
            <a:r>
              <a:rPr sz="2150" spc="-10" dirty="0">
                <a:latin typeface="Arial MT"/>
                <a:cs typeface="Arial MT"/>
              </a:rPr>
              <a:t>with</a:t>
            </a:r>
            <a:r>
              <a:rPr sz="2150" spc="-130" dirty="0">
                <a:latin typeface="Arial MT"/>
                <a:cs typeface="Arial MT"/>
              </a:rPr>
              <a:t> </a:t>
            </a:r>
            <a:r>
              <a:rPr sz="2150" spc="-55" dirty="0">
                <a:latin typeface="Arial MT"/>
                <a:cs typeface="Arial MT"/>
              </a:rPr>
              <a:t>multi-</a:t>
            </a:r>
            <a:r>
              <a:rPr sz="2150" spc="-25" dirty="0">
                <a:latin typeface="Arial MT"/>
                <a:cs typeface="Arial MT"/>
              </a:rPr>
              <a:t>hop </a:t>
            </a:r>
            <a:r>
              <a:rPr sz="2150" spc="-60" dirty="0">
                <a:latin typeface="Arial MT"/>
                <a:cs typeface="Arial MT"/>
              </a:rPr>
              <a:t>reasoning</a:t>
            </a:r>
            <a:r>
              <a:rPr sz="2150" spc="-90" dirty="0">
                <a:latin typeface="Arial MT"/>
                <a:cs typeface="Arial MT"/>
              </a:rPr>
              <a:t> </a:t>
            </a:r>
            <a:r>
              <a:rPr sz="2150" spc="-85" dirty="0">
                <a:latin typeface="Arial MT"/>
                <a:cs typeface="Arial MT"/>
              </a:rPr>
              <a:t>and</a:t>
            </a:r>
            <a:r>
              <a:rPr sz="2150" spc="-65" dirty="0">
                <a:latin typeface="Arial MT"/>
                <a:cs typeface="Arial MT"/>
              </a:rPr>
              <a:t> </a:t>
            </a:r>
            <a:r>
              <a:rPr sz="2150" dirty="0">
                <a:latin typeface="Arial MT"/>
                <a:cs typeface="Arial MT"/>
              </a:rPr>
              <a:t>holistic</a:t>
            </a:r>
            <a:r>
              <a:rPr sz="2150" spc="-100" dirty="0">
                <a:latin typeface="Arial MT"/>
                <a:cs typeface="Arial MT"/>
              </a:rPr>
              <a:t> </a:t>
            </a:r>
            <a:r>
              <a:rPr sz="2150" spc="-10" dirty="0">
                <a:latin typeface="Arial MT"/>
                <a:cs typeface="Arial MT"/>
              </a:rPr>
              <a:t>entity summaries.</a:t>
            </a:r>
            <a:endParaRPr sz="2150">
              <a:latin typeface="Arial MT"/>
              <a:cs typeface="Arial MT"/>
            </a:endParaRPr>
          </a:p>
        </p:txBody>
      </p:sp>
      <p:sp>
        <p:nvSpPr>
          <p:cNvPr id="11" name="object 11"/>
          <p:cNvSpPr txBox="1"/>
          <p:nvPr/>
        </p:nvSpPr>
        <p:spPr>
          <a:xfrm>
            <a:off x="5365613" y="6607175"/>
            <a:ext cx="1851025" cy="882650"/>
          </a:xfrm>
          <a:prstGeom prst="rect">
            <a:avLst/>
          </a:prstGeom>
        </p:spPr>
        <p:txBody>
          <a:bodyPr vert="horz" wrap="square" lIns="0" tIns="104775" rIns="0" bIns="0" rtlCol="0">
            <a:spAutoFit/>
          </a:bodyPr>
          <a:lstStyle/>
          <a:p>
            <a:pPr marL="152400" marR="5080" indent="-140335">
              <a:lnSpc>
                <a:spcPts val="3000"/>
              </a:lnSpc>
              <a:spcBef>
                <a:spcPts val="825"/>
              </a:spcBef>
            </a:pPr>
            <a:r>
              <a:rPr sz="3100" spc="-160" dirty="0">
                <a:latin typeface="Arial MT"/>
                <a:cs typeface="Arial MT"/>
              </a:rPr>
              <a:t>Operational </a:t>
            </a:r>
            <a:r>
              <a:rPr sz="3100" spc="-20" dirty="0">
                <a:latin typeface="Arial MT"/>
                <a:cs typeface="Arial MT"/>
              </a:rPr>
              <a:t>Efficiency</a:t>
            </a:r>
            <a:endParaRPr sz="3100">
              <a:latin typeface="Arial MT"/>
              <a:cs typeface="Arial MT"/>
            </a:endParaRPr>
          </a:p>
        </p:txBody>
      </p:sp>
      <p:sp>
        <p:nvSpPr>
          <p:cNvPr id="12" name="object 12"/>
          <p:cNvSpPr txBox="1"/>
          <p:nvPr/>
        </p:nvSpPr>
        <p:spPr>
          <a:xfrm>
            <a:off x="10204609" y="6624814"/>
            <a:ext cx="1907539" cy="861694"/>
          </a:xfrm>
          <a:prstGeom prst="rect">
            <a:avLst/>
          </a:prstGeom>
        </p:spPr>
        <p:txBody>
          <a:bodyPr vert="horz" wrap="square" lIns="0" tIns="86995" rIns="0" bIns="0" rtlCol="0">
            <a:spAutoFit/>
          </a:bodyPr>
          <a:lstStyle/>
          <a:p>
            <a:pPr marL="12700" marR="5080" indent="77470">
              <a:lnSpc>
                <a:spcPts val="3000"/>
              </a:lnSpc>
              <a:spcBef>
                <a:spcPts val="685"/>
              </a:spcBef>
            </a:pPr>
            <a:r>
              <a:rPr sz="2950" spc="-10" dirty="0">
                <a:latin typeface="Arial MT"/>
                <a:cs typeface="Arial MT"/>
              </a:rPr>
              <a:t>Regulatory </a:t>
            </a:r>
            <a:r>
              <a:rPr sz="2950" spc="-85" dirty="0">
                <a:latin typeface="Arial MT"/>
                <a:cs typeface="Arial MT"/>
              </a:rPr>
              <a:t>Compliance</a:t>
            </a:r>
            <a:endParaRPr sz="2950">
              <a:latin typeface="Arial MT"/>
              <a:cs typeface="Arial MT"/>
            </a:endParaRPr>
          </a:p>
        </p:txBody>
      </p:sp>
      <p:sp>
        <p:nvSpPr>
          <p:cNvPr id="13" name="object 13"/>
          <p:cNvSpPr txBox="1"/>
          <p:nvPr/>
        </p:nvSpPr>
        <p:spPr>
          <a:xfrm>
            <a:off x="13019875" y="6573308"/>
            <a:ext cx="3425825" cy="1549400"/>
          </a:xfrm>
          <a:prstGeom prst="rect">
            <a:avLst/>
          </a:prstGeom>
        </p:spPr>
        <p:txBody>
          <a:bodyPr vert="horz" wrap="square" lIns="0" tIns="64769" rIns="0" bIns="0" rtlCol="0">
            <a:spAutoFit/>
          </a:bodyPr>
          <a:lstStyle/>
          <a:p>
            <a:pPr marL="12700" marR="5080">
              <a:lnSpc>
                <a:spcPct val="84700"/>
              </a:lnSpc>
              <a:spcBef>
                <a:spcPts val="509"/>
              </a:spcBef>
            </a:pPr>
            <a:r>
              <a:rPr sz="2300" spc="-120" dirty="0">
                <a:latin typeface="Arial MT"/>
                <a:cs typeface="Arial MT"/>
              </a:rPr>
              <a:t>Eliminate</a:t>
            </a:r>
            <a:r>
              <a:rPr sz="2300" spc="20" dirty="0">
                <a:latin typeface="Arial MT"/>
                <a:cs typeface="Arial MT"/>
              </a:rPr>
              <a:t> </a:t>
            </a:r>
            <a:r>
              <a:rPr sz="2300" spc="-95" dirty="0">
                <a:latin typeface="Arial MT"/>
                <a:cs typeface="Arial MT"/>
              </a:rPr>
              <a:t>the</a:t>
            </a:r>
            <a:r>
              <a:rPr sz="2300" spc="-114" dirty="0">
                <a:latin typeface="Arial MT"/>
                <a:cs typeface="Arial MT"/>
              </a:rPr>
              <a:t> </a:t>
            </a:r>
            <a:r>
              <a:rPr sz="2300" spc="-125" dirty="0">
                <a:latin typeface="Arial MT"/>
                <a:cs typeface="Arial MT"/>
              </a:rPr>
              <a:t>black</a:t>
            </a:r>
            <a:r>
              <a:rPr sz="2300" spc="-5" dirty="0">
                <a:latin typeface="Arial MT"/>
                <a:cs typeface="Arial MT"/>
              </a:rPr>
              <a:t> </a:t>
            </a:r>
            <a:r>
              <a:rPr sz="2300" spc="-20" dirty="0">
                <a:latin typeface="Arial MT"/>
                <a:cs typeface="Arial MT"/>
              </a:rPr>
              <a:t>box. </a:t>
            </a:r>
            <a:r>
              <a:rPr sz="2300" spc="-180" dirty="0">
                <a:latin typeface="Arial MT"/>
                <a:cs typeface="Arial MT"/>
              </a:rPr>
              <a:t>Expose</a:t>
            </a:r>
            <a:r>
              <a:rPr sz="2300" spc="-70" dirty="0">
                <a:latin typeface="Arial MT"/>
                <a:cs typeface="Arial MT"/>
              </a:rPr>
              <a:t> </a:t>
            </a:r>
            <a:r>
              <a:rPr sz="2300" spc="-125" dirty="0">
                <a:latin typeface="Arial MT"/>
                <a:cs typeface="Arial MT"/>
              </a:rPr>
              <a:t>exact</a:t>
            </a:r>
            <a:r>
              <a:rPr sz="2300" spc="30" dirty="0">
                <a:latin typeface="Arial MT"/>
                <a:cs typeface="Arial MT"/>
              </a:rPr>
              <a:t> </a:t>
            </a:r>
            <a:r>
              <a:rPr sz="2300" spc="-20" dirty="0">
                <a:latin typeface="Arial MT"/>
                <a:cs typeface="Arial MT"/>
              </a:rPr>
              <a:t>reasoning </a:t>
            </a:r>
            <a:r>
              <a:rPr sz="2200" spc="-85" dirty="0">
                <a:latin typeface="Arial MT"/>
                <a:cs typeface="Arial MT"/>
              </a:rPr>
              <a:t>processes,</a:t>
            </a:r>
            <a:r>
              <a:rPr sz="2200" spc="-45" dirty="0">
                <a:latin typeface="Arial MT"/>
                <a:cs typeface="Arial MT"/>
              </a:rPr>
              <a:t> </a:t>
            </a:r>
            <a:r>
              <a:rPr sz="2200" spc="-80" dirty="0">
                <a:latin typeface="Arial MT"/>
                <a:cs typeface="Arial MT"/>
              </a:rPr>
              <a:t>subqueries,</a:t>
            </a:r>
            <a:r>
              <a:rPr sz="2200" spc="-70" dirty="0">
                <a:latin typeface="Arial MT"/>
                <a:cs typeface="Arial MT"/>
              </a:rPr>
              <a:t> </a:t>
            </a:r>
            <a:r>
              <a:rPr sz="2200" spc="-25" dirty="0">
                <a:latin typeface="Arial MT"/>
                <a:cs typeface="Arial MT"/>
              </a:rPr>
              <a:t>and </a:t>
            </a:r>
            <a:r>
              <a:rPr sz="2300" spc="-114" dirty="0">
                <a:latin typeface="Arial MT"/>
                <a:cs typeface="Arial MT"/>
              </a:rPr>
              <a:t>transparent</a:t>
            </a:r>
            <a:r>
              <a:rPr sz="2300" spc="40" dirty="0">
                <a:latin typeface="Arial MT"/>
                <a:cs typeface="Arial MT"/>
              </a:rPr>
              <a:t> </a:t>
            </a:r>
            <a:r>
              <a:rPr sz="2300" spc="-95" dirty="0">
                <a:latin typeface="Arial MT"/>
                <a:cs typeface="Arial MT"/>
              </a:rPr>
              <a:t>audit</a:t>
            </a:r>
            <a:r>
              <a:rPr sz="2300" spc="-10" dirty="0">
                <a:latin typeface="Arial MT"/>
                <a:cs typeface="Arial MT"/>
              </a:rPr>
              <a:t> </a:t>
            </a:r>
            <a:r>
              <a:rPr sz="2300" spc="-60" dirty="0">
                <a:latin typeface="Arial MT"/>
                <a:cs typeface="Arial MT"/>
              </a:rPr>
              <a:t>trails</a:t>
            </a:r>
            <a:r>
              <a:rPr sz="2300" spc="-100" dirty="0">
                <a:latin typeface="Arial MT"/>
                <a:cs typeface="Arial MT"/>
              </a:rPr>
              <a:t> </a:t>
            </a:r>
            <a:r>
              <a:rPr sz="2300" spc="-25" dirty="0">
                <a:latin typeface="Arial MT"/>
                <a:cs typeface="Arial MT"/>
              </a:rPr>
              <a:t>for </a:t>
            </a:r>
            <a:r>
              <a:rPr sz="2300" spc="-165" dirty="0">
                <a:latin typeface="Arial MT"/>
                <a:cs typeface="Arial MT"/>
              </a:rPr>
              <a:t>every</a:t>
            </a:r>
            <a:r>
              <a:rPr sz="2300" spc="40" dirty="0">
                <a:latin typeface="Arial MT"/>
                <a:cs typeface="Arial MT"/>
              </a:rPr>
              <a:t> </a:t>
            </a:r>
            <a:r>
              <a:rPr sz="2300" spc="-135" dirty="0">
                <a:latin typeface="Arial MT"/>
                <a:cs typeface="Arial MT"/>
              </a:rPr>
              <a:t>Al-</a:t>
            </a:r>
            <a:r>
              <a:rPr sz="2300" spc="-150" dirty="0">
                <a:latin typeface="Arial MT"/>
                <a:cs typeface="Arial MT"/>
              </a:rPr>
              <a:t>generated</a:t>
            </a:r>
            <a:r>
              <a:rPr sz="2300" spc="20" dirty="0">
                <a:latin typeface="Arial MT"/>
                <a:cs typeface="Arial MT"/>
              </a:rPr>
              <a:t> </a:t>
            </a:r>
            <a:r>
              <a:rPr sz="2300" spc="-100" dirty="0">
                <a:latin typeface="Arial MT"/>
                <a:cs typeface="Arial MT"/>
              </a:rPr>
              <a:t>response.</a:t>
            </a:r>
            <a:endParaRPr sz="2300">
              <a:latin typeface="Arial MT"/>
              <a:cs typeface="Arial MT"/>
            </a:endParaRPr>
          </a:p>
        </p:txBody>
      </p:sp>
      <p:sp>
        <p:nvSpPr>
          <p:cNvPr id="14" name="object 14"/>
          <p:cNvSpPr txBox="1"/>
          <p:nvPr/>
        </p:nvSpPr>
        <p:spPr>
          <a:xfrm>
            <a:off x="16114255" y="9439980"/>
            <a:ext cx="1228725" cy="226695"/>
          </a:xfrm>
          <a:prstGeom prst="rect">
            <a:avLst/>
          </a:prstGeom>
        </p:spPr>
        <p:txBody>
          <a:bodyPr vert="horz" wrap="square" lIns="0" tIns="15240" rIns="0" bIns="0" rtlCol="0">
            <a:spAutoFit/>
          </a:bodyPr>
          <a:lstStyle/>
          <a:p>
            <a:pPr marL="12700">
              <a:lnSpc>
                <a:spcPct val="100000"/>
              </a:lnSpc>
              <a:spcBef>
                <a:spcPts val="120"/>
              </a:spcBef>
            </a:pPr>
            <a:r>
              <a:rPr sz="1300" dirty="0">
                <a:latin typeface="Arial MT"/>
                <a:cs typeface="Arial MT"/>
              </a:rPr>
              <a:t>W</a:t>
            </a:r>
            <a:r>
              <a:rPr sz="1300" spc="315" dirty="0">
                <a:latin typeface="Arial MT"/>
                <a:cs typeface="Arial MT"/>
              </a:rPr>
              <a:t> </a:t>
            </a:r>
            <a:r>
              <a:rPr sz="1300" spc="-10" dirty="0">
                <a:latin typeface="Arial MT"/>
                <a:cs typeface="Arial MT"/>
              </a:rPr>
              <a:t>NotebaokLM</a:t>
            </a:r>
            <a:endParaRPr sz="1300">
              <a:latin typeface="Arial MT"/>
              <a:cs typeface="Arial M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381000"/>
            <a:ext cx="17475200" cy="8953500"/>
          </a:xfrm>
          <a:prstGeom prst="rect">
            <a:avLst/>
          </a:prstGeom>
        </p:spPr>
      </p:pic>
      <p:sp>
        <p:nvSpPr>
          <p:cNvPr id="3" name="object 3"/>
          <p:cNvSpPr txBox="1">
            <a:spLocks noGrp="1"/>
          </p:cNvSpPr>
          <p:nvPr>
            <p:ph type="title"/>
          </p:nvPr>
        </p:nvSpPr>
        <p:spPr>
          <a:prstGeom prst="rect">
            <a:avLst/>
          </a:prstGeom>
        </p:spPr>
        <p:txBody>
          <a:bodyPr vert="horz" wrap="square" lIns="0" tIns="447675" rIns="0" bIns="0" rtlCol="0">
            <a:spAutoFit/>
          </a:bodyPr>
          <a:lstStyle/>
          <a:p>
            <a:pPr marL="683895">
              <a:lnSpc>
                <a:spcPct val="100000"/>
              </a:lnSpc>
              <a:spcBef>
                <a:spcPts val="125"/>
              </a:spcBef>
            </a:pPr>
            <a:r>
              <a:rPr spc="-994" dirty="0"/>
              <a:t>The</a:t>
            </a:r>
            <a:r>
              <a:rPr spc="-390" dirty="0"/>
              <a:t> </a:t>
            </a:r>
            <a:r>
              <a:rPr spc="-860" dirty="0">
                <a:solidFill>
                  <a:srgbClr val="23344B"/>
                </a:solidFill>
              </a:rPr>
              <a:t>Ask:</a:t>
            </a:r>
            <a:r>
              <a:rPr spc="-655" dirty="0">
                <a:solidFill>
                  <a:srgbClr val="23344B"/>
                </a:solidFill>
              </a:rPr>
              <a:t> </a:t>
            </a:r>
            <a:r>
              <a:rPr spc="-750" dirty="0">
                <a:solidFill>
                  <a:srgbClr val="213449"/>
                </a:solidFill>
              </a:rPr>
              <a:t>A</a:t>
            </a:r>
            <a:r>
              <a:rPr spc="-810" dirty="0">
                <a:solidFill>
                  <a:srgbClr val="213449"/>
                </a:solidFill>
              </a:rPr>
              <a:t> </a:t>
            </a:r>
            <a:r>
              <a:rPr spc="-615" dirty="0"/>
              <a:t>90-</a:t>
            </a:r>
            <a:r>
              <a:rPr spc="-755" dirty="0"/>
              <a:t>Day</a:t>
            </a:r>
            <a:r>
              <a:rPr spc="-250" dirty="0"/>
              <a:t> </a:t>
            </a:r>
            <a:r>
              <a:rPr spc="-755" dirty="0">
                <a:solidFill>
                  <a:srgbClr val="2F2F2F"/>
                </a:solidFill>
              </a:rPr>
              <a:t>Sprint</a:t>
            </a:r>
            <a:r>
              <a:rPr spc="-229" dirty="0">
                <a:solidFill>
                  <a:srgbClr val="2F2F2F"/>
                </a:solidFill>
              </a:rPr>
              <a:t> </a:t>
            </a:r>
            <a:r>
              <a:rPr spc="-655" dirty="0">
                <a:solidFill>
                  <a:srgbClr val="213448"/>
                </a:solidFill>
              </a:rPr>
              <a:t>to</a:t>
            </a:r>
            <a:r>
              <a:rPr spc="-650" dirty="0">
                <a:solidFill>
                  <a:srgbClr val="213448"/>
                </a:solidFill>
              </a:rPr>
              <a:t> </a:t>
            </a:r>
            <a:r>
              <a:rPr spc="-990" dirty="0">
                <a:solidFill>
                  <a:srgbClr val="233449"/>
                </a:solidFill>
              </a:rPr>
              <a:t>ROI</a:t>
            </a:r>
          </a:p>
        </p:txBody>
      </p:sp>
      <p:sp>
        <p:nvSpPr>
          <p:cNvPr id="4" name="object 4"/>
          <p:cNvSpPr txBox="1"/>
          <p:nvPr/>
        </p:nvSpPr>
        <p:spPr>
          <a:xfrm>
            <a:off x="1526364" y="2283177"/>
            <a:ext cx="13678535" cy="1062990"/>
          </a:xfrm>
          <a:prstGeom prst="rect">
            <a:avLst/>
          </a:prstGeom>
        </p:spPr>
        <p:txBody>
          <a:bodyPr vert="horz" wrap="square" lIns="0" tIns="46355" rIns="0" bIns="0" rtlCol="0">
            <a:spAutoFit/>
          </a:bodyPr>
          <a:lstStyle/>
          <a:p>
            <a:pPr marL="15240" marR="5080" indent="-3175">
              <a:lnSpc>
                <a:spcPts val="4000"/>
              </a:lnSpc>
              <a:spcBef>
                <a:spcPts val="365"/>
              </a:spcBef>
            </a:pPr>
            <a:r>
              <a:rPr sz="3450" dirty="0">
                <a:solidFill>
                  <a:srgbClr val="161616"/>
                </a:solidFill>
                <a:latin typeface="Arial MT"/>
                <a:cs typeface="Arial MT"/>
              </a:rPr>
              <a:t>The</a:t>
            </a:r>
            <a:r>
              <a:rPr sz="3450" spc="-114" dirty="0">
                <a:solidFill>
                  <a:srgbClr val="161616"/>
                </a:solidFill>
                <a:latin typeface="Arial MT"/>
                <a:cs typeface="Arial MT"/>
              </a:rPr>
              <a:t> </a:t>
            </a:r>
            <a:r>
              <a:rPr sz="3450" dirty="0">
                <a:solidFill>
                  <a:srgbClr val="1A1A1A"/>
                </a:solidFill>
                <a:latin typeface="Arial MT"/>
                <a:cs typeface="Arial MT"/>
              </a:rPr>
              <a:t>Request:</a:t>
            </a:r>
            <a:r>
              <a:rPr sz="3450" spc="-40" dirty="0">
                <a:solidFill>
                  <a:srgbClr val="1A1A1A"/>
                </a:solidFill>
                <a:latin typeface="Arial MT"/>
                <a:cs typeface="Arial MT"/>
              </a:rPr>
              <a:t> </a:t>
            </a:r>
            <a:r>
              <a:rPr sz="3450" dirty="0">
                <a:solidFill>
                  <a:srgbClr val="111111"/>
                </a:solidFill>
                <a:latin typeface="Arial MT"/>
                <a:cs typeface="Arial MT"/>
              </a:rPr>
              <a:t>Executive</a:t>
            </a:r>
            <a:r>
              <a:rPr sz="3450" spc="65" dirty="0">
                <a:solidFill>
                  <a:srgbClr val="111111"/>
                </a:solidFill>
                <a:latin typeface="Arial MT"/>
                <a:cs typeface="Arial MT"/>
              </a:rPr>
              <a:t> </a:t>
            </a:r>
            <a:r>
              <a:rPr sz="3450" dirty="0">
                <a:solidFill>
                  <a:srgbClr val="111111"/>
                </a:solidFill>
                <a:latin typeface="Arial MT"/>
                <a:cs typeface="Arial MT"/>
              </a:rPr>
              <a:t>sponsorship</a:t>
            </a:r>
            <a:r>
              <a:rPr sz="3450" spc="165" dirty="0">
                <a:solidFill>
                  <a:srgbClr val="111111"/>
                </a:solidFill>
                <a:latin typeface="Arial MT"/>
                <a:cs typeface="Arial MT"/>
              </a:rPr>
              <a:t> </a:t>
            </a:r>
            <a:r>
              <a:rPr sz="3450" spc="70" dirty="0">
                <a:solidFill>
                  <a:srgbClr val="0F0F0F"/>
                </a:solidFill>
                <a:latin typeface="Arial MT"/>
                <a:cs typeface="Arial MT"/>
              </a:rPr>
              <a:t>and</a:t>
            </a:r>
            <a:r>
              <a:rPr sz="3450" spc="25" dirty="0">
                <a:solidFill>
                  <a:srgbClr val="0F0F0F"/>
                </a:solidFill>
                <a:latin typeface="Arial MT"/>
                <a:cs typeface="Arial MT"/>
              </a:rPr>
              <a:t> </a:t>
            </a:r>
            <a:r>
              <a:rPr sz="3450" spc="70" dirty="0">
                <a:solidFill>
                  <a:srgbClr val="131313"/>
                </a:solidFill>
                <a:latin typeface="Arial MT"/>
                <a:cs typeface="Arial MT"/>
              </a:rPr>
              <a:t>initial</a:t>
            </a:r>
            <a:r>
              <a:rPr sz="3450" spc="-60" dirty="0">
                <a:solidFill>
                  <a:srgbClr val="131313"/>
                </a:solidFill>
                <a:latin typeface="Arial MT"/>
                <a:cs typeface="Arial MT"/>
              </a:rPr>
              <a:t> </a:t>
            </a:r>
            <a:r>
              <a:rPr sz="3450" dirty="0">
                <a:solidFill>
                  <a:srgbClr val="161616"/>
                </a:solidFill>
                <a:latin typeface="Arial MT"/>
                <a:cs typeface="Arial MT"/>
              </a:rPr>
              <a:t>seed</a:t>
            </a:r>
            <a:r>
              <a:rPr sz="3450" spc="-10" dirty="0">
                <a:solidFill>
                  <a:srgbClr val="161616"/>
                </a:solidFill>
                <a:latin typeface="Arial MT"/>
                <a:cs typeface="Arial MT"/>
              </a:rPr>
              <a:t> </a:t>
            </a:r>
            <a:r>
              <a:rPr sz="3450" spc="120" dirty="0">
                <a:solidFill>
                  <a:srgbClr val="1A1A1A"/>
                </a:solidFill>
                <a:latin typeface="Arial MT"/>
                <a:cs typeface="Arial MT"/>
              </a:rPr>
              <a:t>funding</a:t>
            </a:r>
            <a:r>
              <a:rPr sz="3450" spc="-30" dirty="0">
                <a:solidFill>
                  <a:srgbClr val="1A1A1A"/>
                </a:solidFill>
                <a:latin typeface="Arial MT"/>
                <a:cs typeface="Arial MT"/>
              </a:rPr>
              <a:t> </a:t>
            </a:r>
            <a:r>
              <a:rPr sz="3450" spc="110" dirty="0">
                <a:solidFill>
                  <a:srgbClr val="1C1C1C"/>
                </a:solidFill>
                <a:latin typeface="Arial MT"/>
                <a:cs typeface="Arial MT"/>
              </a:rPr>
              <a:t>to</a:t>
            </a:r>
            <a:r>
              <a:rPr sz="3450" spc="5" dirty="0">
                <a:solidFill>
                  <a:srgbClr val="1C1C1C"/>
                </a:solidFill>
                <a:latin typeface="Arial MT"/>
                <a:cs typeface="Arial MT"/>
              </a:rPr>
              <a:t> </a:t>
            </a:r>
            <a:r>
              <a:rPr sz="3450" spc="100" dirty="0">
                <a:solidFill>
                  <a:srgbClr val="161616"/>
                </a:solidFill>
                <a:latin typeface="Arial MT"/>
                <a:cs typeface="Arial MT"/>
              </a:rPr>
              <a:t>build </a:t>
            </a:r>
            <a:r>
              <a:rPr sz="3450" spc="120" dirty="0">
                <a:solidFill>
                  <a:srgbClr val="212121"/>
                </a:solidFill>
                <a:latin typeface="Arial MT"/>
                <a:cs typeface="Arial MT"/>
              </a:rPr>
              <a:t>the</a:t>
            </a:r>
            <a:r>
              <a:rPr sz="3450" spc="-50" dirty="0">
                <a:solidFill>
                  <a:srgbClr val="212121"/>
                </a:solidFill>
                <a:latin typeface="Arial MT"/>
                <a:cs typeface="Arial MT"/>
              </a:rPr>
              <a:t> </a:t>
            </a:r>
            <a:r>
              <a:rPr sz="3450" spc="-10" dirty="0">
                <a:solidFill>
                  <a:srgbClr val="1F1F1F"/>
                </a:solidFill>
                <a:latin typeface="Arial MT"/>
                <a:cs typeface="Arial MT"/>
              </a:rPr>
              <a:t>MVP</a:t>
            </a:r>
            <a:r>
              <a:rPr sz="3450" dirty="0">
                <a:solidFill>
                  <a:srgbClr val="1F1F1F"/>
                </a:solidFill>
                <a:latin typeface="Arial MT"/>
                <a:cs typeface="Arial MT"/>
              </a:rPr>
              <a:t> of</a:t>
            </a:r>
            <a:r>
              <a:rPr sz="3450" spc="-145" dirty="0">
                <a:solidFill>
                  <a:srgbClr val="1F1F1F"/>
                </a:solidFill>
                <a:latin typeface="Arial MT"/>
                <a:cs typeface="Arial MT"/>
              </a:rPr>
              <a:t> </a:t>
            </a:r>
            <a:r>
              <a:rPr sz="3450" dirty="0">
                <a:solidFill>
                  <a:srgbClr val="1C1C1C"/>
                </a:solidFill>
                <a:latin typeface="Arial MT"/>
                <a:cs typeface="Arial MT"/>
              </a:rPr>
              <a:t>our</a:t>
            </a:r>
            <a:r>
              <a:rPr sz="3450" spc="-10" dirty="0">
                <a:solidFill>
                  <a:srgbClr val="1C1C1C"/>
                </a:solidFill>
                <a:latin typeface="Arial MT"/>
                <a:cs typeface="Arial MT"/>
              </a:rPr>
              <a:t> </a:t>
            </a:r>
            <a:r>
              <a:rPr sz="3450" spc="70" dirty="0">
                <a:solidFill>
                  <a:srgbClr val="1A1A1A"/>
                </a:solidFill>
                <a:latin typeface="Arial MT"/>
                <a:cs typeface="Arial MT"/>
              </a:rPr>
              <a:t>hybrid</a:t>
            </a:r>
            <a:r>
              <a:rPr sz="3450" spc="-105" dirty="0">
                <a:solidFill>
                  <a:srgbClr val="1A1A1A"/>
                </a:solidFill>
                <a:latin typeface="Arial MT"/>
                <a:cs typeface="Arial MT"/>
              </a:rPr>
              <a:t> </a:t>
            </a:r>
            <a:r>
              <a:rPr sz="3450" spc="-70" dirty="0">
                <a:solidFill>
                  <a:srgbClr val="1A1A1A"/>
                </a:solidFill>
                <a:latin typeface="Arial MT"/>
                <a:cs typeface="Arial MT"/>
              </a:rPr>
              <a:t>GraphRAG</a:t>
            </a:r>
            <a:r>
              <a:rPr sz="3450" spc="125" dirty="0">
                <a:solidFill>
                  <a:srgbClr val="1A1A1A"/>
                </a:solidFill>
                <a:latin typeface="Arial MT"/>
                <a:cs typeface="Arial MT"/>
              </a:rPr>
              <a:t> </a:t>
            </a:r>
            <a:r>
              <a:rPr sz="3450" spc="-10" dirty="0">
                <a:solidFill>
                  <a:srgbClr val="181818"/>
                </a:solidFill>
                <a:latin typeface="Arial MT"/>
                <a:cs typeface="Arial MT"/>
              </a:rPr>
              <a:t>pipeline.</a:t>
            </a:r>
            <a:endParaRPr sz="3450">
              <a:latin typeface="Arial MT"/>
              <a:cs typeface="Arial MT"/>
            </a:endParaRPr>
          </a:p>
        </p:txBody>
      </p:sp>
      <p:sp>
        <p:nvSpPr>
          <p:cNvPr id="5" name="object 5"/>
          <p:cNvSpPr txBox="1"/>
          <p:nvPr/>
        </p:nvSpPr>
        <p:spPr>
          <a:xfrm>
            <a:off x="1378398" y="5417255"/>
            <a:ext cx="3709035" cy="2702560"/>
          </a:xfrm>
          <a:prstGeom prst="rect">
            <a:avLst/>
          </a:prstGeom>
        </p:spPr>
        <p:txBody>
          <a:bodyPr vert="horz" wrap="square" lIns="0" tIns="12065" rIns="0" bIns="0" rtlCol="0">
            <a:spAutoFit/>
          </a:bodyPr>
          <a:lstStyle/>
          <a:p>
            <a:pPr marL="12700">
              <a:lnSpc>
                <a:spcPts val="3695"/>
              </a:lnSpc>
              <a:spcBef>
                <a:spcPts val="95"/>
              </a:spcBef>
            </a:pPr>
            <a:r>
              <a:rPr sz="3200" spc="-65" dirty="0">
                <a:solidFill>
                  <a:srgbClr val="262626"/>
                </a:solidFill>
                <a:latin typeface="Arial MT"/>
                <a:cs typeface="Arial MT"/>
              </a:rPr>
              <a:t>Phase</a:t>
            </a:r>
            <a:r>
              <a:rPr sz="3200" spc="-355" dirty="0">
                <a:solidFill>
                  <a:srgbClr val="262626"/>
                </a:solidFill>
                <a:latin typeface="Arial MT"/>
                <a:cs typeface="Arial MT"/>
              </a:rPr>
              <a:t> </a:t>
            </a:r>
            <a:r>
              <a:rPr sz="3200" spc="-195" dirty="0">
                <a:solidFill>
                  <a:srgbClr val="212121"/>
                </a:solidFill>
                <a:latin typeface="Arial MT"/>
                <a:cs typeface="Arial MT"/>
              </a:rPr>
              <a:t>1:</a:t>
            </a:r>
            <a:r>
              <a:rPr sz="3200" spc="-165" dirty="0">
                <a:solidFill>
                  <a:srgbClr val="212121"/>
                </a:solidFill>
                <a:latin typeface="Arial MT"/>
                <a:cs typeface="Arial MT"/>
              </a:rPr>
              <a:t> </a:t>
            </a:r>
            <a:r>
              <a:rPr sz="3200" spc="45" dirty="0">
                <a:solidFill>
                  <a:srgbClr val="1F1F1F"/>
                </a:solidFill>
                <a:latin typeface="Arial MT"/>
                <a:cs typeface="Arial MT"/>
              </a:rPr>
              <a:t>Foundation</a:t>
            </a:r>
            <a:endParaRPr sz="3200">
              <a:latin typeface="Arial MT"/>
              <a:cs typeface="Arial MT"/>
            </a:endParaRPr>
          </a:p>
          <a:p>
            <a:pPr marL="19685">
              <a:lnSpc>
                <a:spcPts val="3575"/>
              </a:lnSpc>
            </a:pPr>
            <a:r>
              <a:rPr sz="3100" spc="-25" dirty="0">
                <a:solidFill>
                  <a:srgbClr val="262626"/>
                </a:solidFill>
                <a:latin typeface="Arial MT"/>
                <a:cs typeface="Arial MT"/>
              </a:rPr>
              <a:t>(Days</a:t>
            </a:r>
            <a:r>
              <a:rPr sz="3100" spc="-340" dirty="0">
                <a:solidFill>
                  <a:srgbClr val="262626"/>
                </a:solidFill>
                <a:latin typeface="Arial MT"/>
                <a:cs typeface="Arial MT"/>
              </a:rPr>
              <a:t> </a:t>
            </a:r>
            <a:r>
              <a:rPr sz="3100" spc="-95" dirty="0">
                <a:solidFill>
                  <a:srgbClr val="1D1D1D"/>
                </a:solidFill>
                <a:latin typeface="Arial MT"/>
                <a:cs typeface="Arial MT"/>
              </a:rPr>
              <a:t>1-</a:t>
            </a:r>
            <a:r>
              <a:rPr sz="3100" spc="-25" dirty="0">
                <a:solidFill>
                  <a:srgbClr val="1D1D1D"/>
                </a:solidFill>
                <a:latin typeface="Arial MT"/>
                <a:cs typeface="Arial MT"/>
              </a:rPr>
              <a:t>30)</a:t>
            </a:r>
            <a:endParaRPr sz="3100">
              <a:latin typeface="Arial MT"/>
              <a:cs typeface="Arial MT"/>
            </a:endParaRPr>
          </a:p>
          <a:p>
            <a:pPr marL="16510" marR="215900" indent="635">
              <a:lnSpc>
                <a:spcPct val="83400"/>
              </a:lnSpc>
              <a:spcBef>
                <a:spcPts val="2445"/>
              </a:spcBef>
            </a:pPr>
            <a:r>
              <a:rPr sz="2850" spc="-114" dirty="0">
                <a:latin typeface="Arial MT"/>
                <a:cs typeface="Arial MT"/>
              </a:rPr>
              <a:t>Build</a:t>
            </a:r>
            <a:r>
              <a:rPr sz="2850" spc="-90" dirty="0">
                <a:latin typeface="Arial MT"/>
                <a:cs typeface="Arial MT"/>
              </a:rPr>
              <a:t> </a:t>
            </a:r>
            <a:r>
              <a:rPr sz="2850" spc="-75" dirty="0">
                <a:latin typeface="Arial MT"/>
                <a:cs typeface="Arial MT"/>
              </a:rPr>
              <a:t>the</a:t>
            </a:r>
            <a:r>
              <a:rPr sz="2850" spc="-135" dirty="0">
                <a:latin typeface="Arial MT"/>
                <a:cs typeface="Arial MT"/>
              </a:rPr>
              <a:t> </a:t>
            </a:r>
            <a:r>
              <a:rPr sz="2850" spc="-85" dirty="0">
                <a:latin typeface="Arial MT"/>
                <a:cs typeface="Arial MT"/>
              </a:rPr>
              <a:t>Dependency </a:t>
            </a:r>
            <a:r>
              <a:rPr sz="2750" spc="-114" dirty="0">
                <a:latin typeface="Arial MT"/>
                <a:cs typeface="Arial MT"/>
              </a:rPr>
              <a:t>Parsing</a:t>
            </a:r>
            <a:r>
              <a:rPr sz="2750" spc="-15" dirty="0">
                <a:latin typeface="Arial MT"/>
                <a:cs typeface="Arial MT"/>
              </a:rPr>
              <a:t> </a:t>
            </a:r>
            <a:r>
              <a:rPr sz="2750" spc="-245" dirty="0">
                <a:latin typeface="Arial MT"/>
                <a:cs typeface="Arial MT"/>
              </a:rPr>
              <a:t>(NLP)</a:t>
            </a:r>
            <a:r>
              <a:rPr sz="2750" spc="50" dirty="0">
                <a:latin typeface="Arial MT"/>
                <a:cs typeface="Arial MT"/>
              </a:rPr>
              <a:t> </a:t>
            </a:r>
            <a:r>
              <a:rPr sz="2750" spc="-70" dirty="0">
                <a:latin typeface="Arial MT"/>
                <a:cs typeface="Arial MT"/>
              </a:rPr>
              <a:t>extraction </a:t>
            </a:r>
            <a:r>
              <a:rPr sz="2850" spc="-120" dirty="0">
                <a:latin typeface="Arial MT"/>
                <a:cs typeface="Arial MT"/>
              </a:rPr>
              <a:t>pipeline</a:t>
            </a:r>
            <a:r>
              <a:rPr sz="2850" spc="-165" dirty="0">
                <a:latin typeface="Arial MT"/>
                <a:cs typeface="Arial MT"/>
              </a:rPr>
              <a:t> </a:t>
            </a:r>
            <a:r>
              <a:rPr sz="2850" dirty="0">
                <a:latin typeface="Arial MT"/>
                <a:cs typeface="Arial MT"/>
              </a:rPr>
              <a:t>to</a:t>
            </a:r>
            <a:r>
              <a:rPr sz="2850" spc="-250" dirty="0">
                <a:latin typeface="Arial MT"/>
                <a:cs typeface="Arial MT"/>
              </a:rPr>
              <a:t> </a:t>
            </a:r>
            <a:r>
              <a:rPr sz="2850" spc="-180" dirty="0">
                <a:latin typeface="Arial MT"/>
                <a:cs typeface="Arial MT"/>
              </a:rPr>
              <a:t>ensure</a:t>
            </a:r>
            <a:r>
              <a:rPr sz="2850" spc="-120" dirty="0">
                <a:latin typeface="Arial MT"/>
                <a:cs typeface="Arial MT"/>
              </a:rPr>
              <a:t> </a:t>
            </a:r>
            <a:r>
              <a:rPr sz="2850" spc="-10" dirty="0">
                <a:latin typeface="Arial MT"/>
                <a:cs typeface="Arial MT"/>
              </a:rPr>
              <a:t>cost- </a:t>
            </a:r>
            <a:r>
              <a:rPr sz="2900" spc="-160" dirty="0">
                <a:latin typeface="Arial MT"/>
                <a:cs typeface="Arial MT"/>
              </a:rPr>
              <a:t>efficiency</a:t>
            </a:r>
            <a:r>
              <a:rPr sz="2900" spc="-5" dirty="0">
                <a:latin typeface="Arial MT"/>
                <a:cs typeface="Arial MT"/>
              </a:rPr>
              <a:t> </a:t>
            </a:r>
            <a:r>
              <a:rPr sz="2900" spc="-105" dirty="0">
                <a:latin typeface="Arial MT"/>
                <a:cs typeface="Arial MT"/>
              </a:rPr>
              <a:t>from</a:t>
            </a:r>
            <a:r>
              <a:rPr sz="2900" spc="-45" dirty="0">
                <a:latin typeface="Arial MT"/>
                <a:cs typeface="Arial MT"/>
              </a:rPr>
              <a:t> </a:t>
            </a:r>
            <a:r>
              <a:rPr sz="2900" spc="-240" dirty="0">
                <a:latin typeface="Arial MT"/>
                <a:cs typeface="Arial MT"/>
              </a:rPr>
              <a:t>day</a:t>
            </a:r>
            <a:r>
              <a:rPr sz="2900" spc="-100" dirty="0">
                <a:latin typeface="Arial MT"/>
                <a:cs typeface="Arial MT"/>
              </a:rPr>
              <a:t> </a:t>
            </a:r>
            <a:r>
              <a:rPr sz="2900" spc="-114" dirty="0">
                <a:latin typeface="Arial MT"/>
                <a:cs typeface="Arial MT"/>
              </a:rPr>
              <a:t>one.</a:t>
            </a:r>
            <a:endParaRPr sz="2900">
              <a:latin typeface="Arial MT"/>
              <a:cs typeface="Arial MT"/>
            </a:endParaRPr>
          </a:p>
        </p:txBody>
      </p:sp>
      <p:sp>
        <p:nvSpPr>
          <p:cNvPr id="6" name="object 6"/>
          <p:cNvSpPr txBox="1"/>
          <p:nvPr/>
        </p:nvSpPr>
        <p:spPr>
          <a:xfrm>
            <a:off x="6725779" y="5426075"/>
            <a:ext cx="4021454" cy="2318385"/>
          </a:xfrm>
          <a:prstGeom prst="rect">
            <a:avLst/>
          </a:prstGeom>
        </p:spPr>
        <p:txBody>
          <a:bodyPr vert="horz" wrap="square" lIns="0" tIns="59055" rIns="0" bIns="0" rtlCol="0">
            <a:spAutoFit/>
          </a:bodyPr>
          <a:lstStyle/>
          <a:p>
            <a:pPr marL="19050" marR="19050" indent="-6985">
              <a:lnSpc>
                <a:spcPts val="3450"/>
              </a:lnSpc>
              <a:spcBef>
                <a:spcPts val="465"/>
              </a:spcBef>
            </a:pPr>
            <a:r>
              <a:rPr sz="3100" spc="-25" dirty="0">
                <a:solidFill>
                  <a:srgbClr val="232323"/>
                </a:solidFill>
                <a:latin typeface="Arial MT"/>
                <a:cs typeface="Arial MT"/>
              </a:rPr>
              <a:t>Phase</a:t>
            </a:r>
            <a:r>
              <a:rPr sz="3100" spc="-195" dirty="0">
                <a:solidFill>
                  <a:srgbClr val="232323"/>
                </a:solidFill>
                <a:latin typeface="Arial MT"/>
                <a:cs typeface="Arial MT"/>
              </a:rPr>
              <a:t> </a:t>
            </a:r>
            <a:r>
              <a:rPr sz="3100" spc="-55" dirty="0">
                <a:solidFill>
                  <a:srgbClr val="282828"/>
                </a:solidFill>
                <a:latin typeface="Arial MT"/>
                <a:cs typeface="Arial MT"/>
              </a:rPr>
              <a:t>2:</a:t>
            </a:r>
            <a:r>
              <a:rPr sz="3100" spc="-204" dirty="0">
                <a:solidFill>
                  <a:srgbClr val="282828"/>
                </a:solidFill>
                <a:latin typeface="Arial MT"/>
                <a:cs typeface="Arial MT"/>
              </a:rPr>
              <a:t> </a:t>
            </a:r>
            <a:r>
              <a:rPr sz="3100" spc="-65" dirty="0">
                <a:solidFill>
                  <a:srgbClr val="2D2D2D"/>
                </a:solidFill>
                <a:latin typeface="Arial MT"/>
                <a:cs typeface="Arial MT"/>
              </a:rPr>
              <a:t>MVP</a:t>
            </a:r>
            <a:r>
              <a:rPr sz="3100" spc="-125" dirty="0">
                <a:solidFill>
                  <a:srgbClr val="2D2D2D"/>
                </a:solidFill>
                <a:latin typeface="Arial MT"/>
                <a:cs typeface="Arial MT"/>
              </a:rPr>
              <a:t> </a:t>
            </a:r>
            <a:r>
              <a:rPr sz="3100" spc="-10" dirty="0">
                <a:solidFill>
                  <a:srgbClr val="212121"/>
                </a:solidFill>
                <a:latin typeface="Arial MT"/>
                <a:cs typeface="Arial MT"/>
              </a:rPr>
              <a:t>Pipeline </a:t>
            </a:r>
            <a:r>
              <a:rPr sz="3100" dirty="0">
                <a:solidFill>
                  <a:srgbClr val="212121"/>
                </a:solidFill>
                <a:latin typeface="Arial MT"/>
                <a:cs typeface="Arial MT"/>
              </a:rPr>
              <a:t>(Days</a:t>
            </a:r>
            <a:r>
              <a:rPr sz="3100" spc="-95" dirty="0">
                <a:solidFill>
                  <a:srgbClr val="212121"/>
                </a:solidFill>
                <a:latin typeface="Arial MT"/>
                <a:cs typeface="Arial MT"/>
              </a:rPr>
              <a:t> </a:t>
            </a:r>
            <a:r>
              <a:rPr sz="3100" dirty="0">
                <a:solidFill>
                  <a:srgbClr val="212121"/>
                </a:solidFill>
                <a:latin typeface="Arial MT"/>
                <a:cs typeface="Arial MT"/>
              </a:rPr>
              <a:t>30-</a:t>
            </a:r>
            <a:r>
              <a:rPr sz="3100" spc="-25" dirty="0">
                <a:solidFill>
                  <a:srgbClr val="212121"/>
                </a:solidFill>
                <a:latin typeface="Arial MT"/>
                <a:cs typeface="Arial MT"/>
              </a:rPr>
              <a:t>60)</a:t>
            </a:r>
            <a:endParaRPr sz="3100">
              <a:latin typeface="Arial MT"/>
              <a:cs typeface="Arial MT"/>
            </a:endParaRPr>
          </a:p>
          <a:p>
            <a:pPr marL="19050" marR="5080" indent="-1905">
              <a:lnSpc>
                <a:spcPts val="2800"/>
              </a:lnSpc>
              <a:spcBef>
                <a:spcPts val="2420"/>
              </a:spcBef>
            </a:pPr>
            <a:r>
              <a:rPr sz="2600" spc="-25" dirty="0">
                <a:latin typeface="Arial MT"/>
                <a:cs typeface="Arial MT"/>
              </a:rPr>
              <a:t>Deploy</a:t>
            </a:r>
            <a:r>
              <a:rPr sz="2600" spc="-50" dirty="0">
                <a:latin typeface="Arial MT"/>
                <a:cs typeface="Arial MT"/>
              </a:rPr>
              <a:t> </a:t>
            </a:r>
            <a:r>
              <a:rPr sz="2600" dirty="0">
                <a:latin typeface="Arial MT"/>
                <a:cs typeface="Arial MT"/>
              </a:rPr>
              <a:t>the</a:t>
            </a:r>
            <a:r>
              <a:rPr sz="2600" spc="-25" dirty="0">
                <a:latin typeface="Arial MT"/>
                <a:cs typeface="Arial MT"/>
              </a:rPr>
              <a:t> </a:t>
            </a:r>
            <a:r>
              <a:rPr sz="2600" dirty="0">
                <a:latin typeface="Arial MT"/>
                <a:cs typeface="Arial MT"/>
              </a:rPr>
              <a:t>hybrid</a:t>
            </a:r>
            <a:r>
              <a:rPr sz="2600" spc="60" dirty="0">
                <a:latin typeface="Arial MT"/>
                <a:cs typeface="Arial MT"/>
              </a:rPr>
              <a:t> </a:t>
            </a:r>
            <a:r>
              <a:rPr sz="2600" spc="-10" dirty="0">
                <a:latin typeface="Arial MT"/>
                <a:cs typeface="Arial MT"/>
              </a:rPr>
              <a:t>storage </a:t>
            </a:r>
            <a:r>
              <a:rPr sz="2500" dirty="0">
                <a:latin typeface="Arial MT"/>
                <a:cs typeface="Arial MT"/>
              </a:rPr>
              <a:t>and</a:t>
            </a:r>
            <a:r>
              <a:rPr sz="2500" spc="-35" dirty="0">
                <a:latin typeface="Arial MT"/>
                <a:cs typeface="Arial MT"/>
              </a:rPr>
              <a:t> </a:t>
            </a:r>
            <a:r>
              <a:rPr sz="2500" dirty="0">
                <a:latin typeface="Arial MT"/>
                <a:cs typeface="Arial MT"/>
              </a:rPr>
              <a:t>Reciprocal</a:t>
            </a:r>
            <a:r>
              <a:rPr sz="2500" spc="75" dirty="0">
                <a:latin typeface="Arial MT"/>
                <a:cs typeface="Arial MT"/>
              </a:rPr>
              <a:t> </a:t>
            </a:r>
            <a:r>
              <a:rPr sz="2500" dirty="0">
                <a:latin typeface="Arial MT"/>
                <a:cs typeface="Arial MT"/>
              </a:rPr>
              <a:t>Rank</a:t>
            </a:r>
            <a:r>
              <a:rPr sz="2500" spc="-20" dirty="0">
                <a:latin typeface="Arial MT"/>
                <a:cs typeface="Arial MT"/>
              </a:rPr>
              <a:t> </a:t>
            </a:r>
            <a:r>
              <a:rPr sz="2500" spc="-10" dirty="0">
                <a:latin typeface="Arial MT"/>
                <a:cs typeface="Arial MT"/>
              </a:rPr>
              <a:t>Fusion </a:t>
            </a:r>
            <a:r>
              <a:rPr sz="2600" spc="-215" dirty="0">
                <a:latin typeface="Arial MT"/>
                <a:cs typeface="Arial MT"/>
              </a:rPr>
              <a:t>(RRF)</a:t>
            </a:r>
            <a:r>
              <a:rPr sz="2600" spc="70" dirty="0">
                <a:latin typeface="Arial MT"/>
                <a:cs typeface="Arial MT"/>
              </a:rPr>
              <a:t> </a:t>
            </a:r>
            <a:r>
              <a:rPr sz="2600" spc="-30" dirty="0">
                <a:latin typeface="Arial MT"/>
                <a:cs typeface="Arial MT"/>
              </a:rPr>
              <a:t>retrieval</a:t>
            </a:r>
            <a:r>
              <a:rPr sz="2600" spc="-135" dirty="0">
                <a:latin typeface="Arial MT"/>
                <a:cs typeface="Arial MT"/>
              </a:rPr>
              <a:t> </a:t>
            </a:r>
            <a:r>
              <a:rPr sz="2600" spc="-10" dirty="0">
                <a:latin typeface="Arial MT"/>
                <a:cs typeface="Arial MT"/>
              </a:rPr>
              <a:t>engine.</a:t>
            </a:r>
            <a:endParaRPr sz="2600">
              <a:latin typeface="Arial MT"/>
              <a:cs typeface="Arial MT"/>
            </a:endParaRPr>
          </a:p>
        </p:txBody>
      </p:sp>
      <p:sp>
        <p:nvSpPr>
          <p:cNvPr id="7" name="object 7"/>
          <p:cNvSpPr txBox="1"/>
          <p:nvPr/>
        </p:nvSpPr>
        <p:spPr>
          <a:xfrm>
            <a:off x="12047746" y="5408436"/>
            <a:ext cx="4178935" cy="3060065"/>
          </a:xfrm>
          <a:prstGeom prst="rect">
            <a:avLst/>
          </a:prstGeom>
        </p:spPr>
        <p:txBody>
          <a:bodyPr vert="horz" wrap="square" lIns="0" tIns="13970" rIns="0" bIns="0" rtlCol="0">
            <a:spAutoFit/>
          </a:bodyPr>
          <a:lstStyle/>
          <a:p>
            <a:pPr marL="12700">
              <a:lnSpc>
                <a:spcPts val="3750"/>
              </a:lnSpc>
              <a:spcBef>
                <a:spcPts val="110"/>
              </a:spcBef>
            </a:pPr>
            <a:r>
              <a:rPr sz="3250" spc="-484" dirty="0">
                <a:solidFill>
                  <a:srgbClr val="212121"/>
                </a:solidFill>
                <a:latin typeface="Arial Black"/>
                <a:cs typeface="Arial Black"/>
              </a:rPr>
              <a:t>Phase</a:t>
            </a:r>
            <a:r>
              <a:rPr sz="3250" spc="-130" dirty="0">
                <a:solidFill>
                  <a:srgbClr val="212121"/>
                </a:solidFill>
                <a:latin typeface="Arial Black"/>
                <a:cs typeface="Arial Black"/>
              </a:rPr>
              <a:t> </a:t>
            </a:r>
            <a:r>
              <a:rPr sz="3250" spc="-390" dirty="0">
                <a:solidFill>
                  <a:srgbClr val="282828"/>
                </a:solidFill>
                <a:latin typeface="Arial Black"/>
                <a:cs typeface="Arial Black"/>
              </a:rPr>
              <a:t>3:</a:t>
            </a:r>
            <a:r>
              <a:rPr sz="3250" spc="-380" dirty="0">
                <a:solidFill>
                  <a:srgbClr val="282828"/>
                </a:solidFill>
                <a:latin typeface="Arial Black"/>
                <a:cs typeface="Arial Black"/>
              </a:rPr>
              <a:t> </a:t>
            </a:r>
            <a:r>
              <a:rPr sz="3250" spc="-365" dirty="0">
                <a:solidFill>
                  <a:srgbClr val="232323"/>
                </a:solidFill>
                <a:latin typeface="Arial Black"/>
                <a:cs typeface="Arial Black"/>
              </a:rPr>
              <a:t>Pilot</a:t>
            </a:r>
            <a:r>
              <a:rPr sz="3250" spc="-135" dirty="0">
                <a:solidFill>
                  <a:srgbClr val="232323"/>
                </a:solidFill>
                <a:latin typeface="Arial Black"/>
                <a:cs typeface="Arial Black"/>
              </a:rPr>
              <a:t> </a:t>
            </a:r>
            <a:r>
              <a:rPr sz="3250" spc="-459" dirty="0">
                <a:solidFill>
                  <a:srgbClr val="232323"/>
                </a:solidFill>
                <a:latin typeface="Arial Black"/>
                <a:cs typeface="Arial Black"/>
              </a:rPr>
              <a:t>Readout</a:t>
            </a:r>
            <a:endParaRPr sz="3250">
              <a:latin typeface="Arial Black"/>
              <a:cs typeface="Arial Black"/>
            </a:endParaRPr>
          </a:p>
          <a:p>
            <a:pPr marL="20320">
              <a:lnSpc>
                <a:spcPts val="3570"/>
              </a:lnSpc>
            </a:pPr>
            <a:r>
              <a:rPr sz="3100" spc="-330" dirty="0">
                <a:solidFill>
                  <a:srgbClr val="1F1F1F"/>
                </a:solidFill>
                <a:latin typeface="Arial Black"/>
                <a:cs typeface="Arial Black"/>
              </a:rPr>
              <a:t>(Days</a:t>
            </a:r>
            <a:r>
              <a:rPr sz="3100" spc="-75" dirty="0">
                <a:solidFill>
                  <a:srgbClr val="1F1F1F"/>
                </a:solidFill>
                <a:latin typeface="Arial Black"/>
                <a:cs typeface="Arial Black"/>
              </a:rPr>
              <a:t> </a:t>
            </a:r>
            <a:r>
              <a:rPr sz="3100" spc="-235" dirty="0">
                <a:solidFill>
                  <a:srgbClr val="1F1F1F"/>
                </a:solidFill>
                <a:latin typeface="Arial Black"/>
                <a:cs typeface="Arial Black"/>
              </a:rPr>
              <a:t>60-</a:t>
            </a:r>
            <a:r>
              <a:rPr sz="3100" spc="-25" dirty="0">
                <a:solidFill>
                  <a:srgbClr val="1F1F1F"/>
                </a:solidFill>
                <a:latin typeface="Arial Black"/>
                <a:cs typeface="Arial Black"/>
              </a:rPr>
              <a:t>90)</a:t>
            </a:r>
            <a:endParaRPr sz="3100">
              <a:latin typeface="Arial Black"/>
              <a:cs typeface="Arial Black"/>
            </a:endParaRPr>
          </a:p>
          <a:p>
            <a:pPr marL="17145" marR="5080" indent="-635">
              <a:lnSpc>
                <a:spcPct val="91500"/>
              </a:lnSpc>
              <a:spcBef>
                <a:spcPts val="2440"/>
              </a:spcBef>
            </a:pPr>
            <a:r>
              <a:rPr sz="2550" dirty="0">
                <a:latin typeface="Arial MT"/>
                <a:cs typeface="Arial MT"/>
              </a:rPr>
              <a:t>Run</a:t>
            </a:r>
            <a:r>
              <a:rPr sz="2550" spc="25" dirty="0">
                <a:latin typeface="Arial MT"/>
                <a:cs typeface="Arial MT"/>
              </a:rPr>
              <a:t> </a:t>
            </a:r>
            <a:r>
              <a:rPr sz="2550" spc="-285" dirty="0">
                <a:latin typeface="Arial MT"/>
                <a:cs typeface="Arial MT"/>
              </a:rPr>
              <a:t>a</a:t>
            </a:r>
            <a:r>
              <a:rPr sz="2550" spc="85" dirty="0">
                <a:latin typeface="Arial MT"/>
                <a:cs typeface="Arial MT"/>
              </a:rPr>
              <a:t> </a:t>
            </a:r>
            <a:r>
              <a:rPr sz="2550" dirty="0">
                <a:latin typeface="Arial MT"/>
                <a:cs typeface="Arial MT"/>
              </a:rPr>
              <a:t>live</a:t>
            </a:r>
            <a:r>
              <a:rPr sz="2550" spc="-5" dirty="0">
                <a:latin typeface="Arial MT"/>
                <a:cs typeface="Arial MT"/>
              </a:rPr>
              <a:t> </a:t>
            </a:r>
            <a:r>
              <a:rPr sz="2550" dirty="0">
                <a:latin typeface="Arial MT"/>
                <a:cs typeface="Arial MT"/>
              </a:rPr>
              <a:t>pilot</a:t>
            </a:r>
            <a:r>
              <a:rPr sz="2550" spc="95" dirty="0">
                <a:latin typeface="Arial MT"/>
                <a:cs typeface="Arial MT"/>
              </a:rPr>
              <a:t> </a:t>
            </a:r>
            <a:r>
              <a:rPr sz="2550" dirty="0">
                <a:latin typeface="Arial MT"/>
                <a:cs typeface="Arial MT"/>
              </a:rPr>
              <a:t>on</a:t>
            </a:r>
            <a:r>
              <a:rPr sz="2550" spc="-120" dirty="0">
                <a:latin typeface="Arial MT"/>
                <a:cs typeface="Arial MT"/>
              </a:rPr>
              <a:t> </a:t>
            </a:r>
            <a:r>
              <a:rPr sz="2550" dirty="0">
                <a:latin typeface="Arial MT"/>
                <a:cs typeface="Arial MT"/>
              </a:rPr>
              <a:t>our</a:t>
            </a:r>
            <a:r>
              <a:rPr sz="2550" spc="145" dirty="0">
                <a:latin typeface="Arial MT"/>
                <a:cs typeface="Arial MT"/>
              </a:rPr>
              <a:t> </a:t>
            </a:r>
            <a:r>
              <a:rPr sz="2550" spc="-20" dirty="0">
                <a:latin typeface="Arial MT"/>
                <a:cs typeface="Arial MT"/>
              </a:rPr>
              <a:t>most </a:t>
            </a:r>
            <a:r>
              <a:rPr sz="2500" spc="50" dirty="0">
                <a:latin typeface="Arial MT"/>
                <a:cs typeface="Arial MT"/>
              </a:rPr>
              <a:t>complex</a:t>
            </a:r>
            <a:r>
              <a:rPr sz="2500" spc="80" dirty="0">
                <a:latin typeface="Arial MT"/>
                <a:cs typeface="Arial MT"/>
              </a:rPr>
              <a:t> </a:t>
            </a:r>
            <a:r>
              <a:rPr sz="2500" dirty="0">
                <a:latin typeface="Arial MT"/>
                <a:cs typeface="Arial MT"/>
              </a:rPr>
              <a:t>legacy</a:t>
            </a:r>
            <a:r>
              <a:rPr sz="2500" spc="75" dirty="0">
                <a:latin typeface="Arial MT"/>
                <a:cs typeface="Arial MT"/>
              </a:rPr>
              <a:t> </a:t>
            </a:r>
            <a:r>
              <a:rPr sz="2500" dirty="0">
                <a:latin typeface="Arial MT"/>
                <a:cs typeface="Arial MT"/>
              </a:rPr>
              <a:t>dataset</a:t>
            </a:r>
            <a:r>
              <a:rPr sz="2500" spc="190" dirty="0">
                <a:latin typeface="Arial MT"/>
                <a:cs typeface="Arial MT"/>
              </a:rPr>
              <a:t> </a:t>
            </a:r>
            <a:r>
              <a:rPr sz="2500" spc="-105" dirty="0">
                <a:latin typeface="Arial MT"/>
                <a:cs typeface="Arial MT"/>
              </a:rPr>
              <a:t>(e.g., </a:t>
            </a:r>
            <a:r>
              <a:rPr sz="2500" dirty="0">
                <a:latin typeface="Arial MT"/>
                <a:cs typeface="Arial MT"/>
              </a:rPr>
              <a:t>code</a:t>
            </a:r>
            <a:r>
              <a:rPr sz="2500" spc="55" dirty="0">
                <a:latin typeface="Arial MT"/>
                <a:cs typeface="Arial MT"/>
              </a:rPr>
              <a:t> </a:t>
            </a:r>
            <a:r>
              <a:rPr sz="2500" spc="75" dirty="0">
                <a:latin typeface="Arial MT"/>
                <a:cs typeface="Arial MT"/>
              </a:rPr>
              <a:t>migration</a:t>
            </a:r>
            <a:r>
              <a:rPr sz="2500" spc="85" dirty="0">
                <a:latin typeface="Arial MT"/>
                <a:cs typeface="Arial MT"/>
              </a:rPr>
              <a:t> </a:t>
            </a:r>
            <a:r>
              <a:rPr sz="2500" dirty="0">
                <a:latin typeface="Arial MT"/>
                <a:cs typeface="Arial MT"/>
              </a:rPr>
              <a:t>or</a:t>
            </a:r>
            <a:r>
              <a:rPr sz="2500" spc="-10" dirty="0">
                <a:latin typeface="Arial MT"/>
                <a:cs typeface="Arial MT"/>
              </a:rPr>
              <a:t> customer </a:t>
            </a:r>
            <a:r>
              <a:rPr sz="2700" spc="-120" dirty="0">
                <a:latin typeface="Arial MT"/>
                <a:cs typeface="Arial MT"/>
              </a:rPr>
              <a:t>service </a:t>
            </a:r>
            <a:r>
              <a:rPr sz="2700" spc="-35" dirty="0">
                <a:latin typeface="Arial MT"/>
                <a:cs typeface="Arial MT"/>
              </a:rPr>
              <a:t>tickets)</a:t>
            </a:r>
            <a:r>
              <a:rPr sz="2700" spc="-155" dirty="0">
                <a:latin typeface="Arial MT"/>
                <a:cs typeface="Arial MT"/>
              </a:rPr>
              <a:t> </a:t>
            </a:r>
            <a:r>
              <a:rPr sz="2700" spc="-85" dirty="0">
                <a:latin typeface="Arial MT"/>
                <a:cs typeface="Arial MT"/>
              </a:rPr>
              <a:t>and</a:t>
            </a:r>
            <a:r>
              <a:rPr sz="2700" spc="-140" dirty="0">
                <a:latin typeface="Arial MT"/>
                <a:cs typeface="Arial MT"/>
              </a:rPr>
              <a:t> </a:t>
            </a:r>
            <a:r>
              <a:rPr sz="2700" spc="-45" dirty="0">
                <a:latin typeface="Arial MT"/>
                <a:cs typeface="Arial MT"/>
              </a:rPr>
              <a:t>deliver</a:t>
            </a:r>
            <a:r>
              <a:rPr sz="2700" spc="-5" dirty="0">
                <a:latin typeface="Arial MT"/>
                <a:cs typeface="Arial MT"/>
              </a:rPr>
              <a:t> </a:t>
            </a:r>
            <a:r>
              <a:rPr sz="2700" spc="-305" dirty="0">
                <a:latin typeface="Arial MT"/>
                <a:cs typeface="Arial MT"/>
              </a:rPr>
              <a:t>a </a:t>
            </a:r>
            <a:r>
              <a:rPr sz="2600" dirty="0">
                <a:latin typeface="Arial MT"/>
                <a:cs typeface="Arial MT"/>
              </a:rPr>
              <a:t>hard</a:t>
            </a:r>
            <a:r>
              <a:rPr sz="2600" spc="-100" dirty="0">
                <a:latin typeface="Arial MT"/>
                <a:cs typeface="Arial MT"/>
              </a:rPr>
              <a:t> </a:t>
            </a:r>
            <a:r>
              <a:rPr sz="2600" spc="-175" dirty="0">
                <a:latin typeface="Arial MT"/>
                <a:cs typeface="Arial MT"/>
              </a:rPr>
              <a:t>ROI</a:t>
            </a:r>
            <a:r>
              <a:rPr sz="2600" spc="-15" dirty="0">
                <a:latin typeface="Arial MT"/>
                <a:cs typeface="Arial MT"/>
              </a:rPr>
              <a:t> </a:t>
            </a:r>
            <a:r>
              <a:rPr sz="2600" spc="-10" dirty="0">
                <a:latin typeface="Arial MT"/>
                <a:cs typeface="Arial MT"/>
              </a:rPr>
              <a:t>readout.</a:t>
            </a:r>
            <a:endParaRPr sz="2600">
              <a:latin typeface="Arial MT"/>
              <a:cs typeface="Arial M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089900" y="5154083"/>
            <a:ext cx="321945" cy="0"/>
          </a:xfrm>
          <a:custGeom>
            <a:avLst/>
            <a:gdLst/>
            <a:ahLst/>
            <a:cxnLst/>
            <a:rect l="l" t="t" r="r" b="b"/>
            <a:pathLst>
              <a:path w="321945">
                <a:moveTo>
                  <a:pt x="0" y="0"/>
                </a:moveTo>
                <a:lnTo>
                  <a:pt x="321733" y="0"/>
                </a:lnTo>
              </a:path>
            </a:pathLst>
          </a:custGeom>
          <a:ln w="29633">
            <a:solidFill>
              <a:srgbClr val="2F3B44"/>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6319500" y="4876800"/>
            <a:ext cx="1155700" cy="1066800"/>
          </a:xfrm>
          <a:prstGeom prst="rect">
            <a:avLst/>
          </a:prstGeom>
        </p:spPr>
      </p:pic>
      <p:sp>
        <p:nvSpPr>
          <p:cNvPr id="4" name="object 4"/>
          <p:cNvSpPr txBox="1">
            <a:spLocks noGrp="1"/>
          </p:cNvSpPr>
          <p:nvPr>
            <p:ph type="title"/>
          </p:nvPr>
        </p:nvSpPr>
        <p:spPr>
          <a:xfrm>
            <a:off x="1874230" y="691444"/>
            <a:ext cx="13506450" cy="1634489"/>
          </a:xfrm>
          <a:prstGeom prst="rect">
            <a:avLst/>
          </a:prstGeom>
        </p:spPr>
        <p:txBody>
          <a:bodyPr vert="horz" wrap="square" lIns="0" tIns="13335" rIns="0" bIns="0" rtlCol="0">
            <a:spAutoFit/>
          </a:bodyPr>
          <a:lstStyle/>
          <a:p>
            <a:pPr marL="12700">
              <a:lnSpc>
                <a:spcPct val="100000"/>
              </a:lnSpc>
              <a:spcBef>
                <a:spcPts val="105"/>
              </a:spcBef>
            </a:pPr>
            <a:r>
              <a:rPr sz="10550" spc="-1745" dirty="0">
                <a:solidFill>
                  <a:srgbClr val="383838"/>
                </a:solidFill>
              </a:rPr>
              <a:t>The</a:t>
            </a:r>
            <a:r>
              <a:rPr sz="10550" spc="-1135" dirty="0">
                <a:solidFill>
                  <a:srgbClr val="383838"/>
                </a:solidFill>
              </a:rPr>
              <a:t> </a:t>
            </a:r>
            <a:r>
              <a:rPr sz="10550" spc="-1510" dirty="0">
                <a:solidFill>
                  <a:srgbClr val="343434"/>
                </a:solidFill>
              </a:rPr>
              <a:t>Future</a:t>
            </a:r>
            <a:r>
              <a:rPr sz="10550" spc="-695" dirty="0">
                <a:solidFill>
                  <a:srgbClr val="343434"/>
                </a:solidFill>
              </a:rPr>
              <a:t> </a:t>
            </a:r>
            <a:r>
              <a:rPr sz="10550" spc="-1230" dirty="0">
                <a:solidFill>
                  <a:srgbClr val="363636"/>
                </a:solidFill>
              </a:rPr>
              <a:t>of</a:t>
            </a:r>
            <a:r>
              <a:rPr sz="10550" spc="-1000" dirty="0">
                <a:solidFill>
                  <a:srgbClr val="363636"/>
                </a:solidFill>
              </a:rPr>
              <a:t> </a:t>
            </a:r>
            <a:r>
              <a:rPr sz="10550" spc="-1515" dirty="0">
                <a:solidFill>
                  <a:srgbClr val="363636"/>
                </a:solidFill>
              </a:rPr>
              <a:t>Enterprise</a:t>
            </a:r>
            <a:endParaRPr sz="10550"/>
          </a:p>
        </p:txBody>
      </p:sp>
      <p:sp>
        <p:nvSpPr>
          <p:cNvPr id="5" name="object 5"/>
          <p:cNvSpPr txBox="1"/>
          <p:nvPr/>
        </p:nvSpPr>
        <p:spPr>
          <a:xfrm>
            <a:off x="3940395" y="1071835"/>
            <a:ext cx="9622790" cy="3272790"/>
          </a:xfrm>
          <a:prstGeom prst="rect">
            <a:avLst/>
          </a:prstGeom>
        </p:spPr>
        <p:txBody>
          <a:bodyPr vert="horz" wrap="square" lIns="0" tIns="864869" rIns="0" bIns="0" rtlCol="0">
            <a:spAutoFit/>
          </a:bodyPr>
          <a:lstStyle/>
          <a:p>
            <a:pPr marL="328295">
              <a:lnSpc>
                <a:spcPct val="100000"/>
              </a:lnSpc>
              <a:spcBef>
                <a:spcPts val="6809"/>
              </a:spcBef>
            </a:pPr>
            <a:r>
              <a:rPr sz="10250" spc="-110" dirty="0">
                <a:solidFill>
                  <a:srgbClr val="28384D"/>
                </a:solidFill>
                <a:latin typeface="Arial MT"/>
                <a:cs typeface="Arial MT"/>
              </a:rPr>
              <a:t>AI</a:t>
            </a:r>
            <a:r>
              <a:rPr sz="10250" spc="-1045" dirty="0">
                <a:solidFill>
                  <a:srgbClr val="28384D"/>
                </a:solidFill>
                <a:latin typeface="Arial MT"/>
                <a:cs typeface="Arial MT"/>
              </a:rPr>
              <a:t> </a:t>
            </a:r>
            <a:r>
              <a:rPr sz="10250" spc="70" dirty="0">
                <a:solidFill>
                  <a:srgbClr val="383838"/>
                </a:solidFill>
                <a:latin typeface="Arial MT"/>
                <a:cs typeface="Arial MT"/>
              </a:rPr>
              <a:t>is</a:t>
            </a:r>
            <a:r>
              <a:rPr sz="10250" spc="-1140" dirty="0">
                <a:solidFill>
                  <a:srgbClr val="383838"/>
                </a:solidFill>
                <a:latin typeface="Arial MT"/>
                <a:cs typeface="Arial MT"/>
              </a:rPr>
              <a:t> </a:t>
            </a:r>
            <a:r>
              <a:rPr sz="10250" spc="-10" dirty="0">
                <a:solidFill>
                  <a:srgbClr val="363636"/>
                </a:solidFill>
                <a:latin typeface="Arial MT"/>
                <a:cs typeface="Arial MT"/>
              </a:rPr>
              <a:t>Connected</a:t>
            </a:r>
            <a:endParaRPr sz="10250" dirty="0">
              <a:latin typeface="Arial MT"/>
              <a:cs typeface="Arial MT"/>
            </a:endParaRPr>
          </a:p>
          <a:p>
            <a:pPr marL="12700">
              <a:lnSpc>
                <a:spcPct val="100000"/>
              </a:lnSpc>
              <a:spcBef>
                <a:spcPts val="2300"/>
              </a:spcBef>
            </a:pPr>
            <a:r>
              <a:rPr sz="3550" spc="-125" dirty="0">
                <a:solidFill>
                  <a:srgbClr val="1D1D1D"/>
                </a:solidFill>
                <a:latin typeface="Arial MT"/>
                <a:cs typeface="Arial MT"/>
              </a:rPr>
              <a:t>Data </a:t>
            </a:r>
            <a:r>
              <a:rPr sz="3550" dirty="0">
                <a:solidFill>
                  <a:srgbClr val="1D1D1D"/>
                </a:solidFill>
                <a:latin typeface="Arial MT"/>
                <a:cs typeface="Arial MT"/>
              </a:rPr>
              <a:t>without</a:t>
            </a:r>
            <a:r>
              <a:rPr sz="3550" spc="-125" dirty="0">
                <a:solidFill>
                  <a:srgbClr val="1D1D1D"/>
                </a:solidFill>
                <a:latin typeface="Arial MT"/>
                <a:cs typeface="Arial MT"/>
              </a:rPr>
              <a:t> </a:t>
            </a:r>
            <a:r>
              <a:rPr sz="3550" spc="-55" dirty="0">
                <a:solidFill>
                  <a:srgbClr val="131313"/>
                </a:solidFill>
                <a:latin typeface="Arial MT"/>
                <a:cs typeface="Arial MT"/>
              </a:rPr>
              <a:t>relationships</a:t>
            </a:r>
            <a:r>
              <a:rPr sz="3550" spc="20" dirty="0">
                <a:solidFill>
                  <a:srgbClr val="131313"/>
                </a:solidFill>
                <a:latin typeface="Arial MT"/>
                <a:cs typeface="Arial MT"/>
              </a:rPr>
              <a:t> </a:t>
            </a:r>
            <a:r>
              <a:rPr sz="3550" spc="-95" dirty="0">
                <a:solidFill>
                  <a:srgbClr val="1A1A1A"/>
                </a:solidFill>
                <a:latin typeface="Arial MT"/>
                <a:cs typeface="Arial MT"/>
              </a:rPr>
              <a:t>is</a:t>
            </a:r>
            <a:r>
              <a:rPr sz="3550" spc="-200" dirty="0">
                <a:solidFill>
                  <a:srgbClr val="1A1A1A"/>
                </a:solidFill>
                <a:latin typeface="Arial MT"/>
                <a:cs typeface="Arial MT"/>
              </a:rPr>
              <a:t> </a:t>
            </a:r>
            <a:r>
              <a:rPr sz="3550" spc="-45" dirty="0">
                <a:solidFill>
                  <a:srgbClr val="1C1C1C"/>
                </a:solidFill>
                <a:latin typeface="Arial MT"/>
                <a:cs typeface="Arial MT"/>
              </a:rPr>
              <a:t>just</a:t>
            </a:r>
            <a:r>
              <a:rPr sz="3550" spc="-105" dirty="0">
                <a:solidFill>
                  <a:srgbClr val="1C1C1C"/>
                </a:solidFill>
                <a:latin typeface="Arial MT"/>
                <a:cs typeface="Arial MT"/>
              </a:rPr>
              <a:t> </a:t>
            </a:r>
            <a:r>
              <a:rPr sz="3550" spc="-105" dirty="0">
                <a:solidFill>
                  <a:srgbClr val="1A1A1A"/>
                </a:solidFill>
                <a:latin typeface="Arial MT"/>
                <a:cs typeface="Arial MT"/>
              </a:rPr>
              <a:t>noise.</a:t>
            </a:r>
            <a:r>
              <a:rPr sz="3550" spc="-180" dirty="0">
                <a:solidFill>
                  <a:srgbClr val="1A1A1A"/>
                </a:solidFill>
                <a:latin typeface="Arial MT"/>
                <a:cs typeface="Arial MT"/>
              </a:rPr>
              <a:t> </a:t>
            </a:r>
            <a:r>
              <a:rPr sz="3550" spc="-170" dirty="0">
                <a:solidFill>
                  <a:srgbClr val="1F1F1F"/>
                </a:solidFill>
                <a:latin typeface="Arial MT"/>
                <a:cs typeface="Arial MT"/>
              </a:rPr>
              <a:t>By</a:t>
            </a:r>
            <a:r>
              <a:rPr sz="3550" spc="-75" dirty="0">
                <a:solidFill>
                  <a:srgbClr val="1F1F1F"/>
                </a:solidFill>
                <a:latin typeface="Arial MT"/>
                <a:cs typeface="Arial MT"/>
              </a:rPr>
              <a:t> </a:t>
            </a:r>
            <a:r>
              <a:rPr sz="3550" spc="-10" dirty="0">
                <a:solidFill>
                  <a:srgbClr val="181818"/>
                </a:solidFill>
                <a:latin typeface="Arial MT"/>
                <a:cs typeface="Arial MT"/>
              </a:rPr>
              <a:t>shifting</a:t>
            </a:r>
            <a:endParaRPr sz="3550" dirty="0">
              <a:latin typeface="Arial MT"/>
              <a:cs typeface="Arial MT"/>
            </a:endParaRPr>
          </a:p>
        </p:txBody>
      </p:sp>
      <p:sp>
        <p:nvSpPr>
          <p:cNvPr id="6" name="object 6"/>
          <p:cNvSpPr txBox="1"/>
          <p:nvPr/>
        </p:nvSpPr>
        <p:spPr>
          <a:xfrm>
            <a:off x="3514526" y="4306358"/>
            <a:ext cx="11441430" cy="1085850"/>
          </a:xfrm>
          <a:prstGeom prst="rect">
            <a:avLst/>
          </a:prstGeom>
        </p:spPr>
        <p:txBody>
          <a:bodyPr vert="horz" wrap="square" lIns="0" tIns="44450" rIns="0" bIns="0" rtlCol="0">
            <a:spAutoFit/>
          </a:bodyPr>
          <a:lstStyle/>
          <a:p>
            <a:pPr marL="12700" marR="5080" indent="49530">
              <a:lnSpc>
                <a:spcPts val="4100"/>
              </a:lnSpc>
              <a:spcBef>
                <a:spcPts val="350"/>
              </a:spcBef>
              <a:tabLst>
                <a:tab pos="4916805" algn="l"/>
                <a:tab pos="11306810" algn="l"/>
              </a:tabLst>
            </a:pPr>
            <a:r>
              <a:rPr sz="3550" dirty="0">
                <a:solidFill>
                  <a:srgbClr val="1A1A1A"/>
                </a:solidFill>
                <a:latin typeface="Arial MT"/>
                <a:cs typeface="Arial MT"/>
              </a:rPr>
              <a:t>from</a:t>
            </a:r>
            <a:r>
              <a:rPr sz="3550" spc="-250" dirty="0">
                <a:solidFill>
                  <a:srgbClr val="1A1A1A"/>
                </a:solidFill>
                <a:latin typeface="Arial MT"/>
                <a:cs typeface="Arial MT"/>
              </a:rPr>
              <a:t> </a:t>
            </a:r>
            <a:r>
              <a:rPr sz="3550" spc="-10" dirty="0">
                <a:solidFill>
                  <a:srgbClr val="181818"/>
                </a:solidFill>
                <a:latin typeface="Arial MT"/>
                <a:cs typeface="Arial MT"/>
              </a:rPr>
              <a:t>static</a:t>
            </a:r>
            <a:r>
              <a:rPr sz="3550" spc="-195" dirty="0">
                <a:solidFill>
                  <a:srgbClr val="181818"/>
                </a:solidFill>
                <a:latin typeface="Arial MT"/>
                <a:cs typeface="Arial MT"/>
              </a:rPr>
              <a:t> </a:t>
            </a:r>
            <a:r>
              <a:rPr sz="3550" spc="-50" dirty="0">
                <a:solidFill>
                  <a:srgbClr val="181818"/>
                </a:solidFill>
                <a:latin typeface="Arial MT"/>
                <a:cs typeface="Arial MT"/>
              </a:rPr>
              <a:t>vectors</a:t>
            </a:r>
            <a:r>
              <a:rPr sz="3550" spc="-150" dirty="0">
                <a:solidFill>
                  <a:srgbClr val="181818"/>
                </a:solidFill>
                <a:latin typeface="Arial MT"/>
                <a:cs typeface="Arial MT"/>
              </a:rPr>
              <a:t> </a:t>
            </a:r>
            <a:r>
              <a:rPr sz="3550" spc="85" dirty="0">
                <a:solidFill>
                  <a:srgbClr val="232323"/>
                </a:solidFill>
                <a:latin typeface="Arial MT"/>
                <a:cs typeface="Arial MT"/>
              </a:rPr>
              <a:t>to</a:t>
            </a:r>
            <a:r>
              <a:rPr sz="3550" spc="-250" dirty="0">
                <a:solidFill>
                  <a:srgbClr val="232323"/>
                </a:solidFill>
                <a:latin typeface="Arial MT"/>
                <a:cs typeface="Arial MT"/>
              </a:rPr>
              <a:t> </a:t>
            </a:r>
            <a:r>
              <a:rPr sz="3550" spc="-30" dirty="0">
                <a:solidFill>
                  <a:srgbClr val="161616"/>
                </a:solidFill>
                <a:latin typeface="Arial MT"/>
                <a:cs typeface="Arial MT"/>
              </a:rPr>
              <a:t>dynamic</a:t>
            </a:r>
            <a:r>
              <a:rPr sz="3550" spc="40" dirty="0">
                <a:solidFill>
                  <a:srgbClr val="161616"/>
                </a:solidFill>
                <a:latin typeface="Arial MT"/>
                <a:cs typeface="Arial MT"/>
              </a:rPr>
              <a:t> </a:t>
            </a:r>
            <a:r>
              <a:rPr sz="3550" spc="-100" dirty="0">
                <a:solidFill>
                  <a:srgbClr val="212121"/>
                </a:solidFill>
                <a:latin typeface="Arial MT"/>
                <a:cs typeface="Arial MT"/>
              </a:rPr>
              <a:t>graphs,</a:t>
            </a:r>
            <a:r>
              <a:rPr sz="3550" spc="-150" dirty="0">
                <a:solidFill>
                  <a:srgbClr val="212121"/>
                </a:solidFill>
                <a:latin typeface="Arial MT"/>
                <a:cs typeface="Arial MT"/>
              </a:rPr>
              <a:t> </a:t>
            </a:r>
            <a:r>
              <a:rPr sz="3550" spc="-45" dirty="0">
                <a:solidFill>
                  <a:srgbClr val="232323"/>
                </a:solidFill>
                <a:latin typeface="Arial MT"/>
                <a:cs typeface="Arial MT"/>
              </a:rPr>
              <a:t>we</a:t>
            </a:r>
            <a:r>
              <a:rPr sz="3550" spc="-200" dirty="0">
                <a:solidFill>
                  <a:srgbClr val="232323"/>
                </a:solidFill>
                <a:latin typeface="Arial MT"/>
                <a:cs typeface="Arial MT"/>
              </a:rPr>
              <a:t> </a:t>
            </a:r>
            <a:r>
              <a:rPr sz="3550" spc="-150" dirty="0">
                <a:solidFill>
                  <a:srgbClr val="0F0F0F"/>
                </a:solidFill>
                <a:latin typeface="Arial MT"/>
                <a:cs typeface="Arial MT"/>
              </a:rPr>
              <a:t>are</a:t>
            </a:r>
            <a:r>
              <a:rPr sz="3550" spc="-155" dirty="0">
                <a:solidFill>
                  <a:srgbClr val="0F0F0F"/>
                </a:solidFill>
                <a:latin typeface="Arial MT"/>
                <a:cs typeface="Arial MT"/>
              </a:rPr>
              <a:t> </a:t>
            </a:r>
            <a:r>
              <a:rPr sz="3550" dirty="0">
                <a:solidFill>
                  <a:srgbClr val="1C1C1C"/>
                </a:solidFill>
                <a:latin typeface="Arial MT"/>
                <a:cs typeface="Arial MT"/>
              </a:rPr>
              <a:t>not</a:t>
            </a:r>
            <a:r>
              <a:rPr sz="3550" spc="-135" dirty="0">
                <a:solidFill>
                  <a:srgbClr val="1C1C1C"/>
                </a:solidFill>
                <a:latin typeface="Arial MT"/>
                <a:cs typeface="Arial MT"/>
              </a:rPr>
              <a:t> </a:t>
            </a:r>
            <a:r>
              <a:rPr sz="3550" spc="-20" dirty="0">
                <a:solidFill>
                  <a:srgbClr val="1A1A1A"/>
                </a:solidFill>
                <a:latin typeface="Arial MT"/>
                <a:cs typeface="Arial MT"/>
              </a:rPr>
              <a:t>just</a:t>
            </a:r>
            <a:r>
              <a:rPr sz="3550" dirty="0">
                <a:solidFill>
                  <a:srgbClr val="1A1A1A"/>
                </a:solidFill>
                <a:latin typeface="Arial MT"/>
                <a:cs typeface="Arial MT"/>
              </a:rPr>
              <a:t>	</a:t>
            </a:r>
            <a:r>
              <a:rPr sz="3550" spc="-75" dirty="0">
                <a:solidFill>
                  <a:srgbClr val="D4A887"/>
                </a:solidFill>
                <a:latin typeface="Arial MT"/>
                <a:cs typeface="Arial MT"/>
              </a:rPr>
              <a:t>, </a:t>
            </a:r>
            <a:r>
              <a:rPr sz="3550" spc="-30" dirty="0">
                <a:solidFill>
                  <a:srgbClr val="212121"/>
                </a:solidFill>
                <a:latin typeface="Arial MT"/>
                <a:cs typeface="Arial MT"/>
              </a:rPr>
              <a:t>upgrading</a:t>
            </a:r>
            <a:r>
              <a:rPr sz="3550" spc="-150" dirty="0">
                <a:solidFill>
                  <a:srgbClr val="212121"/>
                </a:solidFill>
                <a:latin typeface="Arial MT"/>
                <a:cs typeface="Arial MT"/>
              </a:rPr>
              <a:t> </a:t>
            </a:r>
            <a:r>
              <a:rPr sz="3550" spc="-170" dirty="0">
                <a:solidFill>
                  <a:srgbClr val="1F1F1F"/>
                </a:solidFill>
                <a:latin typeface="Arial MT"/>
                <a:cs typeface="Arial MT"/>
              </a:rPr>
              <a:t>an</a:t>
            </a:r>
            <a:r>
              <a:rPr sz="3550" spc="-150" dirty="0">
                <a:solidFill>
                  <a:srgbClr val="1F1F1F"/>
                </a:solidFill>
                <a:latin typeface="Arial MT"/>
                <a:cs typeface="Arial MT"/>
              </a:rPr>
              <a:t> </a:t>
            </a:r>
            <a:r>
              <a:rPr sz="3550" spc="-10" dirty="0">
                <a:solidFill>
                  <a:srgbClr val="1F1F1F"/>
                </a:solidFill>
                <a:latin typeface="Arial MT"/>
                <a:cs typeface="Arial MT"/>
              </a:rPr>
              <a:t>algorithm</a:t>
            </a:r>
            <a:r>
              <a:rPr sz="3550" dirty="0">
                <a:solidFill>
                  <a:srgbClr val="1F1F1F"/>
                </a:solidFill>
                <a:latin typeface="Arial MT"/>
                <a:cs typeface="Arial MT"/>
              </a:rPr>
              <a:t>	</a:t>
            </a:r>
            <a:r>
              <a:rPr sz="3550" spc="-125" dirty="0">
                <a:solidFill>
                  <a:srgbClr val="212121"/>
                </a:solidFill>
                <a:latin typeface="Arial MT"/>
                <a:cs typeface="Arial MT"/>
              </a:rPr>
              <a:t>we</a:t>
            </a:r>
            <a:r>
              <a:rPr sz="3550" spc="-150" dirty="0">
                <a:solidFill>
                  <a:srgbClr val="212121"/>
                </a:solidFill>
                <a:latin typeface="Arial MT"/>
                <a:cs typeface="Arial MT"/>
              </a:rPr>
              <a:t> are </a:t>
            </a:r>
            <a:r>
              <a:rPr sz="3550" dirty="0">
                <a:solidFill>
                  <a:srgbClr val="1C1C1C"/>
                </a:solidFill>
                <a:latin typeface="Arial MT"/>
                <a:cs typeface="Arial MT"/>
              </a:rPr>
              <a:t>building</a:t>
            </a:r>
            <a:r>
              <a:rPr sz="3550" spc="-85" dirty="0">
                <a:solidFill>
                  <a:srgbClr val="1C1C1C"/>
                </a:solidFill>
                <a:latin typeface="Arial MT"/>
                <a:cs typeface="Arial MT"/>
              </a:rPr>
              <a:t> </a:t>
            </a:r>
            <a:r>
              <a:rPr sz="3550" spc="-170" dirty="0">
                <a:solidFill>
                  <a:srgbClr val="232323"/>
                </a:solidFill>
                <a:latin typeface="Arial MT"/>
                <a:cs typeface="Arial MT"/>
              </a:rPr>
              <a:t>an</a:t>
            </a:r>
            <a:r>
              <a:rPr sz="3550" spc="-150" dirty="0">
                <a:solidFill>
                  <a:srgbClr val="232323"/>
                </a:solidFill>
                <a:latin typeface="Arial MT"/>
                <a:cs typeface="Arial MT"/>
              </a:rPr>
              <a:t> </a:t>
            </a:r>
            <a:r>
              <a:rPr sz="3550" spc="-10" dirty="0">
                <a:solidFill>
                  <a:srgbClr val="1D1D1D"/>
                </a:solidFill>
                <a:latin typeface="Arial MT"/>
                <a:cs typeface="Arial MT"/>
              </a:rPr>
              <a:t>auditable,</a:t>
            </a:r>
            <a:endParaRPr sz="3550">
              <a:latin typeface="Arial MT"/>
              <a:cs typeface="Arial MT"/>
            </a:endParaRPr>
          </a:p>
        </p:txBody>
      </p:sp>
      <p:sp>
        <p:nvSpPr>
          <p:cNvPr id="7" name="object 7"/>
          <p:cNvSpPr txBox="1"/>
          <p:nvPr/>
        </p:nvSpPr>
        <p:spPr>
          <a:xfrm>
            <a:off x="441746" y="5347758"/>
            <a:ext cx="146685" cy="565150"/>
          </a:xfrm>
          <a:prstGeom prst="rect">
            <a:avLst/>
          </a:prstGeom>
        </p:spPr>
        <p:txBody>
          <a:bodyPr vert="horz" wrap="square" lIns="0" tIns="11430" rIns="0" bIns="0" rtlCol="0">
            <a:spAutoFit/>
          </a:bodyPr>
          <a:lstStyle/>
          <a:p>
            <a:pPr marL="12700">
              <a:lnSpc>
                <a:spcPct val="100000"/>
              </a:lnSpc>
              <a:spcBef>
                <a:spcPts val="90"/>
              </a:spcBef>
            </a:pPr>
            <a:r>
              <a:rPr sz="3550" spc="-50" dirty="0">
                <a:solidFill>
                  <a:srgbClr val="D1B59E"/>
                </a:solidFill>
                <a:latin typeface="Arial MT"/>
                <a:cs typeface="Arial MT"/>
              </a:rPr>
              <a:t>.</a:t>
            </a:r>
            <a:endParaRPr sz="3550">
              <a:latin typeface="Arial MT"/>
              <a:cs typeface="Arial MT"/>
            </a:endParaRPr>
          </a:p>
        </p:txBody>
      </p:sp>
      <p:sp>
        <p:nvSpPr>
          <p:cNvPr id="8" name="object 8"/>
          <p:cNvSpPr txBox="1"/>
          <p:nvPr/>
        </p:nvSpPr>
        <p:spPr>
          <a:xfrm>
            <a:off x="4834891" y="5347758"/>
            <a:ext cx="7764145" cy="565150"/>
          </a:xfrm>
          <a:prstGeom prst="rect">
            <a:avLst/>
          </a:prstGeom>
        </p:spPr>
        <p:txBody>
          <a:bodyPr vert="horz" wrap="square" lIns="0" tIns="11430" rIns="0" bIns="0" rtlCol="0">
            <a:spAutoFit/>
          </a:bodyPr>
          <a:lstStyle/>
          <a:p>
            <a:pPr marL="12700">
              <a:lnSpc>
                <a:spcPct val="100000"/>
              </a:lnSpc>
              <a:spcBef>
                <a:spcPts val="90"/>
              </a:spcBef>
            </a:pPr>
            <a:r>
              <a:rPr sz="3550" spc="-75" dirty="0">
                <a:solidFill>
                  <a:srgbClr val="1D1D1D"/>
                </a:solidFill>
                <a:latin typeface="Arial MT"/>
                <a:cs typeface="Arial MT"/>
              </a:rPr>
              <a:t>reasoning</a:t>
            </a:r>
            <a:r>
              <a:rPr sz="3550" spc="-45" dirty="0">
                <a:solidFill>
                  <a:srgbClr val="1D1D1D"/>
                </a:solidFill>
                <a:latin typeface="Arial MT"/>
                <a:cs typeface="Arial MT"/>
              </a:rPr>
              <a:t> </a:t>
            </a:r>
            <a:r>
              <a:rPr sz="3550" spc="-30" dirty="0">
                <a:solidFill>
                  <a:srgbClr val="1C1C1C"/>
                </a:solidFill>
                <a:latin typeface="Arial MT"/>
                <a:cs typeface="Arial MT"/>
              </a:rPr>
              <a:t>brain</a:t>
            </a:r>
            <a:r>
              <a:rPr sz="3550" spc="-220" dirty="0">
                <a:solidFill>
                  <a:srgbClr val="1C1C1C"/>
                </a:solidFill>
                <a:latin typeface="Arial MT"/>
                <a:cs typeface="Arial MT"/>
              </a:rPr>
              <a:t> </a:t>
            </a:r>
            <a:r>
              <a:rPr sz="3550" dirty="0">
                <a:solidFill>
                  <a:srgbClr val="1D1D1D"/>
                </a:solidFill>
                <a:latin typeface="Arial MT"/>
                <a:cs typeface="Arial MT"/>
              </a:rPr>
              <a:t>for</a:t>
            </a:r>
            <a:r>
              <a:rPr sz="3550" spc="-220" dirty="0">
                <a:solidFill>
                  <a:srgbClr val="1D1D1D"/>
                </a:solidFill>
                <a:latin typeface="Arial MT"/>
                <a:cs typeface="Arial MT"/>
              </a:rPr>
              <a:t> </a:t>
            </a:r>
            <a:r>
              <a:rPr sz="3550" dirty="0">
                <a:solidFill>
                  <a:srgbClr val="1F1F1F"/>
                </a:solidFill>
                <a:latin typeface="Arial MT"/>
                <a:cs typeface="Arial MT"/>
              </a:rPr>
              <a:t>the</a:t>
            </a:r>
            <a:r>
              <a:rPr sz="3550" spc="-250" dirty="0">
                <a:solidFill>
                  <a:srgbClr val="1F1F1F"/>
                </a:solidFill>
                <a:latin typeface="Arial MT"/>
                <a:cs typeface="Arial MT"/>
              </a:rPr>
              <a:t> </a:t>
            </a:r>
            <a:r>
              <a:rPr sz="3550" spc="-25" dirty="0">
                <a:solidFill>
                  <a:srgbClr val="212121"/>
                </a:solidFill>
                <a:latin typeface="Arial MT"/>
                <a:cs typeface="Arial MT"/>
              </a:rPr>
              <a:t>entire</a:t>
            </a:r>
            <a:r>
              <a:rPr sz="3550" spc="-185" dirty="0">
                <a:solidFill>
                  <a:srgbClr val="212121"/>
                </a:solidFill>
                <a:latin typeface="Arial MT"/>
                <a:cs typeface="Arial MT"/>
              </a:rPr>
              <a:t> </a:t>
            </a:r>
            <a:r>
              <a:rPr sz="3550" spc="-35" dirty="0">
                <a:solidFill>
                  <a:srgbClr val="1F1F1F"/>
                </a:solidFill>
                <a:latin typeface="Arial MT"/>
                <a:cs typeface="Arial MT"/>
              </a:rPr>
              <a:t>enterprise.</a:t>
            </a:r>
            <a:endParaRPr sz="3550">
              <a:latin typeface="Arial MT"/>
              <a:cs typeface="Arial MT"/>
            </a:endParaRPr>
          </a:p>
        </p:txBody>
      </p:sp>
      <p:sp>
        <p:nvSpPr>
          <p:cNvPr id="9" name="object 9"/>
          <p:cNvSpPr txBox="1"/>
          <p:nvPr/>
        </p:nvSpPr>
        <p:spPr>
          <a:xfrm>
            <a:off x="3846903" y="6355291"/>
            <a:ext cx="9725025" cy="819150"/>
          </a:xfrm>
          <a:prstGeom prst="rect">
            <a:avLst/>
          </a:prstGeom>
        </p:spPr>
        <p:txBody>
          <a:bodyPr vert="horz" wrap="square" lIns="0" tIns="13335" rIns="0" bIns="0" rtlCol="0">
            <a:spAutoFit/>
          </a:bodyPr>
          <a:lstStyle/>
          <a:p>
            <a:pPr marL="12700">
              <a:lnSpc>
                <a:spcPct val="100000"/>
              </a:lnSpc>
              <a:spcBef>
                <a:spcPts val="105"/>
              </a:spcBef>
            </a:pPr>
            <a:r>
              <a:rPr sz="5200" spc="-75" dirty="0">
                <a:solidFill>
                  <a:srgbClr val="313131"/>
                </a:solidFill>
                <a:latin typeface="Arial MT"/>
                <a:cs typeface="Arial MT"/>
              </a:rPr>
              <a:t>Ready</a:t>
            </a:r>
            <a:r>
              <a:rPr sz="5200" spc="-210" dirty="0">
                <a:solidFill>
                  <a:srgbClr val="313131"/>
                </a:solidFill>
                <a:latin typeface="Arial MT"/>
                <a:cs typeface="Arial MT"/>
              </a:rPr>
              <a:t> </a:t>
            </a:r>
            <a:r>
              <a:rPr sz="5200" spc="160" dirty="0">
                <a:solidFill>
                  <a:srgbClr val="333333"/>
                </a:solidFill>
                <a:latin typeface="Arial MT"/>
                <a:cs typeface="Arial MT"/>
              </a:rPr>
              <a:t>for</a:t>
            </a:r>
            <a:r>
              <a:rPr sz="5200" spc="-315" dirty="0">
                <a:solidFill>
                  <a:srgbClr val="333333"/>
                </a:solidFill>
                <a:latin typeface="Arial MT"/>
                <a:cs typeface="Arial MT"/>
              </a:rPr>
              <a:t> </a:t>
            </a:r>
            <a:r>
              <a:rPr sz="5200" spc="90" dirty="0">
                <a:solidFill>
                  <a:srgbClr val="313131"/>
                </a:solidFill>
                <a:latin typeface="Arial MT"/>
                <a:cs typeface="Arial MT"/>
              </a:rPr>
              <a:t>Strategic</a:t>
            </a:r>
            <a:r>
              <a:rPr sz="5200" spc="-110" dirty="0">
                <a:solidFill>
                  <a:srgbClr val="313131"/>
                </a:solidFill>
                <a:latin typeface="Arial MT"/>
                <a:cs typeface="Arial MT"/>
              </a:rPr>
              <a:t> </a:t>
            </a:r>
            <a:r>
              <a:rPr sz="5200" spc="60" dirty="0">
                <a:solidFill>
                  <a:srgbClr val="2F2F2F"/>
                </a:solidFill>
                <a:latin typeface="Arial MT"/>
                <a:cs typeface="Arial MT"/>
              </a:rPr>
              <a:t>Deployment.</a:t>
            </a:r>
            <a:endParaRPr sz="5200">
              <a:latin typeface="Arial MT"/>
              <a:cs typeface="Arial M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62806" y="195072"/>
            <a:ext cx="16880230" cy="9337446"/>
          </a:xfrm>
          <a:prstGeom prst="rect">
            <a:avLst/>
          </a:prstGeom>
          <a:ln w="25400">
            <a:solidFill>
              <a:srgbClr val="1A2B52"/>
            </a:solidFill>
            <a:prstDash val="solid"/>
          </a:ln>
        </p:spPr>
      </p:sp>
      <p:sp>
        <p:nvSpPr>
          <p:cNvPr id="3" name="Text 1"/>
          <p:cNvSpPr/>
          <p:nvPr/>
        </p:nvSpPr>
        <p:spPr>
          <a:xfrm>
            <a:off x="717973" y="780288"/>
            <a:ext cx="8062976" cy="7542784"/>
          </a:xfrm>
          <a:prstGeom prst="rect">
            <a:avLst/>
          </a:prstGeom>
          <a:noFill/>
          <a:ln/>
        </p:spPr>
        <p:txBody>
          <a:bodyPr wrap="square" rtlCol="0" anchor="t"/>
          <a:lstStyle/>
          <a:p>
            <a:pPr algn="l">
              <a:lnSpc>
                <a:spcPct val="110000"/>
              </a:lnSpc>
            </a:pPr>
            <a:r>
              <a:rPr lang="en-US" sz="5973" b="1" dirty="0">
                <a:solidFill>
                  <a:srgbClr val="0D1B3E"/>
                </a:solidFill>
                <a:latin typeface="Arial Black" pitchFamily="34" charset="0"/>
                <a:ea typeface="Arial Black" pitchFamily="34" charset="-122"/>
                <a:cs typeface="Arial Black" pitchFamily="34" charset="-120"/>
              </a:rPr>
              <a:t>THE NEXT</a:t>
            </a:r>
            <a:endParaRPr lang="en-US" sz="5973" dirty="0"/>
          </a:p>
          <a:p>
            <a:pPr algn="l">
              <a:lnSpc>
                <a:spcPct val="110000"/>
              </a:lnSpc>
            </a:pPr>
            <a:r>
              <a:rPr lang="en-US" sz="5973" b="1" dirty="0">
                <a:solidFill>
                  <a:srgbClr val="0D1B3E"/>
                </a:solidFill>
                <a:latin typeface="Arial Black" pitchFamily="34" charset="0"/>
                <a:ea typeface="Arial Black" pitchFamily="34" charset="-122"/>
                <a:cs typeface="Arial Black" pitchFamily="34" charset="-120"/>
              </a:rPr>
              <a:t>EVOLUTION OF</a:t>
            </a:r>
            <a:endParaRPr lang="en-US" sz="5973" dirty="0"/>
          </a:p>
          <a:p>
            <a:pPr algn="l">
              <a:lnSpc>
                <a:spcPct val="110000"/>
              </a:lnSpc>
            </a:pPr>
            <a:r>
              <a:rPr lang="en-US" sz="5973" b="1" dirty="0">
                <a:solidFill>
                  <a:srgbClr val="0D1B3E"/>
                </a:solidFill>
                <a:latin typeface="Arial Black" pitchFamily="34" charset="0"/>
                <a:ea typeface="Arial Black" pitchFamily="34" charset="-122"/>
                <a:cs typeface="Arial Black" pitchFamily="34" charset="-120"/>
              </a:rPr>
              <a:t>ENTERPRISE AI:</a:t>
            </a:r>
            <a:endParaRPr lang="en-US" sz="5973" dirty="0"/>
          </a:p>
          <a:p>
            <a:pPr algn="l">
              <a:lnSpc>
                <a:spcPct val="110000"/>
              </a:lnSpc>
            </a:pPr>
            <a:r>
              <a:rPr lang="en-US" sz="5973" b="1" dirty="0">
                <a:solidFill>
                  <a:srgbClr val="0D1B3E"/>
                </a:solidFill>
                <a:latin typeface="Arial Black" pitchFamily="34" charset="0"/>
                <a:ea typeface="Arial Black" pitchFamily="34" charset="-122"/>
                <a:cs typeface="Arial Black" pitchFamily="34" charset="-120"/>
              </a:rPr>
              <a:t>SCALING</a:t>
            </a:r>
            <a:endParaRPr lang="en-US" sz="5973" dirty="0"/>
          </a:p>
          <a:p>
            <a:pPr algn="l">
              <a:lnSpc>
                <a:spcPct val="110000"/>
              </a:lnSpc>
            </a:pPr>
            <a:r>
              <a:rPr lang="en-US" sz="5973" b="1" dirty="0">
                <a:solidFill>
                  <a:srgbClr val="0D1B3E"/>
                </a:solidFill>
                <a:latin typeface="Arial Black" pitchFamily="34" charset="0"/>
                <a:ea typeface="Arial Black" pitchFamily="34" charset="-122"/>
                <a:cs typeface="Arial Black" pitchFamily="34" charset="-120"/>
              </a:rPr>
              <a:t>GRAPH-BASED</a:t>
            </a:r>
            <a:endParaRPr lang="en-US" sz="5973" dirty="0"/>
          </a:p>
          <a:p>
            <a:pPr algn="l">
              <a:lnSpc>
                <a:spcPct val="110000"/>
              </a:lnSpc>
            </a:pPr>
            <a:r>
              <a:rPr lang="en-US" sz="5973" b="1" dirty="0">
                <a:solidFill>
                  <a:srgbClr val="0D1B3E"/>
                </a:solidFill>
                <a:latin typeface="Arial Black" pitchFamily="34" charset="0"/>
                <a:ea typeface="Arial Black" pitchFamily="34" charset="-122"/>
                <a:cs typeface="Arial Black" pitchFamily="34" charset="-120"/>
              </a:rPr>
              <a:t>RAG</a:t>
            </a:r>
            <a:endParaRPr lang="en-US" sz="5973" dirty="0"/>
          </a:p>
        </p:txBody>
      </p:sp>
      <p:sp>
        <p:nvSpPr>
          <p:cNvPr id="4" name="Text 2"/>
          <p:cNvSpPr/>
          <p:nvPr/>
        </p:nvSpPr>
        <p:spPr>
          <a:xfrm>
            <a:off x="717973" y="8062976"/>
            <a:ext cx="7542784" cy="1300480"/>
          </a:xfrm>
          <a:prstGeom prst="rect">
            <a:avLst/>
          </a:prstGeom>
          <a:noFill/>
          <a:ln/>
        </p:spPr>
        <p:txBody>
          <a:bodyPr wrap="square" rtlCol="0" anchor="ctr"/>
          <a:lstStyle/>
          <a:p>
            <a:pPr algn="l"/>
            <a:r>
              <a:rPr lang="en-US" sz="2560" dirty="0">
                <a:solidFill>
                  <a:srgbClr val="6B7280"/>
                </a:solidFill>
                <a:latin typeface="Calibri" pitchFamily="34" charset="0"/>
                <a:ea typeface="Calibri" pitchFamily="34" charset="-122"/>
                <a:cs typeface="Calibri" pitchFamily="34" charset="-120"/>
              </a:rPr>
              <a:t>Unlocking Multi-Hop Reasoning,</a:t>
            </a:r>
            <a:endParaRPr lang="en-US" sz="2560" dirty="0"/>
          </a:p>
          <a:p>
            <a:pPr algn="l"/>
            <a:r>
              <a:rPr lang="en-US" sz="2560" dirty="0">
                <a:solidFill>
                  <a:srgbClr val="6B7280"/>
                </a:solidFill>
                <a:latin typeface="Calibri" pitchFamily="34" charset="0"/>
                <a:ea typeface="Calibri" pitchFamily="34" charset="-122"/>
                <a:cs typeface="Calibri" pitchFamily="34" charset="-120"/>
              </a:rPr>
              <a:t>Auditability, and ROI at</a:t>
            </a:r>
            <a:endParaRPr lang="en-US" sz="2560" dirty="0"/>
          </a:p>
          <a:p>
            <a:pPr algn="l"/>
            <a:r>
              <a:rPr lang="en-US" sz="2560" dirty="0">
                <a:solidFill>
                  <a:srgbClr val="6B7280"/>
                </a:solidFill>
                <a:latin typeface="Calibri" pitchFamily="34" charset="0"/>
                <a:ea typeface="Calibri" pitchFamily="34" charset="-122"/>
                <a:cs typeface="Calibri" pitchFamily="34" charset="-120"/>
              </a:rPr>
              <a:t>Enterprise Scale</a:t>
            </a:r>
            <a:endParaRPr lang="en-US" sz="2560" dirty="0"/>
          </a:p>
        </p:txBody>
      </p:sp>
      <p:pic>
        <p:nvPicPr>
          <p:cNvPr id="5" name="Image 0" descr="preencoded.png"/>
          <p:cNvPicPr>
            <a:picLocks noChangeAspect="1"/>
          </p:cNvPicPr>
          <p:nvPr/>
        </p:nvPicPr>
        <p:blipFill>
          <a:blip r:embed="rId3"/>
          <a:stretch>
            <a:fillRect/>
          </a:stretch>
        </p:blipFill>
        <p:spPr>
          <a:xfrm>
            <a:off x="8260757" y="780288"/>
            <a:ext cx="4161536" cy="4161536"/>
          </a:xfrm>
          <a:prstGeom prst="rect">
            <a:avLst/>
          </a:prstGeom>
        </p:spPr>
      </p:pic>
      <p:pic>
        <p:nvPicPr>
          <p:cNvPr id="6" name="Image 1" descr="preencoded.png"/>
          <p:cNvPicPr>
            <a:picLocks noChangeAspect="1"/>
          </p:cNvPicPr>
          <p:nvPr/>
        </p:nvPicPr>
        <p:blipFill>
          <a:blip r:embed="rId4"/>
          <a:stretch>
            <a:fillRect/>
          </a:stretch>
        </p:blipFill>
        <p:spPr>
          <a:xfrm>
            <a:off x="10946249" y="4039369"/>
            <a:ext cx="6242304" cy="5852160"/>
          </a:xfrm>
          <a:prstGeom prst="rect">
            <a:avLst/>
          </a:prstGeom>
        </p:spPr>
      </p:pic>
      <p:sp>
        <p:nvSpPr>
          <p:cNvPr id="7" name="Text 3"/>
          <p:cNvSpPr/>
          <p:nvPr/>
        </p:nvSpPr>
        <p:spPr>
          <a:xfrm>
            <a:off x="15023253" y="9298432"/>
            <a:ext cx="2210816" cy="325120"/>
          </a:xfrm>
          <a:prstGeom prst="rect">
            <a:avLst/>
          </a:prstGeom>
          <a:noFill/>
          <a:ln/>
        </p:spPr>
        <p:txBody>
          <a:bodyPr wrap="square" rtlCol="0" anchor="ctr"/>
          <a:lstStyle/>
          <a:p>
            <a:r>
              <a:rPr lang="en-US" sz="1280" dirty="0">
                <a:solidFill>
                  <a:srgbClr val="6B7280"/>
                </a:solidFill>
              </a:rPr>
              <a:t>🔖 NotebookLM</a:t>
            </a:r>
            <a:endParaRPr lang="en-US" sz="1280" dirty="0"/>
          </a:p>
        </p:txBody>
      </p:sp>
    </p:spTree>
    <p:extLst>
      <p:ext uri="{BB962C8B-B14F-4D97-AF65-F5344CB8AC3E}">
        <p14:creationId xmlns:p14="http://schemas.microsoft.com/office/powerpoint/2010/main" val="127643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62806" y="195072"/>
            <a:ext cx="16880230" cy="9337446"/>
          </a:xfrm>
          <a:prstGeom prst="rect">
            <a:avLst/>
          </a:prstGeom>
          <a:ln w="25400">
            <a:solidFill>
              <a:srgbClr val="1A2B52"/>
            </a:solidFill>
            <a:prstDash val="solid"/>
          </a:ln>
        </p:spPr>
      </p:sp>
      <p:sp>
        <p:nvSpPr>
          <p:cNvPr id="3" name="Text 1"/>
          <p:cNvSpPr/>
          <p:nvPr/>
        </p:nvSpPr>
        <p:spPr>
          <a:xfrm>
            <a:off x="587925" y="325120"/>
            <a:ext cx="16256000" cy="1950720"/>
          </a:xfrm>
          <a:prstGeom prst="rect">
            <a:avLst/>
          </a:prstGeom>
          <a:noFill/>
          <a:ln/>
        </p:spPr>
        <p:txBody>
          <a:bodyPr wrap="square" rtlCol="0" anchor="ctr"/>
          <a:lstStyle/>
          <a:p>
            <a:pPr algn="l"/>
            <a:r>
              <a:rPr lang="en-US" sz="4835" b="1" dirty="0">
                <a:solidFill>
                  <a:srgbClr val="0D1B3E"/>
                </a:solidFill>
                <a:latin typeface="Arial Black" pitchFamily="34" charset="0"/>
                <a:ea typeface="Arial Black" pitchFamily="34" charset="-122"/>
                <a:cs typeface="Arial Black" pitchFamily="34" charset="-120"/>
              </a:rPr>
              <a:t>EXECUTIVE SUMMARY: BREAKING</a:t>
            </a:r>
            <a:endParaRPr lang="en-US" sz="4835" dirty="0"/>
          </a:p>
          <a:p>
            <a:pPr algn="l"/>
            <a:r>
              <a:rPr lang="en-US" sz="4835" b="1" dirty="0">
                <a:solidFill>
                  <a:srgbClr val="0D1B3E"/>
                </a:solidFill>
                <a:latin typeface="Arial Black" pitchFamily="34" charset="0"/>
                <a:ea typeface="Arial Black" pitchFamily="34" charset="-122"/>
                <a:cs typeface="Arial Black" pitchFamily="34" charset="-120"/>
              </a:rPr>
              <a:t>THE GENERATIVE AI CEILING</a:t>
            </a:r>
            <a:endParaRPr lang="en-US" sz="4835" dirty="0"/>
          </a:p>
        </p:txBody>
      </p:sp>
      <p:sp>
        <p:nvSpPr>
          <p:cNvPr id="4" name="Text 2"/>
          <p:cNvSpPr/>
          <p:nvPr/>
        </p:nvSpPr>
        <p:spPr>
          <a:xfrm>
            <a:off x="587925" y="2405888"/>
            <a:ext cx="5201920" cy="1430528"/>
          </a:xfrm>
          <a:prstGeom prst="rect">
            <a:avLst/>
          </a:prstGeom>
          <a:noFill/>
          <a:ln/>
        </p:spPr>
        <p:txBody>
          <a:bodyPr wrap="square" rtlCol="0" anchor="ctr"/>
          <a:lstStyle/>
          <a:p>
            <a:r>
              <a:rPr lang="en-US" sz="1849" b="1" dirty="0">
                <a:solidFill>
                  <a:srgbClr val="0D1B3E"/>
                </a:solidFill>
                <a:latin typeface="Calibri" pitchFamily="34" charset="0"/>
                <a:ea typeface="Calibri" pitchFamily="34" charset="-122"/>
                <a:cs typeface="Calibri" pitchFamily="34" charset="-120"/>
              </a:rPr>
              <a:t>THE REALITY: </a:t>
            </a:r>
            <a:r>
              <a:rPr lang="en-US" sz="1849" dirty="0">
                <a:solidFill>
                  <a:srgbClr val="333333"/>
                </a:solidFill>
                <a:latin typeface="Calibri" pitchFamily="34" charset="0"/>
                <a:ea typeface="Calibri" pitchFamily="34" charset="-122"/>
                <a:cs typeface="Calibri" pitchFamily="34" charset="-120"/>
              </a:rPr>
              <a:t>Current Generative AI investments (Standard Vector RAG) are stalling on complex, highly-regulated enterprise data.</a:t>
            </a:r>
            <a:endParaRPr lang="en-US" sz="1849" dirty="0"/>
          </a:p>
        </p:txBody>
      </p:sp>
      <p:sp>
        <p:nvSpPr>
          <p:cNvPr id="5" name="Text 3"/>
          <p:cNvSpPr/>
          <p:nvPr/>
        </p:nvSpPr>
        <p:spPr>
          <a:xfrm>
            <a:off x="6049941" y="2405888"/>
            <a:ext cx="5201920" cy="1430528"/>
          </a:xfrm>
          <a:prstGeom prst="rect">
            <a:avLst/>
          </a:prstGeom>
          <a:noFill/>
          <a:ln/>
        </p:spPr>
        <p:txBody>
          <a:bodyPr wrap="square" rtlCol="0" anchor="ctr"/>
          <a:lstStyle/>
          <a:p>
            <a:r>
              <a:rPr lang="en-US" sz="1849" b="1" dirty="0">
                <a:solidFill>
                  <a:srgbClr val="0D1B3E"/>
                </a:solidFill>
                <a:latin typeface="Calibri" pitchFamily="34" charset="0"/>
                <a:ea typeface="Calibri" pitchFamily="34" charset="-122"/>
                <a:cs typeface="Calibri" pitchFamily="34" charset="-120"/>
              </a:rPr>
              <a:t>THE INTERVENTION: </a:t>
            </a:r>
            <a:r>
              <a:rPr lang="en-US" sz="1849" dirty="0">
                <a:solidFill>
                  <a:srgbClr val="333333"/>
                </a:solidFill>
                <a:latin typeface="Calibri" pitchFamily="34" charset="0"/>
                <a:ea typeface="Calibri" pitchFamily="34" charset="-122"/>
                <a:cs typeface="Calibri" pitchFamily="34" charset="-120"/>
              </a:rPr>
              <a:t>Graph-based Retrieval is the proven solution to unlock multi-hop reasoning, guarantee compliance, and reduce resolution times.</a:t>
            </a:r>
            <a:endParaRPr lang="en-US" sz="1849" dirty="0"/>
          </a:p>
        </p:txBody>
      </p:sp>
      <p:sp>
        <p:nvSpPr>
          <p:cNvPr id="6" name="Text 4"/>
          <p:cNvSpPr/>
          <p:nvPr/>
        </p:nvSpPr>
        <p:spPr>
          <a:xfrm>
            <a:off x="11511957" y="2405888"/>
            <a:ext cx="5201920" cy="1430528"/>
          </a:xfrm>
          <a:prstGeom prst="rect">
            <a:avLst/>
          </a:prstGeom>
          <a:noFill/>
          <a:ln/>
        </p:spPr>
        <p:txBody>
          <a:bodyPr wrap="square" rtlCol="0" anchor="ctr"/>
          <a:lstStyle/>
          <a:p>
            <a:r>
              <a:rPr lang="en-US" sz="1849" b="1" dirty="0">
                <a:solidFill>
                  <a:srgbClr val="0D1B3E"/>
                </a:solidFill>
                <a:latin typeface="Calibri" pitchFamily="34" charset="0"/>
                <a:ea typeface="Calibri" pitchFamily="34" charset="-122"/>
                <a:cs typeface="Calibri" pitchFamily="34" charset="-120"/>
              </a:rPr>
              <a:t>THE OBJECTIVE: </a:t>
            </a:r>
            <a:r>
              <a:rPr lang="en-US" sz="1849" dirty="0">
                <a:solidFill>
                  <a:srgbClr val="333333"/>
                </a:solidFill>
                <a:latin typeface="Calibri" pitchFamily="34" charset="0"/>
                <a:ea typeface="Calibri" pitchFamily="34" charset="-122"/>
                <a:cs typeface="Calibri" pitchFamily="34" charset="-120"/>
              </a:rPr>
              <a:t>Secure sponsorship to scale our hybrid, cost-optimized GraphRAG framework.</a:t>
            </a:r>
            <a:endParaRPr lang="en-US" sz="1849" dirty="0"/>
          </a:p>
        </p:txBody>
      </p:sp>
      <p:sp>
        <p:nvSpPr>
          <p:cNvPr id="7" name="Shape 5"/>
          <p:cNvSpPr/>
          <p:nvPr/>
        </p:nvSpPr>
        <p:spPr>
          <a:xfrm>
            <a:off x="522901" y="4031488"/>
            <a:ext cx="5071872" cy="5331968"/>
          </a:xfrm>
          <a:prstGeom prst="rect">
            <a:avLst/>
          </a:prstGeom>
          <a:solidFill>
            <a:srgbClr val="FFFFFF"/>
          </a:solidFill>
          <a:ln w="12700">
            <a:solidFill>
              <a:srgbClr val="D1D5DB"/>
            </a:solidFill>
            <a:prstDash val="solid"/>
          </a:ln>
        </p:spPr>
      </p:sp>
      <p:sp>
        <p:nvSpPr>
          <p:cNvPr id="8" name="Text 6"/>
          <p:cNvSpPr/>
          <p:nvPr/>
        </p:nvSpPr>
        <p:spPr>
          <a:xfrm>
            <a:off x="678959" y="4135526"/>
            <a:ext cx="4746752" cy="1235456"/>
          </a:xfrm>
          <a:prstGeom prst="rect">
            <a:avLst/>
          </a:prstGeom>
          <a:noFill/>
          <a:ln/>
        </p:spPr>
        <p:txBody>
          <a:bodyPr wrap="square" rtlCol="0" anchor="ctr"/>
          <a:lstStyle/>
          <a:p>
            <a:r>
              <a:rPr lang="en-US" sz="6258" b="1" dirty="0">
                <a:solidFill>
                  <a:srgbClr val="B5621F"/>
                </a:solidFill>
                <a:latin typeface="Arial Black" pitchFamily="34" charset="0"/>
                <a:ea typeface="Arial Black" pitchFamily="34" charset="-122"/>
                <a:cs typeface="Arial Black" pitchFamily="34" charset="-120"/>
              </a:rPr>
              <a:t>78.5%</a:t>
            </a:r>
            <a:endParaRPr lang="en-US" sz="6258" dirty="0"/>
          </a:p>
        </p:txBody>
      </p:sp>
      <p:sp>
        <p:nvSpPr>
          <p:cNvPr id="9" name="Text 7"/>
          <p:cNvSpPr/>
          <p:nvPr/>
        </p:nvSpPr>
        <p:spPr>
          <a:xfrm>
            <a:off x="678959" y="5436006"/>
            <a:ext cx="4746752" cy="520192"/>
          </a:xfrm>
          <a:prstGeom prst="rect">
            <a:avLst/>
          </a:prstGeom>
          <a:noFill/>
          <a:ln/>
        </p:spPr>
        <p:txBody>
          <a:bodyPr wrap="square" rtlCol="0" anchor="ctr"/>
          <a:lstStyle/>
          <a:p>
            <a:r>
              <a:rPr lang="en-US" sz="2276" b="1" dirty="0">
                <a:solidFill>
                  <a:srgbClr val="0D1B3E"/>
                </a:solidFill>
                <a:latin typeface="Arial Black" pitchFamily="34" charset="0"/>
                <a:ea typeface="Arial Black" pitchFamily="34" charset="-122"/>
                <a:cs typeface="Arial Black" pitchFamily="34" charset="-120"/>
              </a:rPr>
              <a:t>WIN-RATE</a:t>
            </a:r>
            <a:endParaRPr lang="en-US" sz="2276" dirty="0"/>
          </a:p>
        </p:txBody>
      </p:sp>
      <p:sp>
        <p:nvSpPr>
          <p:cNvPr id="10" name="Text 8"/>
          <p:cNvSpPr/>
          <p:nvPr/>
        </p:nvSpPr>
        <p:spPr>
          <a:xfrm>
            <a:off x="678959" y="6047232"/>
            <a:ext cx="4746752" cy="1300480"/>
          </a:xfrm>
          <a:prstGeom prst="rect">
            <a:avLst/>
          </a:prstGeom>
          <a:noFill/>
          <a:ln/>
        </p:spPr>
        <p:txBody>
          <a:bodyPr wrap="square" rtlCol="0" anchor="ctr"/>
          <a:lstStyle/>
          <a:p>
            <a:r>
              <a:rPr lang="en-US" sz="1707" dirty="0">
                <a:solidFill>
                  <a:srgbClr val="6B7280"/>
                </a:solidFill>
                <a:latin typeface="Calibri" pitchFamily="34" charset="0"/>
                <a:ea typeface="Calibri" pitchFamily="34" charset="-122"/>
                <a:cs typeface="Calibri" pitchFamily="34" charset="-120"/>
              </a:rPr>
              <a:t>Unmatched precision over standard dense vector retrieval on complex legacy tasks.</a:t>
            </a:r>
            <a:endParaRPr lang="en-US" sz="1707" dirty="0"/>
          </a:p>
        </p:txBody>
      </p:sp>
      <p:pic>
        <p:nvPicPr>
          <p:cNvPr id="11" name="Image 0" descr="preencoded.png"/>
          <p:cNvPicPr>
            <a:picLocks noChangeAspect="1"/>
          </p:cNvPicPr>
          <p:nvPr/>
        </p:nvPicPr>
        <p:blipFill>
          <a:blip r:embed="rId3"/>
          <a:stretch>
            <a:fillRect/>
          </a:stretch>
        </p:blipFill>
        <p:spPr>
          <a:xfrm>
            <a:off x="4229269" y="4161536"/>
            <a:ext cx="1040384" cy="1040384"/>
          </a:xfrm>
          <a:prstGeom prst="rect">
            <a:avLst/>
          </a:prstGeom>
        </p:spPr>
      </p:pic>
      <p:sp>
        <p:nvSpPr>
          <p:cNvPr id="12" name="Shape 9"/>
          <p:cNvSpPr/>
          <p:nvPr/>
        </p:nvSpPr>
        <p:spPr>
          <a:xfrm>
            <a:off x="5984917" y="4031488"/>
            <a:ext cx="5071872" cy="5331968"/>
          </a:xfrm>
          <a:prstGeom prst="rect">
            <a:avLst/>
          </a:prstGeom>
          <a:solidFill>
            <a:srgbClr val="FFFFFF"/>
          </a:solidFill>
          <a:ln w="12700">
            <a:solidFill>
              <a:srgbClr val="D1D5DB"/>
            </a:solidFill>
            <a:prstDash val="solid"/>
          </a:ln>
        </p:spPr>
      </p:sp>
      <p:sp>
        <p:nvSpPr>
          <p:cNvPr id="13" name="Text 10"/>
          <p:cNvSpPr/>
          <p:nvPr/>
        </p:nvSpPr>
        <p:spPr>
          <a:xfrm>
            <a:off x="6140975" y="4135526"/>
            <a:ext cx="4746752" cy="1235456"/>
          </a:xfrm>
          <a:prstGeom prst="rect">
            <a:avLst/>
          </a:prstGeom>
          <a:noFill/>
          <a:ln/>
        </p:spPr>
        <p:txBody>
          <a:bodyPr wrap="square" rtlCol="0" anchor="ctr"/>
          <a:lstStyle/>
          <a:p>
            <a:r>
              <a:rPr lang="en-US" sz="6258" b="1" dirty="0">
                <a:solidFill>
                  <a:srgbClr val="B5621F"/>
                </a:solidFill>
                <a:latin typeface="Arial Black" pitchFamily="34" charset="0"/>
                <a:ea typeface="Arial Black" pitchFamily="34" charset="-122"/>
                <a:cs typeface="Arial Black" pitchFamily="34" charset="-120"/>
              </a:rPr>
              <a:t>100%</a:t>
            </a:r>
            <a:endParaRPr lang="en-US" sz="6258" dirty="0"/>
          </a:p>
        </p:txBody>
      </p:sp>
      <p:sp>
        <p:nvSpPr>
          <p:cNvPr id="14" name="Text 11"/>
          <p:cNvSpPr/>
          <p:nvPr/>
        </p:nvSpPr>
        <p:spPr>
          <a:xfrm>
            <a:off x="6140975" y="5436006"/>
            <a:ext cx="4746752" cy="520192"/>
          </a:xfrm>
          <a:prstGeom prst="rect">
            <a:avLst/>
          </a:prstGeom>
          <a:noFill/>
          <a:ln/>
        </p:spPr>
        <p:txBody>
          <a:bodyPr wrap="square" rtlCol="0" anchor="ctr"/>
          <a:lstStyle/>
          <a:p>
            <a:r>
              <a:rPr lang="en-US" sz="2276" b="1" dirty="0">
                <a:solidFill>
                  <a:srgbClr val="0D1B3E"/>
                </a:solidFill>
                <a:latin typeface="Arial Black" pitchFamily="34" charset="0"/>
                <a:ea typeface="Arial Black" pitchFamily="34" charset="-122"/>
                <a:cs typeface="Arial Black" pitchFamily="34" charset="-120"/>
              </a:rPr>
              <a:t>AUDITABILITY</a:t>
            </a:r>
            <a:endParaRPr lang="en-US" sz="2276" dirty="0"/>
          </a:p>
        </p:txBody>
      </p:sp>
      <p:sp>
        <p:nvSpPr>
          <p:cNvPr id="15" name="Text 12"/>
          <p:cNvSpPr/>
          <p:nvPr/>
        </p:nvSpPr>
        <p:spPr>
          <a:xfrm>
            <a:off x="6140975" y="6047232"/>
            <a:ext cx="4746752" cy="1300480"/>
          </a:xfrm>
          <a:prstGeom prst="rect">
            <a:avLst/>
          </a:prstGeom>
          <a:noFill/>
          <a:ln/>
        </p:spPr>
        <p:txBody>
          <a:bodyPr wrap="square" rtlCol="0" anchor="ctr"/>
          <a:lstStyle/>
          <a:p>
            <a:r>
              <a:rPr lang="en-US" sz="1707" dirty="0">
                <a:solidFill>
                  <a:srgbClr val="6B7280"/>
                </a:solidFill>
                <a:latin typeface="Calibri" pitchFamily="34" charset="0"/>
                <a:ea typeface="Calibri" pitchFamily="34" charset="-122"/>
                <a:cs typeface="Calibri" pitchFamily="34" charset="-120"/>
              </a:rPr>
              <a:t>Zero-hallucination, transparent source tracing for strict regulatory compliance.</a:t>
            </a:r>
            <a:endParaRPr lang="en-US" sz="1707" dirty="0"/>
          </a:p>
        </p:txBody>
      </p:sp>
      <p:pic>
        <p:nvPicPr>
          <p:cNvPr id="16" name="Image 1" descr="preencoded.png"/>
          <p:cNvPicPr>
            <a:picLocks noChangeAspect="1"/>
          </p:cNvPicPr>
          <p:nvPr/>
        </p:nvPicPr>
        <p:blipFill>
          <a:blip r:embed="rId4"/>
          <a:stretch>
            <a:fillRect/>
          </a:stretch>
        </p:blipFill>
        <p:spPr>
          <a:xfrm>
            <a:off x="9691285" y="4161536"/>
            <a:ext cx="1040384" cy="1040384"/>
          </a:xfrm>
          <a:prstGeom prst="rect">
            <a:avLst/>
          </a:prstGeom>
        </p:spPr>
      </p:pic>
      <p:sp>
        <p:nvSpPr>
          <p:cNvPr id="17" name="Shape 13"/>
          <p:cNvSpPr/>
          <p:nvPr/>
        </p:nvSpPr>
        <p:spPr>
          <a:xfrm>
            <a:off x="11446933" y="4031488"/>
            <a:ext cx="5071872" cy="5331968"/>
          </a:xfrm>
          <a:prstGeom prst="rect">
            <a:avLst/>
          </a:prstGeom>
          <a:solidFill>
            <a:srgbClr val="FFFFFF"/>
          </a:solidFill>
          <a:ln w="12700">
            <a:solidFill>
              <a:srgbClr val="D1D5DB"/>
            </a:solidFill>
            <a:prstDash val="solid"/>
          </a:ln>
        </p:spPr>
      </p:sp>
      <p:sp>
        <p:nvSpPr>
          <p:cNvPr id="18" name="Text 14"/>
          <p:cNvSpPr/>
          <p:nvPr/>
        </p:nvSpPr>
        <p:spPr>
          <a:xfrm>
            <a:off x="11602991" y="4135526"/>
            <a:ext cx="4746752" cy="1235456"/>
          </a:xfrm>
          <a:prstGeom prst="rect">
            <a:avLst/>
          </a:prstGeom>
          <a:noFill/>
          <a:ln/>
        </p:spPr>
        <p:txBody>
          <a:bodyPr wrap="square" rtlCol="0" anchor="ctr"/>
          <a:lstStyle/>
          <a:p>
            <a:r>
              <a:rPr lang="en-US" sz="6258" b="1" dirty="0">
                <a:solidFill>
                  <a:srgbClr val="B5621F"/>
                </a:solidFill>
                <a:latin typeface="Arial Black" pitchFamily="34" charset="0"/>
                <a:ea typeface="Arial Black" pitchFamily="34" charset="-122"/>
                <a:cs typeface="Arial Black" pitchFamily="34" charset="-120"/>
              </a:rPr>
              <a:t>90%</a:t>
            </a:r>
            <a:endParaRPr lang="en-US" sz="6258" dirty="0"/>
          </a:p>
        </p:txBody>
      </p:sp>
      <p:sp>
        <p:nvSpPr>
          <p:cNvPr id="19" name="Text 15"/>
          <p:cNvSpPr/>
          <p:nvPr/>
        </p:nvSpPr>
        <p:spPr>
          <a:xfrm>
            <a:off x="11602991" y="5436006"/>
            <a:ext cx="4746752" cy="520192"/>
          </a:xfrm>
          <a:prstGeom prst="rect">
            <a:avLst/>
          </a:prstGeom>
          <a:noFill/>
          <a:ln/>
        </p:spPr>
        <p:txBody>
          <a:bodyPr wrap="square" rtlCol="0" anchor="ctr"/>
          <a:lstStyle/>
          <a:p>
            <a:r>
              <a:rPr lang="en-US" sz="2276" b="1" dirty="0">
                <a:solidFill>
                  <a:srgbClr val="0D1B3E"/>
                </a:solidFill>
                <a:latin typeface="Arial Black" pitchFamily="34" charset="0"/>
                <a:ea typeface="Arial Black" pitchFamily="34" charset="-122"/>
                <a:cs typeface="Arial Black" pitchFamily="34" charset="-120"/>
              </a:rPr>
              <a:t>COST REDUCTION</a:t>
            </a:r>
            <a:endParaRPr lang="en-US" sz="2276" dirty="0"/>
          </a:p>
        </p:txBody>
      </p:sp>
      <p:sp>
        <p:nvSpPr>
          <p:cNvPr id="20" name="Text 16"/>
          <p:cNvSpPr/>
          <p:nvPr/>
        </p:nvSpPr>
        <p:spPr>
          <a:xfrm>
            <a:off x="11602991" y="6047232"/>
            <a:ext cx="4746752" cy="1300480"/>
          </a:xfrm>
          <a:prstGeom prst="rect">
            <a:avLst/>
          </a:prstGeom>
          <a:noFill/>
          <a:ln/>
        </p:spPr>
        <p:txBody>
          <a:bodyPr wrap="square" rtlCol="0" anchor="ctr"/>
          <a:lstStyle/>
          <a:p>
            <a:r>
              <a:rPr lang="en-US" sz="1707" dirty="0">
                <a:solidFill>
                  <a:srgbClr val="6B7280"/>
                </a:solidFill>
                <a:latin typeface="Calibri" pitchFamily="34" charset="0"/>
                <a:ea typeface="Calibri" pitchFamily="34" charset="-122"/>
                <a:cs typeface="Calibri" pitchFamily="34" charset="-120"/>
              </a:rPr>
              <a:t>Using hybrid classical NLP extraction to bypass massive LLM compute costs at scale.</a:t>
            </a:r>
            <a:endParaRPr lang="en-US" sz="1707" dirty="0"/>
          </a:p>
        </p:txBody>
      </p:sp>
      <p:sp>
        <p:nvSpPr>
          <p:cNvPr id="21" name="Shape 17"/>
          <p:cNvSpPr/>
          <p:nvPr/>
        </p:nvSpPr>
        <p:spPr>
          <a:xfrm>
            <a:off x="12162197" y="7542784"/>
            <a:ext cx="715264" cy="1235456"/>
          </a:xfrm>
          <a:prstGeom prst="rect">
            <a:avLst/>
          </a:prstGeom>
          <a:solidFill>
            <a:srgbClr val="4A6FA5"/>
          </a:solidFill>
          <a:ln/>
        </p:spPr>
      </p:sp>
      <p:sp>
        <p:nvSpPr>
          <p:cNvPr id="22" name="Shape 18"/>
          <p:cNvSpPr/>
          <p:nvPr/>
        </p:nvSpPr>
        <p:spPr>
          <a:xfrm>
            <a:off x="13072533" y="7867904"/>
            <a:ext cx="715264" cy="910336"/>
          </a:xfrm>
          <a:prstGeom prst="rect">
            <a:avLst/>
          </a:prstGeom>
          <a:solidFill>
            <a:srgbClr val="B5621F"/>
          </a:solidFill>
          <a:ln/>
        </p:spPr>
      </p:sp>
      <p:sp>
        <p:nvSpPr>
          <p:cNvPr id="23" name="Shape 19"/>
          <p:cNvSpPr/>
          <p:nvPr/>
        </p:nvSpPr>
        <p:spPr>
          <a:xfrm>
            <a:off x="13982869" y="8128000"/>
            <a:ext cx="715264" cy="650240"/>
          </a:xfrm>
          <a:prstGeom prst="rect">
            <a:avLst/>
          </a:prstGeom>
          <a:solidFill>
            <a:srgbClr val="C8783A"/>
          </a:solidFill>
          <a:ln/>
        </p:spPr>
      </p:sp>
      <p:sp>
        <p:nvSpPr>
          <p:cNvPr id="24" name="Text 20"/>
          <p:cNvSpPr/>
          <p:nvPr/>
        </p:nvSpPr>
        <p:spPr>
          <a:xfrm>
            <a:off x="11902101" y="8843264"/>
            <a:ext cx="1170432" cy="364134"/>
          </a:xfrm>
          <a:prstGeom prst="rect">
            <a:avLst/>
          </a:prstGeom>
          <a:noFill/>
          <a:ln/>
        </p:spPr>
        <p:txBody>
          <a:bodyPr wrap="square" rtlCol="0" anchor="ctr"/>
          <a:lstStyle/>
          <a:p>
            <a:pPr algn="ctr"/>
            <a:r>
              <a:rPr lang="en-US" sz="1138" dirty="0">
                <a:solidFill>
                  <a:srgbClr val="6B7280"/>
                </a:solidFill>
              </a:rPr>
              <a:t>LLM</a:t>
            </a:r>
            <a:endParaRPr lang="en-US" sz="1138" dirty="0"/>
          </a:p>
        </p:txBody>
      </p:sp>
      <p:sp>
        <p:nvSpPr>
          <p:cNvPr id="25" name="Text 21"/>
          <p:cNvSpPr/>
          <p:nvPr/>
        </p:nvSpPr>
        <p:spPr>
          <a:xfrm>
            <a:off x="12812437" y="8843264"/>
            <a:ext cx="1170432" cy="364134"/>
          </a:xfrm>
          <a:prstGeom prst="rect">
            <a:avLst/>
          </a:prstGeom>
          <a:noFill/>
          <a:ln/>
        </p:spPr>
        <p:txBody>
          <a:bodyPr wrap="square" rtlCol="0" anchor="ctr"/>
          <a:lstStyle/>
          <a:p>
            <a:pPr algn="ctr"/>
            <a:r>
              <a:rPr lang="en-US" sz="1138" dirty="0">
                <a:solidFill>
                  <a:srgbClr val="6B7280"/>
                </a:solidFill>
              </a:rPr>
              <a:t>NLP</a:t>
            </a:r>
            <a:endParaRPr lang="en-US" sz="1138" dirty="0"/>
          </a:p>
        </p:txBody>
      </p:sp>
      <p:sp>
        <p:nvSpPr>
          <p:cNvPr id="26" name="Text 22"/>
          <p:cNvSpPr/>
          <p:nvPr/>
        </p:nvSpPr>
        <p:spPr>
          <a:xfrm>
            <a:off x="13722773" y="8843264"/>
            <a:ext cx="1170432" cy="364134"/>
          </a:xfrm>
          <a:prstGeom prst="rect">
            <a:avLst/>
          </a:prstGeom>
          <a:noFill/>
          <a:ln/>
        </p:spPr>
        <p:txBody>
          <a:bodyPr wrap="square" rtlCol="0" anchor="ctr"/>
          <a:lstStyle/>
          <a:p>
            <a:pPr algn="ctr"/>
            <a:r>
              <a:rPr lang="en-US" sz="1138" dirty="0">
                <a:solidFill>
                  <a:srgbClr val="6B7280"/>
                </a:solidFill>
              </a:rPr>
              <a:t>Cost</a:t>
            </a:r>
            <a:endParaRPr lang="en-US" sz="1138" dirty="0"/>
          </a:p>
        </p:txBody>
      </p:sp>
      <p:sp>
        <p:nvSpPr>
          <p:cNvPr id="27" name="Text 23"/>
          <p:cNvSpPr/>
          <p:nvPr/>
        </p:nvSpPr>
        <p:spPr>
          <a:xfrm>
            <a:off x="15023253" y="9298432"/>
            <a:ext cx="2210816" cy="325120"/>
          </a:xfrm>
          <a:prstGeom prst="rect">
            <a:avLst/>
          </a:prstGeom>
          <a:noFill/>
          <a:ln/>
        </p:spPr>
        <p:txBody>
          <a:bodyPr wrap="square" rtlCol="0" anchor="ctr"/>
          <a:lstStyle/>
          <a:p>
            <a:r>
              <a:rPr lang="en-US" sz="1280" dirty="0">
                <a:solidFill>
                  <a:srgbClr val="6B7280"/>
                </a:solidFill>
              </a:rPr>
              <a:t>🔖 NotebookLM</a:t>
            </a:r>
            <a:endParaRPr lang="en-US" sz="1280" dirty="0"/>
          </a:p>
        </p:txBody>
      </p:sp>
    </p:spTree>
    <p:extLst>
      <p:ext uri="{BB962C8B-B14F-4D97-AF65-F5344CB8AC3E}">
        <p14:creationId xmlns:p14="http://schemas.microsoft.com/office/powerpoint/2010/main" val="2845157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62806" y="195072"/>
            <a:ext cx="16880230" cy="9337446"/>
          </a:xfrm>
          <a:prstGeom prst="rect">
            <a:avLst/>
          </a:prstGeom>
          <a:ln w="25400">
            <a:solidFill>
              <a:srgbClr val="1A2B52"/>
            </a:solidFill>
            <a:prstDash val="solid"/>
          </a:ln>
        </p:spPr>
      </p:sp>
      <p:sp>
        <p:nvSpPr>
          <p:cNvPr id="3" name="Text 1"/>
          <p:cNvSpPr/>
          <p:nvPr/>
        </p:nvSpPr>
        <p:spPr>
          <a:xfrm>
            <a:off x="587925" y="325120"/>
            <a:ext cx="16256000" cy="2080768"/>
          </a:xfrm>
          <a:prstGeom prst="rect">
            <a:avLst/>
          </a:prstGeom>
          <a:noFill/>
          <a:ln/>
        </p:spPr>
        <p:txBody>
          <a:bodyPr wrap="square" rtlCol="0" anchor="ctr"/>
          <a:lstStyle/>
          <a:p>
            <a:r>
              <a:rPr lang="en-US" sz="5120" b="1" dirty="0">
                <a:solidFill>
                  <a:srgbClr val="0D1B3E"/>
                </a:solidFill>
                <a:latin typeface="Arial Black" pitchFamily="34" charset="0"/>
                <a:ea typeface="Arial Black" pitchFamily="34" charset="-122"/>
                <a:cs typeface="Arial Black" pitchFamily="34" charset="-120"/>
              </a:rPr>
              <a:t>THE AI GROWTH CEILING:</a:t>
            </a:r>
            <a:endParaRPr lang="en-US" sz="5120" dirty="0"/>
          </a:p>
          <a:p>
            <a:r>
              <a:rPr lang="en-US" sz="5120" b="1" dirty="0">
                <a:solidFill>
                  <a:srgbClr val="0D1B3E"/>
                </a:solidFill>
                <a:latin typeface="Arial Black" pitchFamily="34" charset="0"/>
                <a:ea typeface="Arial Black" pitchFamily="34" charset="-122"/>
                <a:cs typeface="Arial Black" pitchFamily="34" charset="-120"/>
              </a:rPr>
              <a:t>STANDARD RAG IS HITTING A WALL</a:t>
            </a:r>
            <a:endParaRPr lang="en-US" sz="5120" dirty="0"/>
          </a:p>
        </p:txBody>
      </p:sp>
      <p:pic>
        <p:nvPicPr>
          <p:cNvPr id="4" name="Image 0" descr="preencoded.png"/>
          <p:cNvPicPr>
            <a:picLocks noChangeAspect="1"/>
          </p:cNvPicPr>
          <p:nvPr/>
        </p:nvPicPr>
        <p:blipFill>
          <a:blip r:embed="rId3"/>
          <a:stretch>
            <a:fillRect/>
          </a:stretch>
        </p:blipFill>
        <p:spPr>
          <a:xfrm>
            <a:off x="2018453" y="2210816"/>
            <a:ext cx="13004800" cy="4421632"/>
          </a:xfrm>
          <a:prstGeom prst="rect">
            <a:avLst/>
          </a:prstGeom>
        </p:spPr>
      </p:pic>
      <p:sp>
        <p:nvSpPr>
          <p:cNvPr id="5" name="Text 2"/>
          <p:cNvSpPr/>
          <p:nvPr/>
        </p:nvSpPr>
        <p:spPr>
          <a:xfrm>
            <a:off x="457877" y="6762496"/>
            <a:ext cx="5201920" cy="845312"/>
          </a:xfrm>
          <a:prstGeom prst="rect">
            <a:avLst/>
          </a:prstGeom>
          <a:noFill/>
          <a:ln/>
        </p:spPr>
        <p:txBody>
          <a:bodyPr wrap="square" rtlCol="0" anchor="ctr"/>
          <a:lstStyle/>
          <a:p>
            <a:pPr algn="l"/>
            <a:r>
              <a:rPr lang="en-US" sz="1707" b="1" dirty="0">
                <a:solidFill>
                  <a:srgbClr val="0D1B3E"/>
                </a:solidFill>
                <a:latin typeface="Arial Black" pitchFamily="34" charset="0"/>
                <a:ea typeface="Arial Black" pitchFamily="34" charset="-122"/>
                <a:cs typeface="Arial Black" pitchFamily="34" charset="-120"/>
              </a:rPr>
              <a:t>ACCURACY DEGRADATION</a:t>
            </a:r>
            <a:endParaRPr lang="en-US" sz="1707" dirty="0"/>
          </a:p>
          <a:p>
            <a:pPr algn="l"/>
            <a:r>
              <a:rPr lang="en-US" sz="1707" b="1" dirty="0">
                <a:solidFill>
                  <a:srgbClr val="0D1B3E"/>
                </a:solidFill>
                <a:latin typeface="Arial Black" pitchFamily="34" charset="0"/>
                <a:ea typeface="Arial Black" pitchFamily="34" charset="-122"/>
                <a:cs typeface="Arial Black" pitchFamily="34" charset="-120"/>
              </a:rPr>
              <a:t>(CONTEXT LOSS)</a:t>
            </a:r>
            <a:endParaRPr lang="en-US" sz="1707" dirty="0"/>
          </a:p>
        </p:txBody>
      </p:sp>
      <p:sp>
        <p:nvSpPr>
          <p:cNvPr id="6" name="Text 3"/>
          <p:cNvSpPr/>
          <p:nvPr/>
        </p:nvSpPr>
        <p:spPr>
          <a:xfrm>
            <a:off x="457877" y="7672832"/>
            <a:ext cx="5201920" cy="1690624"/>
          </a:xfrm>
          <a:prstGeom prst="rect">
            <a:avLst/>
          </a:prstGeom>
          <a:noFill/>
          <a:ln/>
        </p:spPr>
        <p:txBody>
          <a:bodyPr wrap="square" rtlCol="0" anchor="ctr"/>
          <a:lstStyle/>
          <a:p>
            <a:pPr algn="l"/>
            <a:r>
              <a:rPr lang="en-US" sz="1707" dirty="0">
                <a:solidFill>
                  <a:srgbClr val="333333"/>
                </a:solidFill>
                <a:latin typeface="Calibri" pitchFamily="34" charset="0"/>
                <a:ea typeface="Calibri" pitchFamily="34" charset="-122"/>
                <a:cs typeface="Calibri" pitchFamily="34" charset="-120"/>
              </a:rPr>
              <a:t>Struggles with dense, specialized enterprise data where documents share highly concentrated terminology.</a:t>
            </a:r>
            <a:endParaRPr lang="en-US" sz="1707" dirty="0"/>
          </a:p>
        </p:txBody>
      </p:sp>
      <p:sp>
        <p:nvSpPr>
          <p:cNvPr id="7" name="Text 4"/>
          <p:cNvSpPr/>
          <p:nvPr/>
        </p:nvSpPr>
        <p:spPr>
          <a:xfrm>
            <a:off x="5984917" y="6762496"/>
            <a:ext cx="5201920" cy="845312"/>
          </a:xfrm>
          <a:prstGeom prst="rect">
            <a:avLst/>
          </a:prstGeom>
          <a:noFill/>
          <a:ln/>
        </p:spPr>
        <p:txBody>
          <a:bodyPr wrap="square" rtlCol="0" anchor="ctr"/>
          <a:lstStyle/>
          <a:p>
            <a:pPr algn="l"/>
            <a:r>
              <a:rPr lang="en-US" sz="1707" b="1" dirty="0">
                <a:solidFill>
                  <a:srgbClr val="0D1B3E"/>
                </a:solidFill>
                <a:latin typeface="Arial Black" pitchFamily="34" charset="0"/>
                <a:ea typeface="Arial Black" pitchFamily="34" charset="-122"/>
                <a:cs typeface="Arial Black" pitchFamily="34" charset="-120"/>
              </a:rPr>
              <a:t>REASONING FAILURE</a:t>
            </a:r>
            <a:endParaRPr lang="en-US" sz="1707" dirty="0"/>
          </a:p>
          <a:p>
            <a:pPr algn="l"/>
            <a:r>
              <a:rPr lang="en-US" sz="1707" b="1" dirty="0">
                <a:solidFill>
                  <a:srgbClr val="0D1B3E"/>
                </a:solidFill>
                <a:latin typeface="Arial Black" pitchFamily="34" charset="0"/>
                <a:ea typeface="Arial Black" pitchFamily="34" charset="-122"/>
                <a:cs typeface="Arial Black" pitchFamily="34" charset="-120"/>
              </a:rPr>
              <a:t>(THE MULTI-HOP GAP)</a:t>
            </a:r>
            <a:endParaRPr lang="en-US" sz="1707" dirty="0"/>
          </a:p>
        </p:txBody>
      </p:sp>
      <p:sp>
        <p:nvSpPr>
          <p:cNvPr id="8" name="Text 5"/>
          <p:cNvSpPr/>
          <p:nvPr/>
        </p:nvSpPr>
        <p:spPr>
          <a:xfrm>
            <a:off x="5984917" y="7672832"/>
            <a:ext cx="5201920" cy="1690624"/>
          </a:xfrm>
          <a:prstGeom prst="rect">
            <a:avLst/>
          </a:prstGeom>
          <a:noFill/>
          <a:ln/>
        </p:spPr>
        <p:txBody>
          <a:bodyPr wrap="square" rtlCol="0" anchor="ctr"/>
          <a:lstStyle/>
          <a:p>
            <a:pPr algn="l"/>
            <a:r>
              <a:rPr lang="en-US" sz="1707" dirty="0">
                <a:solidFill>
                  <a:srgbClr val="333333"/>
                </a:solidFill>
                <a:latin typeface="Calibri" pitchFamily="34" charset="0"/>
                <a:ea typeface="Calibri" pitchFamily="34" charset="-122"/>
                <a:cs typeface="Calibri" pitchFamily="34" charset="-120"/>
              </a:rPr>
              <a:t>Fails to connect complex, distributed facts (A to B to C) necessary for answering high-level operational questions.</a:t>
            </a:r>
            <a:endParaRPr lang="en-US" sz="1707" dirty="0"/>
          </a:p>
        </p:txBody>
      </p:sp>
      <p:sp>
        <p:nvSpPr>
          <p:cNvPr id="9" name="Text 6"/>
          <p:cNvSpPr/>
          <p:nvPr/>
        </p:nvSpPr>
        <p:spPr>
          <a:xfrm>
            <a:off x="11511957" y="6762496"/>
            <a:ext cx="5201920" cy="845312"/>
          </a:xfrm>
          <a:prstGeom prst="rect">
            <a:avLst/>
          </a:prstGeom>
          <a:noFill/>
          <a:ln/>
        </p:spPr>
        <p:txBody>
          <a:bodyPr wrap="square" rtlCol="0" anchor="ctr"/>
          <a:lstStyle/>
          <a:p>
            <a:pPr algn="l"/>
            <a:r>
              <a:rPr lang="en-US" sz="1707" b="1" dirty="0">
                <a:solidFill>
                  <a:srgbClr val="0D1B3E"/>
                </a:solidFill>
                <a:latin typeface="Arial Black" pitchFamily="34" charset="0"/>
                <a:ea typeface="Arial Black" pitchFamily="34" charset="-122"/>
                <a:cs typeface="Arial Black" pitchFamily="34" charset="-120"/>
              </a:rPr>
              <a:t>AUDITABILITY FAILURES</a:t>
            </a:r>
            <a:endParaRPr lang="en-US" sz="1707" dirty="0"/>
          </a:p>
          <a:p>
            <a:pPr algn="l"/>
            <a:r>
              <a:rPr lang="en-US" sz="1707" b="1" dirty="0">
                <a:solidFill>
                  <a:srgbClr val="0D1B3E"/>
                </a:solidFill>
                <a:latin typeface="Arial Black" pitchFamily="34" charset="0"/>
                <a:ea typeface="Arial Black" pitchFamily="34" charset="-122"/>
                <a:cs typeface="Arial Black" pitchFamily="34" charset="-120"/>
              </a:rPr>
              <a:t>(THE BLACK BOX)</a:t>
            </a:r>
            <a:endParaRPr lang="en-US" sz="1707" dirty="0"/>
          </a:p>
        </p:txBody>
      </p:sp>
      <p:sp>
        <p:nvSpPr>
          <p:cNvPr id="10" name="Text 7"/>
          <p:cNvSpPr/>
          <p:nvPr/>
        </p:nvSpPr>
        <p:spPr>
          <a:xfrm>
            <a:off x="11511957" y="7672832"/>
            <a:ext cx="5201920" cy="1690624"/>
          </a:xfrm>
          <a:prstGeom prst="rect">
            <a:avLst/>
          </a:prstGeom>
          <a:noFill/>
          <a:ln/>
        </p:spPr>
        <p:txBody>
          <a:bodyPr wrap="square" rtlCol="0" anchor="ctr"/>
          <a:lstStyle/>
          <a:p>
            <a:pPr algn="l"/>
            <a:r>
              <a:rPr lang="en-US" sz="1707" dirty="0">
                <a:solidFill>
                  <a:srgbClr val="333333"/>
                </a:solidFill>
                <a:latin typeface="Calibri" pitchFamily="34" charset="0"/>
                <a:ea typeface="Calibri" pitchFamily="34" charset="-122"/>
                <a:cs typeface="Calibri" pitchFamily="34" charset="-120"/>
              </a:rPr>
              <a:t>Provides answers without a clear, verifiable chain of logic, that regulators cannot audit.</a:t>
            </a:r>
            <a:endParaRPr lang="en-US" sz="1707" dirty="0"/>
          </a:p>
        </p:txBody>
      </p:sp>
      <p:sp>
        <p:nvSpPr>
          <p:cNvPr id="11" name="Text 8"/>
          <p:cNvSpPr/>
          <p:nvPr/>
        </p:nvSpPr>
        <p:spPr>
          <a:xfrm>
            <a:off x="15023253" y="9298432"/>
            <a:ext cx="2210816" cy="325120"/>
          </a:xfrm>
          <a:prstGeom prst="rect">
            <a:avLst/>
          </a:prstGeom>
          <a:noFill/>
          <a:ln/>
        </p:spPr>
        <p:txBody>
          <a:bodyPr wrap="square" rtlCol="0" anchor="ctr"/>
          <a:lstStyle/>
          <a:p>
            <a:r>
              <a:rPr lang="en-US" sz="1280" dirty="0">
                <a:solidFill>
                  <a:srgbClr val="6B7280"/>
                </a:solidFill>
              </a:rPr>
              <a:t>🔖 NotebookLM</a:t>
            </a:r>
            <a:endParaRPr lang="en-US" sz="1280" dirty="0"/>
          </a:p>
        </p:txBody>
      </p:sp>
    </p:spTree>
    <p:extLst>
      <p:ext uri="{BB962C8B-B14F-4D97-AF65-F5344CB8AC3E}">
        <p14:creationId xmlns:p14="http://schemas.microsoft.com/office/powerpoint/2010/main" val="386362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62806" y="195072"/>
            <a:ext cx="16880230" cy="9337446"/>
          </a:xfrm>
          <a:prstGeom prst="rect">
            <a:avLst/>
          </a:prstGeom>
          <a:ln w="25400">
            <a:solidFill>
              <a:srgbClr val="1A2B52"/>
            </a:solidFill>
            <a:prstDash val="solid"/>
          </a:ln>
        </p:spPr>
      </p:sp>
      <p:sp>
        <p:nvSpPr>
          <p:cNvPr id="3" name="Text 1"/>
          <p:cNvSpPr/>
          <p:nvPr/>
        </p:nvSpPr>
        <p:spPr>
          <a:xfrm>
            <a:off x="587925" y="325120"/>
            <a:ext cx="16256000" cy="1105408"/>
          </a:xfrm>
          <a:prstGeom prst="rect">
            <a:avLst/>
          </a:prstGeom>
          <a:noFill/>
          <a:ln/>
        </p:spPr>
        <p:txBody>
          <a:bodyPr wrap="square" rtlCol="0" anchor="ctr"/>
          <a:lstStyle/>
          <a:p>
            <a:r>
              <a:rPr lang="en-US" sz="4835" b="1" dirty="0">
                <a:solidFill>
                  <a:srgbClr val="0D1B3E"/>
                </a:solidFill>
                <a:latin typeface="Arial Black" pitchFamily="34" charset="0"/>
                <a:ea typeface="Arial Black" pitchFamily="34" charset="-122"/>
                <a:cs typeface="Arial Black" pitchFamily="34" charset="-120"/>
              </a:rPr>
              <a:t>THE ROOT CAUSE: THE CHUNKING PROBLEM</a:t>
            </a:r>
            <a:endParaRPr lang="en-US" sz="4835" dirty="0"/>
          </a:p>
        </p:txBody>
      </p:sp>
      <p:sp>
        <p:nvSpPr>
          <p:cNvPr id="4" name="Text 2"/>
          <p:cNvSpPr/>
          <p:nvPr/>
        </p:nvSpPr>
        <p:spPr>
          <a:xfrm>
            <a:off x="717973" y="1625600"/>
            <a:ext cx="7802880" cy="585216"/>
          </a:xfrm>
          <a:prstGeom prst="rect">
            <a:avLst/>
          </a:prstGeom>
          <a:noFill/>
          <a:ln/>
        </p:spPr>
        <p:txBody>
          <a:bodyPr wrap="square" rtlCol="0" anchor="ctr"/>
          <a:lstStyle/>
          <a:p>
            <a:pPr algn="ctr"/>
            <a:r>
              <a:rPr lang="en-US" sz="2560" b="1" dirty="0">
                <a:solidFill>
                  <a:srgbClr val="0D1B3E"/>
                </a:solidFill>
                <a:latin typeface="Arial Black" pitchFamily="34" charset="0"/>
                <a:ea typeface="Arial Black" pitchFamily="34" charset="-122"/>
                <a:cs typeface="Arial Black" pitchFamily="34" charset="-120"/>
              </a:rPr>
              <a:t>NAIVE CHUNKING</a:t>
            </a:r>
            <a:endParaRPr lang="en-US" sz="2560" dirty="0"/>
          </a:p>
        </p:txBody>
      </p:sp>
      <p:sp>
        <p:nvSpPr>
          <p:cNvPr id="5" name="Text 3"/>
          <p:cNvSpPr/>
          <p:nvPr/>
        </p:nvSpPr>
        <p:spPr>
          <a:xfrm>
            <a:off x="9171093" y="1625600"/>
            <a:ext cx="7802880" cy="585216"/>
          </a:xfrm>
          <a:prstGeom prst="rect">
            <a:avLst/>
          </a:prstGeom>
          <a:noFill/>
          <a:ln/>
        </p:spPr>
        <p:txBody>
          <a:bodyPr wrap="square" rtlCol="0" anchor="ctr"/>
          <a:lstStyle/>
          <a:p>
            <a:pPr algn="ctr"/>
            <a:r>
              <a:rPr lang="en-US" sz="2560" b="1" dirty="0">
                <a:solidFill>
                  <a:srgbClr val="B5621F"/>
                </a:solidFill>
                <a:latin typeface="Arial Black" pitchFamily="34" charset="0"/>
                <a:ea typeface="Arial Black" pitchFamily="34" charset="-122"/>
                <a:cs typeface="Arial Black" pitchFamily="34" charset="-120"/>
              </a:rPr>
              <a:t>RELATIONAL PRESERVATION</a:t>
            </a:r>
            <a:endParaRPr lang="en-US" sz="2560" dirty="0"/>
          </a:p>
        </p:txBody>
      </p:sp>
      <p:sp>
        <p:nvSpPr>
          <p:cNvPr id="6" name="Shape 4"/>
          <p:cNvSpPr/>
          <p:nvPr/>
        </p:nvSpPr>
        <p:spPr>
          <a:xfrm>
            <a:off x="8741935" y="1560576"/>
            <a:ext cx="0" cy="7152640"/>
          </a:xfrm>
          <a:prstGeom prst="line">
            <a:avLst/>
          </a:prstGeom>
          <a:noFill/>
          <a:ln w="19050">
            <a:solidFill>
              <a:srgbClr val="D1D5DB"/>
            </a:solidFill>
            <a:prstDash val="solid"/>
          </a:ln>
        </p:spPr>
      </p:sp>
      <p:sp>
        <p:nvSpPr>
          <p:cNvPr id="7" name="Shape 5"/>
          <p:cNvSpPr/>
          <p:nvPr/>
        </p:nvSpPr>
        <p:spPr>
          <a:xfrm>
            <a:off x="717973" y="2340864"/>
            <a:ext cx="7542784" cy="4941824"/>
          </a:xfrm>
          <a:prstGeom prst="rect">
            <a:avLst/>
          </a:prstGeom>
          <a:solidFill>
            <a:srgbClr val="EFF4FF"/>
          </a:solidFill>
          <a:ln w="19050">
            <a:solidFill>
              <a:srgbClr val="8B9DC3"/>
            </a:solidFill>
            <a:prstDash val="solid"/>
          </a:ln>
        </p:spPr>
      </p:sp>
      <p:sp>
        <p:nvSpPr>
          <p:cNvPr id="8" name="Text 6"/>
          <p:cNvSpPr/>
          <p:nvPr/>
        </p:nvSpPr>
        <p:spPr>
          <a:xfrm>
            <a:off x="978069" y="2600960"/>
            <a:ext cx="7022592" cy="4291584"/>
          </a:xfrm>
          <a:prstGeom prst="rect">
            <a:avLst/>
          </a:prstGeom>
          <a:noFill/>
          <a:ln/>
        </p:spPr>
        <p:txBody>
          <a:bodyPr wrap="square" rtlCol="0" anchor="ctr"/>
          <a:lstStyle/>
          <a:p>
            <a:r>
              <a:rPr lang="en-US" sz="1849" dirty="0">
                <a:solidFill>
                  <a:srgbClr val="333333"/>
                </a:solidFill>
                <a:latin typeface="Calibri" pitchFamily="34" charset="0"/>
                <a:ea typeface="Calibri" pitchFamily="34" charset="-122"/>
                <a:cs typeface="Calibri" pitchFamily="34" charset="-120"/>
              </a:rPr>
              <a:t>Apple Computer, Inc. was founded in 1976. The Apple II, released in 1977, was a major success. The Apple Lisa, introduced in 1983, was one of the first personal computers with a GUI. The Macintosh created in 1984, became iconic. Steve Jobs returned in 1997, leading a period of innovation.</a:t>
            </a:r>
            <a:endParaRPr lang="en-US" sz="1849" dirty="0"/>
          </a:p>
        </p:txBody>
      </p:sp>
      <p:sp>
        <p:nvSpPr>
          <p:cNvPr id="9" name="Shape 7"/>
          <p:cNvSpPr/>
          <p:nvPr/>
        </p:nvSpPr>
        <p:spPr>
          <a:xfrm>
            <a:off x="3709077" y="2340864"/>
            <a:ext cx="0" cy="4941824"/>
          </a:xfrm>
          <a:prstGeom prst="line">
            <a:avLst/>
          </a:prstGeom>
          <a:noFill/>
          <a:ln w="25400">
            <a:solidFill>
              <a:srgbClr val="4472C4"/>
            </a:solidFill>
            <a:prstDash val="solid"/>
          </a:ln>
        </p:spPr>
      </p:sp>
      <p:sp>
        <p:nvSpPr>
          <p:cNvPr id="10" name="Shape 8"/>
          <p:cNvSpPr/>
          <p:nvPr/>
        </p:nvSpPr>
        <p:spPr>
          <a:xfrm>
            <a:off x="5919893" y="2340864"/>
            <a:ext cx="0" cy="4941824"/>
          </a:xfrm>
          <a:prstGeom prst="line">
            <a:avLst/>
          </a:prstGeom>
          <a:noFill/>
          <a:ln w="25400">
            <a:solidFill>
              <a:srgbClr val="4472C4"/>
            </a:solidFill>
            <a:prstDash val="solid"/>
          </a:ln>
        </p:spPr>
      </p:sp>
      <p:sp>
        <p:nvSpPr>
          <p:cNvPr id="11" name="Shape 9"/>
          <p:cNvSpPr/>
          <p:nvPr/>
        </p:nvSpPr>
        <p:spPr>
          <a:xfrm>
            <a:off x="717973" y="3901440"/>
            <a:ext cx="7542784" cy="0"/>
          </a:xfrm>
          <a:prstGeom prst="line">
            <a:avLst/>
          </a:prstGeom>
          <a:noFill/>
          <a:ln w="25400">
            <a:solidFill>
              <a:srgbClr val="4472C4"/>
            </a:solidFill>
            <a:prstDash val="solid"/>
          </a:ln>
        </p:spPr>
      </p:sp>
      <p:sp>
        <p:nvSpPr>
          <p:cNvPr id="12" name="Shape 10"/>
          <p:cNvSpPr/>
          <p:nvPr/>
        </p:nvSpPr>
        <p:spPr>
          <a:xfrm>
            <a:off x="717973" y="5462016"/>
            <a:ext cx="7542784" cy="0"/>
          </a:xfrm>
          <a:prstGeom prst="line">
            <a:avLst/>
          </a:prstGeom>
          <a:noFill/>
          <a:ln w="25400">
            <a:solidFill>
              <a:srgbClr val="4472C4"/>
            </a:solidFill>
            <a:prstDash val="solid"/>
          </a:ln>
        </p:spPr>
      </p:sp>
      <p:pic>
        <p:nvPicPr>
          <p:cNvPr id="13" name="Image 0" descr="preencoded.png"/>
          <p:cNvPicPr>
            <a:picLocks noChangeAspect="1"/>
          </p:cNvPicPr>
          <p:nvPr/>
        </p:nvPicPr>
        <p:blipFill>
          <a:blip r:embed="rId3"/>
          <a:stretch>
            <a:fillRect/>
          </a:stretch>
        </p:blipFill>
        <p:spPr>
          <a:xfrm>
            <a:off x="9041045" y="1950720"/>
            <a:ext cx="7542784" cy="5852160"/>
          </a:xfrm>
          <a:prstGeom prst="rect">
            <a:avLst/>
          </a:prstGeom>
        </p:spPr>
      </p:pic>
      <p:sp>
        <p:nvSpPr>
          <p:cNvPr id="14" name="Text 11"/>
          <p:cNvSpPr/>
          <p:nvPr/>
        </p:nvSpPr>
        <p:spPr>
          <a:xfrm>
            <a:off x="717973" y="7412736"/>
            <a:ext cx="7542784" cy="1300480"/>
          </a:xfrm>
          <a:prstGeom prst="rect">
            <a:avLst/>
          </a:prstGeom>
          <a:noFill/>
          <a:ln/>
        </p:spPr>
        <p:txBody>
          <a:bodyPr wrap="square" rtlCol="0" anchor="ctr"/>
          <a:lstStyle/>
          <a:p>
            <a:pPr algn="ctr"/>
            <a:r>
              <a:rPr lang="en-US" sz="1564" dirty="0">
                <a:solidFill>
                  <a:srgbClr val="6B7280"/>
                </a:solidFill>
                <a:latin typeface="Calibri" pitchFamily="34" charset="0"/>
                <a:ea typeface="Calibri" pitchFamily="34" charset="-122"/>
                <a:cs typeface="Calibri" pitchFamily="34" charset="-120"/>
              </a:rPr>
              <a:t>Slices enterprise knowledge into rigid blocks, creating proximity bias and destroying structural relationships (e.g., inaccurately attributing the Macintosh creation to 1983).</a:t>
            </a:r>
            <a:endParaRPr lang="en-US" sz="1564" dirty="0"/>
          </a:p>
        </p:txBody>
      </p:sp>
      <p:sp>
        <p:nvSpPr>
          <p:cNvPr id="15" name="Text 12"/>
          <p:cNvSpPr/>
          <p:nvPr/>
        </p:nvSpPr>
        <p:spPr>
          <a:xfrm>
            <a:off x="9171093" y="7412736"/>
            <a:ext cx="7542784" cy="1300480"/>
          </a:xfrm>
          <a:prstGeom prst="rect">
            <a:avLst/>
          </a:prstGeom>
          <a:noFill/>
          <a:ln/>
        </p:spPr>
        <p:txBody>
          <a:bodyPr wrap="square" rtlCol="0" anchor="ctr"/>
          <a:lstStyle/>
          <a:p>
            <a:pPr algn="ctr"/>
            <a:r>
              <a:rPr lang="en-US" sz="1564" dirty="0">
                <a:solidFill>
                  <a:srgbClr val="6B7280"/>
                </a:solidFill>
                <a:latin typeface="Calibri" pitchFamily="34" charset="0"/>
                <a:ea typeface="Calibri" pitchFamily="34" charset="-122"/>
                <a:cs typeface="Calibri" pitchFamily="34" charset="-120"/>
              </a:rPr>
              <a:t>Graph structures capture the actual logic and conditions of the text, preserving the whole thought intact regardless of document length.</a:t>
            </a:r>
            <a:endParaRPr lang="en-US" sz="1564" dirty="0"/>
          </a:p>
        </p:txBody>
      </p:sp>
      <p:sp>
        <p:nvSpPr>
          <p:cNvPr id="16" name="Text 13"/>
          <p:cNvSpPr/>
          <p:nvPr/>
        </p:nvSpPr>
        <p:spPr>
          <a:xfrm>
            <a:off x="15023253" y="9298432"/>
            <a:ext cx="2210816" cy="325120"/>
          </a:xfrm>
          <a:prstGeom prst="rect">
            <a:avLst/>
          </a:prstGeom>
          <a:noFill/>
          <a:ln/>
        </p:spPr>
        <p:txBody>
          <a:bodyPr wrap="square" rtlCol="0" anchor="ctr"/>
          <a:lstStyle/>
          <a:p>
            <a:r>
              <a:rPr lang="en-US" sz="1280" dirty="0">
                <a:solidFill>
                  <a:srgbClr val="6B7280"/>
                </a:solidFill>
              </a:rPr>
              <a:t>🔖 NotebookLM</a:t>
            </a:r>
            <a:endParaRPr lang="en-US" sz="1280" dirty="0"/>
          </a:p>
        </p:txBody>
      </p:sp>
    </p:spTree>
    <p:extLst>
      <p:ext uri="{BB962C8B-B14F-4D97-AF65-F5344CB8AC3E}">
        <p14:creationId xmlns:p14="http://schemas.microsoft.com/office/powerpoint/2010/main" val="757598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62806" y="195072"/>
            <a:ext cx="16880230" cy="9337446"/>
          </a:xfrm>
          <a:prstGeom prst="rect">
            <a:avLst/>
          </a:prstGeom>
          <a:ln w="25400">
            <a:solidFill>
              <a:srgbClr val="1A2B52"/>
            </a:solidFill>
            <a:prstDash val="solid"/>
          </a:ln>
        </p:spPr>
      </p:sp>
      <p:sp>
        <p:nvSpPr>
          <p:cNvPr id="3" name="Text 1"/>
          <p:cNvSpPr/>
          <p:nvPr/>
        </p:nvSpPr>
        <p:spPr>
          <a:xfrm>
            <a:off x="587925" y="260096"/>
            <a:ext cx="16256000" cy="1820672"/>
          </a:xfrm>
          <a:prstGeom prst="rect">
            <a:avLst/>
          </a:prstGeom>
          <a:noFill/>
          <a:ln/>
        </p:spPr>
        <p:txBody>
          <a:bodyPr wrap="square" rtlCol="0" anchor="ctr"/>
          <a:lstStyle/>
          <a:p>
            <a:r>
              <a:rPr lang="en-US" sz="4551" b="1" dirty="0">
                <a:solidFill>
                  <a:srgbClr val="0D1B3E"/>
                </a:solidFill>
                <a:latin typeface="Arial Black" pitchFamily="34" charset="0"/>
                <a:ea typeface="Arial Black" pitchFamily="34" charset="-122"/>
                <a:cs typeface="Arial Black" pitchFamily="34" charset="-120"/>
              </a:rPr>
              <a:t>THE PARADIGM SHIFT: FROM STATIC</a:t>
            </a:r>
            <a:endParaRPr lang="en-US" sz="4551" dirty="0"/>
          </a:p>
          <a:p>
            <a:r>
              <a:rPr lang="en-US" sz="4551" b="1" dirty="0">
                <a:solidFill>
                  <a:srgbClr val="0D1B3E"/>
                </a:solidFill>
                <a:latin typeface="Arial Black" pitchFamily="34" charset="0"/>
                <a:ea typeface="Arial Black" pitchFamily="34" charset="-122"/>
                <a:cs typeface="Arial Black" pitchFamily="34" charset="-120"/>
              </a:rPr>
              <a:t>VECTORS TO DYNAMIC GRAPHS</a:t>
            </a:r>
            <a:endParaRPr lang="en-US" sz="4551" dirty="0"/>
          </a:p>
        </p:txBody>
      </p:sp>
      <p:sp>
        <p:nvSpPr>
          <p:cNvPr id="4" name="Text 2"/>
          <p:cNvSpPr/>
          <p:nvPr/>
        </p:nvSpPr>
        <p:spPr>
          <a:xfrm>
            <a:off x="587925" y="2080768"/>
            <a:ext cx="15605760" cy="585216"/>
          </a:xfrm>
          <a:prstGeom prst="rect">
            <a:avLst/>
          </a:prstGeom>
          <a:noFill/>
          <a:ln/>
        </p:spPr>
        <p:txBody>
          <a:bodyPr wrap="square" rtlCol="0" anchor="ctr"/>
          <a:lstStyle/>
          <a:p>
            <a:r>
              <a:rPr lang="en-US" sz="2133" b="1" dirty="0">
                <a:solidFill>
                  <a:srgbClr val="0D1B3E"/>
                </a:solidFill>
                <a:latin typeface="Calibri" pitchFamily="34" charset="0"/>
                <a:ea typeface="Calibri" pitchFamily="34" charset="-122"/>
                <a:cs typeface="Calibri" pitchFamily="34" charset="-120"/>
              </a:rPr>
              <a:t>Key Takeaway: </a:t>
            </a:r>
            <a:r>
              <a:rPr lang="en-US" sz="2133" dirty="0">
                <a:solidFill>
                  <a:srgbClr val="333333"/>
                </a:solidFill>
                <a:latin typeface="Calibri" pitchFamily="34" charset="0"/>
                <a:ea typeface="Calibri" pitchFamily="34" charset="-122"/>
                <a:cs typeface="Calibri" pitchFamily="34" charset="-120"/>
              </a:rPr>
              <a:t>We are upgrading our AI from a simple matching engine into a reasoning engine.</a:t>
            </a:r>
            <a:endParaRPr lang="en-US" sz="2133" dirty="0"/>
          </a:p>
        </p:txBody>
      </p:sp>
      <p:sp>
        <p:nvSpPr>
          <p:cNvPr id="5" name="Text 3"/>
          <p:cNvSpPr/>
          <p:nvPr/>
        </p:nvSpPr>
        <p:spPr>
          <a:xfrm>
            <a:off x="717973" y="2991104"/>
            <a:ext cx="7542784" cy="585216"/>
          </a:xfrm>
          <a:prstGeom prst="rect">
            <a:avLst/>
          </a:prstGeom>
          <a:noFill/>
          <a:ln/>
        </p:spPr>
        <p:txBody>
          <a:bodyPr wrap="square" rtlCol="0" anchor="ctr"/>
          <a:lstStyle/>
          <a:p>
            <a:pPr algn="ctr"/>
            <a:r>
              <a:rPr lang="en-US" sz="2560" b="1" dirty="0">
                <a:solidFill>
                  <a:srgbClr val="0D1B3E"/>
                </a:solidFill>
                <a:latin typeface="Arial Black" pitchFamily="34" charset="0"/>
                <a:ea typeface="Arial Black" pitchFamily="34" charset="-122"/>
                <a:cs typeface="Arial Black" pitchFamily="34" charset="-120"/>
              </a:rPr>
              <a:t>VECTOR SEARCH</a:t>
            </a:r>
            <a:endParaRPr lang="en-US" sz="2560" dirty="0"/>
          </a:p>
        </p:txBody>
      </p:sp>
      <p:sp>
        <p:nvSpPr>
          <p:cNvPr id="6" name="Text 4"/>
          <p:cNvSpPr/>
          <p:nvPr/>
        </p:nvSpPr>
        <p:spPr>
          <a:xfrm>
            <a:off x="717973" y="3615334"/>
            <a:ext cx="7542784" cy="780288"/>
          </a:xfrm>
          <a:prstGeom prst="rect">
            <a:avLst/>
          </a:prstGeom>
          <a:noFill/>
          <a:ln/>
        </p:spPr>
        <p:txBody>
          <a:bodyPr wrap="square" rtlCol="0" anchor="ctr"/>
          <a:lstStyle/>
          <a:p>
            <a:pPr algn="ctr"/>
            <a:r>
              <a:rPr lang="en-US" sz="1849" dirty="0">
                <a:solidFill>
                  <a:srgbClr val="6B7280"/>
                </a:solidFill>
                <a:latin typeface="Calibri" pitchFamily="34" charset="0"/>
                <a:ea typeface="Calibri" pitchFamily="34" charset="-122"/>
                <a:cs typeface="Calibri" pitchFamily="34" charset="-120"/>
              </a:rPr>
              <a:t>Querying for isolated words that look</a:t>
            </a:r>
            <a:endParaRPr lang="en-US" sz="1849" dirty="0"/>
          </a:p>
          <a:p>
            <a:pPr algn="ctr"/>
            <a:r>
              <a:rPr lang="en-US" sz="1849" dirty="0">
                <a:solidFill>
                  <a:srgbClr val="6B7280"/>
                </a:solidFill>
                <a:latin typeface="Calibri" pitchFamily="34" charset="0"/>
                <a:ea typeface="Calibri" pitchFamily="34" charset="-122"/>
                <a:cs typeface="Calibri" pitchFamily="34" charset="-120"/>
              </a:rPr>
              <a:t>statistically similar. (Blind proximity).</a:t>
            </a:r>
            <a:endParaRPr lang="en-US" sz="1849" dirty="0"/>
          </a:p>
        </p:txBody>
      </p:sp>
      <p:pic>
        <p:nvPicPr>
          <p:cNvPr id="7" name="Image 0" descr="preencoded.png"/>
          <p:cNvPicPr>
            <a:picLocks noChangeAspect="1"/>
          </p:cNvPicPr>
          <p:nvPr/>
        </p:nvPicPr>
        <p:blipFill>
          <a:blip r:embed="rId3"/>
          <a:stretch>
            <a:fillRect/>
          </a:stretch>
        </p:blipFill>
        <p:spPr>
          <a:xfrm>
            <a:off x="848021" y="4551680"/>
            <a:ext cx="7282688" cy="4551680"/>
          </a:xfrm>
          <a:prstGeom prst="rect">
            <a:avLst/>
          </a:prstGeom>
        </p:spPr>
      </p:pic>
      <p:pic>
        <p:nvPicPr>
          <p:cNvPr id="8" name="Image 1" descr="preencoded.png"/>
          <p:cNvPicPr>
            <a:picLocks noChangeAspect="1"/>
          </p:cNvPicPr>
          <p:nvPr/>
        </p:nvPicPr>
        <p:blipFill>
          <a:blip r:embed="rId4"/>
          <a:stretch>
            <a:fillRect/>
          </a:stretch>
        </p:blipFill>
        <p:spPr>
          <a:xfrm>
            <a:off x="5529749" y="5201920"/>
            <a:ext cx="2340864" cy="2340864"/>
          </a:xfrm>
          <a:prstGeom prst="rect">
            <a:avLst/>
          </a:prstGeom>
        </p:spPr>
      </p:pic>
      <p:sp>
        <p:nvSpPr>
          <p:cNvPr id="9" name="Shape 5"/>
          <p:cNvSpPr/>
          <p:nvPr/>
        </p:nvSpPr>
        <p:spPr>
          <a:xfrm>
            <a:off x="8741935" y="2861056"/>
            <a:ext cx="0" cy="6632448"/>
          </a:xfrm>
          <a:prstGeom prst="line">
            <a:avLst/>
          </a:prstGeom>
          <a:noFill/>
          <a:ln w="19050">
            <a:solidFill>
              <a:srgbClr val="D1D5DB"/>
            </a:solidFill>
            <a:prstDash val="solid"/>
          </a:ln>
        </p:spPr>
      </p:sp>
      <p:sp>
        <p:nvSpPr>
          <p:cNvPr id="10" name="Text 6"/>
          <p:cNvSpPr/>
          <p:nvPr/>
        </p:nvSpPr>
        <p:spPr>
          <a:xfrm>
            <a:off x="9171093" y="2991104"/>
            <a:ext cx="7542784" cy="585216"/>
          </a:xfrm>
          <a:prstGeom prst="rect">
            <a:avLst/>
          </a:prstGeom>
          <a:noFill/>
          <a:ln/>
        </p:spPr>
        <p:txBody>
          <a:bodyPr wrap="square" rtlCol="0" anchor="ctr"/>
          <a:lstStyle/>
          <a:p>
            <a:pPr algn="ctr"/>
            <a:r>
              <a:rPr lang="en-US" sz="2560" b="1" dirty="0">
                <a:solidFill>
                  <a:srgbClr val="B5621F"/>
                </a:solidFill>
                <a:latin typeface="Arial Black" pitchFamily="34" charset="0"/>
                <a:ea typeface="Arial Black" pitchFamily="34" charset="-122"/>
                <a:cs typeface="Arial Black" pitchFamily="34" charset="-120"/>
              </a:rPr>
              <a:t>GRAPH RETRIEVAL</a:t>
            </a:r>
            <a:endParaRPr lang="en-US" sz="2560" dirty="0"/>
          </a:p>
        </p:txBody>
      </p:sp>
      <p:sp>
        <p:nvSpPr>
          <p:cNvPr id="11" name="Text 7"/>
          <p:cNvSpPr/>
          <p:nvPr/>
        </p:nvSpPr>
        <p:spPr>
          <a:xfrm>
            <a:off x="9171093" y="3615334"/>
            <a:ext cx="7542784" cy="780288"/>
          </a:xfrm>
          <a:prstGeom prst="rect">
            <a:avLst/>
          </a:prstGeom>
          <a:noFill/>
          <a:ln/>
        </p:spPr>
        <p:txBody>
          <a:bodyPr wrap="square" rtlCol="0" anchor="ctr"/>
          <a:lstStyle/>
          <a:p>
            <a:pPr algn="ctr"/>
            <a:r>
              <a:rPr lang="en-US" sz="1849" dirty="0">
                <a:solidFill>
                  <a:srgbClr val="6B7280"/>
                </a:solidFill>
                <a:latin typeface="Calibri" pitchFamily="34" charset="0"/>
                <a:ea typeface="Calibri" pitchFamily="34" charset="-122"/>
                <a:cs typeface="Calibri" pitchFamily="34" charset="-120"/>
              </a:rPr>
              <a:t>Querying an intelligent, interconnected map of</a:t>
            </a:r>
            <a:endParaRPr lang="en-US" sz="1849" dirty="0"/>
          </a:p>
          <a:p>
            <a:pPr algn="ctr"/>
            <a:r>
              <a:rPr lang="en-US" sz="1849" dirty="0">
                <a:solidFill>
                  <a:srgbClr val="6B7280"/>
                </a:solidFill>
                <a:latin typeface="Calibri" pitchFamily="34" charset="0"/>
                <a:ea typeface="Calibri" pitchFamily="34" charset="-122"/>
                <a:cs typeface="Calibri" pitchFamily="34" charset="-120"/>
              </a:rPr>
              <a:t>relationships and keys. (Semantic logic).</a:t>
            </a:r>
            <a:endParaRPr lang="en-US" sz="1849" dirty="0"/>
          </a:p>
        </p:txBody>
      </p:sp>
      <p:pic>
        <p:nvPicPr>
          <p:cNvPr id="12" name="Image 2" descr="preencoded.png"/>
          <p:cNvPicPr>
            <a:picLocks noChangeAspect="1"/>
          </p:cNvPicPr>
          <p:nvPr/>
        </p:nvPicPr>
        <p:blipFill>
          <a:blip r:embed="rId5"/>
          <a:stretch>
            <a:fillRect/>
          </a:stretch>
        </p:blipFill>
        <p:spPr>
          <a:xfrm>
            <a:off x="9821333" y="4421632"/>
            <a:ext cx="6762496" cy="4681728"/>
          </a:xfrm>
          <a:prstGeom prst="rect">
            <a:avLst/>
          </a:prstGeom>
        </p:spPr>
      </p:pic>
      <p:sp>
        <p:nvSpPr>
          <p:cNvPr id="13" name="Text 8"/>
          <p:cNvSpPr/>
          <p:nvPr/>
        </p:nvSpPr>
        <p:spPr>
          <a:xfrm>
            <a:off x="15023253" y="9298432"/>
            <a:ext cx="2210816" cy="325120"/>
          </a:xfrm>
          <a:prstGeom prst="rect">
            <a:avLst/>
          </a:prstGeom>
          <a:noFill/>
          <a:ln/>
        </p:spPr>
        <p:txBody>
          <a:bodyPr wrap="square" rtlCol="0" anchor="ctr"/>
          <a:lstStyle/>
          <a:p>
            <a:r>
              <a:rPr lang="en-US" sz="1280" dirty="0">
                <a:solidFill>
                  <a:srgbClr val="6B7280"/>
                </a:solidFill>
              </a:rPr>
              <a:t>🔖 NotebookLM</a:t>
            </a:r>
            <a:endParaRPr lang="en-US" sz="1280" dirty="0"/>
          </a:p>
        </p:txBody>
      </p:sp>
    </p:spTree>
    <p:extLst>
      <p:ext uri="{BB962C8B-B14F-4D97-AF65-F5344CB8AC3E}">
        <p14:creationId xmlns:p14="http://schemas.microsoft.com/office/powerpoint/2010/main" val="381893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62806" y="195072"/>
            <a:ext cx="16880230" cy="9337446"/>
          </a:xfrm>
          <a:prstGeom prst="rect">
            <a:avLst/>
          </a:prstGeom>
          <a:ln w="25400">
            <a:solidFill>
              <a:srgbClr val="1A2B52"/>
            </a:solidFill>
            <a:prstDash val="solid"/>
          </a:ln>
        </p:spPr>
      </p:sp>
      <p:sp>
        <p:nvSpPr>
          <p:cNvPr id="3" name="Text 1"/>
          <p:cNvSpPr/>
          <p:nvPr/>
        </p:nvSpPr>
        <p:spPr>
          <a:xfrm>
            <a:off x="587925" y="260096"/>
            <a:ext cx="16256000" cy="1560576"/>
          </a:xfrm>
          <a:prstGeom prst="rect">
            <a:avLst/>
          </a:prstGeom>
          <a:noFill/>
          <a:ln/>
        </p:spPr>
        <p:txBody>
          <a:bodyPr wrap="square" rtlCol="0" anchor="ctr"/>
          <a:lstStyle/>
          <a:p>
            <a:r>
              <a:rPr lang="en-US" sz="4835" b="1" dirty="0">
                <a:solidFill>
                  <a:srgbClr val="0D1B3E"/>
                </a:solidFill>
                <a:latin typeface="Arial Black" pitchFamily="34" charset="0"/>
                <a:ea typeface="Arial Black" pitchFamily="34" charset="-122"/>
                <a:cs typeface="Arial Black" pitchFamily="34" charset="-120"/>
              </a:rPr>
              <a:t>ENTERPRISE DIAGNOSTIC:</a:t>
            </a:r>
            <a:endParaRPr lang="en-US" sz="4835" dirty="0"/>
          </a:p>
          <a:p>
            <a:r>
              <a:rPr lang="en-US" sz="4835" b="1" dirty="0">
                <a:solidFill>
                  <a:srgbClr val="0D1B3E"/>
                </a:solidFill>
                <a:latin typeface="Arial Black" pitchFamily="34" charset="0"/>
                <a:ea typeface="Arial Black" pitchFamily="34" charset="-122"/>
                <a:cs typeface="Arial Black" pitchFamily="34" charset="-120"/>
              </a:rPr>
              <a:t>VECTOR RAG VS. GRAPH RAG</a:t>
            </a:r>
            <a:endParaRPr lang="en-US" sz="4835" dirty="0"/>
          </a:p>
        </p:txBody>
      </p:sp>
      <p:graphicFrame>
        <p:nvGraphicFramePr>
          <p:cNvPr id="7" name="Table 0"/>
          <p:cNvGraphicFramePr>
            <a:graphicFrameLocks noGrp="1"/>
          </p:cNvGraphicFramePr>
          <p:nvPr>
            <p:extLst/>
          </p:nvPr>
        </p:nvGraphicFramePr>
        <p:xfrm>
          <a:off x="587925" y="2015744"/>
          <a:ext cx="15865856" cy="7152640"/>
        </p:xfrm>
        <a:graphic>
          <a:graphicData uri="http://schemas.openxmlformats.org/drawingml/2006/table">
            <a:tbl>
              <a:tblPr/>
              <a:tblGrid>
                <a:gridCol w="3641344"/>
                <a:gridCol w="5852160"/>
                <a:gridCol w="6372352"/>
              </a:tblGrid>
              <a:tr h="1105408">
                <a:tc>
                  <a:txBody>
                    <a:bodyPr/>
                    <a:lstStyle/>
                    <a:p>
                      <a:pPr marL="0" indent="0">
                        <a:buNone/>
                      </a:pPr>
                      <a:r>
                        <a:rPr lang="en-US" sz="1800" b="1" dirty="0">
                          <a:solidFill>
                            <a:srgbClr val="0D1B3E"/>
                          </a:solidFill>
                          <a:latin typeface="Arial Black" pitchFamily="34" charset="0"/>
                          <a:ea typeface="Arial Black" pitchFamily="34" charset="-122"/>
                          <a:cs typeface="Arial Black" pitchFamily="34" charset="-120"/>
                        </a:rPr>
                        <a:t>EVALUATION</a:t>
                      </a:r>
                      <a:endParaRPr lang="en-US" sz="1800" dirty="0">
                        <a:latin typeface="Arial Black" charset="0"/>
                        <a:ea typeface="Arial Black" charset="0"/>
                        <a:cs typeface="Arial Black" charset="0"/>
                      </a:endParaRPr>
                    </a:p>
                    <a:p>
                      <a:pPr marL="0" indent="0">
                        <a:buNone/>
                      </a:pPr>
                      <a:r>
                        <a:rPr lang="en-US" sz="1800" b="1" dirty="0">
                          <a:solidFill>
                            <a:srgbClr val="0D1B3E"/>
                          </a:solidFill>
                          <a:latin typeface="Arial Black" pitchFamily="34" charset="0"/>
                          <a:ea typeface="Arial Black" pitchFamily="34" charset="-122"/>
                          <a:cs typeface="Arial Black" pitchFamily="34" charset="-120"/>
                        </a:rPr>
                        <a:t>DIMENSIONS</a:t>
                      </a:r>
                      <a:endParaRPr lang="en-US" sz="1800" dirty="0">
                        <a:latin typeface="Arial Black" charset="0"/>
                        <a:ea typeface="Arial Black" charset="0"/>
                        <a:cs typeface="Arial Black" charset="0"/>
                      </a:endParaRPr>
                    </a:p>
                  </a:txBody>
                  <a:tcPr marL="130048" marR="130048" marT="65024" marB="65024">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2100" b="1" dirty="0">
                          <a:solidFill>
                            <a:srgbClr val="6B7280"/>
                          </a:solidFill>
                          <a:latin typeface="Arial Black" pitchFamily="34" charset="0"/>
                          <a:ea typeface="Arial Black" pitchFamily="34" charset="-122"/>
                          <a:cs typeface="Arial Black" pitchFamily="34" charset="-120"/>
                        </a:rPr>
                        <a:t>VECTOR RAG</a:t>
                      </a:r>
                      <a:endParaRPr lang="en-US" sz="2100" dirty="0">
                        <a:latin typeface="Arial Black" charset="0"/>
                        <a:ea typeface="Arial Black" charset="0"/>
                        <a:cs typeface="Arial Black" charset="0"/>
                      </a:endParaRPr>
                    </a:p>
                  </a:txBody>
                  <a:tcPr marL="130048" marR="130048" marT="65024" marB="65024">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2100" b="1" dirty="0">
                          <a:solidFill>
                            <a:srgbClr val="B5621F"/>
                          </a:solidFill>
                          <a:latin typeface="Arial Black" pitchFamily="34" charset="0"/>
                          <a:ea typeface="Arial Black" pitchFamily="34" charset="-122"/>
                          <a:cs typeface="Arial Black" pitchFamily="34" charset="-120"/>
                        </a:rPr>
                        <a:t>GRAPH RAG</a:t>
                      </a:r>
                      <a:endParaRPr lang="en-US" sz="2100" dirty="0">
                        <a:latin typeface="Arial Black" charset="0"/>
                        <a:ea typeface="Arial Black" charset="0"/>
                        <a:cs typeface="Arial Black" charset="0"/>
                      </a:endParaRPr>
                    </a:p>
                  </a:txBody>
                  <a:tcPr marL="130048" marR="130048" marT="65024" marB="65024">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1300480">
                <a:tc>
                  <a:txBody>
                    <a:bodyPr/>
                    <a:lstStyle/>
                    <a:p>
                      <a:pPr marL="0" indent="0">
                        <a:buNone/>
                      </a:pPr>
                      <a:r>
                        <a:rPr lang="en-US" sz="2000" dirty="0">
                          <a:solidFill>
                            <a:srgbClr val="0D1B3E"/>
                          </a:solidFill>
                          <a:latin typeface="Calibri" pitchFamily="34" charset="0"/>
                          <a:ea typeface="Calibri" pitchFamily="34" charset="-122"/>
                          <a:cs typeface="Calibri" pitchFamily="34" charset="-120"/>
                        </a:rPr>
                        <a:t>Data Handling</a:t>
                      </a:r>
                      <a:endParaRPr lang="en-US" sz="2000" dirty="0">
                        <a:latin typeface="Calibri" charset="0"/>
                        <a:ea typeface="Calibri" charset="0"/>
                        <a:cs typeface="Calibri" charset="0"/>
                      </a:endParaRPr>
                    </a:p>
                  </a:txBody>
                  <a:tcPr marL="130048" marR="130048" marT="65024" marB="65024">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444444"/>
                          </a:solidFill>
                          <a:latin typeface="Calibri" pitchFamily="34" charset="0"/>
                          <a:ea typeface="Calibri" pitchFamily="34" charset="-122"/>
                          <a:cs typeface="Calibri" pitchFamily="34" charset="-120"/>
                        </a:rPr>
                        <a:t>Flat, isolated document chunks</a:t>
                      </a:r>
                      <a:endParaRPr lang="en-US" sz="1800" dirty="0">
                        <a:latin typeface="Calibri" charset="0"/>
                        <a:ea typeface="Calibri" charset="0"/>
                        <a:cs typeface="Calibri" charset="0"/>
                      </a:endParaRPr>
                    </a:p>
                  </a:txBody>
                  <a:tcPr marL="130048" marR="130048" marT="65024" marB="65024">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444444"/>
                          </a:solidFill>
                          <a:latin typeface="Calibri" pitchFamily="34" charset="0"/>
                          <a:ea typeface="Calibri" pitchFamily="34" charset="-122"/>
                          <a:cs typeface="Calibri" pitchFamily="34" charset="-120"/>
                        </a:rPr>
                        <a:t>Interconnected entity networks</a:t>
                      </a:r>
                      <a:endParaRPr lang="en-US" sz="1800" dirty="0">
                        <a:latin typeface="Calibri" charset="0"/>
                        <a:ea typeface="Calibri" charset="0"/>
                        <a:cs typeface="Calibri" charset="0"/>
                      </a:endParaRPr>
                    </a:p>
                  </a:txBody>
                  <a:tcPr marL="130048" marR="130048" marT="65024" marB="65024">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1430528">
                <a:tc>
                  <a:txBody>
                    <a:bodyPr/>
                    <a:lstStyle/>
                    <a:p>
                      <a:pPr marL="0" indent="0">
                        <a:buNone/>
                      </a:pPr>
                      <a:r>
                        <a:rPr lang="en-US" sz="2000" dirty="0">
                          <a:solidFill>
                            <a:srgbClr val="0D1B3E"/>
                          </a:solidFill>
                          <a:latin typeface="Calibri" pitchFamily="34" charset="0"/>
                          <a:ea typeface="Calibri" pitchFamily="34" charset="-122"/>
                          <a:cs typeface="Calibri" pitchFamily="34" charset="-120"/>
                        </a:rPr>
                        <a:t>Complex Queries</a:t>
                      </a:r>
                      <a:endParaRPr lang="en-US" sz="2000" dirty="0">
                        <a:latin typeface="Calibri" charset="0"/>
                        <a:ea typeface="Calibri" charset="0"/>
                        <a:cs typeface="Calibri" charset="0"/>
                      </a:endParaRPr>
                    </a:p>
                  </a:txBody>
                  <a:tcPr marL="130048" marR="130048" marT="65024" marB="65024">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444444"/>
                          </a:solidFill>
                          <a:latin typeface="Calibri" pitchFamily="34" charset="0"/>
                          <a:ea typeface="Calibri" pitchFamily="34" charset="-122"/>
                          <a:cs typeface="Calibri" pitchFamily="34" charset="-120"/>
                        </a:rPr>
                        <a:t>Fails at multi-hop synthesis</a:t>
                      </a:r>
                      <a:endParaRPr lang="en-US" sz="1800" dirty="0">
                        <a:latin typeface="Calibri" charset="0"/>
                        <a:ea typeface="Calibri" charset="0"/>
                        <a:cs typeface="Calibri" charset="0"/>
                      </a:endParaRPr>
                    </a:p>
                  </a:txBody>
                  <a:tcPr marL="130048" marR="130048" marT="65024" marB="65024">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444444"/>
                          </a:solidFill>
                          <a:latin typeface="Calibri" pitchFamily="34" charset="0"/>
                          <a:ea typeface="Calibri" pitchFamily="34" charset="-122"/>
                          <a:cs typeface="Calibri" pitchFamily="34" charset="-120"/>
                        </a:rPr>
                        <a:t>Excels at multi-hop reasoning and composition</a:t>
                      </a:r>
                      <a:endParaRPr lang="en-US" sz="1800" dirty="0">
                        <a:latin typeface="Calibri" charset="0"/>
                        <a:ea typeface="Calibri" charset="0"/>
                        <a:cs typeface="Calibri" charset="0"/>
                      </a:endParaRPr>
                    </a:p>
                  </a:txBody>
                  <a:tcPr marL="130048" marR="130048" marT="65024" marB="65024">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1560576">
                <a:tc>
                  <a:txBody>
                    <a:bodyPr/>
                    <a:lstStyle/>
                    <a:p>
                      <a:pPr marL="0" indent="0">
                        <a:buNone/>
                      </a:pPr>
                      <a:r>
                        <a:rPr lang="en-US" sz="2000" dirty="0">
                          <a:solidFill>
                            <a:srgbClr val="0D1B3E"/>
                          </a:solidFill>
                          <a:latin typeface="Calibri" pitchFamily="34" charset="0"/>
                          <a:ea typeface="Calibri" pitchFamily="34" charset="-122"/>
                          <a:cs typeface="Calibri" pitchFamily="34" charset="-120"/>
                        </a:rPr>
                        <a:t>Auditability &amp;</a:t>
                      </a:r>
                      <a:endParaRPr lang="en-US" sz="2000" dirty="0">
                        <a:latin typeface="Calibri" charset="0"/>
                        <a:ea typeface="Calibri" charset="0"/>
                        <a:cs typeface="Calibri" charset="0"/>
                      </a:endParaRPr>
                    </a:p>
                    <a:p>
                      <a:pPr marL="0" indent="0">
                        <a:buNone/>
                      </a:pPr>
                      <a:r>
                        <a:rPr lang="en-US" sz="2000" dirty="0">
                          <a:solidFill>
                            <a:srgbClr val="0D1B3E"/>
                          </a:solidFill>
                          <a:latin typeface="Calibri" pitchFamily="34" charset="0"/>
                          <a:ea typeface="Calibri" pitchFamily="34" charset="-122"/>
                          <a:cs typeface="Calibri" pitchFamily="34" charset="-120"/>
                        </a:rPr>
                        <a:t>Compliance</a:t>
                      </a:r>
                      <a:endParaRPr lang="en-US" sz="2000" dirty="0">
                        <a:latin typeface="Calibri" charset="0"/>
                        <a:ea typeface="Calibri" charset="0"/>
                        <a:cs typeface="Calibri" charset="0"/>
                      </a:endParaRPr>
                    </a:p>
                  </a:txBody>
                  <a:tcPr marL="130048" marR="130048" marT="65024" marB="65024">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444444"/>
                          </a:solidFill>
                          <a:latin typeface="Calibri" pitchFamily="34" charset="0"/>
                          <a:ea typeface="Calibri" pitchFamily="34" charset="-122"/>
                          <a:cs typeface="Calibri" pitchFamily="34" charset="-120"/>
                        </a:rPr>
                        <a:t>Black Box (opaque origins)</a:t>
                      </a:r>
                      <a:endParaRPr lang="en-US" sz="1800" dirty="0">
                        <a:latin typeface="Calibri" charset="0"/>
                        <a:ea typeface="Calibri" charset="0"/>
                        <a:cs typeface="Calibri" charset="0"/>
                      </a:endParaRPr>
                    </a:p>
                  </a:txBody>
                  <a:tcPr marL="130048" marR="130048" marT="65024" marB="65024">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444444"/>
                          </a:solidFill>
                          <a:latin typeface="Calibri" pitchFamily="34" charset="0"/>
                          <a:ea typeface="Calibri" pitchFamily="34" charset="-122"/>
                          <a:cs typeface="Calibri" pitchFamily="34" charset="-120"/>
                        </a:rPr>
                        <a:t>Fully transparent (100% source-traced relationships)</a:t>
                      </a:r>
                      <a:endParaRPr lang="en-US" sz="1800" dirty="0">
                        <a:latin typeface="Calibri" charset="0"/>
                        <a:ea typeface="Calibri" charset="0"/>
                        <a:cs typeface="Calibri" charset="0"/>
                      </a:endParaRPr>
                    </a:p>
                  </a:txBody>
                  <a:tcPr marL="130048" marR="130048" marT="65024" marB="65024">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1430528">
                <a:tc>
                  <a:txBody>
                    <a:bodyPr/>
                    <a:lstStyle/>
                    <a:p>
                      <a:pPr marL="0" indent="0">
                        <a:buNone/>
                      </a:pPr>
                      <a:r>
                        <a:rPr lang="en-US" sz="2000" dirty="0">
                          <a:solidFill>
                            <a:srgbClr val="0D1B3E"/>
                          </a:solidFill>
                          <a:latin typeface="Calibri" pitchFamily="34" charset="0"/>
                          <a:ea typeface="Calibri" pitchFamily="34" charset="-122"/>
                          <a:cs typeface="Calibri" pitchFamily="34" charset="-120"/>
                        </a:rPr>
                        <a:t>Enterprise Readiness</a:t>
                      </a:r>
                      <a:endParaRPr lang="en-US" sz="2000" dirty="0">
                        <a:latin typeface="Calibri" charset="0"/>
                        <a:ea typeface="Calibri" charset="0"/>
                        <a:cs typeface="Calibri" charset="0"/>
                      </a:endParaRPr>
                    </a:p>
                  </a:txBody>
                  <a:tcPr marL="130048" marR="130048" marT="65024" marB="65024">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444444"/>
                          </a:solidFill>
                          <a:latin typeface="Calibri" pitchFamily="34" charset="0"/>
                          <a:ea typeface="Calibri" pitchFamily="34" charset="-122"/>
                          <a:cs typeface="Calibri" pitchFamily="34" charset="-120"/>
                        </a:rPr>
                        <a:t>High hallucination risk on dense data</a:t>
                      </a:r>
                      <a:endParaRPr lang="en-US" sz="1800" dirty="0">
                        <a:latin typeface="Calibri" charset="0"/>
                        <a:ea typeface="Calibri" charset="0"/>
                        <a:cs typeface="Calibri" charset="0"/>
                      </a:endParaRPr>
                    </a:p>
                  </a:txBody>
                  <a:tcPr marL="130048" marR="130048" marT="65024" marB="65024">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444444"/>
                          </a:solidFill>
                          <a:latin typeface="Calibri" pitchFamily="34" charset="0"/>
                          <a:ea typeface="Calibri" pitchFamily="34" charset="-122"/>
                          <a:cs typeface="Calibri" pitchFamily="34" charset="-120"/>
                        </a:rPr>
                        <a:t>High fidelity, condition-aware precision</a:t>
                      </a:r>
                      <a:endParaRPr lang="en-US" sz="1800" dirty="0">
                        <a:latin typeface="Calibri" charset="0"/>
                        <a:ea typeface="Calibri" charset="0"/>
                        <a:cs typeface="Calibri" charset="0"/>
                      </a:endParaRPr>
                    </a:p>
                  </a:txBody>
                  <a:tcPr marL="130048" marR="130048" marT="65024" marB="65024">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5" name="Text 2"/>
          <p:cNvSpPr/>
          <p:nvPr/>
        </p:nvSpPr>
        <p:spPr>
          <a:xfrm>
            <a:off x="15023253" y="9298432"/>
            <a:ext cx="2210816" cy="325120"/>
          </a:xfrm>
          <a:prstGeom prst="rect">
            <a:avLst/>
          </a:prstGeom>
          <a:noFill/>
          <a:ln/>
        </p:spPr>
        <p:txBody>
          <a:bodyPr wrap="square" rtlCol="0" anchor="ctr"/>
          <a:lstStyle/>
          <a:p>
            <a:r>
              <a:rPr lang="en-US" sz="1280" dirty="0">
                <a:solidFill>
                  <a:srgbClr val="6B7280"/>
                </a:solidFill>
              </a:rPr>
              <a:t>🔖 NotebookLM</a:t>
            </a:r>
            <a:endParaRPr lang="en-US" sz="1280" dirty="0"/>
          </a:p>
        </p:txBody>
      </p:sp>
    </p:spTree>
    <p:extLst>
      <p:ext uri="{BB962C8B-B14F-4D97-AF65-F5344CB8AC3E}">
        <p14:creationId xmlns:p14="http://schemas.microsoft.com/office/powerpoint/2010/main" val="40737937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62806" y="195072"/>
            <a:ext cx="16880230" cy="9337446"/>
          </a:xfrm>
          <a:prstGeom prst="rect">
            <a:avLst/>
          </a:prstGeom>
          <a:ln w="25400">
            <a:solidFill>
              <a:srgbClr val="1A2B52"/>
            </a:solidFill>
            <a:prstDash val="solid"/>
          </a:ln>
        </p:spPr>
      </p:sp>
      <p:sp>
        <p:nvSpPr>
          <p:cNvPr id="3" name="Text 1"/>
          <p:cNvSpPr/>
          <p:nvPr/>
        </p:nvSpPr>
        <p:spPr>
          <a:xfrm>
            <a:off x="587925" y="260096"/>
            <a:ext cx="16256000" cy="780288"/>
          </a:xfrm>
          <a:prstGeom prst="rect">
            <a:avLst/>
          </a:prstGeom>
          <a:noFill/>
          <a:ln/>
        </p:spPr>
        <p:txBody>
          <a:bodyPr wrap="square" rtlCol="0" anchor="ctr"/>
          <a:lstStyle/>
          <a:p>
            <a:r>
              <a:rPr lang="en-US" sz="3982" b="1" dirty="0">
                <a:solidFill>
                  <a:srgbClr val="0D1B3E"/>
                </a:solidFill>
                <a:latin typeface="Calibri" pitchFamily="34" charset="0"/>
                <a:ea typeface="Calibri" pitchFamily="34" charset="-122"/>
                <a:cs typeface="Calibri" pitchFamily="34" charset="-120"/>
              </a:rPr>
              <a:t>How It Works: The MDER Refinement Engine</a:t>
            </a:r>
            <a:endParaRPr lang="en-US" sz="3982" dirty="0"/>
          </a:p>
        </p:txBody>
      </p:sp>
      <p:sp>
        <p:nvSpPr>
          <p:cNvPr id="4" name="Text 2"/>
          <p:cNvSpPr/>
          <p:nvPr/>
        </p:nvSpPr>
        <p:spPr>
          <a:xfrm>
            <a:off x="587925" y="1066394"/>
            <a:ext cx="16256000" cy="715264"/>
          </a:xfrm>
          <a:prstGeom prst="rect">
            <a:avLst/>
          </a:prstGeom>
          <a:noFill/>
          <a:ln/>
        </p:spPr>
        <p:txBody>
          <a:bodyPr wrap="square" rtlCol="0" anchor="ctr"/>
          <a:lstStyle/>
          <a:p>
            <a:r>
              <a:rPr lang="en-US" sz="1991" dirty="0">
                <a:solidFill>
                  <a:srgbClr val="333333"/>
                </a:solidFill>
                <a:latin typeface="Calibri" pitchFamily="34" charset="0"/>
                <a:ea typeface="Calibri" pitchFamily="34" charset="-122"/>
                <a:cs typeface="Calibri" pitchFamily="34" charset="-120"/>
              </a:rPr>
              <a:t>Shift the Workload: By compressing multi-hop evidence into entity-centric summaries during indexing, we eliminate slow traversal during retrieval.</a:t>
            </a:r>
            <a:endParaRPr lang="en-US" sz="1991" dirty="0"/>
          </a:p>
        </p:txBody>
      </p:sp>
      <p:pic>
        <p:nvPicPr>
          <p:cNvPr id="5" name="Image 0" descr="preencoded.png"/>
          <p:cNvPicPr>
            <a:picLocks noChangeAspect="1"/>
          </p:cNvPicPr>
          <p:nvPr/>
        </p:nvPicPr>
        <p:blipFill>
          <a:blip r:embed="rId3"/>
          <a:stretch>
            <a:fillRect/>
          </a:stretch>
        </p:blipFill>
        <p:spPr>
          <a:xfrm>
            <a:off x="587925" y="1820672"/>
            <a:ext cx="10403840" cy="7542784"/>
          </a:xfrm>
          <a:prstGeom prst="rect">
            <a:avLst/>
          </a:prstGeom>
        </p:spPr>
      </p:pic>
      <p:sp>
        <p:nvSpPr>
          <p:cNvPr id="6" name="Text 3"/>
          <p:cNvSpPr/>
          <p:nvPr/>
        </p:nvSpPr>
        <p:spPr>
          <a:xfrm>
            <a:off x="11251861" y="2731008"/>
            <a:ext cx="3251200" cy="520192"/>
          </a:xfrm>
          <a:prstGeom prst="rect">
            <a:avLst/>
          </a:prstGeom>
          <a:noFill/>
          <a:ln/>
        </p:spPr>
        <p:txBody>
          <a:bodyPr wrap="square" rtlCol="0" anchor="ctr"/>
          <a:lstStyle/>
          <a:p>
            <a:r>
              <a:rPr lang="en-US" sz="2560" b="1" dirty="0">
                <a:solidFill>
                  <a:srgbClr val="0D1B3E"/>
                </a:solidFill>
                <a:latin typeface="Calibri" pitchFamily="34" charset="0"/>
                <a:ea typeface="Calibri" pitchFamily="34" charset="-122"/>
                <a:cs typeface="Calibri" pitchFamily="34" charset="-120"/>
              </a:rPr>
              <a:t>Map</a:t>
            </a:r>
            <a:endParaRPr lang="en-US" sz="2560" dirty="0"/>
          </a:p>
        </p:txBody>
      </p:sp>
      <p:sp>
        <p:nvSpPr>
          <p:cNvPr id="7" name="Text 4"/>
          <p:cNvSpPr/>
          <p:nvPr/>
        </p:nvSpPr>
        <p:spPr>
          <a:xfrm>
            <a:off x="11251861" y="3277210"/>
            <a:ext cx="5462016" cy="845312"/>
          </a:xfrm>
          <a:prstGeom prst="rect">
            <a:avLst/>
          </a:prstGeom>
          <a:noFill/>
          <a:ln/>
        </p:spPr>
        <p:txBody>
          <a:bodyPr wrap="square" rtlCol="0" anchor="ctr"/>
          <a:lstStyle/>
          <a:p>
            <a:r>
              <a:rPr lang="en-US" sz="1707" dirty="0">
                <a:solidFill>
                  <a:srgbClr val="444444"/>
                </a:solidFill>
                <a:latin typeface="Calibri" pitchFamily="34" charset="0"/>
                <a:ea typeface="Calibri" pitchFamily="34" charset="-122"/>
                <a:cs typeface="Calibri" pitchFamily="34" charset="-120"/>
              </a:rPr>
              <a:t>Extract raw subject-predicate-object triples from unstructured text.</a:t>
            </a:r>
            <a:endParaRPr lang="en-US" sz="1707" dirty="0"/>
          </a:p>
        </p:txBody>
      </p:sp>
      <p:sp>
        <p:nvSpPr>
          <p:cNvPr id="8" name="Text 5"/>
          <p:cNvSpPr/>
          <p:nvPr/>
        </p:nvSpPr>
        <p:spPr>
          <a:xfrm>
            <a:off x="11251861" y="4356608"/>
            <a:ext cx="3251200" cy="520192"/>
          </a:xfrm>
          <a:prstGeom prst="rect">
            <a:avLst/>
          </a:prstGeom>
          <a:noFill/>
          <a:ln/>
        </p:spPr>
        <p:txBody>
          <a:bodyPr wrap="square" rtlCol="0" anchor="ctr"/>
          <a:lstStyle/>
          <a:p>
            <a:r>
              <a:rPr lang="en-US" sz="2560" b="1" dirty="0">
                <a:solidFill>
                  <a:srgbClr val="0D1B3E"/>
                </a:solidFill>
                <a:latin typeface="Calibri" pitchFamily="34" charset="0"/>
                <a:ea typeface="Calibri" pitchFamily="34" charset="-122"/>
                <a:cs typeface="Calibri" pitchFamily="34" charset="-120"/>
              </a:rPr>
              <a:t>Disambiguate</a:t>
            </a:r>
            <a:endParaRPr lang="en-US" sz="2560" dirty="0"/>
          </a:p>
        </p:txBody>
      </p:sp>
      <p:sp>
        <p:nvSpPr>
          <p:cNvPr id="9" name="Text 6"/>
          <p:cNvSpPr/>
          <p:nvPr/>
        </p:nvSpPr>
        <p:spPr>
          <a:xfrm>
            <a:off x="11251861" y="4902810"/>
            <a:ext cx="5462016" cy="845312"/>
          </a:xfrm>
          <a:prstGeom prst="rect">
            <a:avLst/>
          </a:prstGeom>
          <a:noFill/>
          <a:ln/>
        </p:spPr>
        <p:txBody>
          <a:bodyPr wrap="square" rtlCol="0" anchor="ctr"/>
          <a:lstStyle/>
          <a:p>
            <a:r>
              <a:rPr lang="en-US" sz="1707" dirty="0">
                <a:solidFill>
                  <a:srgbClr val="444444"/>
                </a:solidFill>
                <a:latin typeface="Calibri" pitchFamily="34" charset="0"/>
                <a:ea typeface="Calibri" pitchFamily="34" charset="-122"/>
                <a:cs typeface="Calibri" pitchFamily="34" charset="-120"/>
              </a:rPr>
              <a:t>Unify fragmented or redundant entities (e.g., EU and European Union).</a:t>
            </a:r>
            <a:endParaRPr lang="en-US" sz="1707" dirty="0"/>
          </a:p>
        </p:txBody>
      </p:sp>
      <p:sp>
        <p:nvSpPr>
          <p:cNvPr id="10" name="Text 7"/>
          <p:cNvSpPr/>
          <p:nvPr/>
        </p:nvSpPr>
        <p:spPr>
          <a:xfrm>
            <a:off x="11251861" y="5982208"/>
            <a:ext cx="3251200" cy="520192"/>
          </a:xfrm>
          <a:prstGeom prst="rect">
            <a:avLst/>
          </a:prstGeom>
          <a:noFill/>
          <a:ln/>
        </p:spPr>
        <p:txBody>
          <a:bodyPr wrap="square" rtlCol="0" anchor="ctr"/>
          <a:lstStyle/>
          <a:p>
            <a:r>
              <a:rPr lang="en-US" sz="2560" b="1" dirty="0">
                <a:solidFill>
                  <a:srgbClr val="0D1B3E"/>
                </a:solidFill>
                <a:latin typeface="Calibri" pitchFamily="34" charset="0"/>
                <a:ea typeface="Calibri" pitchFamily="34" charset="-122"/>
                <a:cs typeface="Calibri" pitchFamily="34" charset="-120"/>
              </a:rPr>
              <a:t>Enrich</a:t>
            </a:r>
            <a:endParaRPr lang="en-US" sz="2560" dirty="0"/>
          </a:p>
        </p:txBody>
      </p:sp>
      <p:sp>
        <p:nvSpPr>
          <p:cNvPr id="11" name="Text 8"/>
          <p:cNvSpPr/>
          <p:nvPr/>
        </p:nvSpPr>
        <p:spPr>
          <a:xfrm>
            <a:off x="11251861" y="6528410"/>
            <a:ext cx="5462016" cy="845312"/>
          </a:xfrm>
          <a:prstGeom prst="rect">
            <a:avLst/>
          </a:prstGeom>
          <a:noFill/>
          <a:ln/>
        </p:spPr>
        <p:txBody>
          <a:bodyPr wrap="square" rtlCol="0" anchor="ctr"/>
          <a:lstStyle/>
          <a:p>
            <a:r>
              <a:rPr lang="en-US" sz="1707" dirty="0">
                <a:solidFill>
                  <a:srgbClr val="444444"/>
                </a:solidFill>
                <a:latin typeface="Calibri" pitchFamily="34" charset="0"/>
                <a:ea typeface="Calibri" pitchFamily="34" charset="-122"/>
                <a:cs typeface="Calibri" pitchFamily="34" charset="-120"/>
              </a:rPr>
              <a:t>Reintroduce contextual nuance (conditions, dates, qualifiers) to the structural connections.</a:t>
            </a:r>
            <a:endParaRPr lang="en-US" sz="1707" dirty="0"/>
          </a:p>
        </p:txBody>
      </p:sp>
      <p:sp>
        <p:nvSpPr>
          <p:cNvPr id="12" name="Text 9"/>
          <p:cNvSpPr/>
          <p:nvPr/>
        </p:nvSpPr>
        <p:spPr>
          <a:xfrm>
            <a:off x="11251861" y="7607808"/>
            <a:ext cx="3251200" cy="520192"/>
          </a:xfrm>
          <a:prstGeom prst="rect">
            <a:avLst/>
          </a:prstGeom>
          <a:noFill/>
          <a:ln/>
        </p:spPr>
        <p:txBody>
          <a:bodyPr wrap="square" rtlCol="0" anchor="ctr"/>
          <a:lstStyle/>
          <a:p>
            <a:r>
              <a:rPr lang="en-US" sz="2560" b="1" dirty="0">
                <a:solidFill>
                  <a:srgbClr val="0D1B3E"/>
                </a:solidFill>
                <a:latin typeface="Calibri" pitchFamily="34" charset="0"/>
                <a:ea typeface="Calibri" pitchFamily="34" charset="-122"/>
                <a:cs typeface="Calibri" pitchFamily="34" charset="-120"/>
              </a:rPr>
              <a:t>Reduce</a:t>
            </a:r>
            <a:endParaRPr lang="en-US" sz="2560" dirty="0"/>
          </a:p>
        </p:txBody>
      </p:sp>
      <p:sp>
        <p:nvSpPr>
          <p:cNvPr id="13" name="Text 10"/>
          <p:cNvSpPr/>
          <p:nvPr/>
        </p:nvSpPr>
        <p:spPr>
          <a:xfrm>
            <a:off x="11251861" y="8154010"/>
            <a:ext cx="5462016" cy="845312"/>
          </a:xfrm>
          <a:prstGeom prst="rect">
            <a:avLst/>
          </a:prstGeom>
          <a:noFill/>
          <a:ln/>
        </p:spPr>
        <p:txBody>
          <a:bodyPr wrap="square" rtlCol="0" anchor="ctr"/>
          <a:lstStyle/>
          <a:p>
            <a:r>
              <a:rPr lang="en-US" sz="1707" dirty="0">
                <a:solidFill>
                  <a:srgbClr val="444444"/>
                </a:solidFill>
                <a:latin typeface="Calibri" pitchFamily="34" charset="0"/>
                <a:ea typeface="Calibri" pitchFamily="34" charset="-122"/>
                <a:cs typeface="Calibri" pitchFamily="34" charset="-120"/>
              </a:rPr>
              <a:t>Consolidate into pristine, hop-free Entity Summaries.</a:t>
            </a:r>
            <a:endParaRPr lang="en-US" sz="1707" dirty="0"/>
          </a:p>
        </p:txBody>
      </p:sp>
      <p:sp>
        <p:nvSpPr>
          <p:cNvPr id="14" name="Shape 11"/>
          <p:cNvSpPr/>
          <p:nvPr/>
        </p:nvSpPr>
        <p:spPr>
          <a:xfrm>
            <a:off x="10211477" y="8583168"/>
            <a:ext cx="6502400" cy="780288"/>
          </a:xfrm>
          <a:prstGeom prst="rect">
            <a:avLst/>
          </a:prstGeom>
          <a:solidFill>
            <a:srgbClr val="B5621F"/>
          </a:solidFill>
          <a:ln/>
        </p:spPr>
      </p:sp>
      <p:sp>
        <p:nvSpPr>
          <p:cNvPr id="15" name="Text 12"/>
          <p:cNvSpPr/>
          <p:nvPr/>
        </p:nvSpPr>
        <p:spPr>
          <a:xfrm>
            <a:off x="10211477" y="8583168"/>
            <a:ext cx="6502400" cy="780288"/>
          </a:xfrm>
          <a:prstGeom prst="rect">
            <a:avLst/>
          </a:prstGeom>
          <a:noFill/>
          <a:ln/>
        </p:spPr>
        <p:txBody>
          <a:bodyPr wrap="square" rtlCol="0" anchor="ctr"/>
          <a:lstStyle/>
          <a:p>
            <a:pPr algn="ctr"/>
            <a:r>
              <a:rPr lang="en-US" sz="1849" b="1" dirty="0">
                <a:solidFill>
                  <a:srgbClr val="FFFFFF"/>
                </a:solidFill>
                <a:latin typeface="Calibri" pitchFamily="34" charset="0"/>
                <a:ea typeface="Calibri" pitchFamily="34" charset="-122"/>
                <a:cs typeface="Calibri" pitchFamily="34" charset="-120"/>
              </a:rPr>
              <a:t>Entity Summary — Ready for instant LLM consumption.</a:t>
            </a:r>
            <a:endParaRPr lang="en-US" sz="1849" dirty="0"/>
          </a:p>
        </p:txBody>
      </p:sp>
      <p:sp>
        <p:nvSpPr>
          <p:cNvPr id="16" name="Text 13"/>
          <p:cNvSpPr/>
          <p:nvPr/>
        </p:nvSpPr>
        <p:spPr>
          <a:xfrm>
            <a:off x="15023253" y="9298432"/>
            <a:ext cx="2210816" cy="325120"/>
          </a:xfrm>
          <a:prstGeom prst="rect">
            <a:avLst/>
          </a:prstGeom>
          <a:noFill/>
          <a:ln/>
        </p:spPr>
        <p:txBody>
          <a:bodyPr wrap="square" rtlCol="0" anchor="ctr"/>
          <a:lstStyle/>
          <a:p>
            <a:r>
              <a:rPr lang="en-US" sz="1280" dirty="0">
                <a:solidFill>
                  <a:srgbClr val="6B7280"/>
                </a:solidFill>
              </a:rPr>
              <a:t>🔖 NotebookLM</a:t>
            </a:r>
            <a:endParaRPr lang="en-US" sz="1280" dirty="0"/>
          </a:p>
        </p:txBody>
      </p:sp>
    </p:spTree>
    <p:extLst>
      <p:ext uri="{BB962C8B-B14F-4D97-AF65-F5344CB8AC3E}">
        <p14:creationId xmlns:p14="http://schemas.microsoft.com/office/powerpoint/2010/main" val="20975699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62806" y="195072"/>
            <a:ext cx="16880230" cy="9337446"/>
          </a:xfrm>
          <a:prstGeom prst="rect">
            <a:avLst/>
          </a:prstGeom>
          <a:ln w="25400">
            <a:solidFill>
              <a:srgbClr val="1A2B52"/>
            </a:solidFill>
            <a:prstDash val="solid"/>
          </a:ln>
        </p:spPr>
      </p:sp>
      <p:sp>
        <p:nvSpPr>
          <p:cNvPr id="3" name="Text 1"/>
          <p:cNvSpPr/>
          <p:nvPr/>
        </p:nvSpPr>
        <p:spPr>
          <a:xfrm>
            <a:off x="587925" y="260096"/>
            <a:ext cx="16256000" cy="780288"/>
          </a:xfrm>
          <a:prstGeom prst="rect">
            <a:avLst/>
          </a:prstGeom>
          <a:noFill/>
          <a:ln/>
        </p:spPr>
        <p:txBody>
          <a:bodyPr wrap="square" rtlCol="0" anchor="ctr"/>
          <a:lstStyle/>
          <a:p>
            <a:r>
              <a:rPr lang="en-US" sz="3698" b="1" dirty="0">
                <a:solidFill>
                  <a:srgbClr val="0D1B3E"/>
                </a:solidFill>
                <a:latin typeface="Calibri" pitchFamily="34" charset="0"/>
                <a:ea typeface="Calibri" pitchFamily="34" charset="-122"/>
                <a:cs typeface="Calibri" pitchFamily="34" charset="-120"/>
              </a:rPr>
              <a:t>The Best of Both Worlds: Hybrid Retrieval Architecture</a:t>
            </a:r>
            <a:endParaRPr lang="en-US" sz="3698" dirty="0"/>
          </a:p>
        </p:txBody>
      </p:sp>
      <p:sp>
        <p:nvSpPr>
          <p:cNvPr id="4" name="Text 2"/>
          <p:cNvSpPr/>
          <p:nvPr/>
        </p:nvSpPr>
        <p:spPr>
          <a:xfrm>
            <a:off x="587925" y="1066394"/>
            <a:ext cx="16256000" cy="520192"/>
          </a:xfrm>
          <a:prstGeom prst="rect">
            <a:avLst/>
          </a:prstGeom>
          <a:noFill/>
          <a:ln/>
        </p:spPr>
        <p:txBody>
          <a:bodyPr wrap="square" rtlCol="0" anchor="ctr"/>
          <a:lstStyle/>
          <a:p>
            <a:r>
              <a:rPr lang="en-US" sz="1991" dirty="0">
                <a:solidFill>
                  <a:srgbClr val="444444"/>
                </a:solidFill>
                <a:latin typeface="Calibri" pitchFamily="34" charset="0"/>
                <a:ea typeface="Calibri" pitchFamily="34" charset="-122"/>
                <a:cs typeface="Calibri" pitchFamily="34" charset="-120"/>
              </a:rPr>
              <a:t>A cascaded retrieval strategy that guarantees high recall without sacrificing accuracy.</a:t>
            </a:r>
            <a:endParaRPr lang="en-US" sz="1991" dirty="0"/>
          </a:p>
        </p:txBody>
      </p:sp>
      <p:pic>
        <p:nvPicPr>
          <p:cNvPr id="5" name="Image 0" descr="preencoded.png"/>
          <p:cNvPicPr>
            <a:picLocks noChangeAspect="1"/>
          </p:cNvPicPr>
          <p:nvPr/>
        </p:nvPicPr>
        <p:blipFill>
          <a:blip r:embed="rId3"/>
          <a:stretch>
            <a:fillRect/>
          </a:stretch>
        </p:blipFill>
        <p:spPr>
          <a:xfrm>
            <a:off x="587925" y="1950720"/>
            <a:ext cx="16125952" cy="7152640"/>
          </a:xfrm>
          <a:prstGeom prst="rect">
            <a:avLst/>
          </a:prstGeom>
        </p:spPr>
      </p:pic>
      <p:sp>
        <p:nvSpPr>
          <p:cNvPr id="6" name="Text 3"/>
          <p:cNvSpPr/>
          <p:nvPr/>
        </p:nvSpPr>
        <p:spPr>
          <a:xfrm>
            <a:off x="15023253" y="9298432"/>
            <a:ext cx="2210816" cy="325120"/>
          </a:xfrm>
          <a:prstGeom prst="rect">
            <a:avLst/>
          </a:prstGeom>
          <a:noFill/>
          <a:ln/>
        </p:spPr>
        <p:txBody>
          <a:bodyPr wrap="square" rtlCol="0" anchor="ctr"/>
          <a:lstStyle/>
          <a:p>
            <a:r>
              <a:rPr lang="en-US" sz="1280" dirty="0">
                <a:solidFill>
                  <a:srgbClr val="6B7280"/>
                </a:solidFill>
              </a:rPr>
              <a:t>🔖 NotebookLM</a:t>
            </a:r>
            <a:endParaRPr lang="en-US" sz="1280" dirty="0"/>
          </a:p>
        </p:txBody>
      </p:sp>
    </p:spTree>
    <p:extLst>
      <p:ext uri="{BB962C8B-B14F-4D97-AF65-F5344CB8AC3E}">
        <p14:creationId xmlns:p14="http://schemas.microsoft.com/office/powerpoint/2010/main" val="25407588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62806" y="195072"/>
            <a:ext cx="16880230" cy="9337446"/>
          </a:xfrm>
          <a:prstGeom prst="rect">
            <a:avLst/>
          </a:prstGeom>
          <a:ln w="25400">
            <a:solidFill>
              <a:srgbClr val="1A2B52"/>
            </a:solidFill>
            <a:prstDash val="solid"/>
          </a:ln>
        </p:spPr>
      </p:sp>
      <p:sp>
        <p:nvSpPr>
          <p:cNvPr id="3" name="Text 1"/>
          <p:cNvSpPr/>
          <p:nvPr/>
        </p:nvSpPr>
        <p:spPr>
          <a:xfrm>
            <a:off x="587925" y="195072"/>
            <a:ext cx="16256000" cy="1560576"/>
          </a:xfrm>
          <a:prstGeom prst="rect">
            <a:avLst/>
          </a:prstGeom>
          <a:noFill/>
          <a:ln/>
        </p:spPr>
        <p:txBody>
          <a:bodyPr wrap="square" rtlCol="0" anchor="ctr"/>
          <a:lstStyle/>
          <a:p>
            <a:r>
              <a:rPr lang="en-US" sz="4267" b="1" dirty="0">
                <a:solidFill>
                  <a:srgbClr val="0D1B3E"/>
                </a:solidFill>
                <a:latin typeface="Calibri" pitchFamily="34" charset="0"/>
                <a:ea typeface="Calibri" pitchFamily="34" charset="-122"/>
                <a:cs typeface="Calibri" pitchFamily="34" charset="-120"/>
              </a:rPr>
              <a:t>Industry Outcomes: The ROI of</a:t>
            </a:r>
            <a:endParaRPr lang="en-US" sz="4267" dirty="0"/>
          </a:p>
          <a:p>
            <a:r>
              <a:rPr lang="en-US" sz="4267" b="1" dirty="0">
                <a:solidFill>
                  <a:srgbClr val="0D1B3E"/>
                </a:solidFill>
                <a:latin typeface="Calibri" pitchFamily="34" charset="0"/>
                <a:ea typeface="Calibri" pitchFamily="34" charset="-122"/>
                <a:cs typeface="Calibri" pitchFamily="34" charset="-120"/>
              </a:rPr>
              <a:t>GraphRAG is Proven</a:t>
            </a:r>
            <a:endParaRPr lang="en-US" sz="4267" dirty="0"/>
          </a:p>
        </p:txBody>
      </p:sp>
      <p:sp>
        <p:nvSpPr>
          <p:cNvPr id="4" name="Shape 2"/>
          <p:cNvSpPr/>
          <p:nvPr/>
        </p:nvSpPr>
        <p:spPr>
          <a:xfrm>
            <a:off x="522901" y="1950720"/>
            <a:ext cx="5071872" cy="7282688"/>
          </a:xfrm>
          <a:prstGeom prst="rect">
            <a:avLst/>
          </a:prstGeom>
          <a:solidFill>
            <a:srgbClr val="FFFFFF"/>
          </a:solidFill>
          <a:ln w="12700">
            <a:solidFill>
              <a:srgbClr val="D1D5DB"/>
            </a:solidFill>
            <a:prstDash val="solid"/>
          </a:ln>
        </p:spPr>
      </p:sp>
      <p:sp>
        <p:nvSpPr>
          <p:cNvPr id="5" name="Text 3"/>
          <p:cNvSpPr/>
          <p:nvPr/>
        </p:nvSpPr>
        <p:spPr>
          <a:xfrm>
            <a:off x="717973" y="2080768"/>
            <a:ext cx="4681728" cy="1560576"/>
          </a:xfrm>
          <a:prstGeom prst="rect">
            <a:avLst/>
          </a:prstGeom>
          <a:noFill/>
          <a:ln/>
        </p:spPr>
        <p:txBody>
          <a:bodyPr wrap="square" rtlCol="0" anchor="ctr"/>
          <a:lstStyle/>
          <a:p>
            <a:r>
              <a:rPr lang="en-US" sz="6542" b="1" dirty="0">
                <a:solidFill>
                  <a:srgbClr val="0D1B3E"/>
                </a:solidFill>
                <a:latin typeface="Arial Black" pitchFamily="34" charset="0"/>
                <a:ea typeface="Arial Black" pitchFamily="34" charset="-122"/>
                <a:cs typeface="Arial Black" pitchFamily="34" charset="-120"/>
              </a:rPr>
              <a:t>28.6%</a:t>
            </a:r>
            <a:endParaRPr lang="en-US" sz="6542" dirty="0"/>
          </a:p>
        </p:txBody>
      </p:sp>
      <p:sp>
        <p:nvSpPr>
          <p:cNvPr id="6" name="Text 4"/>
          <p:cNvSpPr/>
          <p:nvPr/>
        </p:nvSpPr>
        <p:spPr>
          <a:xfrm>
            <a:off x="717973" y="3641344"/>
            <a:ext cx="4681728" cy="585216"/>
          </a:xfrm>
          <a:prstGeom prst="rect">
            <a:avLst/>
          </a:prstGeom>
          <a:noFill/>
          <a:ln/>
        </p:spPr>
        <p:txBody>
          <a:bodyPr wrap="square" rtlCol="0" anchor="ctr"/>
          <a:lstStyle/>
          <a:p>
            <a:r>
              <a:rPr lang="en-US" sz="2276" b="1" dirty="0">
                <a:solidFill>
                  <a:srgbClr val="0D1B3E"/>
                </a:solidFill>
                <a:latin typeface="Arial Black" pitchFamily="34" charset="0"/>
                <a:ea typeface="Arial Black" pitchFamily="34" charset="-122"/>
                <a:cs typeface="Arial Black" pitchFamily="34" charset="-120"/>
              </a:rPr>
              <a:t>Drop in Resolution Time</a:t>
            </a:r>
            <a:endParaRPr lang="en-US" sz="2276" dirty="0"/>
          </a:p>
        </p:txBody>
      </p:sp>
      <p:sp>
        <p:nvSpPr>
          <p:cNvPr id="7" name="Text 5"/>
          <p:cNvSpPr/>
          <p:nvPr/>
        </p:nvSpPr>
        <p:spPr>
          <a:xfrm>
            <a:off x="717973" y="4356608"/>
            <a:ext cx="4681728" cy="2340864"/>
          </a:xfrm>
          <a:prstGeom prst="rect">
            <a:avLst/>
          </a:prstGeom>
          <a:noFill/>
          <a:ln/>
        </p:spPr>
        <p:txBody>
          <a:bodyPr wrap="square" rtlCol="0" anchor="ctr"/>
          <a:lstStyle/>
          <a:p>
            <a:r>
              <a:rPr lang="en-US" sz="1707" dirty="0">
                <a:solidFill>
                  <a:srgbClr val="444444"/>
                </a:solidFill>
                <a:latin typeface="Calibri" pitchFamily="34" charset="0"/>
                <a:ea typeface="Calibri" pitchFamily="34" charset="-122"/>
                <a:cs typeface="Calibri" pitchFamily="34" charset="-120"/>
              </a:rPr>
              <a:t>LinkedIn: Reduced mean customer service issue resolution from 40 hours to 15 hours by parsing tickets into intra-issue trees and inter-issue graphs.</a:t>
            </a:r>
            <a:endParaRPr lang="en-US" sz="1707" dirty="0"/>
          </a:p>
        </p:txBody>
      </p:sp>
      <p:sp>
        <p:nvSpPr>
          <p:cNvPr id="8" name="Shape 6"/>
          <p:cNvSpPr/>
          <p:nvPr/>
        </p:nvSpPr>
        <p:spPr>
          <a:xfrm>
            <a:off x="913045" y="6242304"/>
            <a:ext cx="4291584" cy="0"/>
          </a:xfrm>
          <a:prstGeom prst="line">
            <a:avLst/>
          </a:prstGeom>
          <a:noFill/>
          <a:ln w="12700">
            <a:solidFill>
              <a:srgbClr val="D1D5DB"/>
            </a:solidFill>
            <a:prstDash val="solid"/>
          </a:ln>
        </p:spPr>
      </p:sp>
      <p:sp>
        <p:nvSpPr>
          <p:cNvPr id="9" name="Shape 7"/>
          <p:cNvSpPr/>
          <p:nvPr/>
        </p:nvSpPr>
        <p:spPr>
          <a:xfrm>
            <a:off x="913045" y="6762496"/>
            <a:ext cx="4291584" cy="0"/>
          </a:xfrm>
          <a:prstGeom prst="line">
            <a:avLst/>
          </a:prstGeom>
          <a:noFill/>
          <a:ln w="12700">
            <a:solidFill>
              <a:srgbClr val="D1D5DB"/>
            </a:solidFill>
            <a:prstDash val="solid"/>
          </a:ln>
        </p:spPr>
      </p:sp>
      <p:sp>
        <p:nvSpPr>
          <p:cNvPr id="10" name="Text 8"/>
          <p:cNvSpPr/>
          <p:nvPr/>
        </p:nvSpPr>
        <p:spPr>
          <a:xfrm>
            <a:off x="913045" y="6112256"/>
            <a:ext cx="1560576" cy="364134"/>
          </a:xfrm>
          <a:prstGeom prst="rect">
            <a:avLst/>
          </a:prstGeom>
          <a:noFill/>
          <a:ln/>
        </p:spPr>
        <p:txBody>
          <a:bodyPr wrap="square" rtlCol="0" anchor="ctr"/>
          <a:lstStyle/>
          <a:p>
            <a:r>
              <a:rPr lang="en-US" sz="1422" dirty="0">
                <a:solidFill>
                  <a:srgbClr val="6B7280"/>
                </a:solidFill>
              </a:rPr>
              <a:t>40 Hours</a:t>
            </a:r>
            <a:endParaRPr lang="en-US" sz="1422" dirty="0"/>
          </a:p>
        </p:txBody>
      </p:sp>
      <p:sp>
        <p:nvSpPr>
          <p:cNvPr id="11" name="Text 9"/>
          <p:cNvSpPr/>
          <p:nvPr/>
        </p:nvSpPr>
        <p:spPr>
          <a:xfrm>
            <a:off x="913045" y="6632448"/>
            <a:ext cx="1560576" cy="364134"/>
          </a:xfrm>
          <a:prstGeom prst="rect">
            <a:avLst/>
          </a:prstGeom>
          <a:noFill/>
          <a:ln/>
        </p:spPr>
        <p:txBody>
          <a:bodyPr wrap="square" rtlCol="0" anchor="ctr"/>
          <a:lstStyle/>
          <a:p>
            <a:r>
              <a:rPr lang="en-US" sz="1422" dirty="0">
                <a:solidFill>
                  <a:srgbClr val="6B7280"/>
                </a:solidFill>
              </a:rPr>
              <a:t>15 Hours</a:t>
            </a:r>
            <a:endParaRPr lang="en-US" sz="1422" dirty="0"/>
          </a:p>
        </p:txBody>
      </p:sp>
      <p:sp>
        <p:nvSpPr>
          <p:cNvPr id="12" name="Shape 10"/>
          <p:cNvSpPr/>
          <p:nvPr/>
        </p:nvSpPr>
        <p:spPr>
          <a:xfrm>
            <a:off x="2473621" y="6242304"/>
            <a:ext cx="1950720" cy="520192"/>
          </a:xfrm>
          <a:prstGeom prst="line">
            <a:avLst/>
          </a:prstGeom>
          <a:noFill/>
          <a:ln w="38100">
            <a:solidFill>
              <a:srgbClr val="B5621F"/>
            </a:solidFill>
            <a:prstDash val="solid"/>
          </a:ln>
        </p:spPr>
      </p:sp>
      <p:sp>
        <p:nvSpPr>
          <p:cNvPr id="13" name="Text 11"/>
          <p:cNvSpPr/>
          <p:nvPr/>
        </p:nvSpPr>
        <p:spPr>
          <a:xfrm>
            <a:off x="2473621" y="7217664"/>
            <a:ext cx="780288" cy="390144"/>
          </a:xfrm>
          <a:prstGeom prst="rect">
            <a:avLst/>
          </a:prstGeom>
          <a:noFill/>
          <a:ln/>
        </p:spPr>
        <p:txBody>
          <a:bodyPr wrap="square" rtlCol="0" anchor="ctr"/>
          <a:lstStyle/>
          <a:p>
            <a:pPr algn="ctr"/>
            <a:r>
              <a:rPr lang="en-US" sz="1422" dirty="0">
                <a:solidFill>
                  <a:srgbClr val="6B7280"/>
                </a:solidFill>
              </a:rPr>
              <a:t>Start</a:t>
            </a:r>
            <a:endParaRPr lang="en-US" sz="1422" dirty="0"/>
          </a:p>
        </p:txBody>
      </p:sp>
      <p:sp>
        <p:nvSpPr>
          <p:cNvPr id="14" name="Text 12"/>
          <p:cNvSpPr/>
          <p:nvPr/>
        </p:nvSpPr>
        <p:spPr>
          <a:xfrm>
            <a:off x="4034197" y="7217664"/>
            <a:ext cx="780288" cy="390144"/>
          </a:xfrm>
          <a:prstGeom prst="rect">
            <a:avLst/>
          </a:prstGeom>
          <a:noFill/>
          <a:ln/>
        </p:spPr>
        <p:txBody>
          <a:bodyPr wrap="square" rtlCol="0" anchor="ctr"/>
          <a:lstStyle/>
          <a:p>
            <a:pPr algn="ctr"/>
            <a:r>
              <a:rPr lang="en-US" sz="1422" dirty="0">
                <a:solidFill>
                  <a:srgbClr val="6B7280"/>
                </a:solidFill>
              </a:rPr>
              <a:t>End</a:t>
            </a:r>
            <a:endParaRPr lang="en-US" sz="1422" dirty="0"/>
          </a:p>
        </p:txBody>
      </p:sp>
      <p:sp>
        <p:nvSpPr>
          <p:cNvPr id="15" name="Shape 13"/>
          <p:cNvSpPr/>
          <p:nvPr/>
        </p:nvSpPr>
        <p:spPr>
          <a:xfrm>
            <a:off x="5984917" y="1950720"/>
            <a:ext cx="5071872" cy="7282688"/>
          </a:xfrm>
          <a:prstGeom prst="rect">
            <a:avLst/>
          </a:prstGeom>
          <a:solidFill>
            <a:srgbClr val="FFFFFF"/>
          </a:solidFill>
          <a:ln w="12700">
            <a:solidFill>
              <a:srgbClr val="D1D5DB"/>
            </a:solidFill>
            <a:prstDash val="solid"/>
          </a:ln>
        </p:spPr>
      </p:sp>
      <p:sp>
        <p:nvSpPr>
          <p:cNvPr id="16" name="Text 14"/>
          <p:cNvSpPr/>
          <p:nvPr/>
        </p:nvSpPr>
        <p:spPr>
          <a:xfrm>
            <a:off x="6179989" y="2080768"/>
            <a:ext cx="4681728" cy="1560576"/>
          </a:xfrm>
          <a:prstGeom prst="rect">
            <a:avLst/>
          </a:prstGeom>
          <a:noFill/>
          <a:ln/>
        </p:spPr>
        <p:txBody>
          <a:bodyPr wrap="square" rtlCol="0" anchor="ctr"/>
          <a:lstStyle/>
          <a:p>
            <a:r>
              <a:rPr lang="en-US" sz="6542" b="1" dirty="0">
                <a:solidFill>
                  <a:srgbClr val="0D1B3E"/>
                </a:solidFill>
                <a:latin typeface="Arial Black" pitchFamily="34" charset="0"/>
                <a:ea typeface="Arial Black" pitchFamily="34" charset="-122"/>
                <a:cs typeface="Arial Black" pitchFamily="34" charset="-120"/>
              </a:rPr>
              <a:t>1st Place</a:t>
            </a:r>
            <a:endParaRPr lang="en-US" sz="6542" dirty="0"/>
          </a:p>
        </p:txBody>
      </p:sp>
      <p:sp>
        <p:nvSpPr>
          <p:cNvPr id="17" name="Text 15"/>
          <p:cNvSpPr/>
          <p:nvPr/>
        </p:nvSpPr>
        <p:spPr>
          <a:xfrm>
            <a:off x="6179989" y="3641344"/>
            <a:ext cx="4681728" cy="585216"/>
          </a:xfrm>
          <a:prstGeom prst="rect">
            <a:avLst/>
          </a:prstGeom>
          <a:noFill/>
          <a:ln/>
        </p:spPr>
        <p:txBody>
          <a:bodyPr wrap="square" rtlCol="0" anchor="ctr"/>
          <a:lstStyle/>
          <a:p>
            <a:r>
              <a:rPr lang="en-US" sz="2276" b="1" dirty="0">
                <a:solidFill>
                  <a:srgbClr val="0D1B3E"/>
                </a:solidFill>
                <a:latin typeface="Arial Black" pitchFamily="34" charset="0"/>
                <a:ea typeface="Arial Black" pitchFamily="34" charset="-122"/>
                <a:cs typeface="Arial Black" pitchFamily="34" charset="-120"/>
              </a:rPr>
              <a:t>Benchmark Accuracy</a:t>
            </a:r>
            <a:endParaRPr lang="en-US" sz="2276" dirty="0"/>
          </a:p>
        </p:txBody>
      </p:sp>
      <p:sp>
        <p:nvSpPr>
          <p:cNvPr id="18" name="Text 16"/>
          <p:cNvSpPr/>
          <p:nvPr/>
        </p:nvSpPr>
        <p:spPr>
          <a:xfrm>
            <a:off x="6179989" y="4356608"/>
            <a:ext cx="4681728" cy="2340864"/>
          </a:xfrm>
          <a:prstGeom prst="rect">
            <a:avLst/>
          </a:prstGeom>
          <a:noFill/>
          <a:ln/>
        </p:spPr>
        <p:txBody>
          <a:bodyPr wrap="square" rtlCol="0" anchor="ctr"/>
          <a:lstStyle/>
          <a:p>
            <a:r>
              <a:rPr lang="en-US" sz="1707" dirty="0">
                <a:solidFill>
                  <a:srgbClr val="444444"/>
                </a:solidFill>
                <a:latin typeface="Calibri" pitchFamily="34" charset="0"/>
                <a:ea typeface="Calibri" pitchFamily="34" charset="-122"/>
                <a:cs typeface="Calibri" pitchFamily="34" charset="-120"/>
              </a:rPr>
              <a:t>Writer: Defeated 7 enterprise vector systems. Enabled AI in regulated healthcare/finance by exposing exact reasoning snippets and ensuring zero-hallucination auditability.</a:t>
            </a:r>
            <a:endParaRPr lang="en-US" sz="1707" dirty="0"/>
          </a:p>
        </p:txBody>
      </p:sp>
      <p:pic>
        <p:nvPicPr>
          <p:cNvPr id="19" name="Image 0" descr="preencoded.png"/>
          <p:cNvPicPr>
            <a:picLocks noChangeAspect="1"/>
          </p:cNvPicPr>
          <p:nvPr/>
        </p:nvPicPr>
        <p:blipFill>
          <a:blip r:embed="rId3"/>
          <a:stretch>
            <a:fillRect/>
          </a:stretch>
        </p:blipFill>
        <p:spPr>
          <a:xfrm>
            <a:off x="7805589" y="6502400"/>
            <a:ext cx="1300480" cy="1300480"/>
          </a:xfrm>
          <a:prstGeom prst="rect">
            <a:avLst/>
          </a:prstGeom>
        </p:spPr>
      </p:pic>
      <p:sp>
        <p:nvSpPr>
          <p:cNvPr id="20" name="Shape 17"/>
          <p:cNvSpPr/>
          <p:nvPr/>
        </p:nvSpPr>
        <p:spPr>
          <a:xfrm>
            <a:off x="11446933" y="1950720"/>
            <a:ext cx="5071872" cy="7282688"/>
          </a:xfrm>
          <a:prstGeom prst="rect">
            <a:avLst/>
          </a:prstGeom>
          <a:solidFill>
            <a:srgbClr val="FFFFFF"/>
          </a:solidFill>
          <a:ln w="12700">
            <a:solidFill>
              <a:srgbClr val="D1D5DB"/>
            </a:solidFill>
            <a:prstDash val="solid"/>
          </a:ln>
        </p:spPr>
      </p:sp>
      <p:sp>
        <p:nvSpPr>
          <p:cNvPr id="21" name="Text 18"/>
          <p:cNvSpPr/>
          <p:nvPr/>
        </p:nvSpPr>
        <p:spPr>
          <a:xfrm>
            <a:off x="11642005" y="2080768"/>
            <a:ext cx="4681728" cy="1560576"/>
          </a:xfrm>
          <a:prstGeom prst="rect">
            <a:avLst/>
          </a:prstGeom>
          <a:noFill/>
          <a:ln/>
        </p:spPr>
        <p:txBody>
          <a:bodyPr wrap="square" rtlCol="0" anchor="ctr"/>
          <a:lstStyle/>
          <a:p>
            <a:r>
              <a:rPr lang="en-US" sz="6542" b="1" dirty="0">
                <a:solidFill>
                  <a:srgbClr val="0D1B3E"/>
                </a:solidFill>
                <a:latin typeface="Arial Black" pitchFamily="34" charset="0"/>
                <a:ea typeface="Arial Black" pitchFamily="34" charset="-122"/>
                <a:cs typeface="Arial Black" pitchFamily="34" charset="-120"/>
              </a:rPr>
              <a:t>78.5%</a:t>
            </a:r>
            <a:endParaRPr lang="en-US" sz="6542" dirty="0"/>
          </a:p>
        </p:txBody>
      </p:sp>
      <p:sp>
        <p:nvSpPr>
          <p:cNvPr id="22" name="Text 19"/>
          <p:cNvSpPr/>
          <p:nvPr/>
        </p:nvSpPr>
        <p:spPr>
          <a:xfrm>
            <a:off x="11642005" y="3641344"/>
            <a:ext cx="4681728" cy="585216"/>
          </a:xfrm>
          <a:prstGeom prst="rect">
            <a:avLst/>
          </a:prstGeom>
          <a:noFill/>
          <a:ln/>
        </p:spPr>
        <p:txBody>
          <a:bodyPr wrap="square" rtlCol="0" anchor="ctr"/>
          <a:lstStyle/>
          <a:p>
            <a:r>
              <a:rPr lang="en-US" sz="2276" b="1" dirty="0">
                <a:solidFill>
                  <a:srgbClr val="0D1B3E"/>
                </a:solidFill>
                <a:latin typeface="Arial Black" pitchFamily="34" charset="0"/>
                <a:ea typeface="Arial Black" pitchFamily="34" charset="-122"/>
                <a:cs typeface="Arial Black" pitchFamily="34" charset="-120"/>
              </a:rPr>
              <a:t>Win-Rate</a:t>
            </a:r>
            <a:endParaRPr lang="en-US" sz="2276" dirty="0"/>
          </a:p>
        </p:txBody>
      </p:sp>
      <p:sp>
        <p:nvSpPr>
          <p:cNvPr id="23" name="Text 20"/>
          <p:cNvSpPr/>
          <p:nvPr/>
        </p:nvSpPr>
        <p:spPr>
          <a:xfrm>
            <a:off x="11642005" y="4356608"/>
            <a:ext cx="4681728" cy="2340864"/>
          </a:xfrm>
          <a:prstGeom prst="rect">
            <a:avLst/>
          </a:prstGeom>
          <a:noFill/>
          <a:ln/>
        </p:spPr>
        <p:txBody>
          <a:bodyPr wrap="square" rtlCol="0" anchor="ctr"/>
          <a:lstStyle/>
          <a:p>
            <a:r>
              <a:rPr lang="en-US" sz="1707" dirty="0">
                <a:solidFill>
                  <a:srgbClr val="444444"/>
                </a:solidFill>
                <a:latin typeface="Calibri" pitchFamily="34" charset="0"/>
                <a:ea typeface="Calibri" pitchFamily="34" charset="-122"/>
                <a:cs typeface="Calibri" pitchFamily="34" charset="-120"/>
              </a:rPr>
              <a:t>SAP: Overpowered dense vector retrieval in complex legacy code migration (ABAP to S/4HANA) by understanding transaction-to-screen structural dependencies.</a:t>
            </a:r>
            <a:endParaRPr lang="en-US" sz="1707" dirty="0"/>
          </a:p>
        </p:txBody>
      </p:sp>
      <p:sp>
        <p:nvSpPr>
          <p:cNvPr id="24" name="Shape 21"/>
          <p:cNvSpPr/>
          <p:nvPr/>
        </p:nvSpPr>
        <p:spPr>
          <a:xfrm>
            <a:off x="11902101" y="6762496"/>
            <a:ext cx="1300480" cy="1430528"/>
          </a:xfrm>
          <a:prstGeom prst="rect">
            <a:avLst/>
          </a:prstGeom>
          <a:solidFill>
            <a:srgbClr val="4A6FA5"/>
          </a:solidFill>
          <a:ln/>
        </p:spPr>
      </p:sp>
      <p:sp>
        <p:nvSpPr>
          <p:cNvPr id="25" name="Shape 22"/>
          <p:cNvSpPr/>
          <p:nvPr/>
        </p:nvSpPr>
        <p:spPr>
          <a:xfrm>
            <a:off x="13592725" y="6242304"/>
            <a:ext cx="1300480" cy="1950720"/>
          </a:xfrm>
          <a:prstGeom prst="rect">
            <a:avLst/>
          </a:prstGeom>
          <a:solidFill>
            <a:srgbClr val="B5621F"/>
          </a:solidFill>
          <a:ln/>
        </p:spPr>
      </p:sp>
      <p:sp>
        <p:nvSpPr>
          <p:cNvPr id="26" name="Text 23"/>
          <p:cNvSpPr/>
          <p:nvPr/>
        </p:nvSpPr>
        <p:spPr>
          <a:xfrm>
            <a:off x="11772053" y="8258048"/>
            <a:ext cx="1560576" cy="520192"/>
          </a:xfrm>
          <a:prstGeom prst="rect">
            <a:avLst/>
          </a:prstGeom>
          <a:noFill/>
          <a:ln/>
        </p:spPr>
        <p:txBody>
          <a:bodyPr wrap="square" rtlCol="0" anchor="ctr"/>
          <a:lstStyle/>
          <a:p>
            <a:pPr algn="ctr"/>
            <a:r>
              <a:rPr lang="en-US" sz="1280" dirty="0">
                <a:solidFill>
                  <a:srgbClr val="6B7280"/>
                </a:solidFill>
              </a:rPr>
              <a:t>Dense</a:t>
            </a:r>
            <a:endParaRPr lang="en-US" sz="1280" dirty="0"/>
          </a:p>
          <a:p>
            <a:pPr algn="ctr"/>
            <a:r>
              <a:rPr lang="en-US" sz="1280" dirty="0">
                <a:solidFill>
                  <a:srgbClr val="6B7280"/>
                </a:solidFill>
              </a:rPr>
              <a:t>Vector</a:t>
            </a:r>
            <a:endParaRPr lang="en-US" sz="1280" dirty="0"/>
          </a:p>
        </p:txBody>
      </p:sp>
      <p:sp>
        <p:nvSpPr>
          <p:cNvPr id="27" name="Text 24"/>
          <p:cNvSpPr/>
          <p:nvPr/>
        </p:nvSpPr>
        <p:spPr>
          <a:xfrm>
            <a:off x="13462677" y="8258048"/>
            <a:ext cx="1560576" cy="520192"/>
          </a:xfrm>
          <a:prstGeom prst="rect">
            <a:avLst/>
          </a:prstGeom>
          <a:noFill/>
          <a:ln/>
        </p:spPr>
        <p:txBody>
          <a:bodyPr wrap="square" rtlCol="0" anchor="ctr"/>
          <a:lstStyle/>
          <a:p>
            <a:pPr algn="ctr"/>
            <a:r>
              <a:rPr lang="en-US" sz="1280" dirty="0">
                <a:solidFill>
                  <a:srgbClr val="6B7280"/>
                </a:solidFill>
              </a:rPr>
              <a:t>Graph</a:t>
            </a:r>
            <a:endParaRPr lang="en-US" sz="1280" dirty="0"/>
          </a:p>
          <a:p>
            <a:pPr algn="ctr"/>
            <a:r>
              <a:rPr lang="en-US" sz="1280" dirty="0">
                <a:solidFill>
                  <a:srgbClr val="6B7280"/>
                </a:solidFill>
              </a:rPr>
              <a:t>RAG</a:t>
            </a:r>
            <a:endParaRPr lang="en-US" sz="1280" dirty="0"/>
          </a:p>
        </p:txBody>
      </p:sp>
      <p:sp>
        <p:nvSpPr>
          <p:cNvPr id="28" name="Text 25"/>
          <p:cNvSpPr/>
          <p:nvPr/>
        </p:nvSpPr>
        <p:spPr>
          <a:xfrm>
            <a:off x="15023253" y="9298432"/>
            <a:ext cx="2210816" cy="325120"/>
          </a:xfrm>
          <a:prstGeom prst="rect">
            <a:avLst/>
          </a:prstGeom>
          <a:noFill/>
          <a:ln/>
        </p:spPr>
        <p:txBody>
          <a:bodyPr wrap="square" rtlCol="0" anchor="ctr"/>
          <a:lstStyle/>
          <a:p>
            <a:r>
              <a:rPr lang="en-US" sz="1280" dirty="0">
                <a:solidFill>
                  <a:srgbClr val="6B7280"/>
                </a:solidFill>
              </a:rPr>
              <a:t>🔖 NotebookLM</a:t>
            </a:r>
            <a:endParaRPr lang="en-US" sz="1280" dirty="0"/>
          </a:p>
        </p:txBody>
      </p:sp>
    </p:spTree>
    <p:extLst>
      <p:ext uri="{BB962C8B-B14F-4D97-AF65-F5344CB8AC3E}">
        <p14:creationId xmlns:p14="http://schemas.microsoft.com/office/powerpoint/2010/main" val="301816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62806" y="195072"/>
            <a:ext cx="16880230" cy="9337446"/>
          </a:xfrm>
          <a:prstGeom prst="rect">
            <a:avLst/>
          </a:prstGeom>
          <a:ln w="25400">
            <a:solidFill>
              <a:srgbClr val="1A2B52"/>
            </a:solidFill>
            <a:prstDash val="solid"/>
          </a:ln>
        </p:spPr>
      </p:sp>
      <p:sp>
        <p:nvSpPr>
          <p:cNvPr id="3" name="Text 1"/>
          <p:cNvSpPr/>
          <p:nvPr/>
        </p:nvSpPr>
        <p:spPr>
          <a:xfrm>
            <a:off x="587925" y="260096"/>
            <a:ext cx="16256000" cy="780288"/>
          </a:xfrm>
          <a:prstGeom prst="rect">
            <a:avLst/>
          </a:prstGeom>
          <a:noFill/>
          <a:ln/>
        </p:spPr>
        <p:txBody>
          <a:bodyPr wrap="square" rtlCol="0" anchor="ctr"/>
          <a:lstStyle/>
          <a:p>
            <a:r>
              <a:rPr lang="en-US" sz="3698" b="1" dirty="0">
                <a:solidFill>
                  <a:srgbClr val="0D1B3E"/>
                </a:solidFill>
                <a:latin typeface="Calibri" pitchFamily="34" charset="0"/>
                <a:ea typeface="Calibri" pitchFamily="34" charset="-122"/>
                <a:cs typeface="Calibri" pitchFamily="34" charset="-120"/>
              </a:rPr>
              <a:t>The Elephant in the Room: Cost &amp; Scalability</a:t>
            </a:r>
            <a:endParaRPr lang="en-US" sz="3698" dirty="0"/>
          </a:p>
        </p:txBody>
      </p:sp>
      <p:sp>
        <p:nvSpPr>
          <p:cNvPr id="4" name="Text 2"/>
          <p:cNvSpPr/>
          <p:nvPr/>
        </p:nvSpPr>
        <p:spPr>
          <a:xfrm>
            <a:off x="587925" y="1066394"/>
            <a:ext cx="16256000" cy="520192"/>
          </a:xfrm>
          <a:prstGeom prst="rect">
            <a:avLst/>
          </a:prstGeom>
          <a:noFill/>
          <a:ln/>
        </p:spPr>
        <p:txBody>
          <a:bodyPr wrap="square" rtlCol="0" anchor="ctr"/>
          <a:lstStyle/>
          <a:p>
            <a:r>
              <a:rPr lang="en-US" sz="1991" dirty="0">
                <a:solidFill>
                  <a:srgbClr val="444444"/>
                </a:solidFill>
                <a:latin typeface="Calibri" pitchFamily="34" charset="0"/>
                <a:ea typeface="Calibri" pitchFamily="34" charset="-122"/>
                <a:cs typeface="Calibri" pitchFamily="34" charset="-120"/>
              </a:rPr>
              <a:t>Standard GraphRAG architectures trade retrieval accuracy for unsustainable indexing costs.</a:t>
            </a:r>
            <a:endParaRPr lang="en-US" sz="1991" dirty="0"/>
          </a:p>
        </p:txBody>
      </p:sp>
      <p:pic>
        <p:nvPicPr>
          <p:cNvPr id="5" name="Image 0" descr="preencoded.png"/>
          <p:cNvPicPr>
            <a:picLocks noChangeAspect="1"/>
          </p:cNvPicPr>
          <p:nvPr/>
        </p:nvPicPr>
        <p:blipFill>
          <a:blip r:embed="rId3"/>
          <a:stretch>
            <a:fillRect/>
          </a:stretch>
        </p:blipFill>
        <p:spPr>
          <a:xfrm>
            <a:off x="2018453" y="1690624"/>
            <a:ext cx="12354560" cy="5852160"/>
          </a:xfrm>
          <a:prstGeom prst="rect">
            <a:avLst/>
          </a:prstGeom>
        </p:spPr>
      </p:pic>
      <p:sp>
        <p:nvSpPr>
          <p:cNvPr id="6" name="Text 3"/>
          <p:cNvSpPr/>
          <p:nvPr/>
        </p:nvSpPr>
        <p:spPr>
          <a:xfrm>
            <a:off x="717973" y="7737856"/>
            <a:ext cx="15605760" cy="585216"/>
          </a:xfrm>
          <a:prstGeom prst="rect">
            <a:avLst/>
          </a:prstGeom>
          <a:noFill/>
          <a:ln/>
        </p:spPr>
        <p:txBody>
          <a:bodyPr wrap="square" rtlCol="0" anchor="ctr"/>
          <a:lstStyle/>
          <a:p>
            <a:r>
              <a:rPr lang="en-US" sz="1849" b="1" dirty="0">
                <a:solidFill>
                  <a:srgbClr val="0D1B3E"/>
                </a:solidFill>
                <a:latin typeface="Calibri" pitchFamily="34" charset="0"/>
                <a:ea typeface="Calibri" pitchFamily="34" charset="-122"/>
                <a:cs typeface="Calibri" pitchFamily="34" charset="-120"/>
              </a:rPr>
              <a:t>The Problem: </a:t>
            </a:r>
            <a:r>
              <a:rPr lang="en-US" sz="1849" dirty="0">
                <a:solidFill>
                  <a:srgbClr val="333333"/>
                </a:solidFill>
                <a:latin typeface="Calibri" pitchFamily="34" charset="0"/>
                <a:ea typeface="Calibri" pitchFamily="34" charset="-122"/>
                <a:cs typeface="Calibri" pitchFamily="34" charset="-120"/>
              </a:rPr>
              <a:t>Extracting billions of graph nodes using LLMs (like GPT-4) is prohibitively expensive and incredibly slow.</a:t>
            </a:r>
            <a:endParaRPr lang="en-US" sz="1849" dirty="0"/>
          </a:p>
        </p:txBody>
      </p:sp>
      <p:sp>
        <p:nvSpPr>
          <p:cNvPr id="7" name="Text 4"/>
          <p:cNvSpPr/>
          <p:nvPr/>
        </p:nvSpPr>
        <p:spPr>
          <a:xfrm>
            <a:off x="717973" y="8427110"/>
            <a:ext cx="15605760" cy="585216"/>
          </a:xfrm>
          <a:prstGeom prst="rect">
            <a:avLst/>
          </a:prstGeom>
          <a:noFill/>
          <a:ln/>
        </p:spPr>
        <p:txBody>
          <a:bodyPr wrap="square" rtlCol="0" anchor="ctr"/>
          <a:lstStyle/>
          <a:p>
            <a:r>
              <a:rPr lang="en-US" sz="1849" b="1" dirty="0">
                <a:solidFill>
                  <a:srgbClr val="0D1B3E"/>
                </a:solidFill>
                <a:latin typeface="Calibri" pitchFamily="34" charset="0"/>
                <a:ea typeface="Calibri" pitchFamily="34" charset="-122"/>
                <a:cs typeface="Calibri" pitchFamily="34" charset="-120"/>
              </a:rPr>
              <a:t>The Bottleneck: </a:t>
            </a:r>
            <a:r>
              <a:rPr lang="en-US" sz="1849" dirty="0">
                <a:solidFill>
                  <a:srgbClr val="333333"/>
                </a:solidFill>
                <a:latin typeface="Calibri" pitchFamily="34" charset="0"/>
                <a:ea typeface="Calibri" pitchFamily="34" charset="-122"/>
                <a:cs typeface="Calibri" pitchFamily="34" charset="-120"/>
              </a:rPr>
              <a:t>Traditional graph databases choke on complex traversal operations at query time as enterprise data scales into terabytes.</a:t>
            </a:r>
            <a:endParaRPr lang="en-US" sz="1849" dirty="0"/>
          </a:p>
        </p:txBody>
      </p:sp>
      <p:sp>
        <p:nvSpPr>
          <p:cNvPr id="8" name="Text 5"/>
          <p:cNvSpPr/>
          <p:nvPr/>
        </p:nvSpPr>
        <p:spPr>
          <a:xfrm>
            <a:off x="15023253" y="9298432"/>
            <a:ext cx="2210816" cy="325120"/>
          </a:xfrm>
          <a:prstGeom prst="rect">
            <a:avLst/>
          </a:prstGeom>
          <a:noFill/>
          <a:ln/>
        </p:spPr>
        <p:txBody>
          <a:bodyPr wrap="square" rtlCol="0" anchor="ctr"/>
          <a:lstStyle/>
          <a:p>
            <a:r>
              <a:rPr lang="en-US" sz="1280" dirty="0">
                <a:solidFill>
                  <a:srgbClr val="6B7280"/>
                </a:solidFill>
              </a:rPr>
              <a:t>🔖 NotebookLM</a:t>
            </a:r>
            <a:endParaRPr lang="en-US" sz="1280" dirty="0"/>
          </a:p>
        </p:txBody>
      </p:sp>
    </p:spTree>
    <p:extLst>
      <p:ext uri="{BB962C8B-B14F-4D97-AF65-F5344CB8AC3E}">
        <p14:creationId xmlns:p14="http://schemas.microsoft.com/office/powerpoint/2010/main" val="36115079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62806" y="195072"/>
            <a:ext cx="16880230" cy="9337446"/>
          </a:xfrm>
          <a:prstGeom prst="rect">
            <a:avLst/>
          </a:prstGeom>
          <a:ln w="25400">
            <a:solidFill>
              <a:srgbClr val="1A2B52"/>
            </a:solidFill>
            <a:prstDash val="solid"/>
          </a:ln>
        </p:spPr>
      </p:sp>
      <p:sp>
        <p:nvSpPr>
          <p:cNvPr id="3" name="Text 1"/>
          <p:cNvSpPr/>
          <p:nvPr/>
        </p:nvSpPr>
        <p:spPr>
          <a:xfrm>
            <a:off x="587925" y="260096"/>
            <a:ext cx="16256000" cy="780288"/>
          </a:xfrm>
          <a:prstGeom prst="rect">
            <a:avLst/>
          </a:prstGeom>
          <a:noFill/>
          <a:ln/>
        </p:spPr>
        <p:txBody>
          <a:bodyPr wrap="square" rtlCol="0" anchor="ctr"/>
          <a:lstStyle/>
          <a:p>
            <a:r>
              <a:rPr lang="en-US" sz="3982" b="1" dirty="0">
                <a:solidFill>
                  <a:srgbClr val="0D1B3E"/>
                </a:solidFill>
                <a:latin typeface="Calibri" pitchFamily="34" charset="0"/>
                <a:ea typeface="Calibri" pitchFamily="34" charset="-122"/>
                <a:cs typeface="Calibri" pitchFamily="34" charset="-120"/>
              </a:rPr>
              <a:t>Our Pragmatic, Scalable Intervention</a:t>
            </a:r>
            <a:endParaRPr lang="en-US" sz="3982" dirty="0"/>
          </a:p>
        </p:txBody>
      </p:sp>
      <p:pic>
        <p:nvPicPr>
          <p:cNvPr id="4" name="Image 0" descr="preencoded.png"/>
          <p:cNvPicPr>
            <a:picLocks noChangeAspect="1"/>
          </p:cNvPicPr>
          <p:nvPr/>
        </p:nvPicPr>
        <p:blipFill>
          <a:blip r:embed="rId3"/>
          <a:stretch>
            <a:fillRect/>
          </a:stretch>
        </p:blipFill>
        <p:spPr>
          <a:xfrm>
            <a:off x="457877" y="1170432"/>
            <a:ext cx="11054080" cy="6242304"/>
          </a:xfrm>
          <a:prstGeom prst="rect">
            <a:avLst/>
          </a:prstGeom>
        </p:spPr>
      </p:pic>
      <p:sp>
        <p:nvSpPr>
          <p:cNvPr id="5" name="Text 2"/>
          <p:cNvSpPr/>
          <p:nvPr/>
        </p:nvSpPr>
        <p:spPr>
          <a:xfrm>
            <a:off x="587925" y="7477760"/>
            <a:ext cx="7542784" cy="520192"/>
          </a:xfrm>
          <a:prstGeom prst="rect">
            <a:avLst/>
          </a:prstGeom>
          <a:noFill/>
          <a:ln/>
        </p:spPr>
        <p:txBody>
          <a:bodyPr wrap="square" rtlCol="0" anchor="ctr"/>
          <a:lstStyle/>
          <a:p>
            <a:r>
              <a:rPr lang="en-US" sz="1849" b="1" dirty="0">
                <a:solidFill>
                  <a:srgbClr val="0D1B3E"/>
                </a:solidFill>
                <a:latin typeface="Calibri" pitchFamily="34" charset="0"/>
                <a:ea typeface="Calibri" pitchFamily="34" charset="-122"/>
                <a:cs typeface="Calibri" pitchFamily="34" charset="-120"/>
              </a:rPr>
              <a:t>1. Cost-Efficient Extraction (The SAP Method):</a:t>
            </a:r>
            <a:endParaRPr lang="en-US" sz="1849" dirty="0"/>
          </a:p>
        </p:txBody>
      </p:sp>
      <p:sp>
        <p:nvSpPr>
          <p:cNvPr id="6" name="Text 3"/>
          <p:cNvSpPr/>
          <p:nvPr/>
        </p:nvSpPr>
        <p:spPr>
          <a:xfrm>
            <a:off x="587925" y="8036966"/>
            <a:ext cx="7542784" cy="910336"/>
          </a:xfrm>
          <a:prstGeom prst="rect">
            <a:avLst/>
          </a:prstGeom>
          <a:noFill/>
          <a:ln/>
        </p:spPr>
        <p:txBody>
          <a:bodyPr wrap="square" rtlCol="0" anchor="ctr"/>
          <a:lstStyle/>
          <a:p>
            <a:r>
              <a:rPr lang="en-US" sz="1707" dirty="0">
                <a:solidFill>
                  <a:srgbClr val="444444"/>
                </a:solidFill>
                <a:latin typeface="Calibri" pitchFamily="34" charset="0"/>
                <a:ea typeface="Calibri" pitchFamily="34" charset="-122"/>
                <a:cs typeface="Calibri" pitchFamily="34" charset="-120"/>
              </a:rPr>
              <a:t>We deploy classical NLP (Dependency Parsing) for knowledge extraction instead of expensive LLMs.</a:t>
            </a:r>
            <a:endParaRPr lang="en-US" sz="1707" dirty="0"/>
          </a:p>
        </p:txBody>
      </p:sp>
      <p:sp>
        <p:nvSpPr>
          <p:cNvPr id="7" name="Text 4"/>
          <p:cNvSpPr/>
          <p:nvPr/>
        </p:nvSpPr>
        <p:spPr>
          <a:xfrm>
            <a:off x="5919893" y="7477760"/>
            <a:ext cx="7152640" cy="520192"/>
          </a:xfrm>
          <a:prstGeom prst="rect">
            <a:avLst/>
          </a:prstGeom>
          <a:noFill/>
          <a:ln/>
        </p:spPr>
        <p:txBody>
          <a:bodyPr wrap="square" rtlCol="0" anchor="ctr"/>
          <a:lstStyle/>
          <a:p>
            <a:r>
              <a:rPr lang="en-US" sz="1849" b="1" dirty="0">
                <a:solidFill>
                  <a:srgbClr val="0D1B3E"/>
                </a:solidFill>
                <a:latin typeface="Calibri" pitchFamily="34" charset="0"/>
                <a:ea typeface="Calibri" pitchFamily="34" charset="-122"/>
                <a:cs typeface="Calibri" pitchFamily="34" charset="-120"/>
              </a:rPr>
              <a:t>2. Hybrid Storage (The Writer Method):</a:t>
            </a:r>
            <a:endParaRPr lang="en-US" sz="1849" dirty="0"/>
          </a:p>
        </p:txBody>
      </p:sp>
      <p:sp>
        <p:nvSpPr>
          <p:cNvPr id="8" name="Text 5"/>
          <p:cNvSpPr/>
          <p:nvPr/>
        </p:nvSpPr>
        <p:spPr>
          <a:xfrm>
            <a:off x="5919893" y="8036966"/>
            <a:ext cx="7152640" cy="910336"/>
          </a:xfrm>
          <a:prstGeom prst="rect">
            <a:avLst/>
          </a:prstGeom>
          <a:noFill/>
          <a:ln/>
        </p:spPr>
        <p:txBody>
          <a:bodyPr wrap="square" rtlCol="0" anchor="ctr"/>
          <a:lstStyle/>
          <a:p>
            <a:r>
              <a:rPr lang="en-US" sz="1707" dirty="0">
                <a:solidFill>
                  <a:srgbClr val="444444"/>
                </a:solidFill>
                <a:latin typeface="Calibri" pitchFamily="34" charset="0"/>
                <a:ea typeface="Calibri" pitchFamily="34" charset="-122"/>
                <a:cs typeface="Calibri" pitchFamily="34" charset="-120"/>
              </a:rPr>
              <a:t>We store graph data points as JSON in fast, existing Lucene-based search engines, preventing scaling bottlenecks.</a:t>
            </a:r>
            <a:endParaRPr lang="en-US" sz="1707" dirty="0"/>
          </a:p>
        </p:txBody>
      </p:sp>
      <p:sp>
        <p:nvSpPr>
          <p:cNvPr id="9" name="Shape 6"/>
          <p:cNvSpPr/>
          <p:nvPr/>
        </p:nvSpPr>
        <p:spPr>
          <a:xfrm>
            <a:off x="11772053" y="1300480"/>
            <a:ext cx="5396992" cy="7997952"/>
          </a:xfrm>
          <a:prstGeom prst="rect">
            <a:avLst/>
          </a:prstGeom>
          <a:solidFill>
            <a:srgbClr val="FFFFFF"/>
          </a:solidFill>
          <a:ln w="12700">
            <a:solidFill>
              <a:srgbClr val="D1D5DB"/>
            </a:solidFill>
            <a:prstDash val="solid"/>
          </a:ln>
        </p:spPr>
      </p:sp>
      <p:sp>
        <p:nvSpPr>
          <p:cNvPr id="10" name="Text 7"/>
          <p:cNvSpPr/>
          <p:nvPr/>
        </p:nvSpPr>
        <p:spPr>
          <a:xfrm>
            <a:off x="11902101" y="1430528"/>
            <a:ext cx="2470912" cy="494182"/>
          </a:xfrm>
          <a:prstGeom prst="rect">
            <a:avLst/>
          </a:prstGeom>
          <a:noFill/>
          <a:ln/>
        </p:spPr>
        <p:txBody>
          <a:bodyPr wrap="square" rtlCol="0" anchor="ctr"/>
          <a:lstStyle/>
          <a:p>
            <a:pPr algn="ctr"/>
            <a:r>
              <a:rPr lang="en-US" sz="1849" b="1" dirty="0">
                <a:solidFill>
                  <a:srgbClr val="0D1B3E"/>
                </a:solidFill>
                <a:latin typeface="Calibri" pitchFamily="34" charset="0"/>
                <a:ea typeface="Calibri" pitchFamily="34" charset="-122"/>
                <a:cs typeface="Calibri" pitchFamily="34" charset="-120"/>
              </a:rPr>
              <a:t>Cost</a:t>
            </a:r>
            <a:endParaRPr lang="en-US" sz="1849" dirty="0"/>
          </a:p>
        </p:txBody>
      </p:sp>
      <p:sp>
        <p:nvSpPr>
          <p:cNvPr id="11" name="Text 8"/>
          <p:cNvSpPr/>
          <p:nvPr/>
        </p:nvSpPr>
        <p:spPr>
          <a:xfrm>
            <a:off x="14373013" y="1430528"/>
            <a:ext cx="2600960" cy="494182"/>
          </a:xfrm>
          <a:prstGeom prst="rect">
            <a:avLst/>
          </a:prstGeom>
          <a:noFill/>
          <a:ln/>
        </p:spPr>
        <p:txBody>
          <a:bodyPr wrap="square" rtlCol="0" anchor="ctr"/>
          <a:lstStyle/>
          <a:p>
            <a:pPr algn="ctr"/>
            <a:r>
              <a:rPr lang="en-US" sz="1849" b="1" dirty="0">
                <a:solidFill>
                  <a:srgbClr val="0D1B3E"/>
                </a:solidFill>
                <a:latin typeface="Calibri" pitchFamily="34" charset="0"/>
                <a:ea typeface="Calibri" pitchFamily="34" charset="-122"/>
                <a:cs typeface="Calibri" pitchFamily="34" charset="-120"/>
              </a:rPr>
              <a:t>Accuracy</a:t>
            </a:r>
            <a:endParaRPr lang="en-US" sz="1849" dirty="0"/>
          </a:p>
        </p:txBody>
      </p:sp>
      <p:sp>
        <p:nvSpPr>
          <p:cNvPr id="12" name="Shape 9"/>
          <p:cNvSpPr/>
          <p:nvPr/>
        </p:nvSpPr>
        <p:spPr>
          <a:xfrm>
            <a:off x="14373013" y="1950720"/>
            <a:ext cx="0" cy="5722112"/>
          </a:xfrm>
          <a:prstGeom prst="line">
            <a:avLst/>
          </a:prstGeom>
          <a:noFill/>
          <a:ln w="6350">
            <a:solidFill>
              <a:srgbClr val="D1D5DB"/>
            </a:solidFill>
            <a:prstDash val="solid"/>
          </a:ln>
        </p:spPr>
      </p:sp>
      <p:sp>
        <p:nvSpPr>
          <p:cNvPr id="13" name="Shape 10"/>
          <p:cNvSpPr/>
          <p:nvPr/>
        </p:nvSpPr>
        <p:spPr>
          <a:xfrm>
            <a:off x="12032149" y="2015744"/>
            <a:ext cx="975360" cy="3641344"/>
          </a:xfrm>
          <a:prstGeom prst="rect">
            <a:avLst/>
          </a:prstGeom>
          <a:solidFill>
            <a:srgbClr val="4A6FA5"/>
          </a:solidFill>
          <a:ln/>
        </p:spPr>
      </p:sp>
      <p:sp>
        <p:nvSpPr>
          <p:cNvPr id="14" name="Shape 11"/>
          <p:cNvSpPr/>
          <p:nvPr/>
        </p:nvSpPr>
        <p:spPr>
          <a:xfrm>
            <a:off x="13202581" y="4616704"/>
            <a:ext cx="975360" cy="1040384"/>
          </a:xfrm>
          <a:prstGeom prst="rect">
            <a:avLst/>
          </a:prstGeom>
          <a:solidFill>
            <a:srgbClr val="B5621F"/>
          </a:solidFill>
          <a:ln/>
        </p:spPr>
      </p:sp>
      <p:sp>
        <p:nvSpPr>
          <p:cNvPr id="15" name="Text 12"/>
          <p:cNvSpPr/>
          <p:nvPr/>
        </p:nvSpPr>
        <p:spPr>
          <a:xfrm>
            <a:off x="12032149" y="3381248"/>
            <a:ext cx="2145792" cy="715264"/>
          </a:xfrm>
          <a:prstGeom prst="rect">
            <a:avLst/>
          </a:prstGeom>
          <a:noFill/>
          <a:ln/>
        </p:spPr>
        <p:txBody>
          <a:bodyPr wrap="square" rtlCol="0" anchor="ctr"/>
          <a:lstStyle/>
          <a:p>
            <a:pPr algn="ctr"/>
            <a:r>
              <a:rPr lang="en-US" sz="1707" b="1" dirty="0">
                <a:solidFill>
                  <a:srgbClr val="0D1B3E"/>
                </a:solidFill>
                <a:latin typeface="Calibri" pitchFamily="34" charset="0"/>
                <a:ea typeface="Calibri" pitchFamily="34" charset="-122"/>
                <a:cs typeface="Calibri" pitchFamily="34" charset="-120"/>
              </a:rPr>
              <a:t>90%</a:t>
            </a:r>
            <a:endParaRPr lang="en-US" sz="1707" dirty="0"/>
          </a:p>
          <a:p>
            <a:pPr algn="ctr"/>
            <a:r>
              <a:rPr lang="en-US" sz="1707" b="1" dirty="0">
                <a:solidFill>
                  <a:srgbClr val="0D1B3E"/>
                </a:solidFill>
                <a:latin typeface="Calibri" pitchFamily="34" charset="0"/>
                <a:ea typeface="Calibri" pitchFamily="34" charset="-122"/>
                <a:cs typeface="Calibri" pitchFamily="34" charset="-120"/>
              </a:rPr>
              <a:t>drop</a:t>
            </a:r>
            <a:endParaRPr lang="en-US" sz="1707" dirty="0"/>
          </a:p>
        </p:txBody>
      </p:sp>
      <p:sp>
        <p:nvSpPr>
          <p:cNvPr id="16" name="Text 13"/>
          <p:cNvSpPr/>
          <p:nvPr/>
        </p:nvSpPr>
        <p:spPr>
          <a:xfrm>
            <a:off x="11902101" y="5722112"/>
            <a:ext cx="1170432" cy="585216"/>
          </a:xfrm>
          <a:prstGeom prst="rect">
            <a:avLst/>
          </a:prstGeom>
          <a:noFill/>
          <a:ln/>
        </p:spPr>
        <p:txBody>
          <a:bodyPr wrap="square" rtlCol="0" anchor="ctr"/>
          <a:lstStyle/>
          <a:p>
            <a:pPr algn="ctr"/>
            <a:r>
              <a:rPr lang="en-US" sz="1138" dirty="0">
                <a:solidFill>
                  <a:srgbClr val="6B7280"/>
                </a:solidFill>
              </a:rPr>
              <a:t>LLM</a:t>
            </a:r>
            <a:endParaRPr lang="en-US" sz="1138" dirty="0"/>
          </a:p>
          <a:p>
            <a:pPr algn="ctr"/>
            <a:r>
              <a:rPr lang="en-US" sz="1138" dirty="0">
                <a:solidFill>
                  <a:srgbClr val="6B7280"/>
                </a:solidFill>
              </a:rPr>
              <a:t>Method</a:t>
            </a:r>
            <a:endParaRPr lang="en-US" sz="1138" dirty="0"/>
          </a:p>
        </p:txBody>
      </p:sp>
      <p:sp>
        <p:nvSpPr>
          <p:cNvPr id="17" name="Text 14"/>
          <p:cNvSpPr/>
          <p:nvPr/>
        </p:nvSpPr>
        <p:spPr>
          <a:xfrm>
            <a:off x="13072533" y="5722112"/>
            <a:ext cx="1170432" cy="585216"/>
          </a:xfrm>
          <a:prstGeom prst="rect">
            <a:avLst/>
          </a:prstGeom>
          <a:noFill/>
          <a:ln/>
        </p:spPr>
        <p:txBody>
          <a:bodyPr wrap="square" rtlCol="0" anchor="ctr"/>
          <a:lstStyle/>
          <a:p>
            <a:pPr algn="ctr"/>
            <a:r>
              <a:rPr lang="en-US" sz="1138" dirty="0">
                <a:solidFill>
                  <a:srgbClr val="6B7280"/>
                </a:solidFill>
              </a:rPr>
              <a:t>NLP</a:t>
            </a:r>
            <a:endParaRPr lang="en-US" sz="1138" dirty="0"/>
          </a:p>
          <a:p>
            <a:pPr algn="ctr"/>
            <a:r>
              <a:rPr lang="en-US" sz="1138" dirty="0">
                <a:solidFill>
                  <a:srgbClr val="6B7280"/>
                </a:solidFill>
              </a:rPr>
              <a:t>Method</a:t>
            </a:r>
            <a:endParaRPr lang="en-US" sz="1138" dirty="0"/>
          </a:p>
        </p:txBody>
      </p:sp>
      <p:sp>
        <p:nvSpPr>
          <p:cNvPr id="18" name="Shape 15"/>
          <p:cNvSpPr/>
          <p:nvPr/>
        </p:nvSpPr>
        <p:spPr>
          <a:xfrm>
            <a:off x="14503061" y="2015744"/>
            <a:ext cx="975360" cy="3641344"/>
          </a:xfrm>
          <a:prstGeom prst="rect">
            <a:avLst/>
          </a:prstGeom>
          <a:solidFill>
            <a:srgbClr val="B5621F"/>
          </a:solidFill>
          <a:ln/>
        </p:spPr>
      </p:sp>
      <p:sp>
        <p:nvSpPr>
          <p:cNvPr id="19" name="Shape 16"/>
          <p:cNvSpPr/>
          <p:nvPr/>
        </p:nvSpPr>
        <p:spPr>
          <a:xfrm>
            <a:off x="15673493" y="2340864"/>
            <a:ext cx="975360" cy="3316224"/>
          </a:xfrm>
          <a:prstGeom prst="rect">
            <a:avLst/>
          </a:prstGeom>
          <a:solidFill>
            <a:srgbClr val="C8783A"/>
          </a:solidFill>
          <a:ln/>
        </p:spPr>
      </p:sp>
      <p:sp>
        <p:nvSpPr>
          <p:cNvPr id="20" name="Text 17"/>
          <p:cNvSpPr/>
          <p:nvPr/>
        </p:nvSpPr>
        <p:spPr>
          <a:xfrm>
            <a:off x="14307989" y="5722112"/>
            <a:ext cx="2731008" cy="650240"/>
          </a:xfrm>
          <a:prstGeom prst="rect">
            <a:avLst/>
          </a:prstGeom>
          <a:noFill/>
          <a:ln/>
        </p:spPr>
        <p:txBody>
          <a:bodyPr wrap="square" rtlCol="0" anchor="ctr"/>
          <a:lstStyle/>
          <a:p>
            <a:pPr algn="ctr"/>
            <a:r>
              <a:rPr lang="en-US" sz="1280" dirty="0">
                <a:solidFill>
                  <a:srgbClr val="6B7280"/>
                </a:solidFill>
                <a:latin typeface="Calibri" pitchFamily="34" charset="0"/>
                <a:ea typeface="Calibri" pitchFamily="34" charset="-122"/>
                <a:cs typeface="Calibri" pitchFamily="34" charset="-120"/>
              </a:rPr>
              <a:t>94% retained accuracy</a:t>
            </a:r>
            <a:endParaRPr lang="en-US" sz="1280" dirty="0"/>
          </a:p>
          <a:p>
            <a:pPr algn="ctr"/>
            <a:r>
              <a:rPr lang="en-US" sz="1280" dirty="0">
                <a:solidFill>
                  <a:srgbClr val="6B7280"/>
                </a:solidFill>
                <a:latin typeface="Calibri" pitchFamily="34" charset="0"/>
                <a:ea typeface="Calibri" pitchFamily="34" charset="-122"/>
                <a:cs typeface="Calibri" pitchFamily="34" charset="-120"/>
              </a:rPr>
              <a:t>65.8% to 61.8%</a:t>
            </a:r>
            <a:endParaRPr lang="en-US" sz="1280" dirty="0"/>
          </a:p>
        </p:txBody>
      </p:sp>
      <p:sp>
        <p:nvSpPr>
          <p:cNvPr id="21" name="Text 18"/>
          <p:cNvSpPr/>
          <p:nvPr/>
        </p:nvSpPr>
        <p:spPr>
          <a:xfrm>
            <a:off x="14373013" y="6437376"/>
            <a:ext cx="1300480" cy="585216"/>
          </a:xfrm>
          <a:prstGeom prst="rect">
            <a:avLst/>
          </a:prstGeom>
          <a:noFill/>
          <a:ln/>
        </p:spPr>
        <p:txBody>
          <a:bodyPr wrap="square" rtlCol="0" anchor="ctr"/>
          <a:lstStyle/>
          <a:p>
            <a:pPr algn="ctr"/>
            <a:r>
              <a:rPr lang="en-US" sz="1138" dirty="0">
                <a:solidFill>
                  <a:srgbClr val="6B7280"/>
                </a:solidFill>
              </a:rPr>
              <a:t>LLM</a:t>
            </a:r>
            <a:endParaRPr lang="en-US" sz="1138" dirty="0"/>
          </a:p>
          <a:p>
            <a:pPr algn="ctr"/>
            <a:r>
              <a:rPr lang="en-US" sz="1138" dirty="0">
                <a:solidFill>
                  <a:srgbClr val="6B7280"/>
                </a:solidFill>
              </a:rPr>
              <a:t>(GraphRAG)</a:t>
            </a:r>
            <a:endParaRPr lang="en-US" sz="1138" dirty="0"/>
          </a:p>
        </p:txBody>
      </p:sp>
      <p:sp>
        <p:nvSpPr>
          <p:cNvPr id="22" name="Text 19"/>
          <p:cNvSpPr/>
          <p:nvPr/>
        </p:nvSpPr>
        <p:spPr>
          <a:xfrm>
            <a:off x="15673493" y="6437376"/>
            <a:ext cx="1300480" cy="585216"/>
          </a:xfrm>
          <a:prstGeom prst="rect">
            <a:avLst/>
          </a:prstGeom>
          <a:noFill/>
          <a:ln/>
        </p:spPr>
        <p:txBody>
          <a:bodyPr wrap="square" rtlCol="0" anchor="ctr"/>
          <a:lstStyle/>
          <a:p>
            <a:pPr algn="ctr"/>
            <a:r>
              <a:rPr lang="en-US" sz="1138" dirty="0">
                <a:solidFill>
                  <a:srgbClr val="6B7280"/>
                </a:solidFill>
              </a:rPr>
              <a:t>NLP</a:t>
            </a:r>
            <a:endParaRPr lang="en-US" sz="1138" dirty="0"/>
          </a:p>
          <a:p>
            <a:pPr algn="ctr"/>
            <a:r>
              <a:rPr lang="en-US" sz="1138" dirty="0">
                <a:solidFill>
                  <a:srgbClr val="6B7280"/>
                </a:solidFill>
              </a:rPr>
              <a:t>(Classical)</a:t>
            </a:r>
            <a:endParaRPr lang="en-US" sz="1138" dirty="0"/>
          </a:p>
        </p:txBody>
      </p:sp>
      <p:sp>
        <p:nvSpPr>
          <p:cNvPr id="23" name="Text 20"/>
          <p:cNvSpPr/>
          <p:nvPr/>
        </p:nvSpPr>
        <p:spPr>
          <a:xfrm>
            <a:off x="15023253" y="9298432"/>
            <a:ext cx="2210816" cy="325120"/>
          </a:xfrm>
          <a:prstGeom prst="rect">
            <a:avLst/>
          </a:prstGeom>
          <a:noFill/>
          <a:ln/>
        </p:spPr>
        <p:txBody>
          <a:bodyPr wrap="square" rtlCol="0" anchor="ctr"/>
          <a:lstStyle/>
          <a:p>
            <a:r>
              <a:rPr lang="en-US" sz="1280" dirty="0">
                <a:solidFill>
                  <a:srgbClr val="6B7280"/>
                </a:solidFill>
              </a:rPr>
              <a:t>🔖 NotebookLM</a:t>
            </a:r>
            <a:endParaRPr lang="en-US" sz="1280" dirty="0"/>
          </a:p>
        </p:txBody>
      </p:sp>
    </p:spTree>
    <p:extLst>
      <p:ext uri="{BB962C8B-B14F-4D97-AF65-F5344CB8AC3E}">
        <p14:creationId xmlns:p14="http://schemas.microsoft.com/office/powerpoint/2010/main" val="33413871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62806" y="195072"/>
            <a:ext cx="16880230" cy="9337446"/>
          </a:xfrm>
          <a:prstGeom prst="rect">
            <a:avLst/>
          </a:prstGeom>
          <a:ln w="25400">
            <a:solidFill>
              <a:srgbClr val="1A2B52"/>
            </a:solidFill>
            <a:prstDash val="solid"/>
          </a:ln>
        </p:spPr>
      </p:sp>
      <p:sp>
        <p:nvSpPr>
          <p:cNvPr id="3" name="Text 1"/>
          <p:cNvSpPr/>
          <p:nvPr/>
        </p:nvSpPr>
        <p:spPr>
          <a:xfrm>
            <a:off x="587925" y="260096"/>
            <a:ext cx="16256000" cy="715264"/>
          </a:xfrm>
          <a:prstGeom prst="rect">
            <a:avLst/>
          </a:prstGeom>
          <a:noFill/>
          <a:ln/>
        </p:spPr>
        <p:txBody>
          <a:bodyPr wrap="square" rtlCol="0" anchor="ctr"/>
          <a:lstStyle/>
          <a:p>
            <a:r>
              <a:rPr lang="en-US" sz="3698" b="1" dirty="0">
                <a:solidFill>
                  <a:srgbClr val="0D1B3E"/>
                </a:solidFill>
                <a:latin typeface="Calibri" pitchFamily="34" charset="0"/>
                <a:ea typeface="Calibri" pitchFamily="34" charset="-122"/>
                <a:cs typeface="Calibri" pitchFamily="34" charset="-120"/>
              </a:rPr>
              <a:t>Blueprint: Our Target Enterprise Architecture</a:t>
            </a:r>
            <a:endParaRPr lang="en-US" sz="3698" dirty="0"/>
          </a:p>
        </p:txBody>
      </p:sp>
      <p:sp>
        <p:nvSpPr>
          <p:cNvPr id="4" name="Text 2"/>
          <p:cNvSpPr/>
          <p:nvPr/>
        </p:nvSpPr>
        <p:spPr>
          <a:xfrm>
            <a:off x="587925" y="1014374"/>
            <a:ext cx="16256000" cy="650240"/>
          </a:xfrm>
          <a:prstGeom prst="rect">
            <a:avLst/>
          </a:prstGeom>
          <a:noFill/>
          <a:ln/>
        </p:spPr>
        <p:txBody>
          <a:bodyPr wrap="square" rtlCol="0" anchor="ctr"/>
          <a:lstStyle/>
          <a:p>
            <a:r>
              <a:rPr lang="en-US" sz="1849" dirty="0">
                <a:solidFill>
                  <a:srgbClr val="444444"/>
                </a:solidFill>
                <a:latin typeface="Calibri" pitchFamily="34" charset="0"/>
                <a:ea typeface="Calibri" pitchFamily="34" charset="-122"/>
                <a:cs typeface="Calibri" pitchFamily="34" charset="-120"/>
              </a:rPr>
              <a:t>An end-to-end, production-ready pipeline that balances theoretical ideals with operational realities. Built for scale, engineered for efficiency.</a:t>
            </a:r>
            <a:endParaRPr lang="en-US" sz="1849" dirty="0"/>
          </a:p>
        </p:txBody>
      </p:sp>
      <p:pic>
        <p:nvPicPr>
          <p:cNvPr id="5" name="Image 0" descr="preencoded.png"/>
          <p:cNvPicPr>
            <a:picLocks noChangeAspect="1"/>
          </p:cNvPicPr>
          <p:nvPr/>
        </p:nvPicPr>
        <p:blipFill>
          <a:blip r:embed="rId3"/>
          <a:stretch>
            <a:fillRect/>
          </a:stretch>
        </p:blipFill>
        <p:spPr>
          <a:xfrm>
            <a:off x="457877" y="1820672"/>
            <a:ext cx="16256000" cy="7412736"/>
          </a:xfrm>
          <a:prstGeom prst="rect">
            <a:avLst/>
          </a:prstGeom>
        </p:spPr>
      </p:pic>
      <p:sp>
        <p:nvSpPr>
          <p:cNvPr id="6" name="Text 3"/>
          <p:cNvSpPr/>
          <p:nvPr/>
        </p:nvSpPr>
        <p:spPr>
          <a:xfrm>
            <a:off x="15023253" y="9298432"/>
            <a:ext cx="2210816" cy="325120"/>
          </a:xfrm>
          <a:prstGeom prst="rect">
            <a:avLst/>
          </a:prstGeom>
          <a:noFill/>
          <a:ln/>
        </p:spPr>
        <p:txBody>
          <a:bodyPr wrap="square" rtlCol="0" anchor="ctr"/>
          <a:lstStyle/>
          <a:p>
            <a:r>
              <a:rPr lang="en-US" sz="1280" dirty="0">
                <a:solidFill>
                  <a:srgbClr val="6B7280"/>
                </a:solidFill>
              </a:rPr>
              <a:t>🔖 NotebookLM</a:t>
            </a:r>
            <a:endParaRPr lang="en-US" sz="1280" dirty="0"/>
          </a:p>
        </p:txBody>
      </p:sp>
    </p:spTree>
    <p:extLst>
      <p:ext uri="{BB962C8B-B14F-4D97-AF65-F5344CB8AC3E}">
        <p14:creationId xmlns:p14="http://schemas.microsoft.com/office/powerpoint/2010/main" val="23381004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62806" y="195072"/>
            <a:ext cx="16880230" cy="9337446"/>
          </a:xfrm>
          <a:prstGeom prst="rect">
            <a:avLst/>
          </a:prstGeom>
          <a:ln w="25400">
            <a:solidFill>
              <a:srgbClr val="1A2B52"/>
            </a:solidFill>
            <a:prstDash val="solid"/>
          </a:ln>
        </p:spPr>
      </p:sp>
      <p:sp>
        <p:nvSpPr>
          <p:cNvPr id="3" name="Text 1"/>
          <p:cNvSpPr/>
          <p:nvPr/>
        </p:nvSpPr>
        <p:spPr>
          <a:xfrm>
            <a:off x="587925" y="260096"/>
            <a:ext cx="16256000" cy="910336"/>
          </a:xfrm>
          <a:prstGeom prst="rect">
            <a:avLst/>
          </a:prstGeom>
          <a:noFill/>
          <a:ln/>
        </p:spPr>
        <p:txBody>
          <a:bodyPr wrap="square" rtlCol="0" anchor="ctr"/>
          <a:lstStyle/>
          <a:p>
            <a:r>
              <a:rPr lang="en-US" sz="4267" b="1" dirty="0">
                <a:solidFill>
                  <a:srgbClr val="0D1B3E"/>
                </a:solidFill>
                <a:latin typeface="Calibri" pitchFamily="34" charset="0"/>
                <a:ea typeface="Calibri" pitchFamily="34" charset="-122"/>
                <a:cs typeface="Calibri" pitchFamily="34" charset="-120"/>
              </a:rPr>
              <a:t>Strategic Business Outcomes</a:t>
            </a:r>
            <a:endParaRPr lang="en-US" sz="4267" dirty="0"/>
          </a:p>
        </p:txBody>
      </p:sp>
      <p:pic>
        <p:nvPicPr>
          <p:cNvPr id="4" name="Image 0" descr="preencoded.png"/>
          <p:cNvPicPr>
            <a:picLocks noChangeAspect="1"/>
          </p:cNvPicPr>
          <p:nvPr/>
        </p:nvPicPr>
        <p:blipFill>
          <a:blip r:embed="rId3"/>
          <a:stretch>
            <a:fillRect/>
          </a:stretch>
        </p:blipFill>
        <p:spPr>
          <a:xfrm>
            <a:off x="3969173" y="1040384"/>
            <a:ext cx="8843264" cy="7542784"/>
          </a:xfrm>
          <a:prstGeom prst="rect">
            <a:avLst/>
          </a:prstGeom>
        </p:spPr>
      </p:pic>
      <p:sp>
        <p:nvSpPr>
          <p:cNvPr id="5" name="Text 2"/>
          <p:cNvSpPr/>
          <p:nvPr/>
        </p:nvSpPr>
        <p:spPr>
          <a:xfrm>
            <a:off x="327829" y="5852160"/>
            <a:ext cx="4551680" cy="2340864"/>
          </a:xfrm>
          <a:prstGeom prst="rect">
            <a:avLst/>
          </a:prstGeom>
          <a:noFill/>
          <a:ln/>
        </p:spPr>
        <p:txBody>
          <a:bodyPr wrap="square" rtlCol="0" anchor="ctr"/>
          <a:lstStyle/>
          <a:p>
            <a:r>
              <a:rPr lang="en-US" sz="1707" dirty="0">
                <a:solidFill>
                  <a:srgbClr val="444444"/>
                </a:solidFill>
                <a:latin typeface="Calibri" pitchFamily="34" charset="0"/>
                <a:ea typeface="Calibri" pitchFamily="34" charset="-122"/>
                <a:cs typeface="Calibri" pitchFamily="34" charset="-120"/>
              </a:rPr>
              <a:t>Linear scaling and bounded latency. Slash resolution times by 20%+ while bypassing massive LLM compute costs during indexing.</a:t>
            </a:r>
            <a:endParaRPr lang="en-US" sz="1707" dirty="0"/>
          </a:p>
        </p:txBody>
      </p:sp>
      <p:sp>
        <p:nvSpPr>
          <p:cNvPr id="6" name="Text 3"/>
          <p:cNvSpPr/>
          <p:nvPr/>
        </p:nvSpPr>
        <p:spPr>
          <a:xfrm>
            <a:off x="12292245" y="5852160"/>
            <a:ext cx="4421632" cy="2340864"/>
          </a:xfrm>
          <a:prstGeom prst="rect">
            <a:avLst/>
          </a:prstGeom>
          <a:noFill/>
          <a:ln/>
        </p:spPr>
        <p:txBody>
          <a:bodyPr wrap="square" rtlCol="0" anchor="ctr"/>
          <a:lstStyle/>
          <a:p>
            <a:r>
              <a:rPr lang="en-US" sz="1707" dirty="0">
                <a:solidFill>
                  <a:srgbClr val="444444"/>
                </a:solidFill>
                <a:latin typeface="Calibri" pitchFamily="34" charset="0"/>
                <a:ea typeface="Calibri" pitchFamily="34" charset="-122"/>
                <a:cs typeface="Calibri" pitchFamily="34" charset="-120"/>
              </a:rPr>
              <a:t>Eliminate the black box. Expose exact reasoning processes, subqueries, and transparent audit trails for every AI-generated response.</a:t>
            </a:r>
            <a:endParaRPr lang="en-US" sz="1707" dirty="0"/>
          </a:p>
        </p:txBody>
      </p:sp>
      <p:sp>
        <p:nvSpPr>
          <p:cNvPr id="7" name="Text 4"/>
          <p:cNvSpPr/>
          <p:nvPr/>
        </p:nvSpPr>
        <p:spPr>
          <a:xfrm>
            <a:off x="15023253" y="9298432"/>
            <a:ext cx="2210816" cy="325120"/>
          </a:xfrm>
          <a:prstGeom prst="rect">
            <a:avLst/>
          </a:prstGeom>
          <a:noFill/>
          <a:ln/>
        </p:spPr>
        <p:txBody>
          <a:bodyPr wrap="square" rtlCol="0" anchor="ctr"/>
          <a:lstStyle/>
          <a:p>
            <a:r>
              <a:rPr lang="en-US" sz="1280" dirty="0">
                <a:solidFill>
                  <a:srgbClr val="6B7280"/>
                </a:solidFill>
              </a:rPr>
              <a:t>🔖 NotebookLM</a:t>
            </a:r>
            <a:endParaRPr lang="en-US" sz="1280" dirty="0"/>
          </a:p>
        </p:txBody>
      </p:sp>
    </p:spTree>
    <p:extLst>
      <p:ext uri="{BB962C8B-B14F-4D97-AF65-F5344CB8AC3E}">
        <p14:creationId xmlns:p14="http://schemas.microsoft.com/office/powerpoint/2010/main" val="21849196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62806" y="195072"/>
            <a:ext cx="16880230" cy="9337446"/>
          </a:xfrm>
          <a:prstGeom prst="rect">
            <a:avLst/>
          </a:prstGeom>
          <a:ln w="25400">
            <a:solidFill>
              <a:srgbClr val="1A2B52"/>
            </a:solidFill>
            <a:prstDash val="solid"/>
          </a:ln>
        </p:spPr>
      </p:sp>
      <p:sp>
        <p:nvSpPr>
          <p:cNvPr id="3" name="Text 1"/>
          <p:cNvSpPr/>
          <p:nvPr/>
        </p:nvSpPr>
        <p:spPr>
          <a:xfrm>
            <a:off x="587925" y="260096"/>
            <a:ext cx="16256000" cy="910336"/>
          </a:xfrm>
          <a:prstGeom prst="rect">
            <a:avLst/>
          </a:prstGeom>
          <a:noFill/>
          <a:ln/>
        </p:spPr>
        <p:txBody>
          <a:bodyPr wrap="square" rtlCol="0" anchor="ctr"/>
          <a:lstStyle/>
          <a:p>
            <a:r>
              <a:rPr lang="en-US" sz="4267" b="1" dirty="0">
                <a:solidFill>
                  <a:srgbClr val="0D1B3E"/>
                </a:solidFill>
                <a:latin typeface="Calibri" pitchFamily="34" charset="0"/>
                <a:ea typeface="Calibri" pitchFamily="34" charset="-122"/>
                <a:cs typeface="Calibri" pitchFamily="34" charset="-120"/>
              </a:rPr>
              <a:t>The Ask: A 90-Day Sprint to ROI</a:t>
            </a:r>
            <a:endParaRPr lang="en-US" sz="4267" dirty="0"/>
          </a:p>
        </p:txBody>
      </p:sp>
      <p:sp>
        <p:nvSpPr>
          <p:cNvPr id="4" name="Text 2"/>
          <p:cNvSpPr/>
          <p:nvPr/>
        </p:nvSpPr>
        <p:spPr>
          <a:xfrm>
            <a:off x="587925" y="1170432"/>
            <a:ext cx="16256000" cy="650240"/>
          </a:xfrm>
          <a:prstGeom prst="rect">
            <a:avLst/>
          </a:prstGeom>
          <a:noFill/>
          <a:ln/>
        </p:spPr>
        <p:txBody>
          <a:bodyPr wrap="square" rtlCol="0" anchor="ctr"/>
          <a:lstStyle/>
          <a:p>
            <a:r>
              <a:rPr lang="en-US" sz="2133" dirty="0">
                <a:solidFill>
                  <a:srgbClr val="333333"/>
                </a:solidFill>
                <a:latin typeface="Calibri" pitchFamily="34" charset="0"/>
                <a:ea typeface="Calibri" pitchFamily="34" charset="-122"/>
                <a:cs typeface="Calibri" pitchFamily="34" charset="-120"/>
              </a:rPr>
              <a:t>The Request: Executive sponsorship and initial seed funding to build the MVP of our hybrid GraphRAG pipeline.</a:t>
            </a:r>
            <a:endParaRPr lang="en-US" sz="2133" dirty="0"/>
          </a:p>
        </p:txBody>
      </p:sp>
      <p:sp>
        <p:nvSpPr>
          <p:cNvPr id="5" name="Shape 3"/>
          <p:cNvSpPr/>
          <p:nvPr/>
        </p:nvSpPr>
        <p:spPr>
          <a:xfrm>
            <a:off x="717973" y="4031488"/>
            <a:ext cx="15865856" cy="0"/>
          </a:xfrm>
          <a:prstGeom prst="line">
            <a:avLst/>
          </a:prstGeom>
          <a:noFill/>
          <a:ln w="50800">
            <a:solidFill>
              <a:srgbClr val="0D1B3E"/>
            </a:solidFill>
            <a:prstDash val="solid"/>
          </a:ln>
        </p:spPr>
      </p:sp>
      <p:sp>
        <p:nvSpPr>
          <p:cNvPr id="6" name="Shape 4"/>
          <p:cNvSpPr/>
          <p:nvPr/>
        </p:nvSpPr>
        <p:spPr>
          <a:xfrm>
            <a:off x="2733717" y="3511296"/>
            <a:ext cx="390144" cy="520192"/>
          </a:xfrm>
          <a:prstGeom prst="rect">
            <a:avLst/>
          </a:prstGeom>
          <a:solidFill>
            <a:srgbClr val="B5621F"/>
          </a:solidFill>
          <a:ln/>
        </p:spPr>
      </p:sp>
      <p:sp>
        <p:nvSpPr>
          <p:cNvPr id="7" name="Shape 5"/>
          <p:cNvSpPr/>
          <p:nvPr/>
        </p:nvSpPr>
        <p:spPr>
          <a:xfrm>
            <a:off x="2824751" y="4031488"/>
            <a:ext cx="208077" cy="520192"/>
          </a:xfrm>
          <a:prstGeom prst="rect">
            <a:avLst/>
          </a:prstGeom>
          <a:solidFill>
            <a:srgbClr val="B5621F"/>
          </a:solidFill>
          <a:ln/>
        </p:spPr>
      </p:sp>
      <p:sp>
        <p:nvSpPr>
          <p:cNvPr id="8" name="Shape 6"/>
          <p:cNvSpPr/>
          <p:nvPr/>
        </p:nvSpPr>
        <p:spPr>
          <a:xfrm>
            <a:off x="717973" y="4681728"/>
            <a:ext cx="4941824" cy="4031488"/>
          </a:xfrm>
          <a:prstGeom prst="rect">
            <a:avLst/>
          </a:prstGeom>
          <a:solidFill>
            <a:srgbClr val="FFFFFF"/>
          </a:solidFill>
          <a:ln w="12700">
            <a:solidFill>
              <a:srgbClr val="D1D5DB"/>
            </a:solidFill>
            <a:prstDash val="solid"/>
          </a:ln>
        </p:spPr>
      </p:sp>
      <p:sp>
        <p:nvSpPr>
          <p:cNvPr id="9" name="Text 7"/>
          <p:cNvSpPr/>
          <p:nvPr/>
        </p:nvSpPr>
        <p:spPr>
          <a:xfrm>
            <a:off x="913045" y="4837786"/>
            <a:ext cx="4551680" cy="1040384"/>
          </a:xfrm>
          <a:prstGeom prst="rect">
            <a:avLst/>
          </a:prstGeom>
          <a:noFill/>
          <a:ln/>
        </p:spPr>
        <p:txBody>
          <a:bodyPr wrap="square" rtlCol="0" anchor="ctr"/>
          <a:lstStyle/>
          <a:p>
            <a:r>
              <a:rPr lang="en-US" sz="1991" b="1" dirty="0">
                <a:solidFill>
                  <a:srgbClr val="0D1B3E"/>
                </a:solidFill>
                <a:latin typeface="Calibri" pitchFamily="34" charset="0"/>
                <a:ea typeface="Calibri" pitchFamily="34" charset="-122"/>
                <a:cs typeface="Calibri" pitchFamily="34" charset="-120"/>
              </a:rPr>
              <a:t>Phase 1: Foundation</a:t>
            </a:r>
            <a:endParaRPr lang="en-US" sz="1991" dirty="0"/>
          </a:p>
          <a:p>
            <a:r>
              <a:rPr lang="en-US" sz="1991" b="1" dirty="0">
                <a:solidFill>
                  <a:srgbClr val="0D1B3E"/>
                </a:solidFill>
                <a:latin typeface="Calibri" pitchFamily="34" charset="0"/>
                <a:ea typeface="Calibri" pitchFamily="34" charset="-122"/>
                <a:cs typeface="Calibri" pitchFamily="34" charset="-120"/>
              </a:rPr>
              <a:t>(Days 1-30)</a:t>
            </a:r>
            <a:endParaRPr lang="en-US" sz="1991" dirty="0"/>
          </a:p>
        </p:txBody>
      </p:sp>
      <p:sp>
        <p:nvSpPr>
          <p:cNvPr id="10" name="Text 8"/>
          <p:cNvSpPr/>
          <p:nvPr/>
        </p:nvSpPr>
        <p:spPr>
          <a:xfrm>
            <a:off x="913045" y="5982208"/>
            <a:ext cx="4551680" cy="2470912"/>
          </a:xfrm>
          <a:prstGeom prst="rect">
            <a:avLst/>
          </a:prstGeom>
          <a:noFill/>
          <a:ln/>
        </p:spPr>
        <p:txBody>
          <a:bodyPr wrap="square" rtlCol="0" anchor="ctr"/>
          <a:lstStyle/>
          <a:p>
            <a:r>
              <a:rPr lang="en-US" sz="1849" dirty="0">
                <a:solidFill>
                  <a:srgbClr val="444444"/>
                </a:solidFill>
                <a:latin typeface="Calibri" pitchFamily="34" charset="0"/>
                <a:ea typeface="Calibri" pitchFamily="34" charset="-122"/>
                <a:cs typeface="Calibri" pitchFamily="34" charset="-120"/>
              </a:rPr>
              <a:t>Build the Dependency Parsing (NLP) extraction pipeline to ensure cost-efficiency from day one.</a:t>
            </a:r>
            <a:endParaRPr lang="en-US" sz="1849" dirty="0"/>
          </a:p>
        </p:txBody>
      </p:sp>
      <p:sp>
        <p:nvSpPr>
          <p:cNvPr id="11" name="Shape 9"/>
          <p:cNvSpPr/>
          <p:nvPr/>
        </p:nvSpPr>
        <p:spPr>
          <a:xfrm>
            <a:off x="8000661" y="3511296"/>
            <a:ext cx="390144" cy="520192"/>
          </a:xfrm>
          <a:prstGeom prst="rect">
            <a:avLst/>
          </a:prstGeom>
          <a:solidFill>
            <a:srgbClr val="B5621F"/>
          </a:solidFill>
          <a:ln/>
        </p:spPr>
      </p:sp>
      <p:sp>
        <p:nvSpPr>
          <p:cNvPr id="12" name="Shape 10"/>
          <p:cNvSpPr/>
          <p:nvPr/>
        </p:nvSpPr>
        <p:spPr>
          <a:xfrm>
            <a:off x="8091695" y="4031488"/>
            <a:ext cx="208077" cy="520192"/>
          </a:xfrm>
          <a:prstGeom prst="rect">
            <a:avLst/>
          </a:prstGeom>
          <a:solidFill>
            <a:srgbClr val="B5621F"/>
          </a:solidFill>
          <a:ln/>
        </p:spPr>
      </p:sp>
      <p:sp>
        <p:nvSpPr>
          <p:cNvPr id="13" name="Shape 11"/>
          <p:cNvSpPr/>
          <p:nvPr/>
        </p:nvSpPr>
        <p:spPr>
          <a:xfrm>
            <a:off x="5984917" y="4681728"/>
            <a:ext cx="4941824" cy="4031488"/>
          </a:xfrm>
          <a:prstGeom prst="rect">
            <a:avLst/>
          </a:prstGeom>
          <a:solidFill>
            <a:srgbClr val="FFFFFF"/>
          </a:solidFill>
          <a:ln w="12700">
            <a:solidFill>
              <a:srgbClr val="D1D5DB"/>
            </a:solidFill>
            <a:prstDash val="solid"/>
          </a:ln>
        </p:spPr>
      </p:sp>
      <p:sp>
        <p:nvSpPr>
          <p:cNvPr id="14" name="Text 12"/>
          <p:cNvSpPr/>
          <p:nvPr/>
        </p:nvSpPr>
        <p:spPr>
          <a:xfrm>
            <a:off x="6179989" y="4837786"/>
            <a:ext cx="4551680" cy="1040384"/>
          </a:xfrm>
          <a:prstGeom prst="rect">
            <a:avLst/>
          </a:prstGeom>
          <a:noFill/>
          <a:ln/>
        </p:spPr>
        <p:txBody>
          <a:bodyPr wrap="square" rtlCol="0" anchor="ctr"/>
          <a:lstStyle/>
          <a:p>
            <a:r>
              <a:rPr lang="en-US" sz="1991" b="1" dirty="0">
                <a:solidFill>
                  <a:srgbClr val="0D1B3E"/>
                </a:solidFill>
                <a:latin typeface="Calibri" pitchFamily="34" charset="0"/>
                <a:ea typeface="Calibri" pitchFamily="34" charset="-122"/>
                <a:cs typeface="Calibri" pitchFamily="34" charset="-120"/>
              </a:rPr>
              <a:t>Phase 2: MVP Pipeline</a:t>
            </a:r>
            <a:endParaRPr lang="en-US" sz="1991" dirty="0"/>
          </a:p>
          <a:p>
            <a:r>
              <a:rPr lang="en-US" sz="1991" b="1" dirty="0">
                <a:solidFill>
                  <a:srgbClr val="0D1B3E"/>
                </a:solidFill>
                <a:latin typeface="Calibri" pitchFamily="34" charset="0"/>
                <a:ea typeface="Calibri" pitchFamily="34" charset="-122"/>
                <a:cs typeface="Calibri" pitchFamily="34" charset="-120"/>
              </a:rPr>
              <a:t>(Days 30-60)</a:t>
            </a:r>
            <a:endParaRPr lang="en-US" sz="1991" dirty="0"/>
          </a:p>
        </p:txBody>
      </p:sp>
      <p:sp>
        <p:nvSpPr>
          <p:cNvPr id="15" name="Text 13"/>
          <p:cNvSpPr/>
          <p:nvPr/>
        </p:nvSpPr>
        <p:spPr>
          <a:xfrm>
            <a:off x="6179989" y="5982208"/>
            <a:ext cx="4551680" cy="2470912"/>
          </a:xfrm>
          <a:prstGeom prst="rect">
            <a:avLst/>
          </a:prstGeom>
          <a:noFill/>
          <a:ln/>
        </p:spPr>
        <p:txBody>
          <a:bodyPr wrap="square" rtlCol="0" anchor="ctr"/>
          <a:lstStyle/>
          <a:p>
            <a:r>
              <a:rPr lang="en-US" sz="1849" dirty="0">
                <a:solidFill>
                  <a:srgbClr val="444444"/>
                </a:solidFill>
                <a:latin typeface="Calibri" pitchFamily="34" charset="0"/>
                <a:ea typeface="Calibri" pitchFamily="34" charset="-122"/>
                <a:cs typeface="Calibri" pitchFamily="34" charset="-120"/>
              </a:rPr>
              <a:t>Deploy the hybrid storage and Reciprocal Rank Fusion (RRF) retrieval engine.</a:t>
            </a:r>
            <a:endParaRPr lang="en-US" sz="1849" dirty="0"/>
          </a:p>
        </p:txBody>
      </p:sp>
      <p:sp>
        <p:nvSpPr>
          <p:cNvPr id="16" name="Shape 14"/>
          <p:cNvSpPr/>
          <p:nvPr/>
        </p:nvSpPr>
        <p:spPr>
          <a:xfrm>
            <a:off x="13267605" y="3511296"/>
            <a:ext cx="390144" cy="520192"/>
          </a:xfrm>
          <a:prstGeom prst="rect">
            <a:avLst/>
          </a:prstGeom>
          <a:solidFill>
            <a:srgbClr val="B5621F"/>
          </a:solidFill>
          <a:ln/>
        </p:spPr>
      </p:sp>
      <p:sp>
        <p:nvSpPr>
          <p:cNvPr id="17" name="Shape 15"/>
          <p:cNvSpPr/>
          <p:nvPr/>
        </p:nvSpPr>
        <p:spPr>
          <a:xfrm>
            <a:off x="13358639" y="4031488"/>
            <a:ext cx="208077" cy="520192"/>
          </a:xfrm>
          <a:prstGeom prst="rect">
            <a:avLst/>
          </a:prstGeom>
          <a:solidFill>
            <a:srgbClr val="B5621F"/>
          </a:solidFill>
          <a:ln/>
        </p:spPr>
      </p:sp>
      <p:sp>
        <p:nvSpPr>
          <p:cNvPr id="18" name="Shape 16"/>
          <p:cNvSpPr/>
          <p:nvPr/>
        </p:nvSpPr>
        <p:spPr>
          <a:xfrm>
            <a:off x="11251861" y="4681728"/>
            <a:ext cx="4941824" cy="4031488"/>
          </a:xfrm>
          <a:prstGeom prst="rect">
            <a:avLst/>
          </a:prstGeom>
          <a:solidFill>
            <a:srgbClr val="FFFFFF"/>
          </a:solidFill>
          <a:ln w="12700">
            <a:solidFill>
              <a:srgbClr val="D1D5DB"/>
            </a:solidFill>
            <a:prstDash val="solid"/>
          </a:ln>
        </p:spPr>
      </p:sp>
      <p:sp>
        <p:nvSpPr>
          <p:cNvPr id="19" name="Text 17"/>
          <p:cNvSpPr/>
          <p:nvPr/>
        </p:nvSpPr>
        <p:spPr>
          <a:xfrm>
            <a:off x="11446933" y="4837786"/>
            <a:ext cx="4551680" cy="1040384"/>
          </a:xfrm>
          <a:prstGeom prst="rect">
            <a:avLst/>
          </a:prstGeom>
          <a:noFill/>
          <a:ln/>
        </p:spPr>
        <p:txBody>
          <a:bodyPr wrap="square" rtlCol="0" anchor="ctr"/>
          <a:lstStyle/>
          <a:p>
            <a:r>
              <a:rPr lang="en-US" sz="1991" b="1" dirty="0">
                <a:solidFill>
                  <a:srgbClr val="0D1B3E"/>
                </a:solidFill>
                <a:latin typeface="Calibri" pitchFamily="34" charset="0"/>
                <a:ea typeface="Calibri" pitchFamily="34" charset="-122"/>
                <a:cs typeface="Calibri" pitchFamily="34" charset="-120"/>
              </a:rPr>
              <a:t>Phase 3: Pilot Readout</a:t>
            </a:r>
            <a:endParaRPr lang="en-US" sz="1991" dirty="0"/>
          </a:p>
          <a:p>
            <a:r>
              <a:rPr lang="en-US" sz="1991" b="1" dirty="0">
                <a:solidFill>
                  <a:srgbClr val="0D1B3E"/>
                </a:solidFill>
                <a:latin typeface="Calibri" pitchFamily="34" charset="0"/>
                <a:ea typeface="Calibri" pitchFamily="34" charset="-122"/>
                <a:cs typeface="Calibri" pitchFamily="34" charset="-120"/>
              </a:rPr>
              <a:t>(Days 60-90)</a:t>
            </a:r>
            <a:endParaRPr lang="en-US" sz="1991" dirty="0"/>
          </a:p>
        </p:txBody>
      </p:sp>
      <p:sp>
        <p:nvSpPr>
          <p:cNvPr id="20" name="Text 18"/>
          <p:cNvSpPr/>
          <p:nvPr/>
        </p:nvSpPr>
        <p:spPr>
          <a:xfrm>
            <a:off x="11446933" y="5982208"/>
            <a:ext cx="4551680" cy="2470912"/>
          </a:xfrm>
          <a:prstGeom prst="rect">
            <a:avLst/>
          </a:prstGeom>
          <a:noFill/>
          <a:ln/>
        </p:spPr>
        <p:txBody>
          <a:bodyPr wrap="square" rtlCol="0" anchor="ctr"/>
          <a:lstStyle/>
          <a:p>
            <a:r>
              <a:rPr lang="en-US" sz="1849" dirty="0">
                <a:solidFill>
                  <a:srgbClr val="444444"/>
                </a:solidFill>
                <a:latin typeface="Calibri" pitchFamily="34" charset="0"/>
                <a:ea typeface="Calibri" pitchFamily="34" charset="-122"/>
                <a:cs typeface="Calibri" pitchFamily="34" charset="-120"/>
              </a:rPr>
              <a:t>Run a live pilot on our most complex legacy dataset (e.g., code migration or customer service tickets) and deliver a hard ROI readout.</a:t>
            </a:r>
            <a:endParaRPr lang="en-US" sz="1849" dirty="0"/>
          </a:p>
        </p:txBody>
      </p:sp>
      <p:sp>
        <p:nvSpPr>
          <p:cNvPr id="21" name="Text 19"/>
          <p:cNvSpPr/>
          <p:nvPr/>
        </p:nvSpPr>
        <p:spPr>
          <a:xfrm>
            <a:off x="15023253" y="9298432"/>
            <a:ext cx="2210816" cy="325120"/>
          </a:xfrm>
          <a:prstGeom prst="rect">
            <a:avLst/>
          </a:prstGeom>
          <a:noFill/>
          <a:ln/>
        </p:spPr>
        <p:txBody>
          <a:bodyPr wrap="square" rtlCol="0" anchor="ctr"/>
          <a:lstStyle/>
          <a:p>
            <a:r>
              <a:rPr lang="en-US" sz="1280" dirty="0">
                <a:solidFill>
                  <a:srgbClr val="6B7280"/>
                </a:solidFill>
              </a:rPr>
              <a:t>🔖 NotebookLM</a:t>
            </a:r>
            <a:endParaRPr lang="en-US" sz="1280" dirty="0"/>
          </a:p>
        </p:txBody>
      </p:sp>
    </p:spTree>
    <p:extLst>
      <p:ext uri="{BB962C8B-B14F-4D97-AF65-F5344CB8AC3E}">
        <p14:creationId xmlns:p14="http://schemas.microsoft.com/office/powerpoint/2010/main" val="29117279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62806" y="195072"/>
            <a:ext cx="16880230" cy="9337446"/>
          </a:xfrm>
          <a:prstGeom prst="rect">
            <a:avLst/>
          </a:prstGeom>
          <a:ln w="25400">
            <a:solidFill>
              <a:srgbClr val="B5621F"/>
            </a:solidFill>
            <a:prstDash val="solid"/>
          </a:ln>
        </p:spPr>
      </p:sp>
      <p:pic>
        <p:nvPicPr>
          <p:cNvPr id="3" name="Image 0" descr="preencoded.png"/>
          <p:cNvPicPr>
            <a:picLocks noChangeAspect="1"/>
          </p:cNvPicPr>
          <p:nvPr/>
        </p:nvPicPr>
        <p:blipFill>
          <a:blip r:embed="rId3">
            <a:alphaModFix amt="15000"/>
          </a:blip>
          <a:stretch>
            <a:fillRect/>
          </a:stretch>
        </p:blipFill>
        <p:spPr>
          <a:xfrm>
            <a:off x="67733" y="0"/>
            <a:ext cx="6502400" cy="6502400"/>
          </a:xfrm>
          <a:prstGeom prst="rect">
            <a:avLst/>
          </a:prstGeom>
        </p:spPr>
      </p:pic>
      <p:pic>
        <p:nvPicPr>
          <p:cNvPr id="4" name="Image 1" descr="preencoded.png"/>
          <p:cNvPicPr>
            <a:picLocks noChangeAspect="1"/>
          </p:cNvPicPr>
          <p:nvPr/>
        </p:nvPicPr>
        <p:blipFill>
          <a:blip r:embed="rId3">
            <a:alphaModFix amt="15000"/>
          </a:blip>
          <a:stretch>
            <a:fillRect/>
          </a:stretch>
        </p:blipFill>
        <p:spPr>
          <a:xfrm>
            <a:off x="10861717" y="3251200"/>
            <a:ext cx="6502400" cy="6502400"/>
          </a:xfrm>
          <a:prstGeom prst="rect">
            <a:avLst/>
          </a:prstGeom>
        </p:spPr>
      </p:pic>
      <p:sp>
        <p:nvSpPr>
          <p:cNvPr id="5" name="Text 1"/>
          <p:cNvSpPr/>
          <p:nvPr/>
        </p:nvSpPr>
        <p:spPr>
          <a:xfrm>
            <a:off x="1368213" y="1040384"/>
            <a:ext cx="14695424" cy="2861056"/>
          </a:xfrm>
          <a:prstGeom prst="rect">
            <a:avLst/>
          </a:prstGeom>
          <a:noFill/>
          <a:ln/>
        </p:spPr>
        <p:txBody>
          <a:bodyPr wrap="square" rtlCol="0" anchor="ctr"/>
          <a:lstStyle/>
          <a:p>
            <a:pPr algn="ctr"/>
            <a:r>
              <a:rPr lang="en-US" sz="5689" b="1" dirty="0">
                <a:solidFill>
                  <a:srgbClr val="0D1B3E"/>
                </a:solidFill>
                <a:latin typeface="Calibri" pitchFamily="34" charset="0"/>
                <a:ea typeface="Calibri" pitchFamily="34" charset="-122"/>
                <a:cs typeface="Calibri" pitchFamily="34" charset="-120"/>
              </a:rPr>
              <a:t>The Future of Enterprise</a:t>
            </a:r>
            <a:endParaRPr lang="en-US" sz="5689" dirty="0"/>
          </a:p>
          <a:p>
            <a:pPr algn="ctr"/>
            <a:r>
              <a:rPr lang="en-US" sz="5689" b="1" dirty="0">
                <a:solidFill>
                  <a:srgbClr val="0D1B3E"/>
                </a:solidFill>
                <a:latin typeface="Calibri" pitchFamily="34" charset="0"/>
                <a:ea typeface="Calibri" pitchFamily="34" charset="-122"/>
                <a:cs typeface="Calibri" pitchFamily="34" charset="-120"/>
              </a:rPr>
              <a:t>AI is Connected</a:t>
            </a:r>
            <a:endParaRPr lang="en-US" sz="5689" dirty="0"/>
          </a:p>
        </p:txBody>
      </p:sp>
      <p:sp>
        <p:nvSpPr>
          <p:cNvPr id="6" name="Text 2"/>
          <p:cNvSpPr/>
          <p:nvPr/>
        </p:nvSpPr>
        <p:spPr>
          <a:xfrm>
            <a:off x="2018453" y="4161536"/>
            <a:ext cx="13394944" cy="2340864"/>
          </a:xfrm>
          <a:prstGeom prst="rect">
            <a:avLst/>
          </a:prstGeom>
          <a:noFill/>
          <a:ln/>
        </p:spPr>
        <p:txBody>
          <a:bodyPr wrap="square" rtlCol="0" anchor="ctr"/>
          <a:lstStyle/>
          <a:p>
            <a:pPr algn="ctr"/>
            <a:r>
              <a:rPr lang="en-US" sz="2276" dirty="0">
                <a:solidFill>
                  <a:srgbClr val="333333"/>
                </a:solidFill>
                <a:latin typeface="Calibri" pitchFamily="34" charset="0"/>
                <a:ea typeface="Calibri" pitchFamily="34" charset="-122"/>
                <a:cs typeface="Calibri" pitchFamily="34" charset="-120"/>
              </a:rPr>
              <a:t>Data without relationships is just noise. By shifting from static vectors to dynamic graphs, we are not just upgrading an algorithm—we are building an auditable, reasoning brain for the entire enterprise.</a:t>
            </a:r>
            <a:endParaRPr lang="en-US" sz="2276" dirty="0"/>
          </a:p>
        </p:txBody>
      </p:sp>
      <p:sp>
        <p:nvSpPr>
          <p:cNvPr id="7" name="Text 3"/>
          <p:cNvSpPr/>
          <p:nvPr/>
        </p:nvSpPr>
        <p:spPr>
          <a:xfrm>
            <a:off x="2018453" y="6762496"/>
            <a:ext cx="13394944" cy="1040384"/>
          </a:xfrm>
          <a:prstGeom prst="rect">
            <a:avLst/>
          </a:prstGeom>
          <a:noFill/>
          <a:ln/>
        </p:spPr>
        <p:txBody>
          <a:bodyPr wrap="square" rtlCol="0" anchor="ctr"/>
          <a:lstStyle/>
          <a:p>
            <a:pPr algn="ctr"/>
            <a:r>
              <a:rPr lang="en-US" sz="3129" b="1" dirty="0">
                <a:solidFill>
                  <a:srgbClr val="0D1B3E"/>
                </a:solidFill>
                <a:latin typeface="Calibri" pitchFamily="34" charset="0"/>
                <a:ea typeface="Calibri" pitchFamily="34" charset="-122"/>
                <a:cs typeface="Calibri" pitchFamily="34" charset="-120"/>
              </a:rPr>
              <a:t>Ready for Strategic Deployment.</a:t>
            </a:r>
            <a:endParaRPr lang="en-US" sz="3129" dirty="0"/>
          </a:p>
        </p:txBody>
      </p:sp>
      <p:sp>
        <p:nvSpPr>
          <p:cNvPr id="8" name="Text 4"/>
          <p:cNvSpPr/>
          <p:nvPr/>
        </p:nvSpPr>
        <p:spPr>
          <a:xfrm>
            <a:off x="15023253" y="9298432"/>
            <a:ext cx="2210816" cy="325120"/>
          </a:xfrm>
          <a:prstGeom prst="rect">
            <a:avLst/>
          </a:prstGeom>
          <a:noFill/>
          <a:ln/>
        </p:spPr>
        <p:txBody>
          <a:bodyPr wrap="square" rtlCol="0" anchor="ctr"/>
          <a:lstStyle/>
          <a:p>
            <a:r>
              <a:rPr lang="en-US" sz="1280" dirty="0">
                <a:solidFill>
                  <a:srgbClr val="6B7280"/>
                </a:solidFill>
              </a:rPr>
              <a:t>🔖 NotebookLM</a:t>
            </a:r>
            <a:endParaRPr lang="en-US" sz="1280" dirty="0"/>
          </a:p>
        </p:txBody>
      </p:sp>
    </p:spTree>
    <p:extLst>
      <p:ext uri="{BB962C8B-B14F-4D97-AF65-F5344CB8AC3E}">
        <p14:creationId xmlns:p14="http://schemas.microsoft.com/office/powerpoint/2010/main" val="37332042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1408</TotalTime>
  <Words>2172</Words>
  <Application>Microsoft Office PowerPoint</Application>
  <PresentationFormat>Custom</PresentationFormat>
  <Paragraphs>391</Paragraphs>
  <Slides>30</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 Black</vt:lpstr>
      <vt:lpstr>Arial MT</vt:lpstr>
      <vt:lpstr>Calibri</vt:lpstr>
      <vt:lpstr>Cambria</vt:lpstr>
      <vt:lpstr>Times New Roman</vt:lpstr>
      <vt:lpstr>Office Theme</vt:lpstr>
      <vt:lpstr>PowerPoint Presentation</vt:lpstr>
      <vt:lpstr>MECUTIVE SUMMARY: BREAKING</vt:lpstr>
      <vt:lpstr>WALL</vt:lpstr>
      <vt:lpstr>THE ROOT CAUSE: THE CHUNKING PROBLEM</vt:lpstr>
      <vt:lpstr>THE PARADIGM SHIFT: FROM STATIC VECTORS TO DYNAMIC GRAPHS</vt:lpstr>
      <vt:lpstr>ENTERPRISE DIAGNOSTIC: VECTOR RAG VS. GRAPH RAG</vt:lpstr>
      <vt:lpstr>How It Works: The MDER Refinement Engine Shift the Workload: By compressing multi-hop evidence into entity-centric summaries during indexing, we eliminate slow traversal during retrieval.</vt:lpstr>
      <vt:lpstr>The Best of Both Worlds: Hybrid Retrie'vaI Architecture A cascaded retrieval strategy that guarantees high recall without sacrificing accuracy.</vt:lpstr>
      <vt:lpstr>GraphRAG is Proven</vt:lpstr>
      <vt:lpstr>The Elephant in the Room: Cost &amp; Scalability Standard GraphRAG architectures trade retrieval accuracy for unsustainable indexing costs.</vt:lpstr>
      <vt:lpstr>Pragmatic, Scalable Intervention</vt:lpstr>
      <vt:lpstr>Blueprint: Our Target Enterprise Architecture An end-to-end, production-ready pipeline that balances theoretical ideals with operational realities. Built for scale, engineered for efficiency.</vt:lpstr>
      <vt:lpstr>Strategic Business Outcomes</vt:lpstr>
      <vt:lpstr>The Ask: A 90-Day Sprint to ROI</vt:lpstr>
      <vt:lpstr>The Future of Enterprise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Rajesh Kanna</cp:lastModifiedBy>
  <cp:revision>3</cp:revision>
  <dcterms:created xsi:type="dcterms:W3CDTF">2026-03-31T17:57:56Z</dcterms:created>
  <dcterms:modified xsi:type="dcterms:W3CDTF">2026-04-01T17:30:49Z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2026-03-31T00:00:00Z</vt:filetime>
  </property>
  <property fmtid="{D5CDD505-2E9C-101B-9397-08002B2CF9AE}" pid="3" name="LastSaved">
    <vt:filetime>2026-03-31T00:00:00Z</vt:filetime>
  </property>
</Properties>
</file>