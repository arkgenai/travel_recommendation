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Accuracy %</c:v>
                </c:pt>
              </c:strCache>
            </c:strRef>
          </c:tx>
          <c:spPr>
            <a:solidFill>
              <a:srgbClr val="C62828"/>
            </a:solidFill>
            <a:effectLst/>
          </c:spPr>
          <c:invertIfNegative val="0"/>
          <c:dLbls>
            <c:numFmt formatCode="#,##0" sourceLinked="0"/>
            <c:txPr>
              <a:bodyPr/>
              <a:lstStyle/>
              <a:p>
                <a:pPr>
                  <a:defRPr b="0" i="0" strike="noStrike" sz="1400" u="none">
                    <a:solidFill>
                      <a:srgbClr val="1A2540"/>
                    </a:solidFill>
                    <a:latin typeface="Arial"/>
                  </a:defRPr>
                </a:pPr>
              </a:p>
            </c:txPr>
            <c:showLegendKey val="0"/>
            <c:showVal val="1"/>
            <c:showCatName val="0"/>
            <c:showSerName val="0"/>
            <c:showPercent val="0"/>
            <c:showBubbleSize val="0"/>
            <c:showLeaderLines val="0"/>
          </c:dLbls>
          <c:dPt>
            <c:idx val="0"/>
            <c:invertIfNegative val="0"/>
            <c:bubble3D val="0"/>
            <c:spPr>
              <a:solidFill>
                <a:srgbClr val="C62828"/>
              </a:solidFill>
              <a:effectLst/>
            </c:spPr>
          </c:dPt>
          <c:dPt>
            <c:idx val="1"/>
            <c:invertIfNegative val="0"/>
            <c:bubble3D val="0"/>
            <c:spPr>
              <a:solidFill>
                <a:srgbClr val="2E7D32"/>
              </a:solidFill>
              <a:effectLst/>
            </c:spPr>
          </c:dPt>
          <c:cat>
            <c:multiLvlStrRef>
              <c:f>Sheet1!$A$2:$A$3</c:f>
              <c:multiLvlStrCache>
                <c:ptCount val="2"/>
                <c:lvl>
                  <c:pt idx="0">
                    <c:v>Without Jaccard</c:v>
                  </c:pt>
                  <c:pt idx="1">
                    <c:v>With Jaccard</c:v>
                  </c:pt>
                </c:lvl>
              </c:multiLvlStrCache>
            </c:multiLvlStrRef>
          </c:cat>
          <c:val>
            <c:numRef>
              <c:f>Sheet1!$B$2:$B$3</c:f>
              <c:numCache>
                <c:formatCode>General</c:formatCode>
                <c:ptCount val="2"/>
                <c:pt idx="0">
                  <c:v>67.36</c:v>
                </c:pt>
                <c:pt idx="1">
                  <c:v>100</c:v>
                </c:pt>
              </c:numCache>
            </c:numRef>
          </c:val>
        </c:ser>
        <c:dLbls>
          <c:numFmt formatCode="#,##0" sourceLinked="0"/>
          <c:txPr>
            <a:bodyPr/>
            <a:lstStyle/>
            <a:p>
              <a:pPr>
                <a:defRPr b="0" i="0" strike="noStrike" sz="1400" u="none">
                  <a:solidFill>
                    <a:srgbClr val="1A25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45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EE4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4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UDIT Knowledge Byte session on Hybrid Knowledge Graphs for Enterprise Intelligence. Today we'll cover four key areas: the business problem that motivated this work, how the Hybrid KG is structured, how search and reasoning work, and our evaluation results. This is a technical and strategic overview aimed at helping teams understand how to move from fragmented data silos to connected, explainable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agenda for today. We'll start by understanding why this problem matters — the Information Blind Spot that enterprises face. Then we'll dive into what a Hybrid Knowledge Graph actually is and how it's structured. Next, we'll look at how search and reasoning work on top of this graph. Finally, we'll share real evaluation results from our CIA (Commercial Insight Analyzer) system. Each section builds on the previous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problem we are solving. Enterprises have vast amounts of data — but it's disconnected. Contracts sit in one system, purchase orders in another, amendments in a third. The result is three painful symptoms: First, a tech bottleneck — every data question requires engineering support. Second, manual reconciliation — analysts spend hours aggregating data before they can even begin analysis. Third, intelligence latency — by the time data is ready, decisions have already been made. The root cause is what we call the Knowledge Fragmentation Problem. Structured tables don't capture meaning; unstructured documents aren't queryable. We need a bridge between both worlds.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what Enterprise Intelligence means — and the five pillars that our system delivers. The goal is 100% accuracy in cross-referencing structured and unstructured data, with full explainability. The Paradigm Shift moves us from data silos and rigid table joins to a graph-based Entity Intelligence model. Hybrid Retrieval fuses semantic similarity — finding related concepts — with structural precision — following exact relationships. Multi-Hop Reasoning uncovers cascading impacts by traversing multiple layers of connections. Explainability gives us a verifiable paper trail for every answer. And Deterministic Grounding uses the KG as a source of truth to eliminate hallucination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the core concept of Hybrid KG using a simple example. Imagine a document that says: Ben lives in Seattle. Ben works at Company_X. Company_X is located in Santa Clara. A Schema-based KG explicitly models the structure: Ben → works_at → Company_X → located_in → Santa Clara, and Ben → lives_in → Seattle. This enables precise Cypher traversal. A Schema-less KG stores the raw sentences as nodes linked by keywords. The Hybrid approach uses BOTH — giving us the structural precision of schema-based and the semantic richness of schema-less. This is the foundation of our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Hybrid KG Framework architecture — a scalable, reusable platform for search and discovery. Reading bottom-up: Data Sources feed into the Ingestion Layer, which handles transformation ETL, link extraction, embeddings, and chunking strategies. The Storage Layer supports three backends: Cassandra for metadata, Apache AGE for graph data, and Neo4j. The Retrieval Engine offers five mechanisms: Cypher Query, Sub Graph, Semantic Search, TT-Lexical Search, and Query Hashing. LLMs and Agents orchestrate query transformation and human-in-loop flows. All of this serves four key use cases: Commercial Insight Analyzer, Amex Card Servicing and Benefits, OpRisk Management, and Personalized Recommendations. The right side shows this is a set of Reusable Operators that any team can plug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four active use cases on this platform. First, the Commercial Insight Analyzer — or CIA — is already in production. This is our flagship deployment, enabling analysts to query commercial contracts and get instant, explainable answers. Second, Personalized Recommendation for Restaurant Booking is currently being piloted. Third, Email Intelligence is at MVP stage — this is the Email Knowledge Graph we've also been developing. Fourth, AMEX Credit Card Insights is a proof-of-concept exploring how card-level data can be enriched with graph intelligence. These represent a progression from production-proven to exploratory, all on the same shared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natural language gets turned into a Cypher graph query. The question is: 'Does Ben work remotely?' The system parses this into a Cypher MATCH query that locates Ben as a Person, traverses the WORKS_AT relationship to Company, then follows LIVES_IN and LOCATED_IN to find the cities. The RETURN statement pulls back all four fields: person name, city of residence, company name, and company city. The result is explicit, traceable, and correct: Ben lives in Seattle, works at Company_X in Santa Clara. This is the power of schema-aware Cypher — it follows exact relationships rather than relying on fuzzy semantic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system — Dual-Path Retrieval. When a user asks a natural language question, the system fires two parallel paths simultaneously. Path 1 is Graph Reasoning: it traverses the knowledge graph using Cypher, finding hard facts — exact names, counts, relationships. Path 2 is Vector Search: it finds semantically similar documents and extracts supporting context — the 'Why' behind the facts. These two streams are then merged and grounded in the KG before passing to the LLM for synthesis. The Multi-Hop Query Execution follows four steps: Anchor on the primary entity, Traverse relations to secondary entities, Filter by attributes in graph properties, then Execute arithmetic logic for thresholds. This gives us deterministic, explainable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retrieval engine supports five search modalities that work together. Cypher-based structured retrieval gives us schema-aware exact matching and multi-hop traversal — this is our primary path for precise questions. Typo-tolerant lexical search handles real-world user queries that have spelling mistakes or partial terms — Jaccard Similarity is one technique we use here. Semantic vector search uses embedding models like BGE and Text-Ada to find conceptually related content even when exact keywords differ. Subgraph extraction dynamically constructs the relevant portion of the graph needed for reasoning. Finally, Hybrid Retrieval Orchestration unifies all four results, deduplicates, and forms a comprehensive context that goes to the LLM. The key insight is that no single retrieval method is sufficient alone — orchestration is what makes the system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evaluation on CIA — Commercial Insight Analyzer — across 95 questions. Without spelling correction, accuracy was 67.36%. Cypher and Vector each answered 32 questions independently, with 31 incorrect. This was a baseline result. When we added Jaccard Similarity for typo handling, accuracy jumped to 100%. Cypher now answered 94 questions (63 pure + 31 that needed spelling correction), Vector answered 32 (1 pure + 31 jointly). Zero incorrect answers. This dramatic improvement validates our investment in typo-tolerant search as a critical component. It also confirms that the Hybrid approach — combining Graph and Vector — provides both precision and robustness that neither path delivers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we've built a production-grade Hybrid Knowledge Graph platform that solves the enterprise information blind-spot. It delivers 100% retrieval accuracy on CIA, supports multi-hop reasoning, is fully explainable and traceable, and scales across use cases from contracts to email intelligence to credit card insights. The platform is live, reusable, and ready to onboard new use cases. Thank you for attending this Knowledge Byte Session.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5"/>
        </a:solidFill>
      </p:bgPr>
    </p:bg>
    <p:spTree>
      <p:nvGrpSpPr>
        <p:cNvPr id="1" name=""/>
        <p:cNvGrpSpPr/>
        <p:nvPr/>
      </p:nvGrpSpPr>
      <p:grpSpPr>
        <a:xfrm>
          <a:off x="0" y="0"/>
          <a:ext cx="0" cy="0"/>
          <a:chOff x="0" y="0"/>
          <a:chExt cx="0" cy="0"/>
        </a:xfrm>
      </p:grpSpPr>
      <p:sp>
        <p:nvSpPr>
          <p:cNvPr id="3" name="Shape 0"/>
          <p:cNvSpPr/>
          <p:nvPr/>
        </p:nvSpPr>
        <p:spPr>
          <a:xfrm>
            <a:off x="5943600" y="0"/>
            <a:ext cx="3200400" cy="5143500"/>
          </a:xfrm>
          <a:prstGeom prst="rect">
            <a:avLst/>
          </a:prstGeom>
          <a:solidFill>
            <a:srgbClr val="112244"/>
          </a:solidFill>
          <a:ln w="12700">
            <a:solidFill>
              <a:srgbClr val="112244"/>
            </a:solidFill>
            <a:prstDash val="solid"/>
          </a:ln>
        </p:spPr>
      </p:sp>
      <p:sp>
        <p:nvSpPr>
          <p:cNvPr id="4" name="Shape 1"/>
          <p:cNvSpPr/>
          <p:nvPr/>
        </p:nvSpPr>
        <p:spPr>
          <a:xfrm>
            <a:off x="6400800" y="-457200"/>
            <a:ext cx="3657600" cy="3657600"/>
          </a:xfrm>
          <a:prstGeom prst="ellipse">
            <a:avLst/>
          </a:prstGeom>
          <a:solidFill>
            <a:srgbClr val="1A3A6A"/>
          </a:solidFill>
          <a:ln w="12700">
            <a:solidFill>
              <a:srgbClr val="1A3A6A"/>
            </a:solidFill>
            <a:prstDash val="solid"/>
          </a:ln>
        </p:spPr>
      </p:sp>
      <p:sp>
        <p:nvSpPr>
          <p:cNvPr id="5" name="Shape 2"/>
          <p:cNvSpPr/>
          <p:nvPr/>
        </p:nvSpPr>
        <p:spPr>
          <a:xfrm>
            <a:off x="7772400" y="3200400"/>
            <a:ext cx="2286000" cy="2286000"/>
          </a:xfrm>
          <a:prstGeom prst="ellipse">
            <a:avLst/>
          </a:prstGeom>
          <a:solidFill>
            <a:srgbClr val="0D2B55"/>
          </a:solidFill>
          <a:ln w="12700">
            <a:solidFill>
              <a:srgbClr val="0D2B55"/>
            </a:solidFill>
            <a:prstDash val="solid"/>
          </a:ln>
        </p:spPr>
      </p:sp>
      <p:sp>
        <p:nvSpPr>
          <p:cNvPr id="6" name="Shape 3"/>
          <p:cNvSpPr/>
          <p:nvPr/>
        </p:nvSpPr>
        <p:spPr>
          <a:xfrm>
            <a:off x="6583680" y="548640"/>
            <a:ext cx="347472" cy="347472"/>
          </a:xfrm>
          <a:prstGeom prst="ellipse">
            <a:avLst/>
          </a:prstGeom>
          <a:solidFill>
            <a:srgbClr val="2196F3"/>
          </a:solidFill>
          <a:ln w="12700">
            <a:solidFill>
              <a:srgbClr val="2196F3"/>
            </a:solidFill>
            <a:prstDash val="solid"/>
          </a:ln>
        </p:spPr>
      </p:sp>
      <p:sp>
        <p:nvSpPr>
          <p:cNvPr id="7" name="Shape 4"/>
          <p:cNvSpPr/>
          <p:nvPr/>
        </p:nvSpPr>
        <p:spPr>
          <a:xfrm>
            <a:off x="8046720" y="1005840"/>
            <a:ext cx="347472" cy="347472"/>
          </a:xfrm>
          <a:prstGeom prst="ellipse">
            <a:avLst/>
          </a:prstGeom>
          <a:solidFill>
            <a:srgbClr val="2196F3"/>
          </a:solidFill>
          <a:ln w="12700">
            <a:solidFill>
              <a:srgbClr val="2196F3"/>
            </a:solidFill>
            <a:prstDash val="solid"/>
          </a:ln>
        </p:spPr>
      </p:sp>
      <p:sp>
        <p:nvSpPr>
          <p:cNvPr id="8" name="Shape 5"/>
          <p:cNvSpPr/>
          <p:nvPr/>
        </p:nvSpPr>
        <p:spPr>
          <a:xfrm>
            <a:off x="7132320" y="1828800"/>
            <a:ext cx="347472" cy="347472"/>
          </a:xfrm>
          <a:prstGeom prst="ellipse">
            <a:avLst/>
          </a:prstGeom>
          <a:solidFill>
            <a:srgbClr val="2196F3"/>
          </a:solidFill>
          <a:ln w="12700">
            <a:solidFill>
              <a:srgbClr val="2196F3"/>
            </a:solidFill>
            <a:prstDash val="solid"/>
          </a:ln>
        </p:spPr>
      </p:sp>
      <p:sp>
        <p:nvSpPr>
          <p:cNvPr id="9" name="Shape 6"/>
          <p:cNvSpPr/>
          <p:nvPr/>
        </p:nvSpPr>
        <p:spPr>
          <a:xfrm>
            <a:off x="8412480" y="2468880"/>
            <a:ext cx="347472" cy="347472"/>
          </a:xfrm>
          <a:prstGeom prst="ellipse">
            <a:avLst/>
          </a:prstGeom>
          <a:solidFill>
            <a:srgbClr val="2196F3"/>
          </a:solidFill>
          <a:ln w="12700">
            <a:solidFill>
              <a:srgbClr val="2196F3"/>
            </a:solidFill>
            <a:prstDash val="solid"/>
          </a:ln>
        </p:spPr>
      </p:sp>
      <p:sp>
        <p:nvSpPr>
          <p:cNvPr id="10" name="Shape 7"/>
          <p:cNvSpPr/>
          <p:nvPr/>
        </p:nvSpPr>
        <p:spPr>
          <a:xfrm>
            <a:off x="7406640" y="3200400"/>
            <a:ext cx="347472" cy="347472"/>
          </a:xfrm>
          <a:prstGeom prst="ellipse">
            <a:avLst/>
          </a:prstGeom>
          <a:solidFill>
            <a:srgbClr val="2196F3"/>
          </a:solidFill>
          <a:ln w="12700">
            <a:solidFill>
              <a:srgbClr val="2196F3"/>
            </a:solidFill>
            <a:prstDash val="solid"/>
          </a:ln>
        </p:spPr>
      </p:sp>
      <p:sp>
        <p:nvSpPr>
          <p:cNvPr id="11" name="Shape 8"/>
          <p:cNvSpPr/>
          <p:nvPr/>
        </p:nvSpPr>
        <p:spPr>
          <a:xfrm>
            <a:off x="6757416" y="722376"/>
            <a:ext cx="1115568" cy="466344"/>
          </a:xfrm>
          <a:prstGeom prst="line">
            <a:avLst/>
          </a:prstGeom>
          <a:noFill/>
          <a:ln w="19050">
            <a:solidFill>
              <a:srgbClr val="2196F3"/>
            </a:solidFill>
            <a:prstDash val="solid"/>
          </a:ln>
        </p:spPr>
      </p:sp>
      <p:sp>
        <p:nvSpPr>
          <p:cNvPr id="12" name="Shape 9"/>
          <p:cNvSpPr/>
          <p:nvPr/>
        </p:nvSpPr>
        <p:spPr>
          <a:xfrm>
            <a:off x="7306056" y="2002536"/>
            <a:ext cx="950976" cy="640080"/>
          </a:xfrm>
          <a:prstGeom prst="line">
            <a:avLst/>
          </a:prstGeom>
          <a:noFill/>
          <a:ln w="19050">
            <a:solidFill>
              <a:srgbClr val="2196F3"/>
            </a:solidFill>
            <a:prstDash val="solid"/>
          </a:ln>
        </p:spPr>
      </p:sp>
      <p:sp>
        <p:nvSpPr>
          <p:cNvPr id="13" name="Shape 10"/>
          <p:cNvSpPr/>
          <p:nvPr/>
        </p:nvSpPr>
        <p:spPr>
          <a:xfrm>
            <a:off x="7306056" y="2002536"/>
            <a:ext cx="-182880" cy="1371600"/>
          </a:xfrm>
          <a:prstGeom prst="line">
            <a:avLst/>
          </a:prstGeom>
          <a:noFill/>
          <a:ln w="19050">
            <a:solidFill>
              <a:srgbClr val="2196F3"/>
            </a:solidFill>
            <a:prstDash val="solid"/>
          </a:ln>
        </p:spPr>
      </p:sp>
      <p:sp>
        <p:nvSpPr>
          <p:cNvPr id="14" name="Shape 11"/>
          <p:cNvSpPr/>
          <p:nvPr/>
        </p:nvSpPr>
        <p:spPr>
          <a:xfrm>
            <a:off x="0" y="0"/>
            <a:ext cx="182880" cy="5143500"/>
          </a:xfrm>
          <a:prstGeom prst="rect">
            <a:avLst/>
          </a:prstGeom>
          <a:solidFill>
            <a:srgbClr val="2196F3"/>
          </a:solidFill>
          <a:ln w="12700">
            <a:solidFill>
              <a:srgbClr val="2196F3"/>
            </a:solidFill>
            <a:prstDash val="solid"/>
          </a:ln>
        </p:spPr>
      </p:sp>
      <p:sp>
        <p:nvSpPr>
          <p:cNvPr id="15" name="Text 12"/>
          <p:cNvSpPr/>
          <p:nvPr/>
        </p:nvSpPr>
        <p:spPr>
          <a:xfrm>
            <a:off x="457200" y="914400"/>
            <a:ext cx="59436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Hybrid Knowledge Graph</a:t>
            </a:r>
            <a:endParaRPr lang="en-US" sz="3600" dirty="0"/>
          </a:p>
        </p:txBody>
      </p:sp>
      <p:sp>
        <p:nvSpPr>
          <p:cNvPr id="16" name="Text 13"/>
          <p:cNvSpPr/>
          <p:nvPr/>
        </p:nvSpPr>
        <p:spPr>
          <a:xfrm>
            <a:off x="457200" y="1691640"/>
            <a:ext cx="5943600" cy="685800"/>
          </a:xfrm>
          <a:prstGeom prst="rect">
            <a:avLst/>
          </a:prstGeom>
          <a:noFill/>
          <a:ln/>
        </p:spPr>
        <p:txBody>
          <a:bodyPr wrap="square" lIns="0" tIns="0" rIns="0" bIns="0" rtlCol="0" anchor="ctr"/>
          <a:lstStyle/>
          <a:p>
            <a:pPr indent="0" marL="0">
              <a:buNone/>
            </a:pPr>
            <a:r>
              <a:rPr lang="en-US" sz="2800" b="1" dirty="0">
                <a:solidFill>
                  <a:srgbClr val="2196F3"/>
                </a:solidFill>
                <a:latin typeface="Calibri" pitchFamily="34" charset="0"/>
                <a:ea typeface="Calibri" pitchFamily="34" charset="-122"/>
                <a:cs typeface="Calibri" pitchFamily="34" charset="-120"/>
              </a:rPr>
              <a:t>For Enterprise Intelligence</a:t>
            </a:r>
            <a:endParaRPr lang="en-US" sz="2800" dirty="0"/>
          </a:p>
        </p:txBody>
      </p:sp>
      <p:sp>
        <p:nvSpPr>
          <p:cNvPr id="17" name="Shape 14"/>
          <p:cNvSpPr/>
          <p:nvPr/>
        </p:nvSpPr>
        <p:spPr>
          <a:xfrm>
            <a:off x="457200" y="2514600"/>
            <a:ext cx="3657600" cy="64008"/>
          </a:xfrm>
          <a:prstGeom prst="rect">
            <a:avLst/>
          </a:prstGeom>
          <a:solidFill>
            <a:srgbClr val="F57C00"/>
          </a:solidFill>
          <a:ln w="12700">
            <a:solidFill>
              <a:srgbClr val="F57C00"/>
            </a:solidFill>
            <a:prstDash val="solid"/>
          </a:ln>
        </p:spPr>
      </p:sp>
      <p:sp>
        <p:nvSpPr>
          <p:cNvPr id="18" name="Text 15"/>
          <p:cNvSpPr/>
          <p:nvPr/>
        </p:nvSpPr>
        <p:spPr>
          <a:xfrm>
            <a:off x="457200" y="2651760"/>
            <a:ext cx="5943600" cy="457200"/>
          </a:xfrm>
          <a:prstGeom prst="rect">
            <a:avLst/>
          </a:prstGeom>
          <a:noFill/>
          <a:ln/>
        </p:spPr>
        <p:txBody>
          <a:bodyPr wrap="square" lIns="0" tIns="0" rIns="0" bIns="0" rtlCol="0" anchor="ctr"/>
          <a:lstStyle/>
          <a:p>
            <a:pPr indent="0" marL="0">
              <a:buNone/>
            </a:pPr>
            <a:r>
              <a:rPr lang="en-US" sz="1600" i="1" dirty="0">
                <a:solidFill>
                  <a:srgbClr val="AABBCC"/>
                </a:solidFill>
                <a:latin typeface="Calibri" pitchFamily="34" charset="0"/>
                <a:ea typeface="Calibri" pitchFamily="34" charset="-122"/>
                <a:cs typeface="Calibri" pitchFamily="34" charset="-120"/>
              </a:rPr>
              <a:t>UDIT – Knowledge Byte Session</a:t>
            </a:r>
            <a:endParaRPr lang="en-US" sz="1600" dirty="0"/>
          </a:p>
        </p:txBody>
      </p:sp>
      <p:sp>
        <p:nvSpPr>
          <p:cNvPr id="19" name="Text 16"/>
          <p:cNvSpPr/>
          <p:nvPr/>
        </p:nvSpPr>
        <p:spPr>
          <a:xfrm>
            <a:off x="457200" y="3246120"/>
            <a:ext cx="3657600" cy="384048"/>
          </a:xfrm>
          <a:prstGeom prst="rect">
            <a:avLst/>
          </a:prstGeom>
          <a:noFill/>
          <a:ln/>
        </p:spPr>
        <p:txBody>
          <a:bodyPr wrap="square" lIns="0" tIns="0" rIns="0" bIns="0" rtlCol="0" anchor="ctr"/>
          <a:lstStyle/>
          <a:p>
            <a:pPr indent="0" marL="0">
              <a:buNone/>
            </a:pPr>
            <a:r>
              <a:rPr lang="en-US" sz="1400" dirty="0">
                <a:solidFill>
                  <a:srgbClr val="8899AA"/>
                </a:solidFill>
                <a:latin typeface="Calibri" pitchFamily="34" charset="0"/>
                <a:ea typeface="Calibri" pitchFamily="34" charset="-122"/>
                <a:cs typeface="Calibri" pitchFamily="34" charset="-120"/>
              </a:rPr>
              <a:t>March 26, 2026</a:t>
            </a:r>
            <a:endParaRPr lang="en-US" sz="1400" dirty="0"/>
          </a:p>
        </p:txBody>
      </p:sp>
      <p:sp>
        <p:nvSpPr>
          <p:cNvPr id="20" name="Shape 17"/>
          <p:cNvSpPr/>
          <p:nvPr/>
        </p:nvSpPr>
        <p:spPr>
          <a:xfrm>
            <a:off x="457200" y="4389120"/>
            <a:ext cx="1691640" cy="384048"/>
          </a:xfrm>
          <a:prstGeom prst="rect">
            <a:avLst/>
          </a:prstGeom>
          <a:solidFill>
            <a:srgbClr val="1A3A6A"/>
          </a:solidFill>
          <a:ln w="12700">
            <a:solidFill>
              <a:srgbClr val="2196F3"/>
            </a:solidFill>
            <a:prstDash val="solid"/>
          </a:ln>
        </p:spPr>
      </p:sp>
      <p:sp>
        <p:nvSpPr>
          <p:cNvPr id="21" name="Text 18"/>
          <p:cNvSpPr/>
          <p:nvPr/>
        </p:nvSpPr>
        <p:spPr>
          <a:xfrm>
            <a:off x="457200" y="4389120"/>
            <a:ext cx="1691640" cy="384048"/>
          </a:xfrm>
          <a:prstGeom prst="rect">
            <a:avLst/>
          </a:prstGeom>
          <a:noFill/>
          <a:ln/>
        </p:spPr>
        <p:txBody>
          <a:bodyPr wrap="square" lIns="0" tIns="0" rIns="0" bIns="0" rtlCol="0" anchor="ctr"/>
          <a:lstStyle/>
          <a:p>
            <a:pPr algn="ctr" indent="0" marL="0">
              <a:buNone/>
            </a:pPr>
            <a:r>
              <a:rPr lang="en-US" sz="1000" b="1" dirty="0">
                <a:solidFill>
                  <a:srgbClr val="2196F3"/>
                </a:solidFill>
              </a:rPr>
              <a:t>Graph Traversal</a:t>
            </a:r>
            <a:endParaRPr lang="en-US" sz="1000" dirty="0"/>
          </a:p>
        </p:txBody>
      </p:sp>
      <p:sp>
        <p:nvSpPr>
          <p:cNvPr id="22" name="Shape 19"/>
          <p:cNvSpPr/>
          <p:nvPr/>
        </p:nvSpPr>
        <p:spPr>
          <a:xfrm>
            <a:off x="2331720" y="4389120"/>
            <a:ext cx="1691640" cy="384048"/>
          </a:xfrm>
          <a:prstGeom prst="rect">
            <a:avLst/>
          </a:prstGeom>
          <a:solidFill>
            <a:srgbClr val="1A3A6A"/>
          </a:solidFill>
          <a:ln w="12700">
            <a:solidFill>
              <a:srgbClr val="2196F3"/>
            </a:solidFill>
            <a:prstDash val="solid"/>
          </a:ln>
        </p:spPr>
      </p:sp>
      <p:sp>
        <p:nvSpPr>
          <p:cNvPr id="23" name="Text 20"/>
          <p:cNvSpPr/>
          <p:nvPr/>
        </p:nvSpPr>
        <p:spPr>
          <a:xfrm>
            <a:off x="2331720" y="4389120"/>
            <a:ext cx="1691640" cy="384048"/>
          </a:xfrm>
          <a:prstGeom prst="rect">
            <a:avLst/>
          </a:prstGeom>
          <a:noFill/>
          <a:ln/>
        </p:spPr>
        <p:txBody>
          <a:bodyPr wrap="square" lIns="0" tIns="0" rIns="0" bIns="0" rtlCol="0" anchor="ctr"/>
          <a:lstStyle/>
          <a:p>
            <a:pPr algn="ctr" indent="0" marL="0">
              <a:buNone/>
            </a:pPr>
            <a:r>
              <a:rPr lang="en-US" sz="1000" b="1" dirty="0">
                <a:solidFill>
                  <a:srgbClr val="2196F3"/>
                </a:solidFill>
              </a:rPr>
              <a:t>Semantic Search</a:t>
            </a:r>
            <a:endParaRPr lang="en-US" sz="1000" dirty="0"/>
          </a:p>
        </p:txBody>
      </p:sp>
      <p:sp>
        <p:nvSpPr>
          <p:cNvPr id="24" name="Shape 21"/>
          <p:cNvSpPr/>
          <p:nvPr/>
        </p:nvSpPr>
        <p:spPr>
          <a:xfrm>
            <a:off x="4206240" y="4389120"/>
            <a:ext cx="1691640" cy="384048"/>
          </a:xfrm>
          <a:prstGeom prst="rect">
            <a:avLst/>
          </a:prstGeom>
          <a:solidFill>
            <a:srgbClr val="1A3A6A"/>
          </a:solidFill>
          <a:ln w="12700">
            <a:solidFill>
              <a:srgbClr val="2196F3"/>
            </a:solidFill>
            <a:prstDash val="solid"/>
          </a:ln>
        </p:spPr>
      </p:sp>
      <p:sp>
        <p:nvSpPr>
          <p:cNvPr id="25" name="Text 22"/>
          <p:cNvSpPr/>
          <p:nvPr/>
        </p:nvSpPr>
        <p:spPr>
          <a:xfrm>
            <a:off x="4206240" y="4389120"/>
            <a:ext cx="1691640" cy="384048"/>
          </a:xfrm>
          <a:prstGeom prst="rect">
            <a:avLst/>
          </a:prstGeom>
          <a:noFill/>
          <a:ln/>
        </p:spPr>
        <p:txBody>
          <a:bodyPr wrap="square" lIns="0" tIns="0" rIns="0" bIns="0" rtlCol="0" anchor="ctr"/>
          <a:lstStyle/>
          <a:p>
            <a:pPr algn="ctr" indent="0" marL="0">
              <a:buNone/>
            </a:pPr>
            <a:r>
              <a:rPr lang="en-US" sz="1000" b="1" dirty="0">
                <a:solidFill>
                  <a:srgbClr val="2196F3"/>
                </a:solidFill>
              </a:rPr>
              <a:t>Zero Hallucination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1565C0"/>
          </a:solidFill>
          <a:ln w="12700">
            <a:solidFill>
              <a:srgbClr val="1565C0"/>
            </a:solidFill>
            <a:prstDash val="solid"/>
          </a:ln>
        </p:spPr>
      </p:sp>
      <p:sp>
        <p:nvSpPr>
          <p:cNvPr id="4" name="Text 1"/>
          <p:cNvSpPr/>
          <p:nvPr/>
        </p:nvSpPr>
        <p:spPr>
          <a:xfrm>
            <a:off x="457200" y="228600"/>
            <a:ext cx="8229600" cy="685800"/>
          </a:xfrm>
          <a:prstGeom prst="rect">
            <a:avLst/>
          </a:prstGeom>
          <a:noFill/>
          <a:ln/>
        </p:spPr>
        <p:txBody>
          <a:bodyPr wrap="square" lIns="0" tIns="0" rIns="0" bIns="0" rtlCol="0" anchor="ctr"/>
          <a:lstStyle/>
          <a:p>
            <a:pPr indent="0" marL="0">
              <a:buNone/>
            </a:pPr>
            <a:r>
              <a:rPr lang="en-US" sz="3400" b="1" dirty="0">
                <a:solidFill>
                  <a:srgbClr val="0D2B55"/>
                </a:solidFill>
                <a:latin typeface="Calibri" pitchFamily="34" charset="0"/>
                <a:ea typeface="Calibri" pitchFamily="34" charset="-122"/>
                <a:cs typeface="Calibri" pitchFamily="34" charset="-120"/>
              </a:rPr>
              <a:t>Agenda</a:t>
            </a:r>
            <a:endParaRPr lang="en-US" sz="3400" dirty="0"/>
          </a:p>
        </p:txBody>
      </p:sp>
      <p:sp>
        <p:nvSpPr>
          <p:cNvPr id="5" name="Shape 2"/>
          <p:cNvSpPr/>
          <p:nvPr/>
        </p:nvSpPr>
        <p:spPr>
          <a:xfrm>
            <a:off x="457200" y="1051560"/>
            <a:ext cx="8229600" cy="77724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6" name="Shape 3"/>
          <p:cNvSpPr/>
          <p:nvPr/>
        </p:nvSpPr>
        <p:spPr>
          <a:xfrm>
            <a:off x="457200" y="1051560"/>
            <a:ext cx="109728" cy="777240"/>
          </a:xfrm>
          <a:prstGeom prst="rect">
            <a:avLst/>
          </a:prstGeom>
          <a:solidFill>
            <a:srgbClr val="F57C00"/>
          </a:solidFill>
          <a:ln w="12700">
            <a:solidFill>
              <a:srgbClr val="F57C00"/>
            </a:solidFill>
            <a:prstDash val="solid"/>
          </a:ln>
        </p:spPr>
      </p:sp>
      <p:sp>
        <p:nvSpPr>
          <p:cNvPr id="7" name="Shape 4"/>
          <p:cNvSpPr/>
          <p:nvPr/>
        </p:nvSpPr>
        <p:spPr>
          <a:xfrm>
            <a:off x="685800" y="1211580"/>
            <a:ext cx="457200" cy="457200"/>
          </a:xfrm>
          <a:prstGeom prst="ellipse">
            <a:avLst/>
          </a:prstGeom>
          <a:solidFill>
            <a:srgbClr val="F57C00"/>
          </a:solidFill>
          <a:ln w="12700">
            <a:solidFill>
              <a:srgbClr val="F57C00"/>
            </a:solidFill>
            <a:prstDash val="solid"/>
          </a:ln>
        </p:spPr>
      </p:sp>
      <p:sp>
        <p:nvSpPr>
          <p:cNvPr id="8" name="Text 5"/>
          <p:cNvSpPr/>
          <p:nvPr/>
        </p:nvSpPr>
        <p:spPr>
          <a:xfrm>
            <a:off x="685800" y="121158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9" name="Text 6"/>
          <p:cNvSpPr/>
          <p:nvPr/>
        </p:nvSpPr>
        <p:spPr>
          <a:xfrm>
            <a:off x="1298448" y="1097280"/>
            <a:ext cx="4572000" cy="384048"/>
          </a:xfrm>
          <a:prstGeom prst="rect">
            <a:avLst/>
          </a:prstGeom>
          <a:noFill/>
          <a:ln/>
        </p:spPr>
        <p:txBody>
          <a:bodyPr wrap="square" lIns="0" tIns="0" rIns="0" bIns="0" rtlCol="0" anchor="ctr"/>
          <a:lstStyle/>
          <a:p>
            <a:pPr indent="0" marL="0">
              <a:buNone/>
            </a:pPr>
            <a:r>
              <a:rPr lang="en-US" sz="1600" b="1" dirty="0">
                <a:solidFill>
                  <a:srgbClr val="0D2B55"/>
                </a:solidFill>
                <a:latin typeface="Calibri" pitchFamily="34" charset="0"/>
                <a:ea typeface="Calibri" pitchFamily="34" charset="-122"/>
                <a:cs typeface="Calibri" pitchFamily="34" charset="-120"/>
              </a:rPr>
              <a:t>Motivation</a:t>
            </a:r>
            <a:endParaRPr lang="en-US" sz="1600" dirty="0"/>
          </a:p>
        </p:txBody>
      </p:sp>
      <p:sp>
        <p:nvSpPr>
          <p:cNvPr id="10" name="Text 7"/>
          <p:cNvSpPr/>
          <p:nvPr/>
        </p:nvSpPr>
        <p:spPr>
          <a:xfrm>
            <a:off x="1298448" y="1453896"/>
            <a:ext cx="4572000" cy="320040"/>
          </a:xfrm>
          <a:prstGeom prst="rect">
            <a:avLst/>
          </a:prstGeom>
          <a:noFill/>
          <a:ln/>
        </p:spPr>
        <p:txBody>
          <a:bodyPr wrap="square" lIns="0" tIns="0" rIns="0" bIns="0" rtlCol="0" anchor="ctr"/>
          <a:lstStyle/>
          <a:p>
            <a:pPr indent="0" marL="0">
              <a:buNone/>
            </a:pPr>
            <a:r>
              <a:rPr lang="en-US" sz="1200" i="1" dirty="0">
                <a:solidFill>
                  <a:srgbClr val="607080"/>
                </a:solidFill>
                <a:latin typeface="Calibri" pitchFamily="34" charset="0"/>
                <a:ea typeface="Calibri" pitchFamily="34" charset="-122"/>
                <a:cs typeface="Calibri" pitchFamily="34" charset="-120"/>
              </a:rPr>
              <a:t>Information Blind Spot</a:t>
            </a:r>
            <a:endParaRPr lang="en-US" sz="1200" dirty="0"/>
          </a:p>
        </p:txBody>
      </p:sp>
      <p:sp>
        <p:nvSpPr>
          <p:cNvPr id="11" name="Text 8"/>
          <p:cNvSpPr/>
          <p:nvPr/>
        </p:nvSpPr>
        <p:spPr>
          <a:xfrm>
            <a:off x="8229600" y="1234440"/>
            <a:ext cx="365760" cy="365760"/>
          </a:xfrm>
          <a:prstGeom prst="rect">
            <a:avLst/>
          </a:prstGeom>
          <a:noFill/>
          <a:ln/>
        </p:spPr>
        <p:txBody>
          <a:bodyPr wrap="square" lIns="0" tIns="0" rIns="0" bIns="0" rtlCol="0" anchor="ctr"/>
          <a:lstStyle/>
          <a:p>
            <a:pPr algn="ctr" indent="0" marL="0">
              <a:buNone/>
            </a:pPr>
            <a:r>
              <a:rPr lang="en-US" sz="1800" dirty="0">
                <a:solidFill>
                  <a:srgbClr val="F57C00"/>
                </a:solidFill>
              </a:rPr>
              <a:t>→</a:t>
            </a:r>
            <a:endParaRPr lang="en-US" sz="1800" dirty="0"/>
          </a:p>
        </p:txBody>
      </p:sp>
      <p:sp>
        <p:nvSpPr>
          <p:cNvPr id="12" name="Shape 9"/>
          <p:cNvSpPr/>
          <p:nvPr/>
        </p:nvSpPr>
        <p:spPr>
          <a:xfrm>
            <a:off x="457200" y="2011680"/>
            <a:ext cx="8229600" cy="77724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13" name="Shape 10"/>
          <p:cNvSpPr/>
          <p:nvPr/>
        </p:nvSpPr>
        <p:spPr>
          <a:xfrm>
            <a:off x="457200" y="2011680"/>
            <a:ext cx="109728" cy="777240"/>
          </a:xfrm>
          <a:prstGeom prst="rect">
            <a:avLst/>
          </a:prstGeom>
          <a:solidFill>
            <a:srgbClr val="1565C0"/>
          </a:solidFill>
          <a:ln w="12700">
            <a:solidFill>
              <a:srgbClr val="1565C0"/>
            </a:solidFill>
            <a:prstDash val="solid"/>
          </a:ln>
        </p:spPr>
      </p:sp>
      <p:sp>
        <p:nvSpPr>
          <p:cNvPr id="14" name="Shape 11"/>
          <p:cNvSpPr/>
          <p:nvPr/>
        </p:nvSpPr>
        <p:spPr>
          <a:xfrm>
            <a:off x="685800" y="2171700"/>
            <a:ext cx="457200" cy="457200"/>
          </a:xfrm>
          <a:prstGeom prst="ellipse">
            <a:avLst/>
          </a:prstGeom>
          <a:solidFill>
            <a:srgbClr val="1565C0"/>
          </a:solidFill>
          <a:ln w="12700">
            <a:solidFill>
              <a:srgbClr val="1565C0"/>
            </a:solidFill>
            <a:prstDash val="solid"/>
          </a:ln>
        </p:spPr>
      </p:sp>
      <p:sp>
        <p:nvSpPr>
          <p:cNvPr id="15" name="Text 12"/>
          <p:cNvSpPr/>
          <p:nvPr/>
        </p:nvSpPr>
        <p:spPr>
          <a:xfrm>
            <a:off x="685800" y="217170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6" name="Text 13"/>
          <p:cNvSpPr/>
          <p:nvPr/>
        </p:nvSpPr>
        <p:spPr>
          <a:xfrm>
            <a:off x="1298448" y="2057400"/>
            <a:ext cx="4572000" cy="384048"/>
          </a:xfrm>
          <a:prstGeom prst="rect">
            <a:avLst/>
          </a:prstGeom>
          <a:noFill/>
          <a:ln/>
        </p:spPr>
        <p:txBody>
          <a:bodyPr wrap="square" lIns="0" tIns="0" rIns="0" bIns="0" rtlCol="0" anchor="ctr"/>
          <a:lstStyle/>
          <a:p>
            <a:pPr indent="0" marL="0">
              <a:buNone/>
            </a:pPr>
            <a:r>
              <a:rPr lang="en-US" sz="1600" b="1" dirty="0">
                <a:solidFill>
                  <a:srgbClr val="0D2B55"/>
                </a:solidFill>
                <a:latin typeface="Calibri" pitchFamily="34" charset="0"/>
                <a:ea typeface="Calibri" pitchFamily="34" charset="-122"/>
                <a:cs typeface="Calibri" pitchFamily="34" charset="-120"/>
              </a:rPr>
              <a:t>Hybrid Knowledge Graph</a:t>
            </a:r>
            <a:endParaRPr lang="en-US" sz="1600" dirty="0"/>
          </a:p>
        </p:txBody>
      </p:sp>
      <p:sp>
        <p:nvSpPr>
          <p:cNvPr id="17" name="Text 14"/>
          <p:cNvSpPr/>
          <p:nvPr/>
        </p:nvSpPr>
        <p:spPr>
          <a:xfrm>
            <a:off x="1298448" y="2414016"/>
            <a:ext cx="4572000" cy="320040"/>
          </a:xfrm>
          <a:prstGeom prst="rect">
            <a:avLst/>
          </a:prstGeom>
          <a:noFill/>
          <a:ln/>
        </p:spPr>
        <p:txBody>
          <a:bodyPr wrap="square" lIns="0" tIns="0" rIns="0" bIns="0" rtlCol="0" anchor="ctr"/>
          <a:lstStyle/>
          <a:p>
            <a:pPr indent="0" marL="0">
              <a:buNone/>
            </a:pPr>
            <a:r>
              <a:rPr lang="en-US" sz="1200" i="1" dirty="0">
                <a:solidFill>
                  <a:srgbClr val="607080"/>
                </a:solidFill>
                <a:latin typeface="Calibri" pitchFamily="34" charset="0"/>
                <a:ea typeface="Calibri" pitchFamily="34" charset="-122"/>
                <a:cs typeface="Calibri" pitchFamily="34" charset="-120"/>
              </a:rPr>
              <a:t>Architecture &amp; Design</a:t>
            </a:r>
            <a:endParaRPr lang="en-US" sz="1200" dirty="0"/>
          </a:p>
        </p:txBody>
      </p:sp>
      <p:sp>
        <p:nvSpPr>
          <p:cNvPr id="18" name="Text 15"/>
          <p:cNvSpPr/>
          <p:nvPr/>
        </p:nvSpPr>
        <p:spPr>
          <a:xfrm>
            <a:off x="8229600" y="2194560"/>
            <a:ext cx="365760" cy="365760"/>
          </a:xfrm>
          <a:prstGeom prst="rect">
            <a:avLst/>
          </a:prstGeom>
          <a:noFill/>
          <a:ln/>
        </p:spPr>
        <p:txBody>
          <a:bodyPr wrap="square" lIns="0" tIns="0" rIns="0" bIns="0" rtlCol="0" anchor="ctr"/>
          <a:lstStyle/>
          <a:p>
            <a:pPr algn="ctr" indent="0" marL="0">
              <a:buNone/>
            </a:pPr>
            <a:r>
              <a:rPr lang="en-US" sz="1800" dirty="0">
                <a:solidFill>
                  <a:srgbClr val="1565C0"/>
                </a:solidFill>
              </a:rPr>
              <a:t>→</a:t>
            </a:r>
            <a:endParaRPr lang="en-US" sz="1800" dirty="0"/>
          </a:p>
        </p:txBody>
      </p:sp>
      <p:sp>
        <p:nvSpPr>
          <p:cNvPr id="19" name="Shape 16"/>
          <p:cNvSpPr/>
          <p:nvPr/>
        </p:nvSpPr>
        <p:spPr>
          <a:xfrm>
            <a:off x="457200" y="2971800"/>
            <a:ext cx="8229600" cy="77724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20" name="Shape 17"/>
          <p:cNvSpPr/>
          <p:nvPr/>
        </p:nvSpPr>
        <p:spPr>
          <a:xfrm>
            <a:off x="457200" y="2971800"/>
            <a:ext cx="109728" cy="777240"/>
          </a:xfrm>
          <a:prstGeom prst="rect">
            <a:avLst/>
          </a:prstGeom>
          <a:solidFill>
            <a:srgbClr val="00897B"/>
          </a:solidFill>
          <a:ln w="12700">
            <a:solidFill>
              <a:srgbClr val="00897B"/>
            </a:solidFill>
            <a:prstDash val="solid"/>
          </a:ln>
        </p:spPr>
      </p:sp>
      <p:sp>
        <p:nvSpPr>
          <p:cNvPr id="21" name="Shape 18"/>
          <p:cNvSpPr/>
          <p:nvPr/>
        </p:nvSpPr>
        <p:spPr>
          <a:xfrm>
            <a:off x="685800" y="3131820"/>
            <a:ext cx="457200" cy="457200"/>
          </a:xfrm>
          <a:prstGeom prst="ellipse">
            <a:avLst/>
          </a:prstGeom>
          <a:solidFill>
            <a:srgbClr val="00897B"/>
          </a:solidFill>
          <a:ln w="12700">
            <a:solidFill>
              <a:srgbClr val="00897B"/>
            </a:solidFill>
            <a:prstDash val="solid"/>
          </a:ln>
        </p:spPr>
      </p:sp>
      <p:sp>
        <p:nvSpPr>
          <p:cNvPr id="22" name="Text 19"/>
          <p:cNvSpPr/>
          <p:nvPr/>
        </p:nvSpPr>
        <p:spPr>
          <a:xfrm>
            <a:off x="685800" y="313182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23" name="Text 20"/>
          <p:cNvSpPr/>
          <p:nvPr/>
        </p:nvSpPr>
        <p:spPr>
          <a:xfrm>
            <a:off x="1298448" y="3017520"/>
            <a:ext cx="4572000" cy="384048"/>
          </a:xfrm>
          <a:prstGeom prst="rect">
            <a:avLst/>
          </a:prstGeom>
          <a:noFill/>
          <a:ln/>
        </p:spPr>
        <p:txBody>
          <a:bodyPr wrap="square" lIns="0" tIns="0" rIns="0" bIns="0" rtlCol="0" anchor="ctr"/>
          <a:lstStyle/>
          <a:p>
            <a:pPr indent="0" marL="0">
              <a:buNone/>
            </a:pPr>
            <a:r>
              <a:rPr lang="en-US" sz="1600" b="1" dirty="0">
                <a:solidFill>
                  <a:srgbClr val="0D2B55"/>
                </a:solidFill>
                <a:latin typeface="Calibri" pitchFamily="34" charset="0"/>
                <a:ea typeface="Calibri" pitchFamily="34" charset="-122"/>
                <a:cs typeface="Calibri" pitchFamily="34" charset="-120"/>
              </a:rPr>
              <a:t>Search &amp; Reasoning</a:t>
            </a:r>
            <a:endParaRPr lang="en-US" sz="1600" dirty="0"/>
          </a:p>
        </p:txBody>
      </p:sp>
      <p:sp>
        <p:nvSpPr>
          <p:cNvPr id="24" name="Text 21"/>
          <p:cNvSpPr/>
          <p:nvPr/>
        </p:nvSpPr>
        <p:spPr>
          <a:xfrm>
            <a:off x="1298448" y="3374136"/>
            <a:ext cx="4572000" cy="320040"/>
          </a:xfrm>
          <a:prstGeom prst="rect">
            <a:avLst/>
          </a:prstGeom>
          <a:noFill/>
          <a:ln/>
        </p:spPr>
        <p:txBody>
          <a:bodyPr wrap="square" lIns="0" tIns="0" rIns="0" bIns="0" rtlCol="0" anchor="ctr"/>
          <a:lstStyle/>
          <a:p>
            <a:pPr indent="0" marL="0">
              <a:buNone/>
            </a:pPr>
            <a:r>
              <a:rPr lang="en-US" sz="1200" i="1" dirty="0">
                <a:solidFill>
                  <a:srgbClr val="607080"/>
                </a:solidFill>
                <a:latin typeface="Calibri" pitchFamily="34" charset="0"/>
                <a:ea typeface="Calibri" pitchFamily="34" charset="-122"/>
                <a:cs typeface="Calibri" pitchFamily="34" charset="-120"/>
              </a:rPr>
              <a:t>Dual-Path Retrieval</a:t>
            </a:r>
            <a:endParaRPr lang="en-US" sz="1200" dirty="0"/>
          </a:p>
        </p:txBody>
      </p:sp>
      <p:sp>
        <p:nvSpPr>
          <p:cNvPr id="25" name="Text 22"/>
          <p:cNvSpPr/>
          <p:nvPr/>
        </p:nvSpPr>
        <p:spPr>
          <a:xfrm>
            <a:off x="8229600" y="3154680"/>
            <a:ext cx="365760" cy="365760"/>
          </a:xfrm>
          <a:prstGeom prst="rect">
            <a:avLst/>
          </a:prstGeom>
          <a:noFill/>
          <a:ln/>
        </p:spPr>
        <p:txBody>
          <a:bodyPr wrap="square" lIns="0" tIns="0" rIns="0" bIns="0" rtlCol="0" anchor="ctr"/>
          <a:lstStyle/>
          <a:p>
            <a:pPr algn="ctr" indent="0" marL="0">
              <a:buNone/>
            </a:pPr>
            <a:r>
              <a:rPr lang="en-US" sz="1800" dirty="0">
                <a:solidFill>
                  <a:srgbClr val="00897B"/>
                </a:solidFill>
              </a:rPr>
              <a:t>→</a:t>
            </a:r>
            <a:endParaRPr lang="en-US" sz="1800" dirty="0"/>
          </a:p>
        </p:txBody>
      </p:sp>
      <p:sp>
        <p:nvSpPr>
          <p:cNvPr id="26" name="Shape 23"/>
          <p:cNvSpPr/>
          <p:nvPr/>
        </p:nvSpPr>
        <p:spPr>
          <a:xfrm>
            <a:off x="457200" y="3931920"/>
            <a:ext cx="8229600" cy="77724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27" name="Shape 24"/>
          <p:cNvSpPr/>
          <p:nvPr/>
        </p:nvSpPr>
        <p:spPr>
          <a:xfrm>
            <a:off x="457200" y="3931920"/>
            <a:ext cx="109728" cy="777240"/>
          </a:xfrm>
          <a:prstGeom prst="rect">
            <a:avLst/>
          </a:prstGeom>
          <a:solidFill>
            <a:srgbClr val="6A1B9A"/>
          </a:solidFill>
          <a:ln w="12700">
            <a:solidFill>
              <a:srgbClr val="6A1B9A"/>
            </a:solidFill>
            <a:prstDash val="solid"/>
          </a:ln>
        </p:spPr>
      </p:sp>
      <p:sp>
        <p:nvSpPr>
          <p:cNvPr id="28" name="Shape 25"/>
          <p:cNvSpPr/>
          <p:nvPr/>
        </p:nvSpPr>
        <p:spPr>
          <a:xfrm>
            <a:off x="685800" y="4091940"/>
            <a:ext cx="457200" cy="457200"/>
          </a:xfrm>
          <a:prstGeom prst="ellipse">
            <a:avLst/>
          </a:prstGeom>
          <a:solidFill>
            <a:srgbClr val="6A1B9A"/>
          </a:solidFill>
          <a:ln w="12700">
            <a:solidFill>
              <a:srgbClr val="6A1B9A"/>
            </a:solidFill>
            <a:prstDash val="solid"/>
          </a:ln>
        </p:spPr>
      </p:sp>
      <p:sp>
        <p:nvSpPr>
          <p:cNvPr id="29" name="Text 26"/>
          <p:cNvSpPr/>
          <p:nvPr/>
        </p:nvSpPr>
        <p:spPr>
          <a:xfrm>
            <a:off x="685800" y="40919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30" name="Text 27"/>
          <p:cNvSpPr/>
          <p:nvPr/>
        </p:nvSpPr>
        <p:spPr>
          <a:xfrm>
            <a:off x="1298448" y="3977640"/>
            <a:ext cx="4572000" cy="384048"/>
          </a:xfrm>
          <a:prstGeom prst="rect">
            <a:avLst/>
          </a:prstGeom>
          <a:noFill/>
          <a:ln/>
        </p:spPr>
        <p:txBody>
          <a:bodyPr wrap="square" lIns="0" tIns="0" rIns="0" bIns="0" rtlCol="0" anchor="ctr"/>
          <a:lstStyle/>
          <a:p>
            <a:pPr indent="0" marL="0">
              <a:buNone/>
            </a:pPr>
            <a:r>
              <a:rPr lang="en-US" sz="1600" b="1" dirty="0">
                <a:solidFill>
                  <a:srgbClr val="0D2B55"/>
                </a:solidFill>
                <a:latin typeface="Calibri" pitchFamily="34" charset="0"/>
                <a:ea typeface="Calibri" pitchFamily="34" charset="-122"/>
                <a:cs typeface="Calibri" pitchFamily="34" charset="-120"/>
              </a:rPr>
              <a:t>Evaluation</a:t>
            </a:r>
            <a:endParaRPr lang="en-US" sz="1600" dirty="0"/>
          </a:p>
        </p:txBody>
      </p:sp>
      <p:sp>
        <p:nvSpPr>
          <p:cNvPr id="31" name="Text 28"/>
          <p:cNvSpPr/>
          <p:nvPr/>
        </p:nvSpPr>
        <p:spPr>
          <a:xfrm>
            <a:off x="1298448" y="4334256"/>
            <a:ext cx="4572000" cy="320040"/>
          </a:xfrm>
          <a:prstGeom prst="rect">
            <a:avLst/>
          </a:prstGeom>
          <a:noFill/>
          <a:ln/>
        </p:spPr>
        <p:txBody>
          <a:bodyPr wrap="square" lIns="0" tIns="0" rIns="0" bIns="0" rtlCol="0" anchor="ctr"/>
          <a:lstStyle/>
          <a:p>
            <a:pPr indent="0" marL="0">
              <a:buNone/>
            </a:pPr>
            <a:r>
              <a:rPr lang="en-US" sz="1200" i="1" dirty="0">
                <a:solidFill>
                  <a:srgbClr val="607080"/>
                </a:solidFill>
                <a:latin typeface="Calibri" pitchFamily="34" charset="0"/>
                <a:ea typeface="Calibri" pitchFamily="34" charset="-122"/>
                <a:cs typeface="Calibri" pitchFamily="34" charset="-120"/>
              </a:rPr>
              <a:t>CIA Results &amp; Metrics</a:t>
            </a:r>
            <a:endParaRPr lang="en-US" sz="1200" dirty="0"/>
          </a:p>
        </p:txBody>
      </p:sp>
      <p:sp>
        <p:nvSpPr>
          <p:cNvPr id="32" name="Text 29"/>
          <p:cNvSpPr/>
          <p:nvPr/>
        </p:nvSpPr>
        <p:spPr>
          <a:xfrm>
            <a:off x="8229600" y="4114800"/>
            <a:ext cx="365760" cy="365760"/>
          </a:xfrm>
          <a:prstGeom prst="rect">
            <a:avLst/>
          </a:prstGeom>
          <a:noFill/>
          <a:ln/>
        </p:spPr>
        <p:txBody>
          <a:bodyPr wrap="square" lIns="0" tIns="0" rIns="0" bIns="0" rtlCol="0" anchor="ctr"/>
          <a:lstStyle/>
          <a:p>
            <a:pPr algn="ctr" indent="0" marL="0">
              <a:buNone/>
            </a:pPr>
            <a:r>
              <a:rPr lang="en-US" sz="1800" dirty="0">
                <a:solidFill>
                  <a:srgbClr val="6A1B9A"/>
                </a:solidFill>
              </a:rPr>
              <a: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C62828"/>
          </a:solidFill>
          <a:ln w="12700">
            <a:solidFill>
              <a:srgbClr val="C62828"/>
            </a:solidFill>
            <a:prstDash val="solid"/>
          </a:ln>
        </p:spPr>
      </p:sp>
      <p:sp>
        <p:nvSpPr>
          <p:cNvPr id="4" name="Text 1"/>
          <p:cNvSpPr/>
          <p:nvPr/>
        </p:nvSpPr>
        <p:spPr>
          <a:xfrm>
            <a:off x="457200" y="164592"/>
            <a:ext cx="6400800" cy="594360"/>
          </a:xfrm>
          <a:prstGeom prst="rect">
            <a:avLst/>
          </a:prstGeom>
          <a:noFill/>
          <a:ln/>
        </p:spPr>
        <p:txBody>
          <a:bodyPr wrap="square" lIns="0" tIns="0" rIns="0" bIns="0" rtlCol="0" anchor="ctr"/>
          <a:lstStyle/>
          <a:p>
            <a:pPr indent="0" marL="0">
              <a:buNone/>
            </a:pPr>
            <a:r>
              <a:rPr lang="en-US" sz="3000" b="1" dirty="0">
                <a:solidFill>
                  <a:srgbClr val="0D2B55"/>
                </a:solidFill>
                <a:latin typeface="Calibri" pitchFamily="34" charset="0"/>
                <a:ea typeface="Calibri" pitchFamily="34" charset="-122"/>
                <a:cs typeface="Calibri" pitchFamily="34" charset="-120"/>
              </a:rPr>
              <a:t>The Business Problem</a:t>
            </a:r>
            <a:endParaRPr lang="en-US" sz="3000" dirty="0"/>
          </a:p>
        </p:txBody>
      </p:sp>
      <p:sp>
        <p:nvSpPr>
          <p:cNvPr id="5" name="Text 2"/>
          <p:cNvSpPr/>
          <p:nvPr/>
        </p:nvSpPr>
        <p:spPr>
          <a:xfrm>
            <a:off x="457200" y="713232"/>
            <a:ext cx="6400800" cy="320040"/>
          </a:xfrm>
          <a:prstGeom prst="rect">
            <a:avLst/>
          </a:prstGeom>
          <a:noFill/>
          <a:ln/>
        </p:spPr>
        <p:txBody>
          <a:bodyPr wrap="square" lIns="0" tIns="0" rIns="0" bIns="0" rtlCol="0" anchor="ctr"/>
          <a:lstStyle/>
          <a:p>
            <a:pPr indent="0" marL="0">
              <a:buNone/>
            </a:pPr>
            <a:r>
              <a:rPr lang="en-US" sz="1400" i="1" dirty="0">
                <a:solidFill>
                  <a:srgbClr val="607080"/>
                </a:solidFill>
                <a:latin typeface="Calibri" pitchFamily="34" charset="0"/>
                <a:ea typeface="Calibri" pitchFamily="34" charset="-122"/>
                <a:cs typeface="Calibri" pitchFamily="34" charset="-120"/>
              </a:rPr>
              <a:t>The "Information Blind-Spot"</a:t>
            </a:r>
            <a:endParaRPr lang="en-US" sz="1400" dirty="0"/>
          </a:p>
        </p:txBody>
      </p:sp>
      <p:sp>
        <p:nvSpPr>
          <p:cNvPr id="6" name="Shape 3"/>
          <p:cNvSpPr/>
          <p:nvPr/>
        </p:nvSpPr>
        <p:spPr>
          <a:xfrm>
            <a:off x="320040" y="1143000"/>
            <a:ext cx="2724912" cy="356616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7" name="Shape 4"/>
          <p:cNvSpPr/>
          <p:nvPr/>
        </p:nvSpPr>
        <p:spPr>
          <a:xfrm>
            <a:off x="320040" y="1143000"/>
            <a:ext cx="2724912" cy="109728"/>
          </a:xfrm>
          <a:prstGeom prst="rect">
            <a:avLst/>
          </a:prstGeom>
          <a:solidFill>
            <a:srgbClr val="C62828"/>
          </a:solidFill>
          <a:ln w="12700">
            <a:solidFill>
              <a:srgbClr val="C62828"/>
            </a:solidFill>
            <a:prstDash val="solid"/>
          </a:ln>
        </p:spPr>
      </p:sp>
      <p:sp>
        <p:nvSpPr>
          <p:cNvPr id="8" name="Shape 5"/>
          <p:cNvSpPr/>
          <p:nvPr/>
        </p:nvSpPr>
        <p:spPr>
          <a:xfrm>
            <a:off x="1362456" y="1298448"/>
            <a:ext cx="640080" cy="640080"/>
          </a:xfrm>
          <a:prstGeom prst="ellipse">
            <a:avLst/>
          </a:prstGeom>
          <a:solidFill>
            <a:srgbClr val="C62828"/>
          </a:solidFill>
          <a:ln w="12700">
            <a:solidFill>
              <a:srgbClr val="C62828"/>
            </a:solidFill>
            <a:prstDash val="solid"/>
          </a:ln>
        </p:spPr>
      </p:sp>
      <p:sp>
        <p:nvSpPr>
          <p:cNvPr id="9" name="Text 6"/>
          <p:cNvSpPr/>
          <p:nvPr/>
        </p:nvSpPr>
        <p:spPr>
          <a:xfrm>
            <a:off x="1362456" y="1298448"/>
            <a:ext cx="64008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0" name="Text 7"/>
          <p:cNvSpPr/>
          <p:nvPr/>
        </p:nvSpPr>
        <p:spPr>
          <a:xfrm>
            <a:off x="411480" y="2029968"/>
            <a:ext cx="2542032" cy="411480"/>
          </a:xfrm>
          <a:prstGeom prst="rect">
            <a:avLst/>
          </a:prstGeom>
          <a:noFill/>
          <a:ln/>
        </p:spPr>
        <p:txBody>
          <a:bodyPr wrap="square" lIns="0" tIns="0" rIns="0" bIns="0" rtlCol="0" anchor="ctr"/>
          <a:lstStyle/>
          <a:p>
            <a:pPr algn="ctr" indent="0" marL="0">
              <a:buNone/>
            </a:pPr>
            <a:r>
              <a:rPr lang="en-US" sz="1300" b="1" dirty="0">
                <a:solidFill>
                  <a:srgbClr val="0D2B55"/>
                </a:solidFill>
                <a:latin typeface="Calibri" pitchFamily="34" charset="0"/>
                <a:ea typeface="Calibri" pitchFamily="34" charset="-122"/>
                <a:cs typeface="Calibri" pitchFamily="34" charset="-120"/>
              </a:rPr>
              <a:t>Today's Reality</a:t>
            </a:r>
            <a:endParaRPr lang="en-US" sz="1300" dirty="0"/>
          </a:p>
        </p:txBody>
      </p:sp>
      <p:sp>
        <p:nvSpPr>
          <p:cNvPr id="11" name="Shape 8"/>
          <p:cNvSpPr/>
          <p:nvPr/>
        </p:nvSpPr>
        <p:spPr>
          <a:xfrm>
            <a:off x="484632" y="2542032"/>
            <a:ext cx="109728" cy="109728"/>
          </a:xfrm>
          <a:prstGeom prst="ellipse">
            <a:avLst/>
          </a:prstGeom>
          <a:solidFill>
            <a:srgbClr val="C62828"/>
          </a:solidFill>
          <a:ln w="12700">
            <a:solidFill>
              <a:srgbClr val="C62828"/>
            </a:solidFill>
            <a:prstDash val="solid"/>
          </a:ln>
        </p:spPr>
      </p:sp>
      <p:sp>
        <p:nvSpPr>
          <p:cNvPr id="12" name="Text 9"/>
          <p:cNvSpPr/>
          <p:nvPr/>
        </p:nvSpPr>
        <p:spPr>
          <a:xfrm>
            <a:off x="658368" y="248716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Structured &amp; Unstructured data in disconnected systems</a:t>
            </a:r>
            <a:endParaRPr lang="en-US" sz="1050" dirty="0"/>
          </a:p>
        </p:txBody>
      </p:sp>
      <p:sp>
        <p:nvSpPr>
          <p:cNvPr id="13" name="Shape 10"/>
          <p:cNvSpPr/>
          <p:nvPr/>
        </p:nvSpPr>
        <p:spPr>
          <a:xfrm>
            <a:off x="484632" y="3044952"/>
            <a:ext cx="109728" cy="109728"/>
          </a:xfrm>
          <a:prstGeom prst="ellipse">
            <a:avLst/>
          </a:prstGeom>
          <a:solidFill>
            <a:srgbClr val="C62828"/>
          </a:solidFill>
          <a:ln w="12700">
            <a:solidFill>
              <a:srgbClr val="C62828"/>
            </a:solidFill>
            <a:prstDash val="solid"/>
          </a:ln>
        </p:spPr>
      </p:sp>
      <p:sp>
        <p:nvSpPr>
          <p:cNvPr id="14" name="Text 11"/>
          <p:cNvSpPr/>
          <p:nvPr/>
        </p:nvSpPr>
        <p:spPr>
          <a:xfrm>
            <a:off x="658368" y="299008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Contracts, POs, Amendments — no unified view</a:t>
            </a:r>
            <a:endParaRPr lang="en-US" sz="1050" dirty="0"/>
          </a:p>
        </p:txBody>
      </p:sp>
      <p:sp>
        <p:nvSpPr>
          <p:cNvPr id="15" name="Shape 12"/>
          <p:cNvSpPr/>
          <p:nvPr/>
        </p:nvSpPr>
        <p:spPr>
          <a:xfrm>
            <a:off x="484632" y="3547872"/>
            <a:ext cx="109728" cy="109728"/>
          </a:xfrm>
          <a:prstGeom prst="ellipse">
            <a:avLst/>
          </a:prstGeom>
          <a:solidFill>
            <a:srgbClr val="C62828"/>
          </a:solidFill>
          <a:ln w="12700">
            <a:solidFill>
              <a:srgbClr val="C62828"/>
            </a:solidFill>
            <a:prstDash val="solid"/>
          </a:ln>
        </p:spPr>
      </p:sp>
      <p:sp>
        <p:nvSpPr>
          <p:cNvPr id="16" name="Text 13"/>
          <p:cNvSpPr/>
          <p:nvPr/>
        </p:nvSpPr>
        <p:spPr>
          <a:xfrm>
            <a:off x="658368" y="349300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Metadata fragmented across platforms</a:t>
            </a:r>
            <a:endParaRPr lang="en-US" sz="1050" dirty="0"/>
          </a:p>
        </p:txBody>
      </p:sp>
      <p:sp>
        <p:nvSpPr>
          <p:cNvPr id="17" name="Shape 14"/>
          <p:cNvSpPr/>
          <p:nvPr/>
        </p:nvSpPr>
        <p:spPr>
          <a:xfrm>
            <a:off x="484632" y="4050792"/>
            <a:ext cx="109728" cy="109728"/>
          </a:xfrm>
          <a:prstGeom prst="ellipse">
            <a:avLst/>
          </a:prstGeom>
          <a:solidFill>
            <a:srgbClr val="C62828"/>
          </a:solidFill>
          <a:ln w="12700">
            <a:solidFill>
              <a:srgbClr val="C62828"/>
            </a:solidFill>
            <a:prstDash val="solid"/>
          </a:ln>
        </p:spPr>
      </p:sp>
      <p:sp>
        <p:nvSpPr>
          <p:cNvPr id="18" name="Text 15"/>
          <p:cNvSpPr/>
          <p:nvPr/>
        </p:nvSpPr>
        <p:spPr>
          <a:xfrm>
            <a:off x="658368" y="399592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Entity relationships not explicitly modelled</a:t>
            </a:r>
            <a:endParaRPr lang="en-US" sz="1050" dirty="0"/>
          </a:p>
        </p:txBody>
      </p:sp>
      <p:sp>
        <p:nvSpPr>
          <p:cNvPr id="19" name="Shape 16"/>
          <p:cNvSpPr/>
          <p:nvPr/>
        </p:nvSpPr>
        <p:spPr>
          <a:xfrm>
            <a:off x="3246120" y="1143000"/>
            <a:ext cx="2724912" cy="356616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20" name="Shape 17"/>
          <p:cNvSpPr/>
          <p:nvPr/>
        </p:nvSpPr>
        <p:spPr>
          <a:xfrm>
            <a:off x="3246120" y="1143000"/>
            <a:ext cx="2724912" cy="109728"/>
          </a:xfrm>
          <a:prstGeom prst="rect">
            <a:avLst/>
          </a:prstGeom>
          <a:solidFill>
            <a:srgbClr val="F57C00"/>
          </a:solidFill>
          <a:ln w="12700">
            <a:solidFill>
              <a:srgbClr val="F57C00"/>
            </a:solidFill>
            <a:prstDash val="solid"/>
          </a:ln>
        </p:spPr>
      </p:sp>
      <p:sp>
        <p:nvSpPr>
          <p:cNvPr id="21" name="Shape 18"/>
          <p:cNvSpPr/>
          <p:nvPr/>
        </p:nvSpPr>
        <p:spPr>
          <a:xfrm>
            <a:off x="4288536" y="1298448"/>
            <a:ext cx="640080" cy="640080"/>
          </a:xfrm>
          <a:prstGeom prst="ellipse">
            <a:avLst/>
          </a:prstGeom>
          <a:solidFill>
            <a:srgbClr val="F57C00"/>
          </a:solidFill>
          <a:ln w="12700">
            <a:solidFill>
              <a:srgbClr val="F57C00"/>
            </a:solidFill>
            <a:prstDash val="solid"/>
          </a:ln>
        </p:spPr>
      </p:sp>
      <p:sp>
        <p:nvSpPr>
          <p:cNvPr id="22" name="Text 19"/>
          <p:cNvSpPr/>
          <p:nvPr/>
        </p:nvSpPr>
        <p:spPr>
          <a:xfrm>
            <a:off x="4288536" y="1298448"/>
            <a:ext cx="64008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20"/>
          <p:cNvSpPr/>
          <p:nvPr/>
        </p:nvSpPr>
        <p:spPr>
          <a:xfrm>
            <a:off x="3337560" y="2029968"/>
            <a:ext cx="2542032" cy="411480"/>
          </a:xfrm>
          <a:prstGeom prst="rect">
            <a:avLst/>
          </a:prstGeom>
          <a:noFill/>
          <a:ln/>
        </p:spPr>
        <p:txBody>
          <a:bodyPr wrap="square" lIns="0" tIns="0" rIns="0" bIns="0" rtlCol="0" anchor="ctr"/>
          <a:lstStyle/>
          <a:p>
            <a:pPr algn="ctr" indent="0" marL="0">
              <a:buNone/>
            </a:pPr>
            <a:r>
              <a:rPr lang="en-US" sz="1300" b="1" dirty="0">
                <a:solidFill>
                  <a:srgbClr val="0D2B55"/>
                </a:solidFill>
                <a:latin typeface="Calibri" pitchFamily="34" charset="0"/>
                <a:ea typeface="Calibri" pitchFamily="34" charset="-122"/>
                <a:cs typeface="Calibri" pitchFamily="34" charset="-120"/>
              </a:rPr>
              <a:t>Operational Impact</a:t>
            </a:r>
            <a:endParaRPr lang="en-US" sz="1300" dirty="0"/>
          </a:p>
        </p:txBody>
      </p:sp>
      <p:sp>
        <p:nvSpPr>
          <p:cNvPr id="24" name="Shape 21"/>
          <p:cNvSpPr/>
          <p:nvPr/>
        </p:nvSpPr>
        <p:spPr>
          <a:xfrm>
            <a:off x="3410712" y="2542032"/>
            <a:ext cx="109728" cy="109728"/>
          </a:xfrm>
          <a:prstGeom prst="ellipse">
            <a:avLst/>
          </a:prstGeom>
          <a:solidFill>
            <a:srgbClr val="F57C00"/>
          </a:solidFill>
          <a:ln w="12700">
            <a:solidFill>
              <a:srgbClr val="F57C00"/>
            </a:solidFill>
            <a:prstDash val="solid"/>
          </a:ln>
        </p:spPr>
      </p:sp>
      <p:sp>
        <p:nvSpPr>
          <p:cNvPr id="25" name="Text 22"/>
          <p:cNvSpPr/>
          <p:nvPr/>
        </p:nvSpPr>
        <p:spPr>
          <a:xfrm>
            <a:off x="3584448" y="248716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Tech Bottleneck: Tech Team Dependency</a:t>
            </a:r>
            <a:endParaRPr lang="en-US" sz="1050" dirty="0"/>
          </a:p>
        </p:txBody>
      </p:sp>
      <p:sp>
        <p:nvSpPr>
          <p:cNvPr id="26" name="Shape 23"/>
          <p:cNvSpPr/>
          <p:nvPr/>
        </p:nvSpPr>
        <p:spPr>
          <a:xfrm>
            <a:off x="3410712" y="3044952"/>
            <a:ext cx="109728" cy="109728"/>
          </a:xfrm>
          <a:prstGeom prst="ellipse">
            <a:avLst/>
          </a:prstGeom>
          <a:solidFill>
            <a:srgbClr val="F57C00"/>
          </a:solidFill>
          <a:ln w="12700">
            <a:solidFill>
              <a:srgbClr val="F57C00"/>
            </a:solidFill>
            <a:prstDash val="solid"/>
          </a:ln>
        </p:spPr>
      </p:sp>
      <p:sp>
        <p:nvSpPr>
          <p:cNvPr id="27" name="Text 24"/>
          <p:cNvSpPr/>
          <p:nvPr/>
        </p:nvSpPr>
        <p:spPr>
          <a:xfrm>
            <a:off x="3584448" y="299008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Manual Reconciliation: Slows decision-making</a:t>
            </a:r>
            <a:endParaRPr lang="en-US" sz="1050" dirty="0"/>
          </a:p>
        </p:txBody>
      </p:sp>
      <p:sp>
        <p:nvSpPr>
          <p:cNvPr id="28" name="Shape 25"/>
          <p:cNvSpPr/>
          <p:nvPr/>
        </p:nvSpPr>
        <p:spPr>
          <a:xfrm>
            <a:off x="3410712" y="3547872"/>
            <a:ext cx="109728" cy="109728"/>
          </a:xfrm>
          <a:prstGeom prst="ellipse">
            <a:avLst/>
          </a:prstGeom>
          <a:solidFill>
            <a:srgbClr val="F57C00"/>
          </a:solidFill>
          <a:ln w="12700">
            <a:solidFill>
              <a:srgbClr val="F57C00"/>
            </a:solidFill>
            <a:prstDash val="solid"/>
          </a:ln>
        </p:spPr>
      </p:sp>
      <p:sp>
        <p:nvSpPr>
          <p:cNvPr id="29" name="Text 26"/>
          <p:cNvSpPr/>
          <p:nvPr/>
        </p:nvSpPr>
        <p:spPr>
          <a:xfrm>
            <a:off x="3584448" y="349300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Intelligence Latency: Long data processing times</a:t>
            </a:r>
            <a:endParaRPr lang="en-US" sz="1050" dirty="0"/>
          </a:p>
        </p:txBody>
      </p:sp>
      <p:sp>
        <p:nvSpPr>
          <p:cNvPr id="30" name="Shape 27"/>
          <p:cNvSpPr/>
          <p:nvPr/>
        </p:nvSpPr>
        <p:spPr>
          <a:xfrm>
            <a:off x="6172200" y="1143000"/>
            <a:ext cx="2724912" cy="356616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31" name="Shape 28"/>
          <p:cNvSpPr/>
          <p:nvPr/>
        </p:nvSpPr>
        <p:spPr>
          <a:xfrm>
            <a:off x="6172200" y="1143000"/>
            <a:ext cx="2724912" cy="109728"/>
          </a:xfrm>
          <a:prstGeom prst="rect">
            <a:avLst/>
          </a:prstGeom>
          <a:solidFill>
            <a:srgbClr val="1565C0"/>
          </a:solidFill>
          <a:ln w="12700">
            <a:solidFill>
              <a:srgbClr val="1565C0"/>
            </a:solidFill>
            <a:prstDash val="solid"/>
          </a:ln>
        </p:spPr>
      </p:sp>
      <p:sp>
        <p:nvSpPr>
          <p:cNvPr id="32" name="Shape 29"/>
          <p:cNvSpPr/>
          <p:nvPr/>
        </p:nvSpPr>
        <p:spPr>
          <a:xfrm>
            <a:off x="7214616" y="1298448"/>
            <a:ext cx="640080" cy="640080"/>
          </a:xfrm>
          <a:prstGeom prst="ellipse">
            <a:avLst/>
          </a:prstGeom>
          <a:solidFill>
            <a:srgbClr val="1565C0"/>
          </a:solidFill>
          <a:ln w="12700">
            <a:solidFill>
              <a:srgbClr val="1565C0"/>
            </a:solidFill>
            <a:prstDash val="solid"/>
          </a:ln>
        </p:spPr>
      </p:sp>
      <p:sp>
        <p:nvSpPr>
          <p:cNvPr id="33" name="Text 30"/>
          <p:cNvSpPr/>
          <p:nvPr/>
        </p:nvSpPr>
        <p:spPr>
          <a:xfrm>
            <a:off x="7214616" y="1298448"/>
            <a:ext cx="640080" cy="64008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Text 31"/>
          <p:cNvSpPr/>
          <p:nvPr/>
        </p:nvSpPr>
        <p:spPr>
          <a:xfrm>
            <a:off x="6263640" y="2029968"/>
            <a:ext cx="2542032" cy="411480"/>
          </a:xfrm>
          <a:prstGeom prst="rect">
            <a:avLst/>
          </a:prstGeom>
          <a:noFill/>
          <a:ln/>
        </p:spPr>
        <p:txBody>
          <a:bodyPr wrap="square" lIns="0" tIns="0" rIns="0" bIns="0" rtlCol="0" anchor="ctr"/>
          <a:lstStyle/>
          <a:p>
            <a:pPr algn="ctr" indent="0" marL="0">
              <a:buNone/>
            </a:pPr>
            <a:r>
              <a:rPr lang="en-US" sz="1300" b="1" dirty="0">
                <a:solidFill>
                  <a:srgbClr val="0D2B55"/>
                </a:solidFill>
                <a:latin typeface="Calibri" pitchFamily="34" charset="0"/>
                <a:ea typeface="Calibri" pitchFamily="34" charset="-122"/>
                <a:cs typeface="Calibri" pitchFamily="34" charset="-120"/>
              </a:rPr>
              <a:t>Core Issue</a:t>
            </a:r>
            <a:endParaRPr lang="en-US" sz="1300" dirty="0"/>
          </a:p>
        </p:txBody>
      </p:sp>
      <p:sp>
        <p:nvSpPr>
          <p:cNvPr id="35" name="Shape 32"/>
          <p:cNvSpPr/>
          <p:nvPr/>
        </p:nvSpPr>
        <p:spPr>
          <a:xfrm>
            <a:off x="6336792" y="2542032"/>
            <a:ext cx="109728" cy="109728"/>
          </a:xfrm>
          <a:prstGeom prst="ellipse">
            <a:avLst/>
          </a:prstGeom>
          <a:solidFill>
            <a:srgbClr val="1565C0"/>
          </a:solidFill>
          <a:ln w="12700">
            <a:solidFill>
              <a:srgbClr val="1565C0"/>
            </a:solidFill>
            <a:prstDash val="solid"/>
          </a:ln>
        </p:spPr>
      </p:sp>
      <p:sp>
        <p:nvSpPr>
          <p:cNvPr id="36" name="Text 33"/>
          <p:cNvSpPr/>
          <p:nvPr/>
        </p:nvSpPr>
        <p:spPr>
          <a:xfrm>
            <a:off x="6510528" y="248716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Knowledge Fragmentation Problem</a:t>
            </a:r>
            <a:endParaRPr lang="en-US" sz="1050" dirty="0"/>
          </a:p>
        </p:txBody>
      </p:sp>
      <p:sp>
        <p:nvSpPr>
          <p:cNvPr id="37" name="Shape 34"/>
          <p:cNvSpPr/>
          <p:nvPr/>
        </p:nvSpPr>
        <p:spPr>
          <a:xfrm>
            <a:off x="6336792" y="3044952"/>
            <a:ext cx="109728" cy="109728"/>
          </a:xfrm>
          <a:prstGeom prst="ellipse">
            <a:avLst/>
          </a:prstGeom>
          <a:solidFill>
            <a:srgbClr val="1565C0"/>
          </a:solidFill>
          <a:ln w="12700">
            <a:solidFill>
              <a:srgbClr val="1565C0"/>
            </a:solidFill>
            <a:prstDash val="solid"/>
          </a:ln>
        </p:spPr>
      </p:sp>
      <p:sp>
        <p:nvSpPr>
          <p:cNvPr id="38" name="Text 35"/>
          <p:cNvSpPr/>
          <p:nvPr/>
        </p:nvSpPr>
        <p:spPr>
          <a:xfrm>
            <a:off x="6510528" y="299008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No single source of truth</a:t>
            </a:r>
            <a:endParaRPr lang="en-US" sz="1050" dirty="0"/>
          </a:p>
        </p:txBody>
      </p:sp>
      <p:sp>
        <p:nvSpPr>
          <p:cNvPr id="39" name="Shape 36"/>
          <p:cNvSpPr/>
          <p:nvPr/>
        </p:nvSpPr>
        <p:spPr>
          <a:xfrm>
            <a:off x="6336792" y="3547872"/>
            <a:ext cx="109728" cy="109728"/>
          </a:xfrm>
          <a:prstGeom prst="ellipse">
            <a:avLst/>
          </a:prstGeom>
          <a:solidFill>
            <a:srgbClr val="1565C0"/>
          </a:solidFill>
          <a:ln w="12700">
            <a:solidFill>
              <a:srgbClr val="1565C0"/>
            </a:solidFill>
            <a:prstDash val="solid"/>
          </a:ln>
        </p:spPr>
      </p:sp>
      <p:sp>
        <p:nvSpPr>
          <p:cNvPr id="40" name="Text 37"/>
          <p:cNvSpPr/>
          <p:nvPr/>
        </p:nvSpPr>
        <p:spPr>
          <a:xfrm>
            <a:off x="6510528" y="3493008"/>
            <a:ext cx="2286000" cy="475488"/>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Relationships buried in unstructured documents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B55"/>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2196F3"/>
          </a:solidFill>
          <a:ln w="12700">
            <a:solidFill>
              <a:srgbClr val="2196F3"/>
            </a:solidFill>
            <a:prstDash val="solid"/>
          </a:ln>
        </p:spPr>
      </p:sp>
      <p:sp>
        <p:nvSpPr>
          <p:cNvPr id="4"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Enterprise Intelligence</a:t>
            </a:r>
            <a:endParaRPr lang="en-US" sz="3000" dirty="0"/>
          </a:p>
        </p:txBody>
      </p:sp>
      <p:sp>
        <p:nvSpPr>
          <p:cNvPr id="5" name="Text 2"/>
          <p:cNvSpPr/>
          <p:nvPr/>
        </p:nvSpPr>
        <p:spPr>
          <a:xfrm>
            <a:off x="457200" y="713232"/>
            <a:ext cx="8229600" cy="320040"/>
          </a:xfrm>
          <a:prstGeom prst="rect">
            <a:avLst/>
          </a:prstGeom>
          <a:noFill/>
          <a:ln/>
        </p:spPr>
        <p:txBody>
          <a:bodyPr wrap="square" lIns="0" tIns="0" rIns="0" bIns="0" rtlCol="0" anchor="ctr"/>
          <a:lstStyle/>
          <a:p>
            <a:pPr indent="0" marL="0">
              <a:buNone/>
            </a:pPr>
            <a:r>
              <a:rPr lang="en-US" sz="1300" i="1" dirty="0">
                <a:solidFill>
                  <a:srgbClr val="88AACC"/>
                </a:solidFill>
              </a:rPr>
              <a:t>Context-Aware · Explainable · Hallucination-Free</a:t>
            </a:r>
            <a:endParaRPr lang="en-US" sz="1300" dirty="0"/>
          </a:p>
        </p:txBody>
      </p:sp>
      <p:sp>
        <p:nvSpPr>
          <p:cNvPr id="6" name="Shape 3"/>
          <p:cNvSpPr/>
          <p:nvPr/>
        </p:nvSpPr>
        <p:spPr>
          <a:xfrm>
            <a:off x="457200" y="1097280"/>
            <a:ext cx="8229600" cy="457200"/>
          </a:xfrm>
          <a:prstGeom prst="rect">
            <a:avLst/>
          </a:prstGeom>
          <a:solidFill>
            <a:srgbClr val="1A3A6A"/>
          </a:solidFill>
          <a:ln w="12700">
            <a:solidFill>
              <a:srgbClr val="2196F3"/>
            </a:solidFill>
            <a:prstDash val="solid"/>
          </a:ln>
        </p:spPr>
      </p:sp>
      <p:sp>
        <p:nvSpPr>
          <p:cNvPr id="7" name="Text 4"/>
          <p:cNvSpPr/>
          <p:nvPr/>
        </p:nvSpPr>
        <p:spPr>
          <a:xfrm>
            <a:off x="457200" y="1097280"/>
            <a:ext cx="8229600" cy="457200"/>
          </a:xfrm>
          <a:prstGeom prst="rect">
            <a:avLst/>
          </a:prstGeom>
          <a:noFill/>
          <a:ln/>
        </p:spPr>
        <p:txBody>
          <a:bodyPr wrap="square" lIns="0" tIns="0" rIns="0" bIns="0" rtlCol="0" anchor="ctr"/>
          <a:lstStyle/>
          <a:p>
            <a:pPr algn="ctr" indent="0" marL="0">
              <a:buNone/>
            </a:pPr>
            <a:r>
              <a:rPr lang="en-US" sz="1200" b="1" dirty="0">
                <a:solidFill>
                  <a:srgbClr val="2196F3"/>
                </a:solidFill>
                <a:latin typeface="Calibri" pitchFamily="34" charset="0"/>
                <a:ea typeface="Calibri" pitchFamily="34" charset="-122"/>
                <a:cs typeface="Calibri" pitchFamily="34" charset="-120"/>
              </a:rPr>
              <a:t>GOAL: 100% Accuracy — Cross-referencing Structured + Unstructured Data with Explainability</a:t>
            </a:r>
            <a:endParaRPr lang="en-US" sz="1200" dirty="0"/>
          </a:p>
        </p:txBody>
      </p:sp>
      <p:sp>
        <p:nvSpPr>
          <p:cNvPr id="8" name="Shape 5"/>
          <p:cNvSpPr/>
          <p:nvPr/>
        </p:nvSpPr>
        <p:spPr>
          <a:xfrm>
            <a:off x="457200" y="1719072"/>
            <a:ext cx="2651760" cy="1600200"/>
          </a:xfrm>
          <a:prstGeom prst="rect">
            <a:avLst/>
          </a:prstGeom>
          <a:solidFill>
            <a:srgbClr val="0F2537"/>
          </a:solidFill>
          <a:ln w="12700">
            <a:solidFill>
              <a:srgbClr val="F57C00"/>
            </a:solidFill>
            <a:prstDash val="solid"/>
          </a:ln>
          <a:effectLst>
            <a:outerShdw sx="100000" sy="100000" kx="0" ky="0" algn="bl" rotWithShape="0" blurRad="101600" dist="38100" dir="8100000">
              <a:srgbClr val="000000">
                <a:alpha val="13000"/>
              </a:srgbClr>
            </a:outerShdw>
          </a:effectLst>
        </p:spPr>
      </p:sp>
      <p:sp>
        <p:nvSpPr>
          <p:cNvPr id="9" name="Shape 6"/>
          <p:cNvSpPr/>
          <p:nvPr/>
        </p:nvSpPr>
        <p:spPr>
          <a:xfrm>
            <a:off x="457200" y="1719072"/>
            <a:ext cx="2651760" cy="91440"/>
          </a:xfrm>
          <a:prstGeom prst="rect">
            <a:avLst/>
          </a:prstGeom>
          <a:solidFill>
            <a:srgbClr val="F57C00"/>
          </a:solidFill>
          <a:ln w="12700">
            <a:solidFill>
              <a:srgbClr val="F57C00"/>
            </a:solidFill>
            <a:prstDash val="solid"/>
          </a:ln>
        </p:spPr>
      </p:sp>
      <p:sp>
        <p:nvSpPr>
          <p:cNvPr id="10" name="Shape 7"/>
          <p:cNvSpPr/>
          <p:nvPr/>
        </p:nvSpPr>
        <p:spPr>
          <a:xfrm>
            <a:off x="1463040" y="1874520"/>
            <a:ext cx="548640" cy="548640"/>
          </a:xfrm>
          <a:prstGeom prst="ellipse">
            <a:avLst/>
          </a:prstGeom>
          <a:solidFill>
            <a:srgbClr val="F57C00"/>
          </a:solidFill>
          <a:ln w="12700">
            <a:solidFill>
              <a:srgbClr val="F57C00"/>
            </a:solidFill>
            <a:prstDash val="solid"/>
          </a:ln>
        </p:spPr>
      </p:sp>
      <p:sp>
        <p:nvSpPr>
          <p:cNvPr id="11" name="Text 8"/>
          <p:cNvSpPr/>
          <p:nvPr/>
        </p:nvSpPr>
        <p:spPr>
          <a:xfrm>
            <a:off x="1463040" y="1874520"/>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9"/>
          <p:cNvSpPr/>
          <p:nvPr/>
        </p:nvSpPr>
        <p:spPr>
          <a:xfrm>
            <a:off x="548640" y="2514600"/>
            <a:ext cx="24688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Paradigm Shift</a:t>
            </a:r>
            <a:endParaRPr lang="en-US" sz="1200" dirty="0"/>
          </a:p>
        </p:txBody>
      </p:sp>
      <p:sp>
        <p:nvSpPr>
          <p:cNvPr id="13" name="Text 10"/>
          <p:cNvSpPr/>
          <p:nvPr/>
        </p:nvSpPr>
        <p:spPr>
          <a:xfrm>
            <a:off x="548640" y="2898648"/>
            <a:ext cx="2468880" cy="384048"/>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From Data Silos → Entity Intelligence. AGE graph replaces rigid table joins.</a:t>
            </a:r>
            <a:endParaRPr lang="en-US" sz="1000" dirty="0"/>
          </a:p>
        </p:txBody>
      </p:sp>
      <p:sp>
        <p:nvSpPr>
          <p:cNvPr id="14" name="Shape 11"/>
          <p:cNvSpPr/>
          <p:nvPr/>
        </p:nvSpPr>
        <p:spPr>
          <a:xfrm>
            <a:off x="3337560" y="1719072"/>
            <a:ext cx="2651760" cy="1600200"/>
          </a:xfrm>
          <a:prstGeom prst="rect">
            <a:avLst/>
          </a:prstGeom>
          <a:solidFill>
            <a:srgbClr val="0F2537"/>
          </a:solidFill>
          <a:ln w="12700">
            <a:solidFill>
              <a:srgbClr val="2196F3"/>
            </a:solidFill>
            <a:prstDash val="solid"/>
          </a:ln>
          <a:effectLst>
            <a:outerShdw sx="100000" sy="100000" kx="0" ky="0" algn="bl" rotWithShape="0" blurRad="101600" dist="38100" dir="8100000">
              <a:srgbClr val="000000">
                <a:alpha val="13000"/>
              </a:srgbClr>
            </a:outerShdw>
          </a:effectLst>
        </p:spPr>
      </p:sp>
      <p:sp>
        <p:nvSpPr>
          <p:cNvPr id="15" name="Shape 12"/>
          <p:cNvSpPr/>
          <p:nvPr/>
        </p:nvSpPr>
        <p:spPr>
          <a:xfrm>
            <a:off x="3337560" y="1719072"/>
            <a:ext cx="2651760" cy="91440"/>
          </a:xfrm>
          <a:prstGeom prst="rect">
            <a:avLst/>
          </a:prstGeom>
          <a:solidFill>
            <a:srgbClr val="2196F3"/>
          </a:solidFill>
          <a:ln w="12700">
            <a:solidFill>
              <a:srgbClr val="2196F3"/>
            </a:solidFill>
            <a:prstDash val="solid"/>
          </a:ln>
        </p:spPr>
      </p:sp>
      <p:sp>
        <p:nvSpPr>
          <p:cNvPr id="16" name="Shape 13"/>
          <p:cNvSpPr/>
          <p:nvPr/>
        </p:nvSpPr>
        <p:spPr>
          <a:xfrm>
            <a:off x="4343400" y="1874520"/>
            <a:ext cx="548640" cy="548640"/>
          </a:xfrm>
          <a:prstGeom prst="ellipse">
            <a:avLst/>
          </a:prstGeom>
          <a:solidFill>
            <a:srgbClr val="2196F3"/>
          </a:solidFill>
          <a:ln w="12700">
            <a:solidFill>
              <a:srgbClr val="2196F3"/>
            </a:solidFill>
            <a:prstDash val="solid"/>
          </a:ln>
        </p:spPr>
      </p:sp>
      <p:sp>
        <p:nvSpPr>
          <p:cNvPr id="17" name="Text 14"/>
          <p:cNvSpPr/>
          <p:nvPr/>
        </p:nvSpPr>
        <p:spPr>
          <a:xfrm>
            <a:off x="4343400" y="1874520"/>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ext 15"/>
          <p:cNvSpPr/>
          <p:nvPr/>
        </p:nvSpPr>
        <p:spPr>
          <a:xfrm>
            <a:off x="3429000" y="2514600"/>
            <a:ext cx="24688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Hybrid Retrieval</a:t>
            </a:r>
            <a:endParaRPr lang="en-US" sz="1200" dirty="0"/>
          </a:p>
        </p:txBody>
      </p:sp>
      <p:sp>
        <p:nvSpPr>
          <p:cNvPr id="19" name="Text 16"/>
          <p:cNvSpPr/>
          <p:nvPr/>
        </p:nvSpPr>
        <p:spPr>
          <a:xfrm>
            <a:off x="3429000" y="2898648"/>
            <a:ext cx="2468880" cy="384048"/>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Graph traversal + semantic similarity. Beyond keyword matching.</a:t>
            </a:r>
            <a:endParaRPr lang="en-US" sz="1000" dirty="0"/>
          </a:p>
        </p:txBody>
      </p:sp>
      <p:sp>
        <p:nvSpPr>
          <p:cNvPr id="20" name="Shape 17"/>
          <p:cNvSpPr/>
          <p:nvPr/>
        </p:nvSpPr>
        <p:spPr>
          <a:xfrm>
            <a:off x="6217920" y="1719072"/>
            <a:ext cx="2651760" cy="1600200"/>
          </a:xfrm>
          <a:prstGeom prst="rect">
            <a:avLst/>
          </a:prstGeom>
          <a:solidFill>
            <a:srgbClr val="0F2537"/>
          </a:solidFill>
          <a:ln w="12700">
            <a:solidFill>
              <a:srgbClr val="00897B"/>
            </a:solidFill>
            <a:prstDash val="solid"/>
          </a:ln>
          <a:effectLst>
            <a:outerShdw sx="100000" sy="100000" kx="0" ky="0" algn="bl" rotWithShape="0" blurRad="101600" dist="38100" dir="8100000">
              <a:srgbClr val="000000">
                <a:alpha val="13000"/>
              </a:srgbClr>
            </a:outerShdw>
          </a:effectLst>
        </p:spPr>
      </p:sp>
      <p:sp>
        <p:nvSpPr>
          <p:cNvPr id="21" name="Shape 18"/>
          <p:cNvSpPr/>
          <p:nvPr/>
        </p:nvSpPr>
        <p:spPr>
          <a:xfrm>
            <a:off x="6217920" y="1719072"/>
            <a:ext cx="2651760" cy="91440"/>
          </a:xfrm>
          <a:prstGeom prst="rect">
            <a:avLst/>
          </a:prstGeom>
          <a:solidFill>
            <a:srgbClr val="00897B"/>
          </a:solidFill>
          <a:ln w="12700">
            <a:solidFill>
              <a:srgbClr val="00897B"/>
            </a:solidFill>
            <a:prstDash val="solid"/>
          </a:ln>
        </p:spPr>
      </p:sp>
      <p:sp>
        <p:nvSpPr>
          <p:cNvPr id="22" name="Shape 19"/>
          <p:cNvSpPr/>
          <p:nvPr/>
        </p:nvSpPr>
        <p:spPr>
          <a:xfrm>
            <a:off x="7223760" y="1874520"/>
            <a:ext cx="548640" cy="548640"/>
          </a:xfrm>
          <a:prstGeom prst="ellipse">
            <a:avLst/>
          </a:prstGeom>
          <a:solidFill>
            <a:srgbClr val="00897B"/>
          </a:solidFill>
          <a:ln w="12700">
            <a:solidFill>
              <a:srgbClr val="00897B"/>
            </a:solidFill>
            <a:prstDash val="solid"/>
          </a:ln>
        </p:spPr>
      </p:sp>
      <p:sp>
        <p:nvSpPr>
          <p:cNvPr id="23" name="Text 20"/>
          <p:cNvSpPr/>
          <p:nvPr/>
        </p:nvSpPr>
        <p:spPr>
          <a:xfrm>
            <a:off x="7223760" y="1874520"/>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ext 21"/>
          <p:cNvSpPr/>
          <p:nvPr/>
        </p:nvSpPr>
        <p:spPr>
          <a:xfrm>
            <a:off x="6309360" y="2514600"/>
            <a:ext cx="24688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Multi-Hop Reasoning</a:t>
            </a:r>
            <a:endParaRPr lang="en-US" sz="1200" dirty="0"/>
          </a:p>
        </p:txBody>
      </p:sp>
      <p:sp>
        <p:nvSpPr>
          <p:cNvPr id="25" name="Text 22"/>
          <p:cNvSpPr/>
          <p:nvPr/>
        </p:nvSpPr>
        <p:spPr>
          <a:xfrm>
            <a:off x="6309360" y="2898648"/>
            <a:ext cx="2468880" cy="384048"/>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Traverse multiple connection layers. Reveals cascading impacts.</a:t>
            </a:r>
            <a:endParaRPr lang="en-US" sz="1000" dirty="0"/>
          </a:p>
        </p:txBody>
      </p:sp>
      <p:sp>
        <p:nvSpPr>
          <p:cNvPr id="26" name="Shape 23"/>
          <p:cNvSpPr/>
          <p:nvPr/>
        </p:nvSpPr>
        <p:spPr>
          <a:xfrm>
            <a:off x="1645920" y="3429000"/>
            <a:ext cx="2651760" cy="1417320"/>
          </a:xfrm>
          <a:prstGeom prst="rect">
            <a:avLst/>
          </a:prstGeom>
          <a:solidFill>
            <a:srgbClr val="0F2537"/>
          </a:solidFill>
          <a:ln w="12700">
            <a:solidFill>
              <a:srgbClr val="6A1B9A"/>
            </a:solidFill>
            <a:prstDash val="solid"/>
          </a:ln>
          <a:effectLst>
            <a:outerShdw sx="100000" sy="100000" kx="0" ky="0" algn="bl" rotWithShape="0" blurRad="101600" dist="38100" dir="8100000">
              <a:srgbClr val="000000">
                <a:alpha val="13000"/>
              </a:srgbClr>
            </a:outerShdw>
          </a:effectLst>
        </p:spPr>
      </p:sp>
      <p:sp>
        <p:nvSpPr>
          <p:cNvPr id="27" name="Shape 24"/>
          <p:cNvSpPr/>
          <p:nvPr/>
        </p:nvSpPr>
        <p:spPr>
          <a:xfrm>
            <a:off x="1645920" y="3429000"/>
            <a:ext cx="2651760" cy="91440"/>
          </a:xfrm>
          <a:prstGeom prst="rect">
            <a:avLst/>
          </a:prstGeom>
          <a:solidFill>
            <a:srgbClr val="6A1B9A"/>
          </a:solidFill>
          <a:ln w="12700">
            <a:solidFill>
              <a:srgbClr val="6A1B9A"/>
            </a:solidFill>
            <a:prstDash val="solid"/>
          </a:ln>
        </p:spPr>
      </p:sp>
      <p:sp>
        <p:nvSpPr>
          <p:cNvPr id="28" name="Shape 25"/>
          <p:cNvSpPr/>
          <p:nvPr/>
        </p:nvSpPr>
        <p:spPr>
          <a:xfrm>
            <a:off x="2651760" y="3584448"/>
            <a:ext cx="548640" cy="548640"/>
          </a:xfrm>
          <a:prstGeom prst="ellipse">
            <a:avLst/>
          </a:prstGeom>
          <a:solidFill>
            <a:srgbClr val="6A1B9A"/>
          </a:solidFill>
          <a:ln w="12700">
            <a:solidFill>
              <a:srgbClr val="6A1B9A"/>
            </a:solidFill>
            <a:prstDash val="solid"/>
          </a:ln>
        </p:spPr>
      </p:sp>
      <p:sp>
        <p:nvSpPr>
          <p:cNvPr id="29" name="Text 26"/>
          <p:cNvSpPr/>
          <p:nvPr/>
        </p:nvSpPr>
        <p:spPr>
          <a:xfrm>
            <a:off x="2651760" y="3584448"/>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ext 27"/>
          <p:cNvSpPr/>
          <p:nvPr/>
        </p:nvSpPr>
        <p:spPr>
          <a:xfrm>
            <a:off x="1737360" y="4206240"/>
            <a:ext cx="24688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Explainability</a:t>
            </a:r>
            <a:endParaRPr lang="en-US" sz="1200" dirty="0"/>
          </a:p>
        </p:txBody>
      </p:sp>
      <p:sp>
        <p:nvSpPr>
          <p:cNvPr id="31" name="Text 28"/>
          <p:cNvSpPr/>
          <p:nvPr/>
        </p:nvSpPr>
        <p:spPr>
          <a:xfrm>
            <a:off x="1737360" y="4526280"/>
            <a:ext cx="2468880" cy="27432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Verifiable paper trail for every insight. No black-box answers.</a:t>
            </a:r>
            <a:endParaRPr lang="en-US" sz="1000" dirty="0"/>
          </a:p>
        </p:txBody>
      </p:sp>
      <p:sp>
        <p:nvSpPr>
          <p:cNvPr id="32" name="Shape 29"/>
          <p:cNvSpPr/>
          <p:nvPr/>
        </p:nvSpPr>
        <p:spPr>
          <a:xfrm>
            <a:off x="4526280" y="3429000"/>
            <a:ext cx="2651760" cy="1417320"/>
          </a:xfrm>
          <a:prstGeom prst="rect">
            <a:avLst/>
          </a:prstGeom>
          <a:solidFill>
            <a:srgbClr val="0F2537"/>
          </a:solidFill>
          <a:ln w="12700">
            <a:solidFill>
              <a:srgbClr val="2E7D32"/>
            </a:solidFill>
            <a:prstDash val="solid"/>
          </a:ln>
          <a:effectLst>
            <a:outerShdw sx="100000" sy="100000" kx="0" ky="0" algn="bl" rotWithShape="0" blurRad="101600" dist="38100" dir="8100000">
              <a:srgbClr val="000000">
                <a:alpha val="13000"/>
              </a:srgbClr>
            </a:outerShdw>
          </a:effectLst>
        </p:spPr>
      </p:sp>
      <p:sp>
        <p:nvSpPr>
          <p:cNvPr id="33" name="Shape 30"/>
          <p:cNvSpPr/>
          <p:nvPr/>
        </p:nvSpPr>
        <p:spPr>
          <a:xfrm>
            <a:off x="4526280" y="3429000"/>
            <a:ext cx="2651760" cy="91440"/>
          </a:xfrm>
          <a:prstGeom prst="rect">
            <a:avLst/>
          </a:prstGeom>
          <a:solidFill>
            <a:srgbClr val="2E7D32"/>
          </a:solidFill>
          <a:ln w="12700">
            <a:solidFill>
              <a:srgbClr val="2E7D32"/>
            </a:solidFill>
            <a:prstDash val="solid"/>
          </a:ln>
        </p:spPr>
      </p:sp>
      <p:sp>
        <p:nvSpPr>
          <p:cNvPr id="34" name="Shape 31"/>
          <p:cNvSpPr/>
          <p:nvPr/>
        </p:nvSpPr>
        <p:spPr>
          <a:xfrm>
            <a:off x="5532120" y="3584448"/>
            <a:ext cx="548640" cy="548640"/>
          </a:xfrm>
          <a:prstGeom prst="ellipse">
            <a:avLst/>
          </a:prstGeom>
          <a:solidFill>
            <a:srgbClr val="2E7D32"/>
          </a:solidFill>
          <a:ln w="12700">
            <a:solidFill>
              <a:srgbClr val="2E7D32"/>
            </a:solidFill>
            <a:prstDash val="solid"/>
          </a:ln>
        </p:spPr>
      </p:sp>
      <p:sp>
        <p:nvSpPr>
          <p:cNvPr id="35" name="Text 32"/>
          <p:cNvSpPr/>
          <p:nvPr/>
        </p:nvSpPr>
        <p:spPr>
          <a:xfrm>
            <a:off x="5532120" y="3584448"/>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6" name="Text 33"/>
          <p:cNvSpPr/>
          <p:nvPr/>
        </p:nvSpPr>
        <p:spPr>
          <a:xfrm>
            <a:off x="4617720" y="4206240"/>
            <a:ext cx="24688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Zero Hallucination</a:t>
            </a:r>
            <a:endParaRPr lang="en-US" sz="1200" dirty="0"/>
          </a:p>
        </p:txBody>
      </p:sp>
      <p:sp>
        <p:nvSpPr>
          <p:cNvPr id="37" name="Text 34"/>
          <p:cNvSpPr/>
          <p:nvPr/>
        </p:nvSpPr>
        <p:spPr>
          <a:xfrm>
            <a:off x="4617720" y="4526280"/>
            <a:ext cx="2468880" cy="27432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KG as Source of Truth. Only verified, interconnected data.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897B"/>
          </a:solidFill>
          <a:ln w="12700">
            <a:solidFill>
              <a:srgbClr val="00897B"/>
            </a:solidFill>
            <a:prstDash val="solid"/>
          </a:ln>
        </p:spPr>
      </p:sp>
      <p:sp>
        <p:nvSpPr>
          <p:cNvPr id="4" name="Text 1"/>
          <p:cNvSpPr/>
          <p:nvPr/>
        </p:nvSpPr>
        <p:spPr>
          <a:xfrm>
            <a:off x="457200" y="164592"/>
            <a:ext cx="8229600" cy="566928"/>
          </a:xfrm>
          <a:prstGeom prst="rect">
            <a:avLst/>
          </a:prstGeom>
          <a:noFill/>
          <a:ln/>
        </p:spPr>
        <p:txBody>
          <a:bodyPr wrap="square" lIns="0" tIns="0" rIns="0" bIns="0" rtlCol="0" anchor="ctr"/>
          <a:lstStyle/>
          <a:p>
            <a:pPr indent="0" marL="0">
              <a:buNone/>
            </a:pPr>
            <a:r>
              <a:rPr lang="en-US" sz="2800" b="1" dirty="0">
                <a:solidFill>
                  <a:srgbClr val="0D2B55"/>
                </a:solidFill>
                <a:latin typeface="Calibri" pitchFamily="34" charset="0"/>
                <a:ea typeface="Calibri" pitchFamily="34" charset="-122"/>
                <a:cs typeface="Calibri" pitchFamily="34" charset="-120"/>
              </a:rPr>
              <a:t>Schema-Based vs Schema-Less KG</a:t>
            </a:r>
            <a:endParaRPr lang="en-US" sz="2800" dirty="0"/>
          </a:p>
        </p:txBody>
      </p:sp>
      <p:sp>
        <p:nvSpPr>
          <p:cNvPr id="5" name="Text 2"/>
          <p:cNvSpPr/>
          <p:nvPr/>
        </p:nvSpPr>
        <p:spPr>
          <a:xfrm>
            <a:off x="457200" y="685800"/>
            <a:ext cx="8229600" cy="292608"/>
          </a:xfrm>
          <a:prstGeom prst="rect">
            <a:avLst/>
          </a:prstGeom>
          <a:noFill/>
          <a:ln/>
        </p:spPr>
        <p:txBody>
          <a:bodyPr wrap="square" lIns="0" tIns="0" rIns="0" bIns="0" rtlCol="0" anchor="ctr"/>
          <a:lstStyle/>
          <a:p>
            <a:pPr indent="0" marL="0">
              <a:buNone/>
            </a:pPr>
            <a:r>
              <a:rPr lang="en-US" sz="1300" i="1" dirty="0">
                <a:solidFill>
                  <a:srgbClr val="607080"/>
                </a:solidFill>
              </a:rPr>
              <a:t>Hybrid Knowledge Graph</a:t>
            </a:r>
            <a:endParaRPr lang="en-US" sz="1300" dirty="0"/>
          </a:p>
        </p:txBody>
      </p:sp>
      <p:sp>
        <p:nvSpPr>
          <p:cNvPr id="6" name="Shape 3"/>
          <p:cNvSpPr/>
          <p:nvPr/>
        </p:nvSpPr>
        <p:spPr>
          <a:xfrm>
            <a:off x="457200" y="1005840"/>
            <a:ext cx="8229600" cy="438912"/>
          </a:xfrm>
          <a:prstGeom prst="rect">
            <a:avLst/>
          </a:prstGeom>
          <a:solidFill>
            <a:srgbClr val="FFF8E1"/>
          </a:solidFill>
          <a:ln w="12700">
            <a:solidFill>
              <a:srgbClr val="F57C00"/>
            </a:solidFill>
            <a:prstDash val="solid"/>
          </a:ln>
        </p:spPr>
      </p:sp>
      <p:sp>
        <p:nvSpPr>
          <p:cNvPr id="7" name="Text 4"/>
          <p:cNvSpPr/>
          <p:nvPr/>
        </p:nvSpPr>
        <p:spPr>
          <a:xfrm>
            <a:off x="457200" y="1005840"/>
            <a:ext cx="8229600" cy="438912"/>
          </a:xfrm>
          <a:prstGeom prst="rect">
            <a:avLst/>
          </a:prstGeom>
          <a:noFill/>
          <a:ln/>
        </p:spPr>
        <p:txBody>
          <a:bodyPr wrap="square" lIns="0" tIns="152400" rIns="0" bIns="0" rtlCol="0" anchor="ctr"/>
          <a:lstStyle/>
          <a:p>
            <a:pPr indent="0" marL="0">
              <a:buNone/>
            </a:pPr>
            <a:r>
              <a:rPr lang="en-US" sz="1200" dirty="0">
                <a:solidFill>
                  <a:srgbClr val="1A2540"/>
                </a:solidFill>
                <a:latin typeface="Calibri" pitchFamily="34" charset="0"/>
                <a:ea typeface="Calibri" pitchFamily="34" charset="-122"/>
                <a:cs typeface="Calibri" pitchFamily="34" charset="-120"/>
              </a:rPr>
              <a:t>Example Document:  Ben lives in Seattle. Ben works at Company_X. Company_X is located in Santa Clara.</a:t>
            </a:r>
            <a:endParaRPr lang="en-US" sz="1200" dirty="0"/>
          </a:p>
        </p:txBody>
      </p:sp>
      <p:sp>
        <p:nvSpPr>
          <p:cNvPr id="8" name="Shape 5"/>
          <p:cNvSpPr/>
          <p:nvPr/>
        </p:nvSpPr>
        <p:spPr>
          <a:xfrm>
            <a:off x="365760" y="1554480"/>
            <a:ext cx="3977640" cy="3291840"/>
          </a:xfrm>
          <a:prstGeom prst="rect">
            <a:avLst/>
          </a:prstGeom>
          <a:solidFill>
            <a:srgbClr val="FFFFFF"/>
          </a:solidFill>
          <a:ln w="12700">
            <a:solidFill>
              <a:srgbClr val="1565C0"/>
            </a:solidFill>
            <a:prstDash val="solid"/>
          </a:ln>
          <a:effectLst>
            <a:outerShdw sx="100000" sy="100000" kx="0" ky="0" algn="bl" rotWithShape="0" blurRad="101600" dist="38100" dir="8100000">
              <a:srgbClr val="000000">
                <a:alpha val="13000"/>
              </a:srgbClr>
            </a:outerShdw>
          </a:effectLst>
        </p:spPr>
      </p:sp>
      <p:sp>
        <p:nvSpPr>
          <p:cNvPr id="9" name="Shape 6"/>
          <p:cNvSpPr/>
          <p:nvPr/>
        </p:nvSpPr>
        <p:spPr>
          <a:xfrm>
            <a:off x="365760" y="1554480"/>
            <a:ext cx="3977640" cy="384048"/>
          </a:xfrm>
          <a:prstGeom prst="rect">
            <a:avLst/>
          </a:prstGeom>
          <a:solidFill>
            <a:srgbClr val="1565C0"/>
          </a:solidFill>
          <a:ln w="12700">
            <a:solidFill>
              <a:srgbClr val="1565C0"/>
            </a:solidFill>
            <a:prstDash val="solid"/>
          </a:ln>
        </p:spPr>
      </p:sp>
      <p:sp>
        <p:nvSpPr>
          <p:cNvPr id="10" name="Text 7"/>
          <p:cNvSpPr/>
          <p:nvPr/>
        </p:nvSpPr>
        <p:spPr>
          <a:xfrm>
            <a:off x="365760" y="1554480"/>
            <a:ext cx="3977640" cy="384048"/>
          </a:xfrm>
          <a:prstGeom prst="rect">
            <a:avLst/>
          </a:prstGeom>
          <a:noFill/>
          <a:ln/>
        </p:spPr>
        <p:txBody>
          <a:bodyPr wrap="square" lIns="0" tIns="0" rIns="0" bIns="0" rtlCol="0" anchor="ctr"/>
          <a:lstStyle/>
          <a:p>
            <a:pPr algn="ctr" indent="0" marL="0">
              <a:buNone/>
            </a:pPr>
            <a:r>
              <a:rPr lang="en-US" sz="1300" b="1" dirty="0">
                <a:solidFill>
                  <a:srgbClr val="FFFFFF"/>
                </a:solidFill>
              </a:rPr>
              <a:t>SCHEMA-BASED</a:t>
            </a:r>
            <a:endParaRPr lang="en-US" sz="1300" dirty="0"/>
          </a:p>
        </p:txBody>
      </p:sp>
      <p:sp>
        <p:nvSpPr>
          <p:cNvPr id="11" name="Shape 8"/>
          <p:cNvSpPr/>
          <p:nvPr/>
        </p:nvSpPr>
        <p:spPr>
          <a:xfrm>
            <a:off x="822960" y="2240280"/>
            <a:ext cx="914400" cy="411480"/>
          </a:xfrm>
          <a:prstGeom prst="ellipse">
            <a:avLst/>
          </a:prstGeom>
          <a:solidFill>
            <a:srgbClr val="E3F2FD"/>
          </a:solidFill>
          <a:ln w="12700">
            <a:solidFill>
              <a:srgbClr val="1565C0"/>
            </a:solidFill>
            <a:prstDash val="solid"/>
          </a:ln>
        </p:spPr>
      </p:sp>
      <p:sp>
        <p:nvSpPr>
          <p:cNvPr id="12" name="Text 9"/>
          <p:cNvSpPr/>
          <p:nvPr/>
        </p:nvSpPr>
        <p:spPr>
          <a:xfrm>
            <a:off x="822960" y="2240280"/>
            <a:ext cx="914400" cy="411480"/>
          </a:xfrm>
          <a:prstGeom prst="rect">
            <a:avLst/>
          </a:prstGeom>
          <a:noFill/>
          <a:ln/>
        </p:spPr>
        <p:txBody>
          <a:bodyPr wrap="square" lIns="0" tIns="0" rIns="0" bIns="0" rtlCol="0" anchor="ctr"/>
          <a:lstStyle/>
          <a:p>
            <a:pPr algn="ctr" indent="0" marL="0">
              <a:buNone/>
            </a:pPr>
            <a:r>
              <a:rPr lang="en-US" sz="1000" b="1" dirty="0">
                <a:solidFill>
                  <a:srgbClr val="0D2B55"/>
                </a:solidFill>
              </a:rPr>
              <a:t>Ben</a:t>
            </a:r>
            <a:endParaRPr lang="en-US" sz="1000" dirty="0"/>
          </a:p>
        </p:txBody>
      </p:sp>
      <p:sp>
        <p:nvSpPr>
          <p:cNvPr id="13" name="Shape 10"/>
          <p:cNvSpPr/>
          <p:nvPr/>
        </p:nvSpPr>
        <p:spPr>
          <a:xfrm>
            <a:off x="2011680" y="2011680"/>
            <a:ext cx="914400" cy="411480"/>
          </a:xfrm>
          <a:prstGeom prst="ellipse">
            <a:avLst/>
          </a:prstGeom>
          <a:solidFill>
            <a:srgbClr val="E3F2FD"/>
          </a:solidFill>
          <a:ln w="12700">
            <a:solidFill>
              <a:srgbClr val="1565C0"/>
            </a:solidFill>
            <a:prstDash val="solid"/>
          </a:ln>
        </p:spPr>
      </p:sp>
      <p:sp>
        <p:nvSpPr>
          <p:cNvPr id="14" name="Text 11"/>
          <p:cNvSpPr/>
          <p:nvPr/>
        </p:nvSpPr>
        <p:spPr>
          <a:xfrm>
            <a:off x="2011680" y="2011680"/>
            <a:ext cx="914400" cy="411480"/>
          </a:xfrm>
          <a:prstGeom prst="rect">
            <a:avLst/>
          </a:prstGeom>
          <a:noFill/>
          <a:ln/>
        </p:spPr>
        <p:txBody>
          <a:bodyPr wrap="square" lIns="0" tIns="0" rIns="0" bIns="0" rtlCol="0" anchor="ctr"/>
          <a:lstStyle/>
          <a:p>
            <a:pPr algn="ctr" indent="0" marL="0">
              <a:buNone/>
            </a:pPr>
            <a:r>
              <a:rPr lang="en-US" sz="1000" b="1" dirty="0">
                <a:solidFill>
                  <a:srgbClr val="0D2B55"/>
                </a:solidFill>
              </a:rPr>
              <a:t>Company_X</a:t>
            </a:r>
            <a:endParaRPr lang="en-US" sz="1000" dirty="0"/>
          </a:p>
        </p:txBody>
      </p:sp>
      <p:sp>
        <p:nvSpPr>
          <p:cNvPr id="15" name="Shape 12"/>
          <p:cNvSpPr/>
          <p:nvPr/>
        </p:nvSpPr>
        <p:spPr>
          <a:xfrm>
            <a:off x="3200400" y="2240280"/>
            <a:ext cx="914400" cy="411480"/>
          </a:xfrm>
          <a:prstGeom prst="ellipse">
            <a:avLst/>
          </a:prstGeom>
          <a:solidFill>
            <a:srgbClr val="E3F2FD"/>
          </a:solidFill>
          <a:ln w="12700">
            <a:solidFill>
              <a:srgbClr val="1565C0"/>
            </a:solidFill>
            <a:prstDash val="solid"/>
          </a:ln>
        </p:spPr>
      </p:sp>
      <p:sp>
        <p:nvSpPr>
          <p:cNvPr id="16" name="Text 13"/>
          <p:cNvSpPr/>
          <p:nvPr/>
        </p:nvSpPr>
        <p:spPr>
          <a:xfrm>
            <a:off x="3200400" y="2240280"/>
            <a:ext cx="914400" cy="411480"/>
          </a:xfrm>
          <a:prstGeom prst="rect">
            <a:avLst/>
          </a:prstGeom>
          <a:noFill/>
          <a:ln/>
        </p:spPr>
        <p:txBody>
          <a:bodyPr wrap="square" lIns="0" tIns="0" rIns="0" bIns="0" rtlCol="0" anchor="ctr"/>
          <a:lstStyle/>
          <a:p>
            <a:pPr algn="ctr" indent="0" marL="0">
              <a:buNone/>
            </a:pPr>
            <a:r>
              <a:rPr lang="en-US" sz="1000" b="1" dirty="0">
                <a:solidFill>
                  <a:srgbClr val="0D2B55"/>
                </a:solidFill>
              </a:rPr>
              <a:t>Santa Clara</a:t>
            </a:r>
            <a:endParaRPr lang="en-US" sz="1000" dirty="0"/>
          </a:p>
        </p:txBody>
      </p:sp>
      <p:sp>
        <p:nvSpPr>
          <p:cNvPr id="17" name="Shape 14"/>
          <p:cNvSpPr/>
          <p:nvPr/>
        </p:nvSpPr>
        <p:spPr>
          <a:xfrm>
            <a:off x="1188720" y="2926080"/>
            <a:ext cx="914400" cy="411480"/>
          </a:xfrm>
          <a:prstGeom prst="ellipse">
            <a:avLst/>
          </a:prstGeom>
          <a:solidFill>
            <a:srgbClr val="E3F2FD"/>
          </a:solidFill>
          <a:ln w="12700">
            <a:solidFill>
              <a:srgbClr val="1565C0"/>
            </a:solidFill>
            <a:prstDash val="solid"/>
          </a:ln>
        </p:spPr>
      </p:sp>
      <p:sp>
        <p:nvSpPr>
          <p:cNvPr id="18" name="Text 15"/>
          <p:cNvSpPr/>
          <p:nvPr/>
        </p:nvSpPr>
        <p:spPr>
          <a:xfrm>
            <a:off x="1188720" y="2926080"/>
            <a:ext cx="914400" cy="411480"/>
          </a:xfrm>
          <a:prstGeom prst="rect">
            <a:avLst/>
          </a:prstGeom>
          <a:noFill/>
          <a:ln/>
        </p:spPr>
        <p:txBody>
          <a:bodyPr wrap="square" lIns="0" tIns="0" rIns="0" bIns="0" rtlCol="0" anchor="ctr"/>
          <a:lstStyle/>
          <a:p>
            <a:pPr algn="ctr" indent="0" marL="0">
              <a:buNone/>
            </a:pPr>
            <a:r>
              <a:rPr lang="en-US" sz="1000" b="1" dirty="0">
                <a:solidFill>
                  <a:srgbClr val="0D2B55"/>
                </a:solidFill>
              </a:rPr>
              <a:t>Seattle</a:t>
            </a:r>
            <a:endParaRPr lang="en-US" sz="1000" dirty="0"/>
          </a:p>
        </p:txBody>
      </p:sp>
      <p:sp>
        <p:nvSpPr>
          <p:cNvPr id="19" name="Shape 16"/>
          <p:cNvSpPr/>
          <p:nvPr/>
        </p:nvSpPr>
        <p:spPr>
          <a:xfrm>
            <a:off x="1737360" y="2441448"/>
            <a:ext cx="274320" cy="-228600"/>
          </a:xfrm>
          <a:prstGeom prst="line">
            <a:avLst/>
          </a:prstGeom>
          <a:noFill/>
          <a:ln w="19050">
            <a:solidFill>
              <a:srgbClr val="1565C0"/>
            </a:solidFill>
            <a:prstDash val="solid"/>
          </a:ln>
        </p:spPr>
      </p:sp>
      <p:sp>
        <p:nvSpPr>
          <p:cNvPr id="20" name="Shape 17"/>
          <p:cNvSpPr/>
          <p:nvPr/>
        </p:nvSpPr>
        <p:spPr>
          <a:xfrm>
            <a:off x="2926080" y="2212848"/>
            <a:ext cx="274320" cy="228600"/>
          </a:xfrm>
          <a:prstGeom prst="line">
            <a:avLst/>
          </a:prstGeom>
          <a:noFill/>
          <a:ln w="19050">
            <a:solidFill>
              <a:srgbClr val="1565C0"/>
            </a:solidFill>
            <a:prstDash val="solid"/>
          </a:ln>
        </p:spPr>
      </p:sp>
      <p:sp>
        <p:nvSpPr>
          <p:cNvPr id="21" name="Shape 18"/>
          <p:cNvSpPr/>
          <p:nvPr/>
        </p:nvSpPr>
        <p:spPr>
          <a:xfrm>
            <a:off x="1234440" y="2450592"/>
            <a:ext cx="-45720" cy="274320"/>
          </a:xfrm>
          <a:prstGeom prst="line">
            <a:avLst/>
          </a:prstGeom>
          <a:noFill/>
          <a:ln w="19050">
            <a:solidFill>
              <a:srgbClr val="1565C0"/>
            </a:solidFill>
            <a:prstDash val="solid"/>
          </a:ln>
        </p:spPr>
      </p:sp>
      <p:sp>
        <p:nvSpPr>
          <p:cNvPr id="22" name="Text 19"/>
          <p:cNvSpPr/>
          <p:nvPr/>
        </p:nvSpPr>
        <p:spPr>
          <a:xfrm>
            <a:off x="1572768" y="2084832"/>
            <a:ext cx="822960" cy="274320"/>
          </a:xfrm>
          <a:prstGeom prst="rect">
            <a:avLst/>
          </a:prstGeom>
          <a:noFill/>
          <a:ln/>
        </p:spPr>
        <p:txBody>
          <a:bodyPr wrap="square" lIns="0" tIns="0" rIns="0" bIns="0" rtlCol="0" anchor="ctr"/>
          <a:lstStyle/>
          <a:p>
            <a:pPr algn="ctr" indent="0" marL="0">
              <a:buNone/>
            </a:pPr>
            <a:r>
              <a:rPr lang="en-US" sz="850" i="1" dirty="0">
                <a:solidFill>
                  <a:srgbClr val="1565C0"/>
                </a:solidFill>
              </a:rPr>
              <a:t>works_at</a:t>
            </a:r>
            <a:endParaRPr lang="en-US" sz="850" dirty="0"/>
          </a:p>
        </p:txBody>
      </p:sp>
      <p:sp>
        <p:nvSpPr>
          <p:cNvPr id="23" name="Text 20"/>
          <p:cNvSpPr/>
          <p:nvPr/>
        </p:nvSpPr>
        <p:spPr>
          <a:xfrm>
            <a:off x="2743200" y="2039112"/>
            <a:ext cx="822960" cy="274320"/>
          </a:xfrm>
          <a:prstGeom prst="rect">
            <a:avLst/>
          </a:prstGeom>
          <a:noFill/>
          <a:ln/>
        </p:spPr>
        <p:txBody>
          <a:bodyPr wrap="square" lIns="0" tIns="0" rIns="0" bIns="0" rtlCol="0" anchor="ctr"/>
          <a:lstStyle/>
          <a:p>
            <a:pPr algn="ctr" indent="0" marL="0">
              <a:buNone/>
            </a:pPr>
            <a:r>
              <a:rPr lang="en-US" sz="850" i="1" dirty="0">
                <a:solidFill>
                  <a:srgbClr val="1565C0"/>
                </a:solidFill>
              </a:rPr>
              <a:t>located_in</a:t>
            </a:r>
            <a:endParaRPr lang="en-US" sz="850" dirty="0"/>
          </a:p>
        </p:txBody>
      </p:sp>
      <p:sp>
        <p:nvSpPr>
          <p:cNvPr id="24" name="Text 21"/>
          <p:cNvSpPr/>
          <p:nvPr/>
        </p:nvSpPr>
        <p:spPr>
          <a:xfrm>
            <a:off x="621792" y="2651760"/>
            <a:ext cx="731520" cy="274320"/>
          </a:xfrm>
          <a:prstGeom prst="rect">
            <a:avLst/>
          </a:prstGeom>
          <a:noFill/>
          <a:ln/>
        </p:spPr>
        <p:txBody>
          <a:bodyPr wrap="square" lIns="0" tIns="0" rIns="0" bIns="0" rtlCol="0" anchor="ctr"/>
          <a:lstStyle/>
          <a:p>
            <a:pPr algn="ctr" indent="0" marL="0">
              <a:buNone/>
            </a:pPr>
            <a:r>
              <a:rPr lang="en-US" sz="850" i="1" dirty="0">
                <a:solidFill>
                  <a:srgbClr val="1565C0"/>
                </a:solidFill>
              </a:rPr>
              <a:t>lives_in</a:t>
            </a:r>
            <a:endParaRPr lang="en-US" sz="850" dirty="0"/>
          </a:p>
        </p:txBody>
      </p:sp>
      <p:sp>
        <p:nvSpPr>
          <p:cNvPr id="25" name="Text 22"/>
          <p:cNvSpPr/>
          <p:nvPr/>
        </p:nvSpPr>
        <p:spPr>
          <a:xfrm>
            <a:off x="548640" y="3429000"/>
            <a:ext cx="3657600" cy="320040"/>
          </a:xfrm>
          <a:prstGeom prst="rect">
            <a:avLst/>
          </a:prstGeom>
          <a:noFill/>
          <a:ln/>
        </p:spPr>
        <p:txBody>
          <a:bodyPr wrap="square" lIns="0" tIns="0" rIns="0" bIns="0" rtlCol="0" anchor="ctr"/>
          <a:lstStyle/>
          <a:p>
            <a:pPr indent="0" marL="0">
              <a:buNone/>
            </a:pPr>
            <a:r>
              <a:rPr lang="en-US" sz="1100" b="1" dirty="0">
                <a:solidFill>
                  <a:srgbClr val="0D2B55"/>
                </a:solidFill>
              </a:rPr>
              <a:t>Schema:</a:t>
            </a:r>
            <a:endParaRPr lang="en-US" sz="1100" dirty="0"/>
          </a:p>
        </p:txBody>
      </p:sp>
      <p:sp>
        <p:nvSpPr>
          <p:cNvPr id="26" name="Text 23"/>
          <p:cNvSpPr/>
          <p:nvPr/>
        </p:nvSpPr>
        <p:spPr>
          <a:xfrm>
            <a:off x="548640" y="3749040"/>
            <a:ext cx="3657600" cy="822960"/>
          </a:xfrm>
          <a:prstGeom prst="rect">
            <a:avLst/>
          </a:prstGeom>
          <a:noFill/>
          <a:ln/>
        </p:spPr>
        <p:txBody>
          <a:bodyPr wrap="square" lIns="0" tIns="0" rIns="0" bIns="0" rtlCol="0" anchor="ctr"/>
          <a:lstStyle/>
          <a:p>
            <a:pPr indent="0" marL="0">
              <a:buNone/>
            </a:pPr>
            <a:r>
              <a:rPr lang="en-US" sz="1000" dirty="0">
                <a:solidFill>
                  <a:srgbClr val="1565C0"/>
                </a:solidFill>
                <a:latin typeface="Consolas" pitchFamily="34" charset="0"/>
                <a:ea typeface="Consolas" pitchFamily="34" charset="-122"/>
                <a:cs typeface="Consolas" pitchFamily="34" charset="-120"/>
              </a:rPr>
              <a:t>(:Person) -[:LIVES_IN]-&gt; (:City)</a:t>
            </a:r>
            <a:endParaRPr lang="en-US" sz="1000" dirty="0"/>
          </a:p>
          <a:p>
            <a:pPr indent="0" marL="0">
              <a:buNone/>
            </a:pPr>
            <a:r>
              <a:rPr lang="en-US" sz="1000" dirty="0">
                <a:solidFill>
                  <a:srgbClr val="1565C0"/>
                </a:solidFill>
                <a:latin typeface="Consolas" pitchFamily="34" charset="0"/>
                <a:ea typeface="Consolas" pitchFamily="34" charset="-122"/>
                <a:cs typeface="Consolas" pitchFamily="34" charset="-120"/>
              </a:rPr>
              <a:t>(:Person) -[:WORKS_AT]-&gt; (:Company)</a:t>
            </a:r>
            <a:endParaRPr lang="en-US" sz="1000" dirty="0"/>
          </a:p>
          <a:p>
            <a:pPr indent="0" marL="0">
              <a:buNone/>
            </a:pPr>
            <a:r>
              <a:rPr lang="en-US" sz="1000" dirty="0">
                <a:solidFill>
                  <a:srgbClr val="1565C0"/>
                </a:solidFill>
                <a:latin typeface="Consolas" pitchFamily="34" charset="0"/>
                <a:ea typeface="Consolas" pitchFamily="34" charset="-122"/>
                <a:cs typeface="Consolas" pitchFamily="34" charset="-120"/>
              </a:rPr>
              <a:t>(:Company) -[:LOCATED_IN]-&gt; (:City)</a:t>
            </a:r>
            <a:endParaRPr lang="en-US" sz="1000" dirty="0"/>
          </a:p>
        </p:txBody>
      </p:sp>
      <p:sp>
        <p:nvSpPr>
          <p:cNvPr id="27" name="Shape 24"/>
          <p:cNvSpPr/>
          <p:nvPr/>
        </p:nvSpPr>
        <p:spPr>
          <a:xfrm>
            <a:off x="4754880" y="1554480"/>
            <a:ext cx="3977640" cy="3291840"/>
          </a:xfrm>
          <a:prstGeom prst="rect">
            <a:avLst/>
          </a:prstGeom>
          <a:solidFill>
            <a:srgbClr val="FFFFFF"/>
          </a:solidFill>
          <a:ln w="12700">
            <a:solidFill>
              <a:srgbClr val="00897B"/>
            </a:solidFill>
            <a:prstDash val="solid"/>
          </a:ln>
          <a:effectLst>
            <a:outerShdw sx="100000" sy="100000" kx="0" ky="0" algn="bl" rotWithShape="0" blurRad="101600" dist="38100" dir="8100000">
              <a:srgbClr val="000000">
                <a:alpha val="13000"/>
              </a:srgbClr>
            </a:outerShdw>
          </a:effectLst>
        </p:spPr>
      </p:sp>
      <p:sp>
        <p:nvSpPr>
          <p:cNvPr id="28" name="Shape 25"/>
          <p:cNvSpPr/>
          <p:nvPr/>
        </p:nvSpPr>
        <p:spPr>
          <a:xfrm>
            <a:off x="4754880" y="1554480"/>
            <a:ext cx="3977640" cy="384048"/>
          </a:xfrm>
          <a:prstGeom prst="rect">
            <a:avLst/>
          </a:prstGeom>
          <a:solidFill>
            <a:srgbClr val="00897B"/>
          </a:solidFill>
          <a:ln w="12700">
            <a:solidFill>
              <a:srgbClr val="00897B"/>
            </a:solidFill>
            <a:prstDash val="solid"/>
          </a:ln>
        </p:spPr>
      </p:sp>
      <p:sp>
        <p:nvSpPr>
          <p:cNvPr id="29" name="Text 26"/>
          <p:cNvSpPr/>
          <p:nvPr/>
        </p:nvSpPr>
        <p:spPr>
          <a:xfrm>
            <a:off x="4754880" y="1554480"/>
            <a:ext cx="3977640" cy="384048"/>
          </a:xfrm>
          <a:prstGeom prst="rect">
            <a:avLst/>
          </a:prstGeom>
          <a:noFill/>
          <a:ln/>
        </p:spPr>
        <p:txBody>
          <a:bodyPr wrap="square" lIns="0" tIns="0" rIns="0" bIns="0" rtlCol="0" anchor="ctr"/>
          <a:lstStyle/>
          <a:p>
            <a:pPr algn="ctr" indent="0" marL="0">
              <a:buNone/>
            </a:pPr>
            <a:r>
              <a:rPr lang="en-US" sz="1300" b="1" dirty="0">
                <a:solidFill>
                  <a:srgbClr val="FFFFFF"/>
                </a:solidFill>
              </a:rPr>
              <a:t>SCHEMA-LESS</a:t>
            </a:r>
            <a:endParaRPr lang="en-US" sz="1300" dirty="0"/>
          </a:p>
        </p:txBody>
      </p:sp>
      <p:sp>
        <p:nvSpPr>
          <p:cNvPr id="30" name="Shape 27"/>
          <p:cNvSpPr/>
          <p:nvPr/>
        </p:nvSpPr>
        <p:spPr>
          <a:xfrm>
            <a:off x="4846320" y="2057400"/>
            <a:ext cx="1097280" cy="640080"/>
          </a:xfrm>
          <a:prstGeom prst="rect">
            <a:avLst/>
          </a:prstGeom>
          <a:solidFill>
            <a:srgbClr val="E0F2F1"/>
          </a:solidFill>
          <a:ln w="12700">
            <a:solidFill>
              <a:srgbClr val="00897B"/>
            </a:solidFill>
            <a:prstDash val="solid"/>
          </a:ln>
        </p:spPr>
      </p:sp>
      <p:sp>
        <p:nvSpPr>
          <p:cNvPr id="31" name="Text 28"/>
          <p:cNvSpPr/>
          <p:nvPr/>
        </p:nvSpPr>
        <p:spPr>
          <a:xfrm>
            <a:off x="4846320" y="2057400"/>
            <a:ext cx="1097280" cy="640080"/>
          </a:xfrm>
          <a:prstGeom prst="rect">
            <a:avLst/>
          </a:prstGeom>
          <a:noFill/>
          <a:ln/>
        </p:spPr>
        <p:txBody>
          <a:bodyPr wrap="square" lIns="25400" tIns="25400" rIns="25400" bIns="25400" rtlCol="0" anchor="ctr"/>
          <a:lstStyle/>
          <a:p>
            <a:pPr algn="ctr" indent="0" marL="0">
              <a:buNone/>
            </a:pPr>
            <a:r>
              <a:rPr lang="en-US" sz="900" dirty="0">
                <a:solidFill>
                  <a:srgbClr val="0D2B55"/>
                </a:solidFill>
              </a:rPr>
              <a:t>Ben lives</a:t>
            </a:r>
            <a:endParaRPr lang="en-US" sz="900" dirty="0"/>
          </a:p>
          <a:p>
            <a:pPr algn="ctr" indent="0" marL="0">
              <a:buNone/>
            </a:pPr>
            <a:r>
              <a:rPr lang="en-US" sz="900" dirty="0">
                <a:solidFill>
                  <a:srgbClr val="0D2B55"/>
                </a:solidFill>
              </a:rPr>
              <a:t>in Seattle.</a:t>
            </a:r>
            <a:endParaRPr lang="en-US" sz="900" dirty="0"/>
          </a:p>
        </p:txBody>
      </p:sp>
      <p:sp>
        <p:nvSpPr>
          <p:cNvPr id="32" name="Shape 29"/>
          <p:cNvSpPr/>
          <p:nvPr/>
        </p:nvSpPr>
        <p:spPr>
          <a:xfrm>
            <a:off x="6035040" y="2057400"/>
            <a:ext cx="1097280" cy="640080"/>
          </a:xfrm>
          <a:prstGeom prst="rect">
            <a:avLst/>
          </a:prstGeom>
          <a:solidFill>
            <a:srgbClr val="E0F2F1"/>
          </a:solidFill>
          <a:ln w="12700">
            <a:solidFill>
              <a:srgbClr val="00897B"/>
            </a:solidFill>
            <a:prstDash val="solid"/>
          </a:ln>
        </p:spPr>
      </p:sp>
      <p:sp>
        <p:nvSpPr>
          <p:cNvPr id="33" name="Text 30"/>
          <p:cNvSpPr/>
          <p:nvPr/>
        </p:nvSpPr>
        <p:spPr>
          <a:xfrm>
            <a:off x="6035040" y="2057400"/>
            <a:ext cx="1097280" cy="640080"/>
          </a:xfrm>
          <a:prstGeom prst="rect">
            <a:avLst/>
          </a:prstGeom>
          <a:noFill/>
          <a:ln/>
        </p:spPr>
        <p:txBody>
          <a:bodyPr wrap="square" lIns="25400" tIns="25400" rIns="25400" bIns="25400" rtlCol="0" anchor="ctr"/>
          <a:lstStyle/>
          <a:p>
            <a:pPr algn="ctr" indent="0" marL="0">
              <a:buNone/>
            </a:pPr>
            <a:r>
              <a:rPr lang="en-US" sz="900" dirty="0">
                <a:solidFill>
                  <a:srgbClr val="0D2B55"/>
                </a:solidFill>
              </a:rPr>
              <a:t>Ben works at</a:t>
            </a:r>
            <a:endParaRPr lang="en-US" sz="900" dirty="0"/>
          </a:p>
          <a:p>
            <a:pPr algn="ctr" indent="0" marL="0">
              <a:buNone/>
            </a:pPr>
            <a:r>
              <a:rPr lang="en-US" sz="900" dirty="0">
                <a:solidFill>
                  <a:srgbClr val="0D2B55"/>
                </a:solidFill>
              </a:rPr>
              <a:t>Company_X</a:t>
            </a:r>
            <a:endParaRPr lang="en-US" sz="900" dirty="0"/>
          </a:p>
        </p:txBody>
      </p:sp>
      <p:sp>
        <p:nvSpPr>
          <p:cNvPr id="34" name="Shape 31"/>
          <p:cNvSpPr/>
          <p:nvPr/>
        </p:nvSpPr>
        <p:spPr>
          <a:xfrm>
            <a:off x="7315200" y="2057400"/>
            <a:ext cx="1097280" cy="640080"/>
          </a:xfrm>
          <a:prstGeom prst="rect">
            <a:avLst/>
          </a:prstGeom>
          <a:solidFill>
            <a:srgbClr val="E0F2F1"/>
          </a:solidFill>
          <a:ln w="12700">
            <a:solidFill>
              <a:srgbClr val="00897B"/>
            </a:solidFill>
            <a:prstDash val="solid"/>
          </a:ln>
        </p:spPr>
      </p:sp>
      <p:sp>
        <p:nvSpPr>
          <p:cNvPr id="35" name="Text 32"/>
          <p:cNvSpPr/>
          <p:nvPr/>
        </p:nvSpPr>
        <p:spPr>
          <a:xfrm>
            <a:off x="7315200" y="2057400"/>
            <a:ext cx="1097280" cy="640080"/>
          </a:xfrm>
          <a:prstGeom prst="rect">
            <a:avLst/>
          </a:prstGeom>
          <a:noFill/>
          <a:ln/>
        </p:spPr>
        <p:txBody>
          <a:bodyPr wrap="square" lIns="25400" tIns="25400" rIns="25400" bIns="25400" rtlCol="0" anchor="ctr"/>
          <a:lstStyle/>
          <a:p>
            <a:pPr algn="ctr" indent="0" marL="0">
              <a:buNone/>
            </a:pPr>
            <a:r>
              <a:rPr lang="en-US" sz="900" dirty="0">
                <a:solidFill>
                  <a:srgbClr val="0D2B55"/>
                </a:solidFill>
              </a:rPr>
              <a:t>Company_X is</a:t>
            </a:r>
            <a:endParaRPr lang="en-US" sz="900" dirty="0"/>
          </a:p>
          <a:p>
            <a:pPr algn="ctr" indent="0" marL="0">
              <a:buNone/>
            </a:pPr>
            <a:r>
              <a:rPr lang="en-US" sz="900" dirty="0">
                <a:solidFill>
                  <a:srgbClr val="0D2B55"/>
                </a:solidFill>
              </a:rPr>
              <a:t>located in Santa Clara</a:t>
            </a:r>
            <a:endParaRPr lang="en-US" sz="900" dirty="0"/>
          </a:p>
        </p:txBody>
      </p:sp>
      <p:sp>
        <p:nvSpPr>
          <p:cNvPr id="36" name="Shape 33"/>
          <p:cNvSpPr/>
          <p:nvPr/>
        </p:nvSpPr>
        <p:spPr>
          <a:xfrm>
            <a:off x="6583680" y="2377440"/>
            <a:ext cx="731520" cy="777240"/>
          </a:xfrm>
          <a:prstGeom prst="line">
            <a:avLst/>
          </a:prstGeom>
          <a:noFill/>
          <a:ln w="19050">
            <a:solidFill>
              <a:srgbClr val="00897B"/>
            </a:solidFill>
            <a:prstDash val="solid"/>
          </a:ln>
        </p:spPr>
      </p:sp>
      <p:sp>
        <p:nvSpPr>
          <p:cNvPr id="37" name="Shape 34"/>
          <p:cNvSpPr/>
          <p:nvPr/>
        </p:nvSpPr>
        <p:spPr>
          <a:xfrm>
            <a:off x="7132320" y="2377440"/>
            <a:ext cx="182880" cy="777240"/>
          </a:xfrm>
          <a:prstGeom prst="line">
            <a:avLst/>
          </a:prstGeom>
          <a:noFill/>
          <a:ln w="19050">
            <a:solidFill>
              <a:srgbClr val="00897B"/>
            </a:solidFill>
            <a:prstDash val="solid"/>
          </a:ln>
        </p:spPr>
      </p:sp>
      <p:sp>
        <p:nvSpPr>
          <p:cNvPr id="38" name="Text 35"/>
          <p:cNvSpPr/>
          <p:nvPr/>
        </p:nvSpPr>
        <p:spPr>
          <a:xfrm>
            <a:off x="5943600" y="3246120"/>
            <a:ext cx="2286000" cy="320040"/>
          </a:xfrm>
          <a:prstGeom prst="rect">
            <a:avLst/>
          </a:prstGeom>
          <a:noFill/>
          <a:ln/>
        </p:spPr>
        <p:txBody>
          <a:bodyPr wrap="square" lIns="0" tIns="0" rIns="0" bIns="0" rtlCol="0" anchor="ctr"/>
          <a:lstStyle/>
          <a:p>
            <a:pPr algn="ctr" indent="0" marL="0">
              <a:buNone/>
            </a:pPr>
            <a:r>
              <a:rPr lang="en-US" sz="900" i="1" dirty="0">
                <a:solidFill>
                  <a:srgbClr val="00897B"/>
                </a:solidFill>
              </a:rPr>
              <a:t>has_keyword: Company_X</a:t>
            </a:r>
            <a:endParaRPr lang="en-US" sz="900" dirty="0"/>
          </a:p>
        </p:txBody>
      </p:sp>
      <p:sp>
        <p:nvSpPr>
          <p:cNvPr id="39" name="Text 36"/>
          <p:cNvSpPr/>
          <p:nvPr/>
        </p:nvSpPr>
        <p:spPr>
          <a:xfrm>
            <a:off x="4846320" y="3749040"/>
            <a:ext cx="3657600" cy="777240"/>
          </a:xfrm>
          <a:prstGeom prst="rect">
            <a:avLst/>
          </a:prstGeom>
          <a:noFill/>
          <a:ln/>
        </p:spPr>
        <p:txBody>
          <a:bodyPr wrap="square" lIns="0" tIns="0" rIns="0" bIns="0" rtlCol="0" anchor="ctr"/>
          <a:lstStyle/>
          <a:p>
            <a:pPr indent="0" marL="0">
              <a:buNone/>
            </a:pPr>
            <a:r>
              <a:rPr lang="en-US" sz="1100" dirty="0">
                <a:solidFill>
                  <a:srgbClr val="334455"/>
                </a:solidFill>
                <a:latin typeface="Calibri" pitchFamily="34" charset="0"/>
                <a:ea typeface="Calibri" pitchFamily="34" charset="-122"/>
                <a:cs typeface="Calibri" pitchFamily="34" charset="-120"/>
              </a:rPr>
              <a:t>Sentences stored as nodes linked by keywords.</a:t>
            </a:r>
            <a:endParaRPr lang="en-US" sz="1100" dirty="0"/>
          </a:p>
          <a:p>
            <a:pPr indent="0" marL="0">
              <a:buNone/>
            </a:pPr>
            <a:r>
              <a:rPr lang="en-US" sz="1100" dirty="0">
                <a:solidFill>
                  <a:srgbClr val="334455"/>
                </a:solidFill>
                <a:latin typeface="Calibri" pitchFamily="34" charset="0"/>
                <a:ea typeface="Calibri" pitchFamily="34" charset="-122"/>
                <a:cs typeface="Calibri" pitchFamily="34" charset="-120"/>
              </a:rPr>
              <a:t>No predefined schema required.</a:t>
            </a:r>
            <a:endParaRPr lang="en-US" sz="1100" dirty="0"/>
          </a:p>
        </p:txBody>
      </p:sp>
      <p:sp>
        <p:nvSpPr>
          <p:cNvPr id="40" name="Shape 37"/>
          <p:cNvSpPr/>
          <p:nvPr/>
        </p:nvSpPr>
        <p:spPr>
          <a:xfrm>
            <a:off x="4160520" y="2651760"/>
            <a:ext cx="822960" cy="822960"/>
          </a:xfrm>
          <a:prstGeom prst="ellipse">
            <a:avLst/>
          </a:prstGeom>
          <a:solidFill>
            <a:srgbClr val="F57C00"/>
          </a:solidFill>
          <a:ln w="12700">
            <a:solidFill>
              <a:srgbClr val="F57C00"/>
            </a:solidFill>
            <a:prstDash val="solid"/>
          </a:ln>
        </p:spPr>
      </p:sp>
      <p:sp>
        <p:nvSpPr>
          <p:cNvPr id="41" name="Text 38"/>
          <p:cNvSpPr/>
          <p:nvPr/>
        </p:nvSpPr>
        <p:spPr>
          <a:xfrm>
            <a:off x="4160520" y="2651760"/>
            <a:ext cx="822960" cy="822960"/>
          </a:xfrm>
          <a:prstGeom prst="rect">
            <a:avLst/>
          </a:prstGeom>
          <a:noFill/>
          <a:ln/>
        </p:spPr>
        <p:txBody>
          <a:bodyPr wrap="square" lIns="0" tIns="0" rIns="0" bIns="0" rtlCol="0" anchor="ctr"/>
          <a:lstStyle/>
          <a:p>
            <a:pPr algn="ctr" indent="0" marL="0">
              <a:buNone/>
            </a:pPr>
            <a:r>
              <a:rPr lang="en-US" sz="1300" b="1" dirty="0">
                <a:solidFill>
                  <a:srgbClr val="FFFFFF"/>
                </a:solidFill>
              </a:rPr>
              <a:t>HKG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B55"/>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2196F3"/>
          </a:solidFill>
          <a:ln w="12700">
            <a:solidFill>
              <a:srgbClr val="2196F3"/>
            </a:solidFill>
            <a:prstDash val="solid"/>
          </a:ln>
        </p:spPr>
      </p:sp>
      <p:sp>
        <p:nvSpPr>
          <p:cNvPr id="4" name="Text 1"/>
          <p:cNvSpPr/>
          <p:nvPr/>
        </p:nvSpPr>
        <p:spPr>
          <a:xfrm>
            <a:off x="274320" y="164592"/>
            <a:ext cx="5943600" cy="566928"/>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Hybrid Knowledge Graph Framework</a:t>
            </a:r>
            <a:endParaRPr lang="en-US" sz="2600" dirty="0"/>
          </a:p>
        </p:txBody>
      </p:sp>
      <p:sp>
        <p:nvSpPr>
          <p:cNvPr id="5" name="Text 2"/>
          <p:cNvSpPr/>
          <p:nvPr/>
        </p:nvSpPr>
        <p:spPr>
          <a:xfrm>
            <a:off x="274320" y="694944"/>
            <a:ext cx="5943600" cy="292608"/>
          </a:xfrm>
          <a:prstGeom prst="rect">
            <a:avLst/>
          </a:prstGeom>
          <a:noFill/>
          <a:ln/>
        </p:spPr>
        <p:txBody>
          <a:bodyPr wrap="square" lIns="0" tIns="0" rIns="0" bIns="0" rtlCol="0" anchor="ctr"/>
          <a:lstStyle/>
          <a:p>
            <a:pPr indent="0" marL="0">
              <a:buNone/>
            </a:pPr>
            <a:r>
              <a:rPr lang="en-US" sz="1200" i="1" dirty="0">
                <a:solidFill>
                  <a:srgbClr val="88AACC"/>
                </a:solidFill>
              </a:rPr>
              <a:t>Scalable, hybrid framework for search &amp; discovery</a:t>
            </a:r>
            <a:endParaRPr lang="en-US" sz="1200" dirty="0"/>
          </a:p>
        </p:txBody>
      </p:sp>
      <p:sp>
        <p:nvSpPr>
          <p:cNvPr id="6" name="Shape 3"/>
          <p:cNvSpPr/>
          <p:nvPr/>
        </p:nvSpPr>
        <p:spPr>
          <a:xfrm>
            <a:off x="274320" y="4480560"/>
            <a:ext cx="1371600" cy="658368"/>
          </a:xfrm>
          <a:prstGeom prst="rect">
            <a:avLst/>
          </a:prstGeom>
          <a:solidFill>
            <a:srgbClr val="334455"/>
          </a:solidFill>
          <a:ln w="12700">
            <a:solidFill>
              <a:srgbClr val="2196F3"/>
            </a:solidFill>
            <a:prstDash val="solid"/>
          </a:ln>
        </p:spPr>
      </p:sp>
      <p:sp>
        <p:nvSpPr>
          <p:cNvPr id="7" name="Text 4"/>
          <p:cNvSpPr/>
          <p:nvPr/>
        </p:nvSpPr>
        <p:spPr>
          <a:xfrm>
            <a:off x="274320" y="4480560"/>
            <a:ext cx="1371600" cy="658368"/>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Data</a:t>
            </a:r>
            <a:endParaRPr lang="en-US" sz="1100" dirty="0"/>
          </a:p>
          <a:p>
            <a:pPr algn="ctr" indent="0" marL="0">
              <a:buNone/>
            </a:pPr>
            <a:r>
              <a:rPr lang="en-US" sz="1100" b="1" dirty="0">
                <a:solidFill>
                  <a:srgbClr val="FFFFFF"/>
                </a:solidFill>
              </a:rPr>
              <a:t>Sources</a:t>
            </a:r>
            <a:endParaRPr lang="en-US" sz="1100" dirty="0"/>
          </a:p>
        </p:txBody>
      </p:sp>
      <p:sp>
        <p:nvSpPr>
          <p:cNvPr id="8" name="Shape 5"/>
          <p:cNvSpPr/>
          <p:nvPr/>
        </p:nvSpPr>
        <p:spPr>
          <a:xfrm>
            <a:off x="1645920" y="4480560"/>
            <a:ext cx="7132320" cy="658368"/>
          </a:xfrm>
          <a:prstGeom prst="rect">
            <a:avLst/>
          </a:prstGeom>
          <a:solidFill>
            <a:srgbClr val="3D5A7A"/>
          </a:solidFill>
          <a:ln w="12700">
            <a:solidFill>
              <a:srgbClr val="2A4A7A"/>
            </a:solidFill>
            <a:prstDash val="solid"/>
          </a:ln>
        </p:spPr>
      </p:sp>
      <p:sp>
        <p:nvSpPr>
          <p:cNvPr id="9" name="Text 6"/>
          <p:cNvSpPr/>
          <p:nvPr/>
        </p:nvSpPr>
        <p:spPr>
          <a:xfrm>
            <a:off x="1691640" y="4480560"/>
            <a:ext cx="6995160" cy="658368"/>
          </a:xfrm>
          <a:prstGeom prst="rect">
            <a:avLst/>
          </a:prstGeom>
          <a:noFill/>
          <a:ln/>
        </p:spPr>
        <p:txBody>
          <a:bodyPr wrap="square" lIns="0" tIns="101600" rIns="0" bIns="0" rtlCol="0" anchor="ctr"/>
          <a:lstStyle/>
          <a:p>
            <a:pPr indent="0" marL="0">
              <a:buNone/>
            </a:pPr>
            <a:r>
              <a:rPr lang="en-US" sz="1000" dirty="0">
                <a:solidFill>
                  <a:srgbClr val="CCDDEE"/>
                </a:solidFill>
              </a:rPr>
              <a:t>Structured data   ·   Un-Structured data   ·   Images</a:t>
            </a:r>
            <a:endParaRPr lang="en-US" sz="1000" dirty="0"/>
          </a:p>
        </p:txBody>
      </p:sp>
      <p:sp>
        <p:nvSpPr>
          <p:cNvPr id="10" name="Shape 7"/>
          <p:cNvSpPr/>
          <p:nvPr/>
        </p:nvSpPr>
        <p:spPr>
          <a:xfrm>
            <a:off x="274320" y="3730752"/>
            <a:ext cx="1371600" cy="658368"/>
          </a:xfrm>
          <a:prstGeom prst="rect">
            <a:avLst/>
          </a:prstGeom>
          <a:solidFill>
            <a:srgbClr val="1A3A6A"/>
          </a:solidFill>
          <a:ln w="12700">
            <a:solidFill>
              <a:srgbClr val="2196F3"/>
            </a:solidFill>
            <a:prstDash val="solid"/>
          </a:ln>
        </p:spPr>
      </p:sp>
      <p:sp>
        <p:nvSpPr>
          <p:cNvPr id="11" name="Text 8"/>
          <p:cNvSpPr/>
          <p:nvPr/>
        </p:nvSpPr>
        <p:spPr>
          <a:xfrm>
            <a:off x="274320" y="3730752"/>
            <a:ext cx="1371600" cy="658368"/>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Ingestion</a:t>
            </a:r>
            <a:endParaRPr lang="en-US" sz="1100" dirty="0"/>
          </a:p>
          <a:p>
            <a:pPr algn="ctr" indent="0" marL="0">
              <a:buNone/>
            </a:pPr>
            <a:r>
              <a:rPr lang="en-US" sz="1100" b="1" dirty="0">
                <a:solidFill>
                  <a:srgbClr val="FFFFFF"/>
                </a:solidFill>
              </a:rPr>
              <a:t>Layer</a:t>
            </a:r>
            <a:endParaRPr lang="en-US" sz="1100" dirty="0"/>
          </a:p>
        </p:txBody>
      </p:sp>
      <p:sp>
        <p:nvSpPr>
          <p:cNvPr id="12" name="Shape 9"/>
          <p:cNvSpPr/>
          <p:nvPr/>
        </p:nvSpPr>
        <p:spPr>
          <a:xfrm>
            <a:off x="1645920" y="3730752"/>
            <a:ext cx="7132320" cy="658368"/>
          </a:xfrm>
          <a:prstGeom prst="rect">
            <a:avLst/>
          </a:prstGeom>
          <a:solidFill>
            <a:srgbClr val="1E4A7A"/>
          </a:solidFill>
          <a:ln w="12700">
            <a:solidFill>
              <a:srgbClr val="2A4A7A"/>
            </a:solidFill>
            <a:prstDash val="solid"/>
          </a:ln>
        </p:spPr>
      </p:sp>
      <p:sp>
        <p:nvSpPr>
          <p:cNvPr id="13" name="Text 10"/>
          <p:cNvSpPr/>
          <p:nvPr/>
        </p:nvSpPr>
        <p:spPr>
          <a:xfrm>
            <a:off x="1691640" y="3730752"/>
            <a:ext cx="6995160" cy="658368"/>
          </a:xfrm>
          <a:prstGeom prst="rect">
            <a:avLst/>
          </a:prstGeom>
          <a:noFill/>
          <a:ln/>
        </p:spPr>
        <p:txBody>
          <a:bodyPr wrap="square" lIns="0" tIns="101600" rIns="0" bIns="0" rtlCol="0" anchor="ctr"/>
          <a:lstStyle/>
          <a:p>
            <a:pPr indent="0" marL="0">
              <a:buNone/>
            </a:pPr>
            <a:r>
              <a:rPr lang="en-US" sz="1000" dirty="0">
                <a:solidFill>
                  <a:srgbClr val="CCDDEE"/>
                </a:solidFill>
              </a:rPr>
              <a:t>Embeddings: BGE, Text-Ada-002, CLIP   ·   ETL DAG  |  Link Extraction: Keywords, HREFs, TF-IDF   ·   Triplet Extraction  |  Loaders: Beautiful Soup, Unstructured IO   ·   Chunking: Late, Recursive, Semantic, Custom</a:t>
            </a:r>
            <a:endParaRPr lang="en-US" sz="1000" dirty="0"/>
          </a:p>
        </p:txBody>
      </p:sp>
      <p:sp>
        <p:nvSpPr>
          <p:cNvPr id="14" name="Shape 11"/>
          <p:cNvSpPr/>
          <p:nvPr/>
        </p:nvSpPr>
        <p:spPr>
          <a:xfrm>
            <a:off x="274320" y="2980944"/>
            <a:ext cx="1371600" cy="658368"/>
          </a:xfrm>
          <a:prstGeom prst="rect">
            <a:avLst/>
          </a:prstGeom>
          <a:solidFill>
            <a:srgbClr val="0D3560"/>
          </a:solidFill>
          <a:ln w="12700">
            <a:solidFill>
              <a:srgbClr val="2196F3"/>
            </a:solidFill>
            <a:prstDash val="solid"/>
          </a:ln>
        </p:spPr>
      </p:sp>
      <p:sp>
        <p:nvSpPr>
          <p:cNvPr id="15" name="Text 12"/>
          <p:cNvSpPr/>
          <p:nvPr/>
        </p:nvSpPr>
        <p:spPr>
          <a:xfrm>
            <a:off x="274320" y="2980944"/>
            <a:ext cx="1371600" cy="658368"/>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Storage</a:t>
            </a:r>
            <a:endParaRPr lang="en-US" sz="1100" dirty="0"/>
          </a:p>
          <a:p>
            <a:pPr algn="ctr" indent="0" marL="0">
              <a:buNone/>
            </a:pPr>
            <a:r>
              <a:rPr lang="en-US" sz="1100" b="1" dirty="0">
                <a:solidFill>
                  <a:srgbClr val="FFFFFF"/>
                </a:solidFill>
              </a:rPr>
              <a:t>Layer</a:t>
            </a:r>
            <a:endParaRPr lang="en-US" sz="1100" dirty="0"/>
          </a:p>
        </p:txBody>
      </p:sp>
      <p:sp>
        <p:nvSpPr>
          <p:cNvPr id="16" name="Shape 13"/>
          <p:cNvSpPr/>
          <p:nvPr/>
        </p:nvSpPr>
        <p:spPr>
          <a:xfrm>
            <a:off x="1645920" y="2980944"/>
            <a:ext cx="7132320" cy="658368"/>
          </a:xfrm>
          <a:prstGeom prst="rect">
            <a:avLst/>
          </a:prstGeom>
          <a:solidFill>
            <a:srgbClr val="185080"/>
          </a:solidFill>
          <a:ln w="12700">
            <a:solidFill>
              <a:srgbClr val="2A4A7A"/>
            </a:solidFill>
            <a:prstDash val="solid"/>
          </a:ln>
        </p:spPr>
      </p:sp>
      <p:sp>
        <p:nvSpPr>
          <p:cNvPr id="17" name="Text 14"/>
          <p:cNvSpPr/>
          <p:nvPr/>
        </p:nvSpPr>
        <p:spPr>
          <a:xfrm>
            <a:off x="1691640" y="2980944"/>
            <a:ext cx="6995160" cy="658368"/>
          </a:xfrm>
          <a:prstGeom prst="rect">
            <a:avLst/>
          </a:prstGeom>
          <a:noFill/>
          <a:ln/>
        </p:spPr>
        <p:txBody>
          <a:bodyPr wrap="square" lIns="0" tIns="101600" rIns="0" bIns="0" rtlCol="0" anchor="ctr"/>
          <a:lstStyle/>
          <a:p>
            <a:pPr indent="0" marL="0">
              <a:buNone/>
            </a:pPr>
            <a:r>
              <a:rPr lang="en-US" sz="1000" dirty="0">
                <a:solidFill>
                  <a:srgbClr val="CCDDEE"/>
                </a:solidFill>
              </a:rPr>
              <a:t>Cassandra   ·   Apache AGE   ·   Neo4j</a:t>
            </a:r>
            <a:endParaRPr lang="en-US" sz="1000" dirty="0"/>
          </a:p>
        </p:txBody>
      </p:sp>
      <p:sp>
        <p:nvSpPr>
          <p:cNvPr id="18" name="Shape 15"/>
          <p:cNvSpPr/>
          <p:nvPr/>
        </p:nvSpPr>
        <p:spPr>
          <a:xfrm>
            <a:off x="274320" y="2231136"/>
            <a:ext cx="1371600" cy="658368"/>
          </a:xfrm>
          <a:prstGeom prst="rect">
            <a:avLst/>
          </a:prstGeom>
          <a:solidFill>
            <a:srgbClr val="164E63"/>
          </a:solidFill>
          <a:ln w="12700">
            <a:solidFill>
              <a:srgbClr val="2196F3"/>
            </a:solidFill>
            <a:prstDash val="solid"/>
          </a:ln>
        </p:spPr>
      </p:sp>
      <p:sp>
        <p:nvSpPr>
          <p:cNvPr id="19" name="Text 16"/>
          <p:cNvSpPr/>
          <p:nvPr/>
        </p:nvSpPr>
        <p:spPr>
          <a:xfrm>
            <a:off x="274320" y="2231136"/>
            <a:ext cx="1371600" cy="658368"/>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Retrieval</a:t>
            </a:r>
            <a:endParaRPr lang="en-US" sz="1100" dirty="0"/>
          </a:p>
          <a:p>
            <a:pPr algn="ctr" indent="0" marL="0">
              <a:buNone/>
            </a:pPr>
            <a:r>
              <a:rPr lang="en-US" sz="1100" b="1" dirty="0">
                <a:solidFill>
                  <a:srgbClr val="FFFFFF"/>
                </a:solidFill>
              </a:rPr>
              <a:t>Engine</a:t>
            </a:r>
            <a:endParaRPr lang="en-US" sz="1100" dirty="0"/>
          </a:p>
        </p:txBody>
      </p:sp>
      <p:sp>
        <p:nvSpPr>
          <p:cNvPr id="20" name="Shape 17"/>
          <p:cNvSpPr/>
          <p:nvPr/>
        </p:nvSpPr>
        <p:spPr>
          <a:xfrm>
            <a:off x="1645920" y="2231136"/>
            <a:ext cx="7132320" cy="658368"/>
          </a:xfrm>
          <a:prstGeom prst="rect">
            <a:avLst/>
          </a:prstGeom>
          <a:solidFill>
            <a:srgbClr val="1B6080"/>
          </a:solidFill>
          <a:ln w="12700">
            <a:solidFill>
              <a:srgbClr val="2A4A7A"/>
            </a:solidFill>
            <a:prstDash val="solid"/>
          </a:ln>
        </p:spPr>
      </p:sp>
      <p:sp>
        <p:nvSpPr>
          <p:cNvPr id="21" name="Text 18"/>
          <p:cNvSpPr/>
          <p:nvPr/>
        </p:nvSpPr>
        <p:spPr>
          <a:xfrm>
            <a:off x="1691640" y="2231136"/>
            <a:ext cx="6995160" cy="658368"/>
          </a:xfrm>
          <a:prstGeom prst="rect">
            <a:avLst/>
          </a:prstGeom>
          <a:noFill/>
          <a:ln/>
        </p:spPr>
        <p:txBody>
          <a:bodyPr wrap="square" lIns="0" tIns="101600" rIns="0" bIns="0" rtlCol="0" anchor="ctr"/>
          <a:lstStyle/>
          <a:p>
            <a:pPr indent="0" marL="0">
              <a:buNone/>
            </a:pPr>
            <a:r>
              <a:rPr lang="en-US" sz="1000" dirty="0">
                <a:solidFill>
                  <a:srgbClr val="CCDDEE"/>
                </a:solidFill>
              </a:rPr>
              <a:t>Cypher Query   ·   Sub Graph   ·   Semantic Search   ·   TT-Lexical Search   ·   Query Hashing</a:t>
            </a:r>
            <a:endParaRPr lang="en-US" sz="1000" dirty="0"/>
          </a:p>
        </p:txBody>
      </p:sp>
      <p:sp>
        <p:nvSpPr>
          <p:cNvPr id="22" name="Shape 19"/>
          <p:cNvSpPr/>
          <p:nvPr/>
        </p:nvSpPr>
        <p:spPr>
          <a:xfrm>
            <a:off x="274320" y="1481328"/>
            <a:ext cx="1371600" cy="658368"/>
          </a:xfrm>
          <a:prstGeom prst="rect">
            <a:avLst/>
          </a:prstGeom>
          <a:solidFill>
            <a:srgbClr val="1A3A6A"/>
          </a:solidFill>
          <a:ln w="12700">
            <a:solidFill>
              <a:srgbClr val="2196F3"/>
            </a:solidFill>
            <a:prstDash val="solid"/>
          </a:ln>
        </p:spPr>
      </p:sp>
      <p:sp>
        <p:nvSpPr>
          <p:cNvPr id="23" name="Text 20"/>
          <p:cNvSpPr/>
          <p:nvPr/>
        </p:nvSpPr>
        <p:spPr>
          <a:xfrm>
            <a:off x="274320" y="1481328"/>
            <a:ext cx="1371600" cy="658368"/>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LLM, Tools</a:t>
            </a:r>
            <a:endParaRPr lang="en-US" sz="1100" dirty="0"/>
          </a:p>
          <a:p>
            <a:pPr algn="ctr" indent="0" marL="0">
              <a:buNone/>
            </a:pPr>
            <a:r>
              <a:rPr lang="en-US" sz="1100" b="1" dirty="0">
                <a:solidFill>
                  <a:srgbClr val="FFFFFF"/>
                </a:solidFill>
              </a:rPr>
              <a:t>Agents</a:t>
            </a:r>
            <a:endParaRPr lang="en-US" sz="1100" dirty="0"/>
          </a:p>
        </p:txBody>
      </p:sp>
      <p:sp>
        <p:nvSpPr>
          <p:cNvPr id="24" name="Shape 21"/>
          <p:cNvSpPr/>
          <p:nvPr/>
        </p:nvSpPr>
        <p:spPr>
          <a:xfrm>
            <a:off x="1645920" y="1481328"/>
            <a:ext cx="7132320" cy="658368"/>
          </a:xfrm>
          <a:prstGeom prst="rect">
            <a:avLst/>
          </a:prstGeom>
          <a:solidFill>
            <a:srgbClr val="1E4A7A"/>
          </a:solidFill>
          <a:ln w="12700">
            <a:solidFill>
              <a:srgbClr val="2A4A7A"/>
            </a:solidFill>
            <a:prstDash val="solid"/>
          </a:ln>
        </p:spPr>
      </p:sp>
      <p:sp>
        <p:nvSpPr>
          <p:cNvPr id="25" name="Text 22"/>
          <p:cNvSpPr/>
          <p:nvPr/>
        </p:nvSpPr>
        <p:spPr>
          <a:xfrm>
            <a:off x="1691640" y="1481328"/>
            <a:ext cx="6995160" cy="658368"/>
          </a:xfrm>
          <a:prstGeom prst="rect">
            <a:avLst/>
          </a:prstGeom>
          <a:noFill/>
          <a:ln/>
        </p:spPr>
        <p:txBody>
          <a:bodyPr wrap="square" lIns="0" tIns="101600" rIns="0" bIns="0" rtlCol="0" anchor="ctr"/>
          <a:lstStyle/>
          <a:p>
            <a:pPr indent="0" marL="0">
              <a:buNone/>
            </a:pPr>
            <a:r>
              <a:rPr lang="en-US" sz="1000" dirty="0">
                <a:solidFill>
                  <a:srgbClr val="CCDDEE"/>
                </a:solidFill>
              </a:rPr>
              <a:t>GPT-4, Llama3   ·   Query Transformation   ·   Human in Loop   ·   Arithmetic Tools</a:t>
            </a:r>
            <a:endParaRPr lang="en-US" sz="1000" dirty="0"/>
          </a:p>
        </p:txBody>
      </p:sp>
      <p:sp>
        <p:nvSpPr>
          <p:cNvPr id="26" name="Text 23"/>
          <p:cNvSpPr/>
          <p:nvPr/>
        </p:nvSpPr>
        <p:spPr>
          <a:xfrm>
            <a:off x="274320" y="1024128"/>
            <a:ext cx="1371600" cy="347472"/>
          </a:xfrm>
          <a:prstGeom prst="rect">
            <a:avLst/>
          </a:prstGeom>
          <a:noFill/>
          <a:ln/>
        </p:spPr>
        <p:txBody>
          <a:bodyPr wrap="square" lIns="0" tIns="0" rIns="0" bIns="0" rtlCol="0" anchor="ctr"/>
          <a:lstStyle/>
          <a:p>
            <a:pPr indent="0" marL="0">
              <a:buNone/>
            </a:pPr>
            <a:r>
              <a:rPr lang="en-US" sz="1100" b="1" dirty="0">
                <a:solidFill>
                  <a:srgbClr val="2196F3"/>
                </a:solidFill>
              </a:rPr>
              <a:t>Use Cases:</a:t>
            </a:r>
            <a:endParaRPr lang="en-US" sz="1100" dirty="0"/>
          </a:p>
        </p:txBody>
      </p:sp>
      <p:sp>
        <p:nvSpPr>
          <p:cNvPr id="27" name="Shape 24"/>
          <p:cNvSpPr/>
          <p:nvPr/>
        </p:nvSpPr>
        <p:spPr>
          <a:xfrm>
            <a:off x="1645920" y="1024128"/>
            <a:ext cx="1719072" cy="347472"/>
          </a:xfrm>
          <a:prstGeom prst="rect">
            <a:avLst/>
          </a:prstGeom>
          <a:solidFill>
            <a:srgbClr val="F57C00"/>
          </a:solidFill>
          <a:ln w="12700">
            <a:solidFill>
              <a:srgbClr val="F57C00"/>
            </a:solidFill>
            <a:prstDash val="solid"/>
          </a:ln>
        </p:spPr>
      </p:sp>
      <p:sp>
        <p:nvSpPr>
          <p:cNvPr id="28" name="Text 25"/>
          <p:cNvSpPr/>
          <p:nvPr/>
        </p:nvSpPr>
        <p:spPr>
          <a:xfrm>
            <a:off x="1645920" y="1024128"/>
            <a:ext cx="1719072" cy="347472"/>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Commercial Insight Analyzer</a:t>
            </a:r>
            <a:endParaRPr lang="en-US" sz="950" dirty="0"/>
          </a:p>
        </p:txBody>
      </p:sp>
      <p:sp>
        <p:nvSpPr>
          <p:cNvPr id="29" name="Shape 26"/>
          <p:cNvSpPr/>
          <p:nvPr/>
        </p:nvSpPr>
        <p:spPr>
          <a:xfrm>
            <a:off x="3474720" y="1024128"/>
            <a:ext cx="1719072" cy="347472"/>
          </a:xfrm>
          <a:prstGeom prst="rect">
            <a:avLst/>
          </a:prstGeom>
          <a:solidFill>
            <a:srgbClr val="2E7D32"/>
          </a:solidFill>
          <a:ln w="12700">
            <a:solidFill>
              <a:srgbClr val="2E7D32"/>
            </a:solidFill>
            <a:prstDash val="solid"/>
          </a:ln>
        </p:spPr>
      </p:sp>
      <p:sp>
        <p:nvSpPr>
          <p:cNvPr id="30" name="Text 27"/>
          <p:cNvSpPr/>
          <p:nvPr/>
        </p:nvSpPr>
        <p:spPr>
          <a:xfrm>
            <a:off x="3474720" y="1024128"/>
            <a:ext cx="1719072" cy="347472"/>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Amex Card Servicing &amp; Benefits</a:t>
            </a:r>
            <a:endParaRPr lang="en-US" sz="950" dirty="0"/>
          </a:p>
        </p:txBody>
      </p:sp>
      <p:sp>
        <p:nvSpPr>
          <p:cNvPr id="31" name="Shape 28"/>
          <p:cNvSpPr/>
          <p:nvPr/>
        </p:nvSpPr>
        <p:spPr>
          <a:xfrm>
            <a:off x="5303520" y="1024128"/>
            <a:ext cx="1719072" cy="347472"/>
          </a:xfrm>
          <a:prstGeom prst="rect">
            <a:avLst/>
          </a:prstGeom>
          <a:solidFill>
            <a:srgbClr val="1565C0"/>
          </a:solidFill>
          <a:ln w="12700">
            <a:solidFill>
              <a:srgbClr val="1565C0"/>
            </a:solidFill>
            <a:prstDash val="solid"/>
          </a:ln>
        </p:spPr>
      </p:sp>
      <p:sp>
        <p:nvSpPr>
          <p:cNvPr id="32" name="Text 29"/>
          <p:cNvSpPr/>
          <p:nvPr/>
        </p:nvSpPr>
        <p:spPr>
          <a:xfrm>
            <a:off x="5303520" y="1024128"/>
            <a:ext cx="1719072" cy="347472"/>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OpRisk Management</a:t>
            </a:r>
            <a:endParaRPr lang="en-US" sz="950" dirty="0"/>
          </a:p>
        </p:txBody>
      </p:sp>
      <p:sp>
        <p:nvSpPr>
          <p:cNvPr id="33" name="Shape 30"/>
          <p:cNvSpPr/>
          <p:nvPr/>
        </p:nvSpPr>
        <p:spPr>
          <a:xfrm>
            <a:off x="7132320" y="1024128"/>
            <a:ext cx="1719072" cy="347472"/>
          </a:xfrm>
          <a:prstGeom prst="rect">
            <a:avLst/>
          </a:prstGeom>
          <a:solidFill>
            <a:srgbClr val="6A1B9A"/>
          </a:solidFill>
          <a:ln w="12700">
            <a:solidFill>
              <a:srgbClr val="6A1B9A"/>
            </a:solidFill>
            <a:prstDash val="solid"/>
          </a:ln>
        </p:spPr>
      </p:sp>
      <p:sp>
        <p:nvSpPr>
          <p:cNvPr id="34" name="Text 31"/>
          <p:cNvSpPr/>
          <p:nvPr/>
        </p:nvSpPr>
        <p:spPr>
          <a:xfrm>
            <a:off x="7132320" y="1024128"/>
            <a:ext cx="1719072" cy="347472"/>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Personalized Recommendation</a:t>
            </a:r>
            <a:endParaRPr lang="en-US" sz="950" dirty="0"/>
          </a:p>
        </p:txBody>
      </p:sp>
      <p:sp>
        <p:nvSpPr>
          <p:cNvPr id="35" name="Shape 32"/>
          <p:cNvSpPr/>
          <p:nvPr/>
        </p:nvSpPr>
        <p:spPr>
          <a:xfrm>
            <a:off x="1645920" y="1463040"/>
            <a:ext cx="2331720" cy="384048"/>
          </a:xfrm>
          <a:prstGeom prst="rect">
            <a:avLst/>
          </a:prstGeom>
          <a:solidFill>
            <a:srgbClr val="1565C0"/>
          </a:solidFill>
          <a:ln w="12700">
            <a:solidFill>
              <a:srgbClr val="2A4A7A"/>
            </a:solidFill>
            <a:prstDash val="solid"/>
          </a:ln>
        </p:spPr>
      </p:sp>
      <p:sp>
        <p:nvSpPr>
          <p:cNvPr id="36" name="Text 33"/>
          <p:cNvSpPr/>
          <p:nvPr/>
        </p:nvSpPr>
        <p:spPr>
          <a:xfrm>
            <a:off x="1645920" y="1463040"/>
            <a:ext cx="2331720" cy="384048"/>
          </a:xfrm>
          <a:prstGeom prst="rect">
            <a:avLst/>
          </a:prstGeom>
          <a:noFill/>
          <a:ln/>
        </p:spPr>
        <p:txBody>
          <a:bodyPr wrap="square" lIns="25400" tIns="25400" rIns="25400" bIns="25400" rtlCol="0" anchor="ctr"/>
          <a:lstStyle/>
          <a:p>
            <a:pPr algn="ctr" indent="0" marL="0">
              <a:buNone/>
            </a:pPr>
            <a:r>
              <a:rPr lang="en-US" sz="950" dirty="0">
                <a:solidFill>
                  <a:srgbClr val="FFFFFF"/>
                </a:solidFill>
              </a:rPr>
              <a:t>Schema-based KG: Coarse Grained</a:t>
            </a:r>
            <a:endParaRPr lang="en-US" sz="950" dirty="0"/>
          </a:p>
        </p:txBody>
      </p:sp>
      <p:sp>
        <p:nvSpPr>
          <p:cNvPr id="37" name="Shape 34"/>
          <p:cNvSpPr/>
          <p:nvPr/>
        </p:nvSpPr>
        <p:spPr>
          <a:xfrm>
            <a:off x="4050792" y="1463040"/>
            <a:ext cx="2331720" cy="384048"/>
          </a:xfrm>
          <a:prstGeom prst="rect">
            <a:avLst/>
          </a:prstGeom>
          <a:solidFill>
            <a:srgbClr val="00695C"/>
          </a:solidFill>
          <a:ln w="12700">
            <a:solidFill>
              <a:srgbClr val="2A4A7A"/>
            </a:solidFill>
            <a:prstDash val="solid"/>
          </a:ln>
        </p:spPr>
      </p:sp>
      <p:sp>
        <p:nvSpPr>
          <p:cNvPr id="38" name="Text 35"/>
          <p:cNvSpPr/>
          <p:nvPr/>
        </p:nvSpPr>
        <p:spPr>
          <a:xfrm>
            <a:off x="4050792" y="1463040"/>
            <a:ext cx="2331720" cy="384048"/>
          </a:xfrm>
          <a:prstGeom prst="rect">
            <a:avLst/>
          </a:prstGeom>
          <a:noFill/>
          <a:ln/>
        </p:spPr>
        <p:txBody>
          <a:bodyPr wrap="square" lIns="25400" tIns="25400" rIns="25400" bIns="25400" rtlCol="0" anchor="ctr"/>
          <a:lstStyle/>
          <a:p>
            <a:pPr algn="ctr" indent="0" marL="0">
              <a:buNone/>
            </a:pPr>
            <a:r>
              <a:rPr lang="en-US" sz="950" dirty="0">
                <a:solidFill>
                  <a:srgbClr val="FFFFFF"/>
                </a:solidFill>
              </a:rPr>
              <a:t>Schema-less KG: Coarse Grained</a:t>
            </a:r>
            <a:endParaRPr lang="en-US" sz="950" dirty="0"/>
          </a:p>
        </p:txBody>
      </p:sp>
      <p:sp>
        <p:nvSpPr>
          <p:cNvPr id="39" name="Shape 36"/>
          <p:cNvSpPr/>
          <p:nvPr/>
        </p:nvSpPr>
        <p:spPr>
          <a:xfrm>
            <a:off x="6455664" y="1463040"/>
            <a:ext cx="2331720" cy="384048"/>
          </a:xfrm>
          <a:prstGeom prst="rect">
            <a:avLst/>
          </a:prstGeom>
          <a:solidFill>
            <a:srgbClr val="F57C00"/>
          </a:solidFill>
          <a:ln w="12700">
            <a:solidFill>
              <a:srgbClr val="2A4A7A"/>
            </a:solidFill>
            <a:prstDash val="solid"/>
          </a:ln>
        </p:spPr>
      </p:sp>
      <p:sp>
        <p:nvSpPr>
          <p:cNvPr id="40" name="Text 37"/>
          <p:cNvSpPr/>
          <p:nvPr/>
        </p:nvSpPr>
        <p:spPr>
          <a:xfrm>
            <a:off x="6455664" y="1463040"/>
            <a:ext cx="2331720" cy="384048"/>
          </a:xfrm>
          <a:prstGeom prst="rect">
            <a:avLst/>
          </a:prstGeom>
          <a:noFill/>
          <a:ln/>
        </p:spPr>
        <p:txBody>
          <a:bodyPr wrap="square" lIns="25400" tIns="25400" rIns="25400" bIns="25400" rtlCol="0" anchor="ctr"/>
          <a:lstStyle/>
          <a:p>
            <a:pPr algn="ctr" indent="0" marL="0">
              <a:buNone/>
            </a:pPr>
            <a:r>
              <a:rPr lang="en-US" sz="950" dirty="0">
                <a:solidFill>
                  <a:srgbClr val="FFFFFF"/>
                </a:solidFill>
              </a:rPr>
              <a:t>Hybrid KG: Cypher + Semantic + Metadata</a:t>
            </a:r>
            <a:endParaRPr lang="en-US" sz="950" dirty="0"/>
          </a:p>
        </p:txBody>
      </p:sp>
      <p:sp>
        <p:nvSpPr>
          <p:cNvPr id="41" name="Shape 38"/>
          <p:cNvSpPr/>
          <p:nvPr/>
        </p:nvSpPr>
        <p:spPr>
          <a:xfrm>
            <a:off x="8869680" y="914400"/>
            <a:ext cx="256032" cy="4114800"/>
          </a:xfrm>
          <a:prstGeom prst="rect">
            <a:avLst/>
          </a:prstGeom>
          <a:solidFill>
            <a:srgbClr val="F57C00"/>
          </a:solidFill>
          <a:ln w="12700">
            <a:solidFill>
              <a:srgbClr val="F57C00"/>
            </a:solidFill>
            <a:prstDash val="solid"/>
          </a:ln>
        </p:spPr>
      </p:sp>
      <p:sp>
        <p:nvSpPr>
          <p:cNvPr id="42" name="Text 39"/>
          <p:cNvSpPr/>
          <p:nvPr/>
        </p:nvSpPr>
        <p:spPr>
          <a:xfrm rot="16200000">
            <a:off x="8549640" y="1005840"/>
            <a:ext cx="256032" cy="3931920"/>
          </a:xfrm>
          <a:prstGeom prst="rect">
            <a:avLst/>
          </a:prstGeom>
          <a:noFill/>
          <a:ln/>
        </p:spPr>
        <p:txBody>
          <a:bodyPr wrap="square" lIns="0" tIns="0" rIns="0" bIns="0" rtlCol="0" anchor="ctr"/>
          <a:lstStyle/>
          <a:p>
            <a:pPr algn="ctr" indent="0" marL="0">
              <a:buNone/>
            </a:pPr>
            <a:r>
              <a:rPr lang="en-US" sz="900" b="1" dirty="0">
                <a:solidFill>
                  <a:srgbClr val="F57C00"/>
                </a:solidFill>
              </a:rPr>
              <a:t>REUSABLE OPERATORS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1565C0"/>
          </a:solidFill>
          <a:ln w="12700">
            <a:solidFill>
              <a:srgbClr val="1565C0"/>
            </a:solidFill>
            <a:prstDash val="solid"/>
          </a:ln>
        </p:spPr>
      </p:sp>
      <p:sp>
        <p:nvSpPr>
          <p:cNvPr id="4" name="Text 1"/>
          <p:cNvSpPr/>
          <p:nvPr/>
        </p:nvSpPr>
        <p:spPr>
          <a:xfrm>
            <a:off x="457200" y="201168"/>
            <a:ext cx="8229600" cy="640080"/>
          </a:xfrm>
          <a:prstGeom prst="rect">
            <a:avLst/>
          </a:prstGeom>
          <a:noFill/>
          <a:ln/>
        </p:spPr>
        <p:txBody>
          <a:bodyPr wrap="square" lIns="0" tIns="0" rIns="0" bIns="0" rtlCol="0" anchor="ctr"/>
          <a:lstStyle/>
          <a:p>
            <a:pPr indent="0" marL="0">
              <a:buNone/>
            </a:pPr>
            <a:r>
              <a:rPr lang="en-US" sz="3400" b="1" dirty="0">
                <a:solidFill>
                  <a:srgbClr val="0D2B55"/>
                </a:solidFill>
                <a:latin typeface="Calibri" pitchFamily="34" charset="0"/>
                <a:ea typeface="Calibri" pitchFamily="34" charset="-122"/>
                <a:cs typeface="Calibri" pitchFamily="34" charset="-120"/>
              </a:rPr>
              <a:t>Use Cases</a:t>
            </a:r>
            <a:endParaRPr lang="en-US" sz="3400" dirty="0"/>
          </a:p>
        </p:txBody>
      </p:sp>
      <p:sp>
        <p:nvSpPr>
          <p:cNvPr id="5" name="Shape 2"/>
          <p:cNvSpPr/>
          <p:nvPr/>
        </p:nvSpPr>
        <p:spPr>
          <a:xfrm>
            <a:off x="731520" y="1005840"/>
            <a:ext cx="7955280" cy="777240"/>
          </a:xfrm>
          <a:prstGeom prst="rect">
            <a:avLst/>
          </a:prstGeom>
          <a:solidFill>
            <a:srgbClr val="0D2B55"/>
          </a:solidFill>
          <a:ln w="12700">
            <a:solidFill>
              <a:srgbClr val="F57C00"/>
            </a:solidFill>
            <a:prstDash val="solid"/>
          </a:ln>
          <a:effectLst>
            <a:outerShdw sx="100000" sy="100000" kx="0" ky="0" algn="bl" rotWithShape="0" blurRad="101600" dist="38100" dir="8100000">
              <a:srgbClr val="000000">
                <a:alpha val="13000"/>
              </a:srgbClr>
            </a:outerShdw>
          </a:effectLst>
        </p:spPr>
      </p:sp>
      <p:sp>
        <p:nvSpPr>
          <p:cNvPr id="6" name="Shape 3"/>
          <p:cNvSpPr/>
          <p:nvPr/>
        </p:nvSpPr>
        <p:spPr>
          <a:xfrm>
            <a:off x="731520" y="1005840"/>
            <a:ext cx="137160" cy="777240"/>
          </a:xfrm>
          <a:prstGeom prst="rect">
            <a:avLst/>
          </a:prstGeom>
          <a:solidFill>
            <a:srgbClr val="F57C00"/>
          </a:solidFill>
          <a:ln w="12700">
            <a:solidFill>
              <a:srgbClr val="F57C00"/>
            </a:solidFill>
            <a:prstDash val="solid"/>
          </a:ln>
        </p:spPr>
      </p:sp>
      <p:sp>
        <p:nvSpPr>
          <p:cNvPr id="7" name="Shape 4"/>
          <p:cNvSpPr/>
          <p:nvPr/>
        </p:nvSpPr>
        <p:spPr>
          <a:xfrm>
            <a:off x="1005840" y="1165860"/>
            <a:ext cx="457200" cy="457200"/>
          </a:xfrm>
          <a:prstGeom prst="ellipse">
            <a:avLst/>
          </a:prstGeom>
          <a:solidFill>
            <a:srgbClr val="F57C00"/>
          </a:solidFill>
          <a:ln w="12700">
            <a:solidFill>
              <a:srgbClr val="F57C00"/>
            </a:solidFill>
            <a:prstDash val="solid"/>
          </a:ln>
        </p:spPr>
      </p:sp>
      <p:sp>
        <p:nvSpPr>
          <p:cNvPr id="8" name="Text 5"/>
          <p:cNvSpPr/>
          <p:nvPr/>
        </p:nvSpPr>
        <p:spPr>
          <a:xfrm>
            <a:off x="1005840" y="116586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9" name="Text 6"/>
          <p:cNvSpPr/>
          <p:nvPr/>
        </p:nvSpPr>
        <p:spPr>
          <a:xfrm>
            <a:off x="1627632" y="1170432"/>
            <a:ext cx="56692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Commercial Insight Analyzer (CIA)</a:t>
            </a:r>
            <a:endParaRPr lang="en-US" sz="1500" dirty="0"/>
          </a:p>
        </p:txBody>
      </p:sp>
      <p:sp>
        <p:nvSpPr>
          <p:cNvPr id="10" name="Shape 7"/>
          <p:cNvSpPr/>
          <p:nvPr/>
        </p:nvSpPr>
        <p:spPr>
          <a:xfrm>
            <a:off x="7315200" y="1188720"/>
            <a:ext cx="1188720" cy="384048"/>
          </a:xfrm>
          <a:prstGeom prst="rect">
            <a:avLst/>
          </a:prstGeom>
          <a:solidFill>
            <a:srgbClr val="2E7D32"/>
          </a:solidFill>
          <a:ln w="12700">
            <a:solidFill>
              <a:srgbClr val="2E7D32"/>
            </a:solidFill>
            <a:prstDash val="solid"/>
          </a:ln>
        </p:spPr>
      </p:sp>
      <p:sp>
        <p:nvSpPr>
          <p:cNvPr id="11" name="Text 8"/>
          <p:cNvSpPr/>
          <p:nvPr/>
        </p:nvSpPr>
        <p:spPr>
          <a:xfrm>
            <a:off x="7315200" y="1188720"/>
            <a:ext cx="1188720" cy="384048"/>
          </a:xfrm>
          <a:prstGeom prst="rect">
            <a:avLst/>
          </a:prstGeom>
          <a:noFill/>
          <a:ln/>
        </p:spPr>
        <p:txBody>
          <a:bodyPr wrap="square" lIns="0" tIns="0" rIns="0" bIns="0" rtlCol="0" anchor="ctr"/>
          <a:lstStyle/>
          <a:p>
            <a:pPr algn="ctr" indent="0" marL="0">
              <a:buNone/>
            </a:pPr>
            <a:r>
              <a:rPr lang="en-US" sz="1100" b="1" dirty="0">
                <a:solidFill>
                  <a:srgbClr val="FFFFFF"/>
                </a:solidFill>
              </a:rPr>
              <a:t>PRODUCTION</a:t>
            </a:r>
            <a:endParaRPr lang="en-US" sz="1100" dirty="0"/>
          </a:p>
        </p:txBody>
      </p:sp>
      <p:sp>
        <p:nvSpPr>
          <p:cNvPr id="12" name="Shape 9"/>
          <p:cNvSpPr/>
          <p:nvPr/>
        </p:nvSpPr>
        <p:spPr>
          <a:xfrm>
            <a:off x="8613648" y="1165860"/>
            <a:ext cx="457200" cy="457200"/>
          </a:xfrm>
          <a:prstGeom prst="ellipse">
            <a:avLst/>
          </a:prstGeom>
          <a:solidFill>
            <a:srgbClr val="F57C00"/>
          </a:solidFill>
          <a:ln w="12700">
            <a:solidFill>
              <a:srgbClr val="F57C00"/>
            </a:solidFill>
            <a:prstDash val="solid"/>
          </a:ln>
        </p:spPr>
      </p:sp>
      <p:sp>
        <p:nvSpPr>
          <p:cNvPr id="13" name="Text 10"/>
          <p:cNvSpPr/>
          <p:nvPr/>
        </p:nvSpPr>
        <p:spPr>
          <a:xfrm>
            <a:off x="8613648" y="11658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4" name="Shape 11"/>
          <p:cNvSpPr/>
          <p:nvPr/>
        </p:nvSpPr>
        <p:spPr>
          <a:xfrm>
            <a:off x="731520" y="1975104"/>
            <a:ext cx="7955280" cy="777240"/>
          </a:xfrm>
          <a:prstGeom prst="rect">
            <a:avLst/>
          </a:prstGeom>
          <a:solidFill>
            <a:srgbClr val="0D2B55"/>
          </a:solidFill>
          <a:ln w="12700">
            <a:solidFill>
              <a:srgbClr val="00897B"/>
            </a:solidFill>
            <a:prstDash val="solid"/>
          </a:ln>
          <a:effectLst>
            <a:outerShdw sx="100000" sy="100000" kx="0" ky="0" algn="bl" rotWithShape="0" blurRad="101600" dist="38100" dir="8100000">
              <a:srgbClr val="000000">
                <a:alpha val="13000"/>
              </a:srgbClr>
            </a:outerShdw>
          </a:effectLst>
        </p:spPr>
      </p:sp>
      <p:sp>
        <p:nvSpPr>
          <p:cNvPr id="15" name="Shape 12"/>
          <p:cNvSpPr/>
          <p:nvPr/>
        </p:nvSpPr>
        <p:spPr>
          <a:xfrm>
            <a:off x="731520" y="1975104"/>
            <a:ext cx="137160" cy="777240"/>
          </a:xfrm>
          <a:prstGeom prst="rect">
            <a:avLst/>
          </a:prstGeom>
          <a:solidFill>
            <a:srgbClr val="00897B"/>
          </a:solidFill>
          <a:ln w="12700">
            <a:solidFill>
              <a:srgbClr val="00897B"/>
            </a:solidFill>
            <a:prstDash val="solid"/>
          </a:ln>
        </p:spPr>
      </p:sp>
      <p:sp>
        <p:nvSpPr>
          <p:cNvPr id="16" name="Shape 13"/>
          <p:cNvSpPr/>
          <p:nvPr/>
        </p:nvSpPr>
        <p:spPr>
          <a:xfrm>
            <a:off x="1005840" y="2135124"/>
            <a:ext cx="457200" cy="457200"/>
          </a:xfrm>
          <a:prstGeom prst="ellipse">
            <a:avLst/>
          </a:prstGeom>
          <a:solidFill>
            <a:srgbClr val="00897B"/>
          </a:solidFill>
          <a:ln w="12700">
            <a:solidFill>
              <a:srgbClr val="00897B"/>
            </a:solidFill>
            <a:prstDash val="solid"/>
          </a:ln>
        </p:spPr>
      </p:sp>
      <p:sp>
        <p:nvSpPr>
          <p:cNvPr id="17" name="Text 14"/>
          <p:cNvSpPr/>
          <p:nvPr/>
        </p:nvSpPr>
        <p:spPr>
          <a:xfrm>
            <a:off x="1005840" y="213512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ext 15"/>
          <p:cNvSpPr/>
          <p:nvPr/>
        </p:nvSpPr>
        <p:spPr>
          <a:xfrm>
            <a:off x="1627632" y="2139696"/>
            <a:ext cx="56692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Personalized Recommendation – Restaurant Booking</a:t>
            </a:r>
            <a:endParaRPr lang="en-US" sz="1500" dirty="0"/>
          </a:p>
        </p:txBody>
      </p:sp>
      <p:sp>
        <p:nvSpPr>
          <p:cNvPr id="19" name="Shape 16"/>
          <p:cNvSpPr/>
          <p:nvPr/>
        </p:nvSpPr>
        <p:spPr>
          <a:xfrm>
            <a:off x="7315200" y="2157984"/>
            <a:ext cx="1188720" cy="384048"/>
          </a:xfrm>
          <a:prstGeom prst="rect">
            <a:avLst/>
          </a:prstGeom>
          <a:solidFill>
            <a:srgbClr val="00897B"/>
          </a:solidFill>
          <a:ln w="12700">
            <a:solidFill>
              <a:srgbClr val="00897B"/>
            </a:solidFill>
            <a:prstDash val="solid"/>
          </a:ln>
        </p:spPr>
      </p:sp>
      <p:sp>
        <p:nvSpPr>
          <p:cNvPr id="20" name="Text 17"/>
          <p:cNvSpPr/>
          <p:nvPr/>
        </p:nvSpPr>
        <p:spPr>
          <a:xfrm>
            <a:off x="7315200" y="2157984"/>
            <a:ext cx="1188720" cy="384048"/>
          </a:xfrm>
          <a:prstGeom prst="rect">
            <a:avLst/>
          </a:prstGeom>
          <a:noFill/>
          <a:ln/>
        </p:spPr>
        <p:txBody>
          <a:bodyPr wrap="square" lIns="0" tIns="0" rIns="0" bIns="0" rtlCol="0" anchor="ctr"/>
          <a:lstStyle/>
          <a:p>
            <a:pPr algn="ctr" indent="0" marL="0">
              <a:buNone/>
            </a:pPr>
            <a:r>
              <a:rPr lang="en-US" sz="1100" b="1" dirty="0">
                <a:solidFill>
                  <a:srgbClr val="FFFFFF"/>
                </a:solidFill>
              </a:rPr>
              <a:t>PILOTING</a:t>
            </a:r>
            <a:endParaRPr lang="en-US" sz="1100" dirty="0"/>
          </a:p>
        </p:txBody>
      </p:sp>
      <p:sp>
        <p:nvSpPr>
          <p:cNvPr id="21" name="Shape 18"/>
          <p:cNvSpPr/>
          <p:nvPr/>
        </p:nvSpPr>
        <p:spPr>
          <a:xfrm>
            <a:off x="8613648" y="2135124"/>
            <a:ext cx="457200" cy="457200"/>
          </a:xfrm>
          <a:prstGeom prst="ellipse">
            <a:avLst/>
          </a:prstGeom>
          <a:solidFill>
            <a:srgbClr val="00897B"/>
          </a:solidFill>
          <a:ln w="12700">
            <a:solidFill>
              <a:srgbClr val="00897B"/>
            </a:solidFill>
            <a:prstDash val="solid"/>
          </a:ln>
        </p:spPr>
      </p:sp>
      <p:sp>
        <p:nvSpPr>
          <p:cNvPr id="22" name="Text 19"/>
          <p:cNvSpPr/>
          <p:nvPr/>
        </p:nvSpPr>
        <p:spPr>
          <a:xfrm>
            <a:off x="8613648" y="21351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3" name="Shape 20"/>
          <p:cNvSpPr/>
          <p:nvPr/>
        </p:nvSpPr>
        <p:spPr>
          <a:xfrm>
            <a:off x="731520" y="2944368"/>
            <a:ext cx="7955280" cy="777240"/>
          </a:xfrm>
          <a:prstGeom prst="rect">
            <a:avLst/>
          </a:prstGeom>
          <a:solidFill>
            <a:srgbClr val="0D2B55"/>
          </a:solidFill>
          <a:ln w="12700">
            <a:solidFill>
              <a:srgbClr val="2E7D32"/>
            </a:solidFill>
            <a:prstDash val="solid"/>
          </a:ln>
          <a:effectLst>
            <a:outerShdw sx="100000" sy="100000" kx="0" ky="0" algn="bl" rotWithShape="0" blurRad="101600" dist="38100" dir="8100000">
              <a:srgbClr val="000000">
                <a:alpha val="13000"/>
              </a:srgbClr>
            </a:outerShdw>
          </a:effectLst>
        </p:spPr>
      </p:sp>
      <p:sp>
        <p:nvSpPr>
          <p:cNvPr id="24" name="Shape 21"/>
          <p:cNvSpPr/>
          <p:nvPr/>
        </p:nvSpPr>
        <p:spPr>
          <a:xfrm>
            <a:off x="731520" y="2944368"/>
            <a:ext cx="137160" cy="777240"/>
          </a:xfrm>
          <a:prstGeom prst="rect">
            <a:avLst/>
          </a:prstGeom>
          <a:solidFill>
            <a:srgbClr val="2E7D32"/>
          </a:solidFill>
          <a:ln w="12700">
            <a:solidFill>
              <a:srgbClr val="2E7D32"/>
            </a:solidFill>
            <a:prstDash val="solid"/>
          </a:ln>
        </p:spPr>
      </p:sp>
      <p:sp>
        <p:nvSpPr>
          <p:cNvPr id="25" name="Shape 22"/>
          <p:cNvSpPr/>
          <p:nvPr/>
        </p:nvSpPr>
        <p:spPr>
          <a:xfrm>
            <a:off x="1005840" y="3104388"/>
            <a:ext cx="457200" cy="457200"/>
          </a:xfrm>
          <a:prstGeom prst="ellipse">
            <a:avLst/>
          </a:prstGeom>
          <a:solidFill>
            <a:srgbClr val="2E7D32"/>
          </a:solidFill>
          <a:ln w="12700">
            <a:solidFill>
              <a:srgbClr val="2E7D32"/>
            </a:solidFill>
            <a:prstDash val="solid"/>
          </a:ln>
        </p:spPr>
      </p:sp>
      <p:sp>
        <p:nvSpPr>
          <p:cNvPr id="26" name="Text 23"/>
          <p:cNvSpPr/>
          <p:nvPr/>
        </p:nvSpPr>
        <p:spPr>
          <a:xfrm>
            <a:off x="1005840" y="310438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4"/>
          <p:cNvSpPr/>
          <p:nvPr/>
        </p:nvSpPr>
        <p:spPr>
          <a:xfrm>
            <a:off x="1627632" y="3108960"/>
            <a:ext cx="56692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Email Intelligence</a:t>
            </a:r>
            <a:endParaRPr lang="en-US" sz="1500" dirty="0"/>
          </a:p>
        </p:txBody>
      </p:sp>
      <p:sp>
        <p:nvSpPr>
          <p:cNvPr id="28" name="Shape 25"/>
          <p:cNvSpPr/>
          <p:nvPr/>
        </p:nvSpPr>
        <p:spPr>
          <a:xfrm>
            <a:off x="7315200" y="3127248"/>
            <a:ext cx="1188720" cy="384048"/>
          </a:xfrm>
          <a:prstGeom prst="rect">
            <a:avLst/>
          </a:prstGeom>
          <a:solidFill>
            <a:srgbClr val="1565C0"/>
          </a:solidFill>
          <a:ln w="12700">
            <a:solidFill>
              <a:srgbClr val="1565C0"/>
            </a:solidFill>
            <a:prstDash val="solid"/>
          </a:ln>
        </p:spPr>
      </p:sp>
      <p:sp>
        <p:nvSpPr>
          <p:cNvPr id="29" name="Text 26"/>
          <p:cNvSpPr/>
          <p:nvPr/>
        </p:nvSpPr>
        <p:spPr>
          <a:xfrm>
            <a:off x="7315200" y="3127248"/>
            <a:ext cx="1188720" cy="384048"/>
          </a:xfrm>
          <a:prstGeom prst="rect">
            <a:avLst/>
          </a:prstGeom>
          <a:noFill/>
          <a:ln/>
        </p:spPr>
        <p:txBody>
          <a:bodyPr wrap="square" lIns="0" tIns="0" rIns="0" bIns="0" rtlCol="0" anchor="ctr"/>
          <a:lstStyle/>
          <a:p>
            <a:pPr algn="ctr" indent="0" marL="0">
              <a:buNone/>
            </a:pPr>
            <a:r>
              <a:rPr lang="en-US" sz="1100" b="1" dirty="0">
                <a:solidFill>
                  <a:srgbClr val="FFFFFF"/>
                </a:solidFill>
              </a:rPr>
              <a:t>MVP</a:t>
            </a:r>
            <a:endParaRPr lang="en-US" sz="1100" dirty="0"/>
          </a:p>
        </p:txBody>
      </p:sp>
      <p:sp>
        <p:nvSpPr>
          <p:cNvPr id="30" name="Shape 27"/>
          <p:cNvSpPr/>
          <p:nvPr/>
        </p:nvSpPr>
        <p:spPr>
          <a:xfrm>
            <a:off x="8613648" y="3104388"/>
            <a:ext cx="457200" cy="457200"/>
          </a:xfrm>
          <a:prstGeom prst="ellipse">
            <a:avLst/>
          </a:prstGeom>
          <a:solidFill>
            <a:srgbClr val="2E7D32"/>
          </a:solidFill>
          <a:ln w="12700">
            <a:solidFill>
              <a:srgbClr val="2E7D32"/>
            </a:solidFill>
            <a:prstDash val="solid"/>
          </a:ln>
        </p:spPr>
      </p:sp>
      <p:sp>
        <p:nvSpPr>
          <p:cNvPr id="31" name="Text 28"/>
          <p:cNvSpPr/>
          <p:nvPr/>
        </p:nvSpPr>
        <p:spPr>
          <a:xfrm>
            <a:off x="8613648" y="31043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2" name="Shape 29"/>
          <p:cNvSpPr/>
          <p:nvPr/>
        </p:nvSpPr>
        <p:spPr>
          <a:xfrm>
            <a:off x="731520" y="3913632"/>
            <a:ext cx="7955280" cy="777240"/>
          </a:xfrm>
          <a:prstGeom prst="rect">
            <a:avLst/>
          </a:prstGeom>
          <a:solidFill>
            <a:srgbClr val="0D2B55"/>
          </a:solidFill>
          <a:ln w="12700">
            <a:solidFill>
              <a:srgbClr val="6A1B9A"/>
            </a:solidFill>
            <a:prstDash val="solid"/>
          </a:ln>
          <a:effectLst>
            <a:outerShdw sx="100000" sy="100000" kx="0" ky="0" algn="bl" rotWithShape="0" blurRad="101600" dist="38100" dir="8100000">
              <a:srgbClr val="000000">
                <a:alpha val="13000"/>
              </a:srgbClr>
            </a:outerShdw>
          </a:effectLst>
        </p:spPr>
      </p:sp>
      <p:sp>
        <p:nvSpPr>
          <p:cNvPr id="33" name="Shape 30"/>
          <p:cNvSpPr/>
          <p:nvPr/>
        </p:nvSpPr>
        <p:spPr>
          <a:xfrm>
            <a:off x="731520" y="3913632"/>
            <a:ext cx="137160" cy="777240"/>
          </a:xfrm>
          <a:prstGeom prst="rect">
            <a:avLst/>
          </a:prstGeom>
          <a:solidFill>
            <a:srgbClr val="6A1B9A"/>
          </a:solidFill>
          <a:ln w="12700">
            <a:solidFill>
              <a:srgbClr val="6A1B9A"/>
            </a:solidFill>
            <a:prstDash val="solid"/>
          </a:ln>
        </p:spPr>
      </p:sp>
      <p:sp>
        <p:nvSpPr>
          <p:cNvPr id="34" name="Shape 31"/>
          <p:cNvSpPr/>
          <p:nvPr/>
        </p:nvSpPr>
        <p:spPr>
          <a:xfrm>
            <a:off x="1005840" y="4073652"/>
            <a:ext cx="457200" cy="457200"/>
          </a:xfrm>
          <a:prstGeom prst="ellipse">
            <a:avLst/>
          </a:prstGeom>
          <a:solidFill>
            <a:srgbClr val="6A1B9A"/>
          </a:solidFill>
          <a:ln w="12700">
            <a:solidFill>
              <a:srgbClr val="6A1B9A"/>
            </a:solidFill>
            <a:prstDash val="solid"/>
          </a:ln>
        </p:spPr>
      </p:sp>
      <p:sp>
        <p:nvSpPr>
          <p:cNvPr id="35" name="Text 32"/>
          <p:cNvSpPr/>
          <p:nvPr/>
        </p:nvSpPr>
        <p:spPr>
          <a:xfrm>
            <a:off x="1005840" y="407365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6" name="Text 33"/>
          <p:cNvSpPr/>
          <p:nvPr/>
        </p:nvSpPr>
        <p:spPr>
          <a:xfrm>
            <a:off x="1627632" y="4078224"/>
            <a:ext cx="56692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AMEX Credit Card Insights</a:t>
            </a:r>
            <a:endParaRPr lang="en-US" sz="1500" dirty="0"/>
          </a:p>
        </p:txBody>
      </p:sp>
      <p:sp>
        <p:nvSpPr>
          <p:cNvPr id="37" name="Shape 34"/>
          <p:cNvSpPr/>
          <p:nvPr/>
        </p:nvSpPr>
        <p:spPr>
          <a:xfrm>
            <a:off x="7315200" y="4096512"/>
            <a:ext cx="1188720" cy="384048"/>
          </a:xfrm>
          <a:prstGeom prst="rect">
            <a:avLst/>
          </a:prstGeom>
          <a:solidFill>
            <a:srgbClr val="6A1B9A"/>
          </a:solidFill>
          <a:ln w="12700">
            <a:solidFill>
              <a:srgbClr val="6A1B9A"/>
            </a:solidFill>
            <a:prstDash val="solid"/>
          </a:ln>
        </p:spPr>
      </p:sp>
      <p:sp>
        <p:nvSpPr>
          <p:cNvPr id="38" name="Text 35"/>
          <p:cNvSpPr/>
          <p:nvPr/>
        </p:nvSpPr>
        <p:spPr>
          <a:xfrm>
            <a:off x="7315200" y="4096512"/>
            <a:ext cx="1188720" cy="384048"/>
          </a:xfrm>
          <a:prstGeom prst="rect">
            <a:avLst/>
          </a:prstGeom>
          <a:noFill/>
          <a:ln/>
        </p:spPr>
        <p:txBody>
          <a:bodyPr wrap="square" lIns="0" tIns="0" rIns="0" bIns="0" rtlCol="0" anchor="ctr"/>
          <a:lstStyle/>
          <a:p>
            <a:pPr algn="ctr" indent="0" marL="0">
              <a:buNone/>
            </a:pPr>
            <a:r>
              <a:rPr lang="en-US" sz="1100" b="1" dirty="0">
                <a:solidFill>
                  <a:srgbClr val="FFFFFF"/>
                </a:solidFill>
              </a:rPr>
              <a:t>POC</a:t>
            </a:r>
            <a:endParaRPr lang="en-US" sz="1100" dirty="0"/>
          </a:p>
        </p:txBody>
      </p:sp>
      <p:sp>
        <p:nvSpPr>
          <p:cNvPr id="39" name="Shape 36"/>
          <p:cNvSpPr/>
          <p:nvPr/>
        </p:nvSpPr>
        <p:spPr>
          <a:xfrm>
            <a:off x="8613648" y="4073652"/>
            <a:ext cx="457200" cy="457200"/>
          </a:xfrm>
          <a:prstGeom prst="ellipse">
            <a:avLst/>
          </a:prstGeom>
          <a:solidFill>
            <a:srgbClr val="6A1B9A"/>
          </a:solidFill>
          <a:ln w="12700">
            <a:solidFill>
              <a:srgbClr val="6A1B9A"/>
            </a:solidFill>
            <a:prstDash val="solid"/>
          </a:ln>
        </p:spPr>
      </p:sp>
      <p:sp>
        <p:nvSpPr>
          <p:cNvPr id="40" name="Text 37"/>
          <p:cNvSpPr/>
          <p:nvPr/>
        </p:nvSpPr>
        <p:spPr>
          <a:xfrm>
            <a:off x="8613648" y="40736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1565C0"/>
          </a:solidFill>
          <a:ln w="12700">
            <a:solidFill>
              <a:srgbClr val="1565C0"/>
            </a:solidFill>
            <a:prstDash val="solid"/>
          </a:ln>
        </p:spPr>
      </p:sp>
      <p:sp>
        <p:nvSpPr>
          <p:cNvPr id="4" name="Text 1"/>
          <p:cNvSpPr/>
          <p:nvPr/>
        </p:nvSpPr>
        <p:spPr>
          <a:xfrm>
            <a:off x="274320" y="164592"/>
            <a:ext cx="8595360" cy="566928"/>
          </a:xfrm>
          <a:prstGeom prst="rect">
            <a:avLst/>
          </a:prstGeom>
          <a:noFill/>
          <a:ln/>
        </p:spPr>
        <p:txBody>
          <a:bodyPr wrap="square" lIns="0" tIns="0" rIns="0" bIns="0" rtlCol="0" anchor="ctr"/>
          <a:lstStyle/>
          <a:p>
            <a:pPr indent="0" marL="0">
              <a:buNone/>
            </a:pPr>
            <a:r>
              <a:rPr lang="en-US" sz="2600" b="1" dirty="0">
                <a:solidFill>
                  <a:srgbClr val="0D2B55"/>
                </a:solidFill>
                <a:latin typeface="Calibri" pitchFamily="34" charset="0"/>
                <a:ea typeface="Calibri" pitchFamily="34" charset="-122"/>
                <a:cs typeface="Calibri" pitchFamily="34" charset="-120"/>
              </a:rPr>
              <a:t>Knowledge Graph: Schema + Cypher Retrieval</a:t>
            </a:r>
            <a:endParaRPr lang="en-US" sz="2600" dirty="0"/>
          </a:p>
        </p:txBody>
      </p:sp>
      <p:sp>
        <p:nvSpPr>
          <p:cNvPr id="5" name="Text 2"/>
          <p:cNvSpPr/>
          <p:nvPr/>
        </p:nvSpPr>
        <p:spPr>
          <a:xfrm>
            <a:off x="274320" y="694944"/>
            <a:ext cx="8229600" cy="292608"/>
          </a:xfrm>
          <a:prstGeom prst="rect">
            <a:avLst/>
          </a:prstGeom>
          <a:noFill/>
          <a:ln/>
        </p:spPr>
        <p:txBody>
          <a:bodyPr wrap="square" lIns="0" tIns="0" rIns="0" bIns="0" rtlCol="0" anchor="ctr"/>
          <a:lstStyle/>
          <a:p>
            <a:pPr indent="0" marL="0">
              <a:buNone/>
            </a:pPr>
            <a:r>
              <a:rPr lang="en-US" sz="1200" i="1" dirty="0">
                <a:solidFill>
                  <a:srgbClr val="607080"/>
                </a:solidFill>
              </a:rPr>
              <a:t>From natural language to graph traversal</a:t>
            </a:r>
            <a:endParaRPr lang="en-US" sz="1200" dirty="0"/>
          </a:p>
        </p:txBody>
      </p:sp>
      <p:sp>
        <p:nvSpPr>
          <p:cNvPr id="6" name="Shape 3"/>
          <p:cNvSpPr/>
          <p:nvPr/>
        </p:nvSpPr>
        <p:spPr>
          <a:xfrm>
            <a:off x="274320" y="1005840"/>
            <a:ext cx="4114800" cy="379476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7" name="Text 4"/>
          <p:cNvSpPr/>
          <p:nvPr/>
        </p:nvSpPr>
        <p:spPr>
          <a:xfrm>
            <a:off x="457200" y="1078992"/>
            <a:ext cx="3657600" cy="347472"/>
          </a:xfrm>
          <a:prstGeom prst="rect">
            <a:avLst/>
          </a:prstGeom>
          <a:noFill/>
          <a:ln/>
        </p:spPr>
        <p:txBody>
          <a:bodyPr wrap="square" lIns="0" tIns="0" rIns="0" bIns="0" rtlCol="0" anchor="ctr"/>
          <a:lstStyle/>
          <a:p>
            <a:pPr indent="0" marL="0">
              <a:buNone/>
            </a:pPr>
            <a:r>
              <a:rPr lang="en-US" sz="1300" b="1" dirty="0">
                <a:solidFill>
                  <a:srgbClr val="0D2B55"/>
                </a:solidFill>
              </a:rPr>
              <a:t>Example Graph</a:t>
            </a:r>
            <a:endParaRPr lang="en-US" sz="1300" dirty="0"/>
          </a:p>
        </p:txBody>
      </p:sp>
      <p:sp>
        <p:nvSpPr>
          <p:cNvPr id="8" name="Text 5"/>
          <p:cNvSpPr/>
          <p:nvPr/>
        </p:nvSpPr>
        <p:spPr>
          <a:xfrm>
            <a:off x="457200" y="1389888"/>
            <a:ext cx="3657600" cy="502920"/>
          </a:xfrm>
          <a:prstGeom prst="rect">
            <a:avLst/>
          </a:prstGeom>
          <a:noFill/>
          <a:ln/>
        </p:spPr>
        <p:txBody>
          <a:bodyPr wrap="square" lIns="0" tIns="0" rIns="0" bIns="0" rtlCol="0" anchor="ctr"/>
          <a:lstStyle/>
          <a:p>
            <a:pPr indent="0" marL="0">
              <a:buNone/>
            </a:pPr>
            <a:r>
              <a:rPr lang="en-US" sz="1050" i="1" dirty="0">
                <a:solidFill>
                  <a:srgbClr val="607080"/>
                </a:solidFill>
              </a:rPr>
              <a:t>Ben lives in Seattle. Ben works at Company_X.</a:t>
            </a:r>
            <a:endParaRPr lang="en-US" sz="1050" dirty="0"/>
          </a:p>
          <a:p>
            <a:pPr indent="0" marL="0">
              <a:buNone/>
            </a:pPr>
            <a:r>
              <a:rPr lang="en-US" sz="1050" i="1" dirty="0">
                <a:solidFill>
                  <a:srgbClr val="607080"/>
                </a:solidFill>
              </a:rPr>
              <a:t>Company_X is located in Santa Clara.</a:t>
            </a:r>
            <a:endParaRPr lang="en-US" sz="1050" dirty="0"/>
          </a:p>
        </p:txBody>
      </p:sp>
      <p:sp>
        <p:nvSpPr>
          <p:cNvPr id="9" name="Shape 6"/>
          <p:cNvSpPr/>
          <p:nvPr/>
        </p:nvSpPr>
        <p:spPr>
          <a:xfrm>
            <a:off x="502920" y="2103120"/>
            <a:ext cx="987552" cy="438912"/>
          </a:xfrm>
          <a:prstGeom prst="ellipse">
            <a:avLst/>
          </a:prstGeom>
          <a:solidFill>
            <a:srgbClr val="E3F2FD"/>
          </a:solidFill>
          <a:ln w="12700">
            <a:solidFill>
              <a:srgbClr val="1565C0"/>
            </a:solidFill>
            <a:prstDash val="solid"/>
          </a:ln>
        </p:spPr>
      </p:sp>
      <p:sp>
        <p:nvSpPr>
          <p:cNvPr id="10" name="Text 7"/>
          <p:cNvSpPr/>
          <p:nvPr/>
        </p:nvSpPr>
        <p:spPr>
          <a:xfrm>
            <a:off x="502920" y="2103120"/>
            <a:ext cx="987552" cy="438912"/>
          </a:xfrm>
          <a:prstGeom prst="rect">
            <a:avLst/>
          </a:prstGeom>
          <a:noFill/>
          <a:ln/>
        </p:spPr>
        <p:txBody>
          <a:bodyPr wrap="square" lIns="0" tIns="0" rIns="0" bIns="0" rtlCol="0" anchor="ctr"/>
          <a:lstStyle/>
          <a:p>
            <a:pPr algn="ctr" indent="0" marL="0">
              <a:buNone/>
            </a:pPr>
            <a:r>
              <a:rPr lang="en-US" sz="1000" b="1" dirty="0">
                <a:solidFill>
                  <a:srgbClr val="0D2B55"/>
                </a:solidFill>
              </a:rPr>
              <a:t>Ben</a:t>
            </a:r>
            <a:endParaRPr lang="en-US" sz="1000" dirty="0"/>
          </a:p>
        </p:txBody>
      </p:sp>
      <p:sp>
        <p:nvSpPr>
          <p:cNvPr id="11" name="Shape 8"/>
          <p:cNvSpPr/>
          <p:nvPr/>
        </p:nvSpPr>
        <p:spPr>
          <a:xfrm>
            <a:off x="1828800" y="1920240"/>
            <a:ext cx="987552" cy="438912"/>
          </a:xfrm>
          <a:prstGeom prst="ellipse">
            <a:avLst/>
          </a:prstGeom>
          <a:solidFill>
            <a:srgbClr val="E3F2FD"/>
          </a:solidFill>
          <a:ln w="12700">
            <a:solidFill>
              <a:srgbClr val="1565C0"/>
            </a:solidFill>
            <a:prstDash val="solid"/>
          </a:ln>
        </p:spPr>
      </p:sp>
      <p:sp>
        <p:nvSpPr>
          <p:cNvPr id="12" name="Text 9"/>
          <p:cNvSpPr/>
          <p:nvPr/>
        </p:nvSpPr>
        <p:spPr>
          <a:xfrm>
            <a:off x="1828800" y="1920240"/>
            <a:ext cx="987552" cy="438912"/>
          </a:xfrm>
          <a:prstGeom prst="rect">
            <a:avLst/>
          </a:prstGeom>
          <a:noFill/>
          <a:ln/>
        </p:spPr>
        <p:txBody>
          <a:bodyPr wrap="square" lIns="0" tIns="0" rIns="0" bIns="0" rtlCol="0" anchor="ctr"/>
          <a:lstStyle/>
          <a:p>
            <a:pPr algn="ctr" indent="0" marL="0">
              <a:buNone/>
            </a:pPr>
            <a:r>
              <a:rPr lang="en-US" sz="1000" b="1" dirty="0">
                <a:solidFill>
                  <a:srgbClr val="0D2B55"/>
                </a:solidFill>
              </a:rPr>
              <a:t>Company_X</a:t>
            </a:r>
            <a:endParaRPr lang="en-US" sz="1000" dirty="0"/>
          </a:p>
        </p:txBody>
      </p:sp>
      <p:sp>
        <p:nvSpPr>
          <p:cNvPr id="13" name="Shape 10"/>
          <p:cNvSpPr/>
          <p:nvPr/>
        </p:nvSpPr>
        <p:spPr>
          <a:xfrm>
            <a:off x="3063240" y="2103120"/>
            <a:ext cx="987552" cy="438912"/>
          </a:xfrm>
          <a:prstGeom prst="ellipse">
            <a:avLst/>
          </a:prstGeom>
          <a:solidFill>
            <a:srgbClr val="E3F2FD"/>
          </a:solidFill>
          <a:ln w="12700">
            <a:solidFill>
              <a:srgbClr val="1565C0"/>
            </a:solidFill>
            <a:prstDash val="solid"/>
          </a:ln>
        </p:spPr>
      </p:sp>
      <p:sp>
        <p:nvSpPr>
          <p:cNvPr id="14" name="Text 11"/>
          <p:cNvSpPr/>
          <p:nvPr/>
        </p:nvSpPr>
        <p:spPr>
          <a:xfrm>
            <a:off x="3063240" y="2103120"/>
            <a:ext cx="987552" cy="438912"/>
          </a:xfrm>
          <a:prstGeom prst="rect">
            <a:avLst/>
          </a:prstGeom>
          <a:noFill/>
          <a:ln/>
        </p:spPr>
        <p:txBody>
          <a:bodyPr wrap="square" lIns="0" tIns="0" rIns="0" bIns="0" rtlCol="0" anchor="ctr"/>
          <a:lstStyle/>
          <a:p>
            <a:pPr algn="ctr" indent="0" marL="0">
              <a:buNone/>
            </a:pPr>
            <a:r>
              <a:rPr lang="en-US" sz="1000" b="1" dirty="0">
                <a:solidFill>
                  <a:srgbClr val="0D2B55"/>
                </a:solidFill>
              </a:rPr>
              <a:t>Santa Clara</a:t>
            </a:r>
            <a:endParaRPr lang="en-US" sz="1000" dirty="0"/>
          </a:p>
        </p:txBody>
      </p:sp>
      <p:sp>
        <p:nvSpPr>
          <p:cNvPr id="15" name="Shape 12"/>
          <p:cNvSpPr/>
          <p:nvPr/>
        </p:nvSpPr>
        <p:spPr>
          <a:xfrm>
            <a:off x="914400" y="2834640"/>
            <a:ext cx="987552" cy="438912"/>
          </a:xfrm>
          <a:prstGeom prst="ellipse">
            <a:avLst/>
          </a:prstGeom>
          <a:solidFill>
            <a:srgbClr val="E3F2FD"/>
          </a:solidFill>
          <a:ln w="12700">
            <a:solidFill>
              <a:srgbClr val="1565C0"/>
            </a:solidFill>
            <a:prstDash val="solid"/>
          </a:ln>
        </p:spPr>
      </p:sp>
      <p:sp>
        <p:nvSpPr>
          <p:cNvPr id="16" name="Text 13"/>
          <p:cNvSpPr/>
          <p:nvPr/>
        </p:nvSpPr>
        <p:spPr>
          <a:xfrm>
            <a:off x="914400" y="2834640"/>
            <a:ext cx="987552" cy="438912"/>
          </a:xfrm>
          <a:prstGeom prst="rect">
            <a:avLst/>
          </a:prstGeom>
          <a:noFill/>
          <a:ln/>
        </p:spPr>
        <p:txBody>
          <a:bodyPr wrap="square" lIns="0" tIns="0" rIns="0" bIns="0" rtlCol="0" anchor="ctr"/>
          <a:lstStyle/>
          <a:p>
            <a:pPr algn="ctr" indent="0" marL="0">
              <a:buNone/>
            </a:pPr>
            <a:r>
              <a:rPr lang="en-US" sz="1000" b="1" dirty="0">
                <a:solidFill>
                  <a:srgbClr val="0D2B55"/>
                </a:solidFill>
              </a:rPr>
              <a:t>Seattle</a:t>
            </a:r>
            <a:endParaRPr lang="en-US" sz="1000" dirty="0"/>
          </a:p>
        </p:txBody>
      </p:sp>
      <p:sp>
        <p:nvSpPr>
          <p:cNvPr id="17" name="Shape 14"/>
          <p:cNvSpPr/>
          <p:nvPr/>
        </p:nvSpPr>
        <p:spPr>
          <a:xfrm>
            <a:off x="1490472" y="2322576"/>
            <a:ext cx="338328" cy="-137160"/>
          </a:xfrm>
          <a:prstGeom prst="line">
            <a:avLst/>
          </a:prstGeom>
          <a:noFill/>
          <a:ln w="19050">
            <a:solidFill>
              <a:srgbClr val="1565C0"/>
            </a:solidFill>
            <a:prstDash val="solid"/>
          </a:ln>
        </p:spPr>
      </p:sp>
      <p:sp>
        <p:nvSpPr>
          <p:cNvPr id="18" name="Shape 15"/>
          <p:cNvSpPr/>
          <p:nvPr/>
        </p:nvSpPr>
        <p:spPr>
          <a:xfrm>
            <a:off x="2816352" y="2139696"/>
            <a:ext cx="246888" cy="256032"/>
          </a:xfrm>
          <a:prstGeom prst="line">
            <a:avLst/>
          </a:prstGeom>
          <a:noFill/>
          <a:ln w="19050">
            <a:solidFill>
              <a:srgbClr val="1565C0"/>
            </a:solidFill>
            <a:prstDash val="solid"/>
          </a:ln>
        </p:spPr>
      </p:sp>
      <p:sp>
        <p:nvSpPr>
          <p:cNvPr id="19" name="Shape 16"/>
          <p:cNvSpPr/>
          <p:nvPr/>
        </p:nvSpPr>
        <p:spPr>
          <a:xfrm>
            <a:off x="996696" y="2542032"/>
            <a:ext cx="-82296" cy="292608"/>
          </a:xfrm>
          <a:prstGeom prst="line">
            <a:avLst/>
          </a:prstGeom>
          <a:noFill/>
          <a:ln w="19050">
            <a:solidFill>
              <a:srgbClr val="1565C0"/>
            </a:solidFill>
            <a:prstDash val="solid"/>
          </a:ln>
        </p:spPr>
      </p:sp>
      <p:sp>
        <p:nvSpPr>
          <p:cNvPr id="20" name="Text 17"/>
          <p:cNvSpPr/>
          <p:nvPr/>
        </p:nvSpPr>
        <p:spPr>
          <a:xfrm>
            <a:off x="1508760" y="2029968"/>
            <a:ext cx="777240" cy="237744"/>
          </a:xfrm>
          <a:prstGeom prst="rect">
            <a:avLst/>
          </a:prstGeom>
          <a:noFill/>
          <a:ln/>
        </p:spPr>
        <p:txBody>
          <a:bodyPr wrap="square" lIns="0" tIns="0" rIns="0" bIns="0" rtlCol="0" anchor="ctr"/>
          <a:lstStyle/>
          <a:p>
            <a:pPr algn="ctr" indent="0" marL="0">
              <a:buNone/>
            </a:pPr>
            <a:r>
              <a:rPr lang="en-US" sz="850" i="1" dirty="0">
                <a:solidFill>
                  <a:srgbClr val="1565C0"/>
                </a:solidFill>
              </a:rPr>
              <a:t>works_at</a:t>
            </a:r>
            <a:endParaRPr lang="en-US" sz="850" dirty="0"/>
          </a:p>
        </p:txBody>
      </p:sp>
      <p:sp>
        <p:nvSpPr>
          <p:cNvPr id="21" name="Text 18"/>
          <p:cNvSpPr/>
          <p:nvPr/>
        </p:nvSpPr>
        <p:spPr>
          <a:xfrm>
            <a:off x="2743200" y="1993392"/>
            <a:ext cx="777240" cy="237744"/>
          </a:xfrm>
          <a:prstGeom prst="rect">
            <a:avLst/>
          </a:prstGeom>
          <a:noFill/>
          <a:ln/>
        </p:spPr>
        <p:txBody>
          <a:bodyPr wrap="square" lIns="0" tIns="0" rIns="0" bIns="0" rtlCol="0" anchor="ctr"/>
          <a:lstStyle/>
          <a:p>
            <a:pPr algn="ctr" indent="0" marL="0">
              <a:buNone/>
            </a:pPr>
            <a:r>
              <a:rPr lang="en-US" sz="850" i="1" dirty="0">
                <a:solidFill>
                  <a:srgbClr val="1565C0"/>
                </a:solidFill>
              </a:rPr>
              <a:t>located_in</a:t>
            </a:r>
            <a:endParaRPr lang="en-US" sz="850" dirty="0"/>
          </a:p>
        </p:txBody>
      </p:sp>
      <p:sp>
        <p:nvSpPr>
          <p:cNvPr id="22" name="Text 19"/>
          <p:cNvSpPr/>
          <p:nvPr/>
        </p:nvSpPr>
        <p:spPr>
          <a:xfrm>
            <a:off x="530352" y="2596896"/>
            <a:ext cx="640080" cy="237744"/>
          </a:xfrm>
          <a:prstGeom prst="rect">
            <a:avLst/>
          </a:prstGeom>
          <a:noFill/>
          <a:ln/>
        </p:spPr>
        <p:txBody>
          <a:bodyPr wrap="square" lIns="0" tIns="0" rIns="0" bIns="0" rtlCol="0" anchor="ctr"/>
          <a:lstStyle/>
          <a:p>
            <a:pPr algn="ctr" indent="0" marL="0">
              <a:buNone/>
            </a:pPr>
            <a:r>
              <a:rPr lang="en-US" sz="850" i="1" dirty="0">
                <a:solidFill>
                  <a:srgbClr val="1565C0"/>
                </a:solidFill>
              </a:rPr>
              <a:t>lives_in</a:t>
            </a:r>
            <a:endParaRPr lang="en-US" sz="850" dirty="0"/>
          </a:p>
        </p:txBody>
      </p:sp>
      <p:sp>
        <p:nvSpPr>
          <p:cNvPr id="23" name="Text 20"/>
          <p:cNvSpPr/>
          <p:nvPr/>
        </p:nvSpPr>
        <p:spPr>
          <a:xfrm>
            <a:off x="457200" y="3337560"/>
            <a:ext cx="3657600" cy="292608"/>
          </a:xfrm>
          <a:prstGeom prst="rect">
            <a:avLst/>
          </a:prstGeom>
          <a:noFill/>
          <a:ln/>
        </p:spPr>
        <p:txBody>
          <a:bodyPr wrap="square" lIns="0" tIns="0" rIns="0" bIns="0" rtlCol="0" anchor="ctr"/>
          <a:lstStyle/>
          <a:p>
            <a:pPr indent="0" marL="0">
              <a:buNone/>
            </a:pPr>
            <a:r>
              <a:rPr lang="en-US" sz="1100" b="1" dirty="0">
                <a:solidFill>
                  <a:srgbClr val="0D2B55"/>
                </a:solidFill>
              </a:rPr>
              <a:t>Schema:</a:t>
            </a:r>
            <a:endParaRPr lang="en-US" sz="1100" dirty="0"/>
          </a:p>
        </p:txBody>
      </p:sp>
      <p:sp>
        <p:nvSpPr>
          <p:cNvPr id="24" name="Text 21"/>
          <p:cNvSpPr/>
          <p:nvPr/>
        </p:nvSpPr>
        <p:spPr>
          <a:xfrm>
            <a:off x="457200" y="3630168"/>
            <a:ext cx="3657600" cy="685800"/>
          </a:xfrm>
          <a:prstGeom prst="rect">
            <a:avLst/>
          </a:prstGeom>
          <a:noFill/>
          <a:ln/>
        </p:spPr>
        <p:txBody>
          <a:bodyPr wrap="square" lIns="0" tIns="0" rIns="0" bIns="0" rtlCol="0" anchor="ctr"/>
          <a:lstStyle/>
          <a:p>
            <a:pPr indent="0" marL="0">
              <a:buNone/>
            </a:pPr>
            <a:r>
              <a:rPr lang="en-US" sz="1000" dirty="0">
                <a:solidFill>
                  <a:srgbClr val="1565C0"/>
                </a:solidFill>
                <a:latin typeface="Consolas" pitchFamily="34" charset="0"/>
                <a:ea typeface="Consolas" pitchFamily="34" charset="-122"/>
                <a:cs typeface="Consolas" pitchFamily="34" charset="-120"/>
              </a:rPr>
              <a:t>(:Person) -[:LIVES_IN]-&gt; (:City)</a:t>
            </a:r>
            <a:endParaRPr lang="en-US" sz="1000" dirty="0"/>
          </a:p>
          <a:p>
            <a:pPr indent="0" marL="0">
              <a:buNone/>
            </a:pPr>
            <a:r>
              <a:rPr lang="en-US" sz="1000" dirty="0">
                <a:solidFill>
                  <a:srgbClr val="1565C0"/>
                </a:solidFill>
                <a:latin typeface="Consolas" pitchFamily="34" charset="0"/>
                <a:ea typeface="Consolas" pitchFamily="34" charset="-122"/>
                <a:cs typeface="Consolas" pitchFamily="34" charset="-120"/>
              </a:rPr>
              <a:t>(:Person) -[:WORKS_AT]-&gt; (:Company)</a:t>
            </a:r>
            <a:endParaRPr lang="en-US" sz="1000" dirty="0"/>
          </a:p>
          <a:p>
            <a:pPr indent="0" marL="0">
              <a:buNone/>
            </a:pPr>
            <a:r>
              <a:rPr lang="en-US" sz="1000" dirty="0">
                <a:solidFill>
                  <a:srgbClr val="1565C0"/>
                </a:solidFill>
                <a:latin typeface="Consolas" pitchFamily="34" charset="0"/>
                <a:ea typeface="Consolas" pitchFamily="34" charset="-122"/>
                <a:cs typeface="Consolas" pitchFamily="34" charset="-120"/>
              </a:rPr>
              <a:t>(:Company) -[:LOCATED_IN]-&gt; (:City)</a:t>
            </a:r>
            <a:endParaRPr lang="en-US" sz="1000" dirty="0"/>
          </a:p>
        </p:txBody>
      </p:sp>
      <p:sp>
        <p:nvSpPr>
          <p:cNvPr id="25" name="Text 22"/>
          <p:cNvSpPr/>
          <p:nvPr/>
        </p:nvSpPr>
        <p:spPr>
          <a:xfrm>
            <a:off x="457200" y="4434840"/>
            <a:ext cx="3657600" cy="274320"/>
          </a:xfrm>
          <a:prstGeom prst="rect">
            <a:avLst/>
          </a:prstGeom>
          <a:noFill/>
          <a:ln/>
        </p:spPr>
        <p:txBody>
          <a:bodyPr wrap="square" lIns="0" tIns="0" rIns="0" bIns="0" rtlCol="0" anchor="ctr"/>
          <a:lstStyle/>
          <a:p>
            <a:pPr indent="0" marL="0">
              <a:buNone/>
            </a:pPr>
            <a:r>
              <a:rPr lang="en-US" sz="950" i="1" dirty="0">
                <a:solidFill>
                  <a:srgbClr val="607080"/>
                </a:solidFill>
              </a:rPr>
              <a:t>Schema enables Cypher to traverse exact relationships.</a:t>
            </a:r>
            <a:endParaRPr lang="en-US" sz="950" dirty="0"/>
          </a:p>
        </p:txBody>
      </p:sp>
      <p:sp>
        <p:nvSpPr>
          <p:cNvPr id="26" name="Shape 23"/>
          <p:cNvSpPr/>
          <p:nvPr/>
        </p:nvSpPr>
        <p:spPr>
          <a:xfrm>
            <a:off x="4663440" y="1005840"/>
            <a:ext cx="4206240" cy="3794760"/>
          </a:xfrm>
          <a:prstGeom prst="rect">
            <a:avLst/>
          </a:prstGeom>
          <a:solidFill>
            <a:srgbClr val="FFFFFF"/>
          </a:solidFill>
          <a:ln w="12700">
            <a:solidFill>
              <a:srgbClr val="DEE4EA"/>
            </a:solidFill>
            <a:prstDash val="solid"/>
          </a:ln>
          <a:effectLst>
            <a:outerShdw sx="100000" sy="100000" kx="0" ky="0" algn="bl" rotWithShape="0" blurRad="101600" dist="38100" dir="8100000">
              <a:srgbClr val="000000">
                <a:alpha val="13000"/>
              </a:srgbClr>
            </a:outerShdw>
          </a:effectLst>
        </p:spPr>
      </p:sp>
      <p:sp>
        <p:nvSpPr>
          <p:cNvPr id="27" name="Shape 24"/>
          <p:cNvSpPr/>
          <p:nvPr/>
        </p:nvSpPr>
        <p:spPr>
          <a:xfrm>
            <a:off x="4754880" y="1078992"/>
            <a:ext cx="4023360" cy="713232"/>
          </a:xfrm>
          <a:prstGeom prst="rect">
            <a:avLst/>
          </a:prstGeom>
          <a:solidFill>
            <a:srgbClr val="E3F2FD"/>
          </a:solidFill>
          <a:ln w="12700">
            <a:solidFill>
              <a:srgbClr val="2196F3"/>
            </a:solidFill>
            <a:prstDash val="solid"/>
          </a:ln>
        </p:spPr>
      </p:sp>
      <p:sp>
        <p:nvSpPr>
          <p:cNvPr id="28" name="Text 25"/>
          <p:cNvSpPr/>
          <p:nvPr/>
        </p:nvSpPr>
        <p:spPr>
          <a:xfrm>
            <a:off x="4846320" y="1115568"/>
            <a:ext cx="2286000" cy="274320"/>
          </a:xfrm>
          <a:prstGeom prst="rect">
            <a:avLst/>
          </a:prstGeom>
          <a:noFill/>
          <a:ln/>
        </p:spPr>
        <p:txBody>
          <a:bodyPr wrap="square" lIns="0" tIns="0" rIns="0" bIns="0" rtlCol="0" anchor="ctr"/>
          <a:lstStyle/>
          <a:p>
            <a:pPr indent="0" marL="0">
              <a:buNone/>
            </a:pPr>
            <a:r>
              <a:rPr lang="en-US" sz="1000" b="1" dirty="0">
                <a:solidFill>
                  <a:srgbClr val="1565C0"/>
                </a:solidFill>
              </a:rPr>
              <a:t>Natural Language Query</a:t>
            </a:r>
            <a:endParaRPr lang="en-US" sz="1000" dirty="0"/>
          </a:p>
        </p:txBody>
      </p:sp>
      <p:sp>
        <p:nvSpPr>
          <p:cNvPr id="29" name="Text 26"/>
          <p:cNvSpPr/>
          <p:nvPr/>
        </p:nvSpPr>
        <p:spPr>
          <a:xfrm>
            <a:off x="4846320" y="1371600"/>
            <a:ext cx="3840480" cy="347472"/>
          </a:xfrm>
          <a:prstGeom prst="rect">
            <a:avLst/>
          </a:prstGeom>
          <a:noFill/>
          <a:ln/>
        </p:spPr>
        <p:txBody>
          <a:bodyPr wrap="square" lIns="0" tIns="0" rIns="0" bIns="0" rtlCol="0" anchor="ctr"/>
          <a:lstStyle/>
          <a:p>
            <a:pPr indent="0" marL="0">
              <a:buNone/>
            </a:pPr>
            <a:r>
              <a:rPr lang="en-US" sz="1300" b="1" i="1" dirty="0">
                <a:solidFill>
                  <a:srgbClr val="0D2B55"/>
                </a:solidFill>
              </a:rPr>
              <a:t>"Does Ben work remotely?"</a:t>
            </a:r>
            <a:endParaRPr lang="en-US" sz="1300" dirty="0"/>
          </a:p>
        </p:txBody>
      </p:sp>
      <p:sp>
        <p:nvSpPr>
          <p:cNvPr id="30" name="Shape 27"/>
          <p:cNvSpPr/>
          <p:nvPr/>
        </p:nvSpPr>
        <p:spPr>
          <a:xfrm>
            <a:off x="4754880" y="1920240"/>
            <a:ext cx="4023360" cy="1965960"/>
          </a:xfrm>
          <a:prstGeom prst="rect">
            <a:avLst/>
          </a:prstGeom>
          <a:solidFill>
            <a:srgbClr val="0D2B55"/>
          </a:solidFill>
          <a:ln w="12700">
            <a:solidFill>
              <a:srgbClr val="2196F3"/>
            </a:solidFill>
            <a:prstDash val="solid"/>
          </a:ln>
        </p:spPr>
      </p:sp>
      <p:sp>
        <p:nvSpPr>
          <p:cNvPr id="31" name="Text 28"/>
          <p:cNvSpPr/>
          <p:nvPr/>
        </p:nvSpPr>
        <p:spPr>
          <a:xfrm>
            <a:off x="4846320" y="1947672"/>
            <a:ext cx="2743200" cy="292608"/>
          </a:xfrm>
          <a:prstGeom prst="rect">
            <a:avLst/>
          </a:prstGeom>
          <a:noFill/>
          <a:ln/>
        </p:spPr>
        <p:txBody>
          <a:bodyPr wrap="square" lIns="0" tIns="0" rIns="0" bIns="0" rtlCol="0" anchor="ctr"/>
          <a:lstStyle/>
          <a:p>
            <a:pPr indent="0" marL="0">
              <a:buNone/>
            </a:pPr>
            <a:r>
              <a:rPr lang="en-US" sz="1000" b="1" dirty="0">
                <a:solidFill>
                  <a:srgbClr val="2196F3"/>
                </a:solidFill>
              </a:rPr>
              <a:t>Cypher Retrieval Query</a:t>
            </a:r>
            <a:endParaRPr lang="en-US" sz="1000" dirty="0"/>
          </a:p>
        </p:txBody>
      </p:sp>
      <p:sp>
        <p:nvSpPr>
          <p:cNvPr id="32" name="Text 29"/>
          <p:cNvSpPr/>
          <p:nvPr/>
        </p:nvSpPr>
        <p:spPr>
          <a:xfrm>
            <a:off x="4828032" y="2249424"/>
            <a:ext cx="3931920" cy="1554480"/>
          </a:xfrm>
          <a:prstGeom prst="rect">
            <a:avLst/>
          </a:prstGeom>
          <a:noFill/>
          <a:ln/>
        </p:spPr>
        <p:txBody>
          <a:bodyPr wrap="square" lIns="0" tIns="0" rIns="0" bIns="0" rtlCol="0" anchor="ctr"/>
          <a:lstStyle/>
          <a:p>
            <a:pPr indent="0" marL="0">
              <a:buNone/>
            </a:pPr>
            <a:r>
              <a:rPr lang="en-US" sz="950" dirty="0">
                <a:solidFill>
                  <a:srgbClr val="88DDFF"/>
                </a:solidFill>
                <a:latin typeface="Consolas" pitchFamily="34" charset="0"/>
                <a:ea typeface="Consolas" pitchFamily="34" charset="-122"/>
                <a:cs typeface="Consolas" pitchFamily="34" charset="-120"/>
              </a:rPr>
              <a:t>MATCH (p:Person {name:"Ben"})-[:WORKS_AT]-&gt;(c:Company),</a:t>
            </a:r>
            <a:endParaRPr lang="en-US" sz="950" dirty="0"/>
          </a:p>
          <a:p>
            <a:pPr indent="0" marL="0">
              <a:buNone/>
            </a:pPr>
            <a:r>
              <a:rPr lang="en-US" sz="950" dirty="0">
                <a:solidFill>
                  <a:srgbClr val="88DDFF"/>
                </a:solidFill>
                <a:latin typeface="Consolas" pitchFamily="34" charset="0"/>
                <a:ea typeface="Consolas" pitchFamily="34" charset="-122"/>
                <a:cs typeface="Consolas" pitchFamily="34" charset="-120"/>
              </a:rPr>
              <a:t>(p)-[:LIVES_IN]-&gt;(city1:City),</a:t>
            </a:r>
            <a:endParaRPr lang="en-US" sz="950" dirty="0"/>
          </a:p>
          <a:p>
            <a:pPr indent="0" marL="0">
              <a:buNone/>
            </a:pPr>
            <a:r>
              <a:rPr lang="en-US" sz="950" dirty="0">
                <a:solidFill>
                  <a:srgbClr val="88DDFF"/>
                </a:solidFill>
                <a:latin typeface="Consolas" pitchFamily="34" charset="0"/>
                <a:ea typeface="Consolas" pitchFamily="34" charset="-122"/>
                <a:cs typeface="Consolas" pitchFamily="34" charset="-120"/>
              </a:rPr>
              <a:t>(c)-[:LOCATED_IN]-&gt;(city2:City)</a:t>
            </a:r>
            <a:endParaRPr lang="en-US" sz="950" dirty="0"/>
          </a:p>
          <a:p>
            <a:pPr indent="0" marL="0">
              <a:buNone/>
            </a:pPr>
            <a:r>
              <a:rPr lang="en-US" sz="950" dirty="0">
                <a:solidFill>
                  <a:srgbClr val="88DDFF"/>
                </a:solidFill>
                <a:latin typeface="Consolas" pitchFamily="34" charset="0"/>
                <a:ea typeface="Consolas" pitchFamily="34" charset="-122"/>
                <a:cs typeface="Consolas" pitchFamily="34" charset="-120"/>
              </a:rPr>
              <a:t>RETURN p.name, city1.name AS person_city,</a:t>
            </a:r>
            <a:endParaRPr lang="en-US" sz="950" dirty="0"/>
          </a:p>
          <a:p>
            <a:pPr indent="0" marL="0">
              <a:buNone/>
            </a:pPr>
            <a:r>
              <a:rPr lang="en-US" sz="950" dirty="0">
                <a:solidFill>
                  <a:srgbClr val="88DDFF"/>
                </a:solidFill>
                <a:latin typeface="Consolas" pitchFamily="34" charset="0"/>
                <a:ea typeface="Consolas" pitchFamily="34" charset="-122"/>
                <a:cs typeface="Consolas" pitchFamily="34" charset="-120"/>
              </a:rPr>
              <a:t>c.name AS company, city2.name AS company_city</a:t>
            </a:r>
            <a:endParaRPr lang="en-US" sz="950" dirty="0"/>
          </a:p>
        </p:txBody>
      </p:sp>
      <p:sp>
        <p:nvSpPr>
          <p:cNvPr id="33" name="Shape 30"/>
          <p:cNvSpPr/>
          <p:nvPr/>
        </p:nvSpPr>
        <p:spPr>
          <a:xfrm>
            <a:off x="4754880" y="3995928"/>
            <a:ext cx="4023360" cy="685800"/>
          </a:xfrm>
          <a:prstGeom prst="rect">
            <a:avLst/>
          </a:prstGeom>
          <a:solidFill>
            <a:srgbClr val="E8F5E9"/>
          </a:solidFill>
          <a:ln w="12700">
            <a:solidFill>
              <a:srgbClr val="2E7D32"/>
            </a:solidFill>
            <a:prstDash val="solid"/>
          </a:ln>
        </p:spPr>
      </p:sp>
      <p:sp>
        <p:nvSpPr>
          <p:cNvPr id="34" name="Text 31"/>
          <p:cNvSpPr/>
          <p:nvPr/>
        </p:nvSpPr>
        <p:spPr>
          <a:xfrm>
            <a:off x="4846320" y="4023360"/>
            <a:ext cx="1828800" cy="256032"/>
          </a:xfrm>
          <a:prstGeom prst="rect">
            <a:avLst/>
          </a:prstGeom>
          <a:noFill/>
          <a:ln/>
        </p:spPr>
        <p:txBody>
          <a:bodyPr wrap="square" lIns="0" tIns="0" rIns="0" bIns="0" rtlCol="0" anchor="ctr"/>
          <a:lstStyle/>
          <a:p>
            <a:pPr indent="0" marL="0">
              <a:buNone/>
            </a:pPr>
            <a:r>
              <a:rPr lang="en-US" sz="1000" b="1" dirty="0">
                <a:solidFill>
                  <a:srgbClr val="2E7D32"/>
                </a:solidFill>
              </a:rPr>
              <a:t>Expected Result:</a:t>
            </a:r>
            <a:endParaRPr lang="en-US" sz="1000" dirty="0"/>
          </a:p>
        </p:txBody>
      </p:sp>
      <p:sp>
        <p:nvSpPr>
          <p:cNvPr id="35" name="Text 32"/>
          <p:cNvSpPr/>
          <p:nvPr/>
        </p:nvSpPr>
        <p:spPr>
          <a:xfrm>
            <a:off x="4846320" y="4279392"/>
            <a:ext cx="3840480" cy="347472"/>
          </a:xfrm>
          <a:prstGeom prst="rect">
            <a:avLst/>
          </a:prstGeom>
          <a:noFill/>
          <a:ln/>
        </p:spPr>
        <p:txBody>
          <a:bodyPr wrap="square" lIns="0" tIns="0" rIns="0" bIns="0" rtlCol="0" anchor="ctr"/>
          <a:lstStyle/>
          <a:p>
            <a:pPr algn="ctr" indent="0" marL="0">
              <a:buNone/>
            </a:pPr>
            <a:r>
              <a:rPr lang="en-US" sz="1200" b="1" dirty="0">
                <a:solidFill>
                  <a:srgbClr val="0D2B55"/>
                </a:solidFill>
              </a:rPr>
              <a:t>Ben  |  Seattle  |  Company_X  |  Santa Clara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897B"/>
          </a:solidFill>
          <a:ln w="12700">
            <a:solidFill>
              <a:srgbClr val="00897B"/>
            </a:solidFill>
            <a:prstDash val="solid"/>
          </a:ln>
        </p:spPr>
      </p:sp>
      <p:sp>
        <p:nvSpPr>
          <p:cNvPr id="4" name="Text 1"/>
          <p:cNvSpPr/>
          <p:nvPr/>
        </p:nvSpPr>
        <p:spPr>
          <a:xfrm>
            <a:off x="274320" y="164592"/>
            <a:ext cx="8229600" cy="566928"/>
          </a:xfrm>
          <a:prstGeom prst="rect">
            <a:avLst/>
          </a:prstGeom>
          <a:noFill/>
          <a:ln/>
        </p:spPr>
        <p:txBody>
          <a:bodyPr wrap="square" lIns="0" tIns="0" rIns="0" bIns="0" rtlCol="0" anchor="ctr"/>
          <a:lstStyle/>
          <a:p>
            <a:pPr indent="0" marL="0">
              <a:buNone/>
            </a:pPr>
            <a:r>
              <a:rPr lang="en-US" sz="2800" b="1" dirty="0">
                <a:solidFill>
                  <a:srgbClr val="0D2B55"/>
                </a:solidFill>
                <a:latin typeface="Calibri" pitchFamily="34" charset="0"/>
                <a:ea typeface="Calibri" pitchFamily="34" charset="-122"/>
                <a:cs typeface="Calibri" pitchFamily="34" charset="-120"/>
              </a:rPr>
              <a:t>Dual-Path Retrieval &amp; Reasoning</a:t>
            </a:r>
            <a:endParaRPr lang="en-US" sz="2800" dirty="0"/>
          </a:p>
        </p:txBody>
      </p:sp>
      <p:sp>
        <p:nvSpPr>
          <p:cNvPr id="5" name="Text 2"/>
          <p:cNvSpPr/>
          <p:nvPr/>
        </p:nvSpPr>
        <p:spPr>
          <a:xfrm>
            <a:off x="274320" y="694944"/>
            <a:ext cx="8229600" cy="292608"/>
          </a:xfrm>
          <a:prstGeom prst="rect">
            <a:avLst/>
          </a:prstGeom>
          <a:noFill/>
          <a:ln/>
        </p:spPr>
        <p:txBody>
          <a:bodyPr wrap="square" lIns="0" tIns="0" rIns="0" bIns="0" rtlCol="0" anchor="ctr"/>
          <a:lstStyle/>
          <a:p>
            <a:pPr indent="0" marL="0">
              <a:buNone/>
            </a:pPr>
            <a:r>
              <a:rPr lang="en-US" sz="1200" i="1" dirty="0">
                <a:solidFill>
                  <a:srgbClr val="607080"/>
                </a:solidFill>
              </a:rPr>
              <a:t>From Natural Language to Deterministic Intelligence</a:t>
            </a:r>
            <a:endParaRPr lang="en-US" sz="1200" dirty="0"/>
          </a:p>
        </p:txBody>
      </p:sp>
      <p:sp>
        <p:nvSpPr>
          <p:cNvPr id="6" name="Shape 3"/>
          <p:cNvSpPr/>
          <p:nvPr/>
        </p:nvSpPr>
        <p:spPr>
          <a:xfrm>
            <a:off x="274320" y="1005840"/>
            <a:ext cx="1508760" cy="566928"/>
          </a:xfrm>
          <a:prstGeom prst="rect">
            <a:avLst/>
          </a:prstGeom>
          <a:solidFill>
            <a:srgbClr val="1565C0"/>
          </a:solidFill>
          <a:ln w="12700">
            <a:solidFill>
              <a:srgbClr val="1565C0"/>
            </a:solidFill>
            <a:prstDash val="solid"/>
          </a:ln>
        </p:spPr>
      </p:sp>
      <p:sp>
        <p:nvSpPr>
          <p:cNvPr id="7" name="Text 4"/>
          <p:cNvSpPr/>
          <p:nvPr/>
        </p:nvSpPr>
        <p:spPr>
          <a:xfrm>
            <a:off x="274320" y="1005840"/>
            <a:ext cx="1508760" cy="566928"/>
          </a:xfrm>
          <a:prstGeom prst="rect">
            <a:avLst/>
          </a:prstGeom>
          <a:noFill/>
          <a:ln/>
        </p:spPr>
        <p:txBody>
          <a:bodyPr wrap="square" lIns="0" tIns="0" rIns="0" bIns="0" rtlCol="0" anchor="ctr"/>
          <a:lstStyle/>
          <a:p>
            <a:pPr algn="ctr" indent="0" marL="0">
              <a:buNone/>
            </a:pPr>
            <a:r>
              <a:rPr lang="en-US" sz="1100" b="1" dirty="0">
                <a:solidFill>
                  <a:srgbClr val="FFFFFF"/>
                </a:solidFill>
              </a:rPr>
              <a:t>User</a:t>
            </a:r>
            <a:endParaRPr lang="en-US" sz="1100" dirty="0"/>
          </a:p>
          <a:p>
            <a:pPr algn="ctr" indent="0" marL="0">
              <a:buNone/>
            </a:pPr>
            <a:r>
              <a:rPr lang="en-US" sz="1100" b="1" dirty="0">
                <a:solidFill>
                  <a:srgbClr val="FFFFFF"/>
                </a:solidFill>
              </a:rPr>
              <a:t>Query</a:t>
            </a:r>
            <a:endParaRPr lang="en-US" sz="1100" dirty="0"/>
          </a:p>
        </p:txBody>
      </p:sp>
      <p:sp>
        <p:nvSpPr>
          <p:cNvPr id="8" name="Text 5"/>
          <p:cNvSpPr/>
          <p:nvPr/>
        </p:nvSpPr>
        <p:spPr>
          <a:xfrm>
            <a:off x="1783080" y="1115568"/>
            <a:ext cx="502920" cy="347472"/>
          </a:xfrm>
          <a:prstGeom prst="rect">
            <a:avLst/>
          </a:prstGeom>
          <a:noFill/>
          <a:ln/>
        </p:spPr>
        <p:txBody>
          <a:bodyPr wrap="square" lIns="0" tIns="0" rIns="0" bIns="0" rtlCol="0" anchor="ctr"/>
          <a:lstStyle/>
          <a:p>
            <a:pPr algn="ctr" indent="0" marL="0">
              <a:buNone/>
            </a:pPr>
            <a:r>
              <a:rPr lang="en-US" sz="1800" dirty="0">
                <a:solidFill>
                  <a:srgbClr val="607080"/>
                </a:solidFill>
              </a:rPr>
              <a:t>→</a:t>
            </a:r>
            <a:endParaRPr lang="en-US" sz="1800" dirty="0"/>
          </a:p>
        </p:txBody>
      </p:sp>
      <p:sp>
        <p:nvSpPr>
          <p:cNvPr id="9" name="Shape 6"/>
          <p:cNvSpPr/>
          <p:nvPr/>
        </p:nvSpPr>
        <p:spPr>
          <a:xfrm>
            <a:off x="2011680" y="1005840"/>
            <a:ext cx="1508760" cy="566928"/>
          </a:xfrm>
          <a:prstGeom prst="rect">
            <a:avLst/>
          </a:prstGeom>
          <a:solidFill>
            <a:srgbClr val="F57C00"/>
          </a:solidFill>
          <a:ln w="12700">
            <a:solidFill>
              <a:srgbClr val="F57C00"/>
            </a:solidFill>
            <a:prstDash val="solid"/>
          </a:ln>
        </p:spPr>
      </p:sp>
      <p:sp>
        <p:nvSpPr>
          <p:cNvPr id="10" name="Text 7"/>
          <p:cNvSpPr/>
          <p:nvPr/>
        </p:nvSpPr>
        <p:spPr>
          <a:xfrm>
            <a:off x="2011680" y="1005840"/>
            <a:ext cx="1508760" cy="566928"/>
          </a:xfrm>
          <a:prstGeom prst="rect">
            <a:avLst/>
          </a:prstGeom>
          <a:noFill/>
          <a:ln/>
        </p:spPr>
        <p:txBody>
          <a:bodyPr wrap="square" lIns="0" tIns="0" rIns="0" bIns="0" rtlCol="0" anchor="ctr"/>
          <a:lstStyle/>
          <a:p>
            <a:pPr algn="ctr" indent="0" marL="0">
              <a:buNone/>
            </a:pPr>
            <a:r>
              <a:rPr lang="en-US" sz="1100" b="1" dirty="0">
                <a:solidFill>
                  <a:srgbClr val="FFFFFF"/>
                </a:solidFill>
              </a:rPr>
              <a:t>Parallel</a:t>
            </a:r>
            <a:endParaRPr lang="en-US" sz="1100" dirty="0"/>
          </a:p>
          <a:p>
            <a:pPr algn="ctr" indent="0" marL="0">
              <a:buNone/>
            </a:pPr>
            <a:r>
              <a:rPr lang="en-US" sz="1100" b="1" dirty="0">
                <a:solidFill>
                  <a:srgbClr val="FFFFFF"/>
                </a:solidFill>
              </a:rPr>
              <a:t>Execution</a:t>
            </a:r>
            <a:endParaRPr lang="en-US" sz="1100" dirty="0"/>
          </a:p>
        </p:txBody>
      </p:sp>
      <p:sp>
        <p:nvSpPr>
          <p:cNvPr id="11" name="Text 8"/>
          <p:cNvSpPr/>
          <p:nvPr/>
        </p:nvSpPr>
        <p:spPr>
          <a:xfrm>
            <a:off x="3520440" y="1115568"/>
            <a:ext cx="502920" cy="347472"/>
          </a:xfrm>
          <a:prstGeom prst="rect">
            <a:avLst/>
          </a:prstGeom>
          <a:noFill/>
          <a:ln/>
        </p:spPr>
        <p:txBody>
          <a:bodyPr wrap="square" lIns="0" tIns="0" rIns="0" bIns="0" rtlCol="0" anchor="ctr"/>
          <a:lstStyle/>
          <a:p>
            <a:pPr algn="ctr" indent="0" marL="0">
              <a:buNone/>
            </a:pPr>
            <a:r>
              <a:rPr lang="en-US" sz="1800" dirty="0">
                <a:solidFill>
                  <a:srgbClr val="607080"/>
                </a:solidFill>
              </a:rPr>
              <a:t>→</a:t>
            </a:r>
            <a:endParaRPr lang="en-US" sz="1800" dirty="0"/>
          </a:p>
        </p:txBody>
      </p:sp>
      <p:sp>
        <p:nvSpPr>
          <p:cNvPr id="12" name="Shape 9"/>
          <p:cNvSpPr/>
          <p:nvPr/>
        </p:nvSpPr>
        <p:spPr>
          <a:xfrm>
            <a:off x="3749040" y="1005840"/>
            <a:ext cx="1508760" cy="566928"/>
          </a:xfrm>
          <a:prstGeom prst="rect">
            <a:avLst/>
          </a:prstGeom>
          <a:solidFill>
            <a:srgbClr val="00897B"/>
          </a:solidFill>
          <a:ln w="12700">
            <a:solidFill>
              <a:srgbClr val="00897B"/>
            </a:solidFill>
            <a:prstDash val="solid"/>
          </a:ln>
        </p:spPr>
      </p:sp>
      <p:sp>
        <p:nvSpPr>
          <p:cNvPr id="13" name="Text 10"/>
          <p:cNvSpPr/>
          <p:nvPr/>
        </p:nvSpPr>
        <p:spPr>
          <a:xfrm>
            <a:off x="3749040" y="1005840"/>
            <a:ext cx="1508760" cy="566928"/>
          </a:xfrm>
          <a:prstGeom prst="rect">
            <a:avLst/>
          </a:prstGeom>
          <a:noFill/>
          <a:ln/>
        </p:spPr>
        <p:txBody>
          <a:bodyPr wrap="square" lIns="0" tIns="0" rIns="0" bIns="0" rtlCol="0" anchor="ctr"/>
          <a:lstStyle/>
          <a:p>
            <a:pPr algn="ctr" indent="0" marL="0">
              <a:buNone/>
            </a:pPr>
            <a:r>
              <a:rPr lang="en-US" sz="1100" b="1" dirty="0">
                <a:solidFill>
                  <a:srgbClr val="FFFFFF"/>
                </a:solidFill>
              </a:rPr>
              <a:t>Merge &amp;</a:t>
            </a:r>
            <a:endParaRPr lang="en-US" sz="1100" dirty="0"/>
          </a:p>
          <a:p>
            <a:pPr algn="ctr" indent="0" marL="0">
              <a:buNone/>
            </a:pPr>
            <a:r>
              <a:rPr lang="en-US" sz="1100" b="1" dirty="0">
                <a:solidFill>
                  <a:srgbClr val="FFFFFF"/>
                </a:solidFill>
              </a:rPr>
              <a:t>Ground</a:t>
            </a:r>
            <a:endParaRPr lang="en-US" sz="1100" dirty="0"/>
          </a:p>
        </p:txBody>
      </p:sp>
      <p:sp>
        <p:nvSpPr>
          <p:cNvPr id="14" name="Text 11"/>
          <p:cNvSpPr/>
          <p:nvPr/>
        </p:nvSpPr>
        <p:spPr>
          <a:xfrm>
            <a:off x="5257800" y="1115568"/>
            <a:ext cx="502920" cy="347472"/>
          </a:xfrm>
          <a:prstGeom prst="rect">
            <a:avLst/>
          </a:prstGeom>
          <a:noFill/>
          <a:ln/>
        </p:spPr>
        <p:txBody>
          <a:bodyPr wrap="square" lIns="0" tIns="0" rIns="0" bIns="0" rtlCol="0" anchor="ctr"/>
          <a:lstStyle/>
          <a:p>
            <a:pPr algn="ctr" indent="0" marL="0">
              <a:buNone/>
            </a:pPr>
            <a:r>
              <a:rPr lang="en-US" sz="1800" dirty="0">
                <a:solidFill>
                  <a:srgbClr val="607080"/>
                </a:solidFill>
              </a:rPr>
              <a:t>→</a:t>
            </a:r>
            <a:endParaRPr lang="en-US" sz="1800" dirty="0"/>
          </a:p>
        </p:txBody>
      </p:sp>
      <p:sp>
        <p:nvSpPr>
          <p:cNvPr id="15" name="Shape 12"/>
          <p:cNvSpPr/>
          <p:nvPr/>
        </p:nvSpPr>
        <p:spPr>
          <a:xfrm>
            <a:off x="5486400" y="1005840"/>
            <a:ext cx="1508760" cy="566928"/>
          </a:xfrm>
          <a:prstGeom prst="rect">
            <a:avLst/>
          </a:prstGeom>
          <a:solidFill>
            <a:srgbClr val="6A1B9A"/>
          </a:solidFill>
          <a:ln w="12700">
            <a:solidFill>
              <a:srgbClr val="6A1B9A"/>
            </a:solidFill>
            <a:prstDash val="solid"/>
          </a:ln>
        </p:spPr>
      </p:sp>
      <p:sp>
        <p:nvSpPr>
          <p:cNvPr id="16" name="Text 13"/>
          <p:cNvSpPr/>
          <p:nvPr/>
        </p:nvSpPr>
        <p:spPr>
          <a:xfrm>
            <a:off x="5486400" y="1005840"/>
            <a:ext cx="1508760" cy="566928"/>
          </a:xfrm>
          <a:prstGeom prst="rect">
            <a:avLst/>
          </a:prstGeom>
          <a:noFill/>
          <a:ln/>
        </p:spPr>
        <p:txBody>
          <a:bodyPr wrap="square" lIns="0" tIns="0" rIns="0" bIns="0" rtlCol="0" anchor="ctr"/>
          <a:lstStyle/>
          <a:p>
            <a:pPr algn="ctr" indent="0" marL="0">
              <a:buNone/>
            </a:pPr>
            <a:r>
              <a:rPr lang="en-US" sz="1100" b="1" dirty="0">
                <a:solidFill>
                  <a:srgbClr val="FFFFFF"/>
                </a:solidFill>
              </a:rPr>
              <a:t>LLM</a:t>
            </a:r>
            <a:endParaRPr lang="en-US" sz="1100" dirty="0"/>
          </a:p>
          <a:p>
            <a:pPr algn="ctr" indent="0" marL="0">
              <a:buNone/>
            </a:pPr>
            <a:r>
              <a:rPr lang="en-US" sz="1100" b="1" dirty="0">
                <a:solidFill>
                  <a:srgbClr val="FFFFFF"/>
                </a:solidFill>
              </a:rPr>
              <a:t>Synthesis</a:t>
            </a:r>
            <a:endParaRPr lang="en-US" sz="1100" dirty="0"/>
          </a:p>
        </p:txBody>
      </p:sp>
      <p:sp>
        <p:nvSpPr>
          <p:cNvPr id="17" name="Text 14"/>
          <p:cNvSpPr/>
          <p:nvPr/>
        </p:nvSpPr>
        <p:spPr>
          <a:xfrm>
            <a:off x="6995160" y="1115568"/>
            <a:ext cx="502920" cy="347472"/>
          </a:xfrm>
          <a:prstGeom prst="rect">
            <a:avLst/>
          </a:prstGeom>
          <a:noFill/>
          <a:ln/>
        </p:spPr>
        <p:txBody>
          <a:bodyPr wrap="square" lIns="0" tIns="0" rIns="0" bIns="0" rtlCol="0" anchor="ctr"/>
          <a:lstStyle/>
          <a:p>
            <a:pPr algn="ctr" indent="0" marL="0">
              <a:buNone/>
            </a:pPr>
            <a:r>
              <a:rPr lang="en-US" sz="1800" dirty="0">
                <a:solidFill>
                  <a:srgbClr val="607080"/>
                </a:solidFill>
              </a:rPr>
              <a:t>→</a:t>
            </a:r>
            <a:endParaRPr lang="en-US" sz="1800" dirty="0"/>
          </a:p>
        </p:txBody>
      </p:sp>
      <p:sp>
        <p:nvSpPr>
          <p:cNvPr id="18" name="Shape 15"/>
          <p:cNvSpPr/>
          <p:nvPr/>
        </p:nvSpPr>
        <p:spPr>
          <a:xfrm>
            <a:off x="7223760" y="1005840"/>
            <a:ext cx="1508760" cy="566928"/>
          </a:xfrm>
          <a:prstGeom prst="rect">
            <a:avLst/>
          </a:prstGeom>
          <a:solidFill>
            <a:srgbClr val="2E7D32"/>
          </a:solidFill>
          <a:ln w="12700">
            <a:solidFill>
              <a:srgbClr val="2E7D32"/>
            </a:solidFill>
            <a:prstDash val="solid"/>
          </a:ln>
        </p:spPr>
      </p:sp>
      <p:sp>
        <p:nvSpPr>
          <p:cNvPr id="19" name="Text 16"/>
          <p:cNvSpPr/>
          <p:nvPr/>
        </p:nvSpPr>
        <p:spPr>
          <a:xfrm>
            <a:off x="7223760" y="1005840"/>
            <a:ext cx="1508760" cy="566928"/>
          </a:xfrm>
          <a:prstGeom prst="rect">
            <a:avLst/>
          </a:prstGeom>
          <a:noFill/>
          <a:ln/>
        </p:spPr>
        <p:txBody>
          <a:bodyPr wrap="square" lIns="0" tIns="0" rIns="0" bIns="0" rtlCol="0" anchor="ctr"/>
          <a:lstStyle/>
          <a:p>
            <a:pPr algn="ctr" indent="0" marL="0">
              <a:buNone/>
            </a:pPr>
            <a:r>
              <a:rPr lang="en-US" sz="1100" b="1" dirty="0">
                <a:solidFill>
                  <a:srgbClr val="FFFFFF"/>
                </a:solidFill>
              </a:rPr>
              <a:t>Final</a:t>
            </a:r>
            <a:endParaRPr lang="en-US" sz="1100" dirty="0"/>
          </a:p>
          <a:p>
            <a:pPr algn="ctr" indent="0" marL="0">
              <a:buNone/>
            </a:pPr>
            <a:r>
              <a:rPr lang="en-US" sz="1100" b="1" dirty="0">
                <a:solidFill>
                  <a:srgbClr val="FFFFFF"/>
                </a:solidFill>
              </a:rPr>
              <a:t>Answer</a:t>
            </a:r>
            <a:endParaRPr lang="en-US" sz="1100" dirty="0"/>
          </a:p>
        </p:txBody>
      </p:sp>
      <p:sp>
        <p:nvSpPr>
          <p:cNvPr id="20" name="Shape 17"/>
          <p:cNvSpPr/>
          <p:nvPr/>
        </p:nvSpPr>
        <p:spPr>
          <a:xfrm>
            <a:off x="274320" y="1828800"/>
            <a:ext cx="4114800" cy="3108960"/>
          </a:xfrm>
          <a:prstGeom prst="rect">
            <a:avLst/>
          </a:prstGeom>
          <a:solidFill>
            <a:srgbClr val="FFFFFF"/>
          </a:solidFill>
          <a:ln w="12700">
            <a:solidFill>
              <a:srgbClr val="1565C0"/>
            </a:solidFill>
            <a:prstDash val="solid"/>
          </a:ln>
          <a:effectLst>
            <a:outerShdw sx="100000" sy="100000" kx="0" ky="0" algn="bl" rotWithShape="0" blurRad="101600" dist="38100" dir="8100000">
              <a:srgbClr val="000000">
                <a:alpha val="13000"/>
              </a:srgbClr>
            </a:outerShdw>
          </a:effectLst>
        </p:spPr>
      </p:sp>
      <p:sp>
        <p:nvSpPr>
          <p:cNvPr id="21" name="Shape 18"/>
          <p:cNvSpPr/>
          <p:nvPr/>
        </p:nvSpPr>
        <p:spPr>
          <a:xfrm>
            <a:off x="274320" y="1828800"/>
            <a:ext cx="4114800" cy="384048"/>
          </a:xfrm>
          <a:prstGeom prst="rect">
            <a:avLst/>
          </a:prstGeom>
          <a:solidFill>
            <a:srgbClr val="1565C0"/>
          </a:solidFill>
          <a:ln w="12700">
            <a:solidFill>
              <a:srgbClr val="1565C0"/>
            </a:solidFill>
            <a:prstDash val="solid"/>
          </a:ln>
        </p:spPr>
      </p:sp>
      <p:sp>
        <p:nvSpPr>
          <p:cNvPr id="22" name="Text 19"/>
          <p:cNvSpPr/>
          <p:nvPr/>
        </p:nvSpPr>
        <p:spPr>
          <a:xfrm>
            <a:off x="274320" y="1828800"/>
            <a:ext cx="4114800" cy="384048"/>
          </a:xfrm>
          <a:prstGeom prst="rect">
            <a:avLst/>
          </a:prstGeom>
          <a:noFill/>
          <a:ln/>
        </p:spPr>
        <p:txBody>
          <a:bodyPr wrap="square" lIns="0" tIns="0" rIns="0" bIns="0" rtlCol="0" anchor="ctr"/>
          <a:lstStyle/>
          <a:p>
            <a:pPr algn="ctr" indent="0" marL="0">
              <a:buNone/>
            </a:pPr>
            <a:r>
              <a:rPr lang="en-US" sz="1150" b="1" dirty="0">
                <a:solidFill>
                  <a:srgbClr val="FFFFFF"/>
                </a:solidFill>
              </a:rPr>
              <a:t>PATH 1 — Multi-Hop Graph Reasoning</a:t>
            </a:r>
            <a:endParaRPr lang="en-US" sz="1150" dirty="0"/>
          </a:p>
        </p:txBody>
      </p:sp>
      <p:sp>
        <p:nvSpPr>
          <p:cNvPr id="23" name="Shape 20"/>
          <p:cNvSpPr/>
          <p:nvPr/>
        </p:nvSpPr>
        <p:spPr>
          <a:xfrm>
            <a:off x="411480" y="2423160"/>
            <a:ext cx="365760" cy="365760"/>
          </a:xfrm>
          <a:prstGeom prst="ellipse">
            <a:avLst/>
          </a:prstGeom>
          <a:solidFill>
            <a:srgbClr val="1565C0"/>
          </a:solidFill>
          <a:ln w="12700">
            <a:solidFill>
              <a:srgbClr val="1565C0"/>
            </a:solidFill>
            <a:prstDash val="solid"/>
          </a:ln>
        </p:spPr>
      </p:sp>
      <p:sp>
        <p:nvSpPr>
          <p:cNvPr id="24" name="Text 21"/>
          <p:cNvSpPr/>
          <p:nvPr/>
        </p:nvSpPr>
        <p:spPr>
          <a:xfrm>
            <a:off x="411480" y="24231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5" name="Text 22"/>
          <p:cNvSpPr/>
          <p:nvPr/>
        </p:nvSpPr>
        <p:spPr>
          <a:xfrm>
            <a:off x="868680" y="2404872"/>
            <a:ext cx="1005840" cy="347472"/>
          </a:xfrm>
          <a:prstGeom prst="rect">
            <a:avLst/>
          </a:prstGeom>
          <a:noFill/>
          <a:ln/>
        </p:spPr>
        <p:txBody>
          <a:bodyPr wrap="square" lIns="0" tIns="0" rIns="0" bIns="0" rtlCol="0" anchor="ctr"/>
          <a:lstStyle/>
          <a:p>
            <a:pPr indent="0" marL="0">
              <a:buNone/>
            </a:pPr>
            <a:r>
              <a:rPr lang="en-US" sz="1100" b="1" dirty="0">
                <a:solidFill>
                  <a:srgbClr val="0D2B55"/>
                </a:solidFill>
                <a:latin typeface="Calibri" pitchFamily="34" charset="0"/>
                <a:ea typeface="Calibri" pitchFamily="34" charset="-122"/>
                <a:cs typeface="Calibri" pitchFamily="34" charset="-120"/>
              </a:rPr>
              <a:t>Anchor:</a:t>
            </a:r>
            <a:endParaRPr lang="en-US" sz="1100" dirty="0"/>
          </a:p>
        </p:txBody>
      </p:sp>
      <p:sp>
        <p:nvSpPr>
          <p:cNvPr id="26" name="Text 23"/>
          <p:cNvSpPr/>
          <p:nvPr/>
        </p:nvSpPr>
        <p:spPr>
          <a:xfrm>
            <a:off x="1920240" y="2404872"/>
            <a:ext cx="2331720" cy="347472"/>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Locate Primary Entity nodes matching initial criteria</a:t>
            </a:r>
            <a:endParaRPr lang="en-US" sz="1050" dirty="0"/>
          </a:p>
        </p:txBody>
      </p:sp>
      <p:sp>
        <p:nvSpPr>
          <p:cNvPr id="27" name="Shape 24"/>
          <p:cNvSpPr/>
          <p:nvPr/>
        </p:nvSpPr>
        <p:spPr>
          <a:xfrm>
            <a:off x="594360" y="2788920"/>
            <a:ext cx="0" cy="164592"/>
          </a:xfrm>
          <a:prstGeom prst="line">
            <a:avLst/>
          </a:prstGeom>
          <a:noFill/>
          <a:ln w="19050">
            <a:solidFill>
              <a:srgbClr val="1565C0"/>
            </a:solidFill>
            <a:prstDash val="solid"/>
          </a:ln>
        </p:spPr>
      </p:sp>
      <p:sp>
        <p:nvSpPr>
          <p:cNvPr id="28" name="Shape 25"/>
          <p:cNvSpPr/>
          <p:nvPr/>
        </p:nvSpPr>
        <p:spPr>
          <a:xfrm>
            <a:off x="411480" y="3063240"/>
            <a:ext cx="365760" cy="365760"/>
          </a:xfrm>
          <a:prstGeom prst="ellipse">
            <a:avLst/>
          </a:prstGeom>
          <a:solidFill>
            <a:srgbClr val="1565C0"/>
          </a:solidFill>
          <a:ln w="12700">
            <a:solidFill>
              <a:srgbClr val="1565C0"/>
            </a:solidFill>
            <a:prstDash val="solid"/>
          </a:ln>
        </p:spPr>
      </p:sp>
      <p:sp>
        <p:nvSpPr>
          <p:cNvPr id="29" name="Text 26"/>
          <p:cNvSpPr/>
          <p:nvPr/>
        </p:nvSpPr>
        <p:spPr>
          <a:xfrm>
            <a:off x="411480" y="3063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0" name="Text 27"/>
          <p:cNvSpPr/>
          <p:nvPr/>
        </p:nvSpPr>
        <p:spPr>
          <a:xfrm>
            <a:off x="868680" y="3044952"/>
            <a:ext cx="1005840" cy="347472"/>
          </a:xfrm>
          <a:prstGeom prst="rect">
            <a:avLst/>
          </a:prstGeom>
          <a:noFill/>
          <a:ln/>
        </p:spPr>
        <p:txBody>
          <a:bodyPr wrap="square" lIns="0" tIns="0" rIns="0" bIns="0" rtlCol="0" anchor="ctr"/>
          <a:lstStyle/>
          <a:p>
            <a:pPr indent="0" marL="0">
              <a:buNone/>
            </a:pPr>
            <a:r>
              <a:rPr lang="en-US" sz="1100" b="1" dirty="0">
                <a:solidFill>
                  <a:srgbClr val="0D2B55"/>
                </a:solidFill>
                <a:latin typeface="Calibri" pitchFamily="34" charset="0"/>
                <a:ea typeface="Calibri" pitchFamily="34" charset="-122"/>
                <a:cs typeface="Calibri" pitchFamily="34" charset="-120"/>
              </a:rPr>
              <a:t>Traverse:</a:t>
            </a:r>
            <a:endParaRPr lang="en-US" sz="1100" dirty="0"/>
          </a:p>
        </p:txBody>
      </p:sp>
      <p:sp>
        <p:nvSpPr>
          <p:cNvPr id="31" name="Text 28"/>
          <p:cNvSpPr/>
          <p:nvPr/>
        </p:nvSpPr>
        <p:spPr>
          <a:xfrm>
            <a:off x="1920240" y="3044952"/>
            <a:ext cx="2331720" cy="347472"/>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Follow defined Edges to all linked secondary entities</a:t>
            </a:r>
            <a:endParaRPr lang="en-US" sz="1050" dirty="0"/>
          </a:p>
        </p:txBody>
      </p:sp>
      <p:sp>
        <p:nvSpPr>
          <p:cNvPr id="32" name="Shape 29"/>
          <p:cNvSpPr/>
          <p:nvPr/>
        </p:nvSpPr>
        <p:spPr>
          <a:xfrm>
            <a:off x="594360" y="3429000"/>
            <a:ext cx="0" cy="164592"/>
          </a:xfrm>
          <a:prstGeom prst="line">
            <a:avLst/>
          </a:prstGeom>
          <a:noFill/>
          <a:ln w="19050">
            <a:solidFill>
              <a:srgbClr val="1565C0"/>
            </a:solidFill>
            <a:prstDash val="solid"/>
          </a:ln>
        </p:spPr>
      </p:sp>
      <p:sp>
        <p:nvSpPr>
          <p:cNvPr id="33" name="Shape 30"/>
          <p:cNvSpPr/>
          <p:nvPr/>
        </p:nvSpPr>
        <p:spPr>
          <a:xfrm>
            <a:off x="411480" y="3703320"/>
            <a:ext cx="365760" cy="365760"/>
          </a:xfrm>
          <a:prstGeom prst="ellipse">
            <a:avLst/>
          </a:prstGeom>
          <a:solidFill>
            <a:srgbClr val="1565C0"/>
          </a:solidFill>
          <a:ln w="12700">
            <a:solidFill>
              <a:srgbClr val="1565C0"/>
            </a:solidFill>
            <a:prstDash val="solid"/>
          </a:ln>
        </p:spPr>
      </p:sp>
      <p:sp>
        <p:nvSpPr>
          <p:cNvPr id="34" name="Text 31"/>
          <p:cNvSpPr/>
          <p:nvPr/>
        </p:nvSpPr>
        <p:spPr>
          <a:xfrm>
            <a:off x="411480" y="3703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5" name="Text 32"/>
          <p:cNvSpPr/>
          <p:nvPr/>
        </p:nvSpPr>
        <p:spPr>
          <a:xfrm>
            <a:off x="868680" y="3685032"/>
            <a:ext cx="1005840" cy="347472"/>
          </a:xfrm>
          <a:prstGeom prst="rect">
            <a:avLst/>
          </a:prstGeom>
          <a:noFill/>
          <a:ln/>
        </p:spPr>
        <p:txBody>
          <a:bodyPr wrap="square" lIns="0" tIns="0" rIns="0" bIns="0" rtlCol="0" anchor="ctr"/>
          <a:lstStyle/>
          <a:p>
            <a:pPr indent="0" marL="0">
              <a:buNone/>
            </a:pPr>
            <a:r>
              <a:rPr lang="en-US" sz="1100" b="1" dirty="0">
                <a:solidFill>
                  <a:srgbClr val="0D2B55"/>
                </a:solidFill>
                <a:latin typeface="Calibri" pitchFamily="34" charset="0"/>
                <a:ea typeface="Calibri" pitchFamily="34" charset="-122"/>
                <a:cs typeface="Calibri" pitchFamily="34" charset="-120"/>
              </a:rPr>
              <a:t>Filter:</a:t>
            </a:r>
            <a:endParaRPr lang="en-US" sz="1100" dirty="0"/>
          </a:p>
        </p:txBody>
      </p:sp>
      <p:sp>
        <p:nvSpPr>
          <p:cNvPr id="36" name="Text 33"/>
          <p:cNvSpPr/>
          <p:nvPr/>
        </p:nvSpPr>
        <p:spPr>
          <a:xfrm>
            <a:off x="1920240" y="3685032"/>
            <a:ext cx="2331720" cy="347472"/>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Apply Attribute filters stored in graph properties</a:t>
            </a:r>
            <a:endParaRPr lang="en-US" sz="1050" dirty="0"/>
          </a:p>
        </p:txBody>
      </p:sp>
      <p:sp>
        <p:nvSpPr>
          <p:cNvPr id="37" name="Shape 34"/>
          <p:cNvSpPr/>
          <p:nvPr/>
        </p:nvSpPr>
        <p:spPr>
          <a:xfrm>
            <a:off x="594360" y="4069080"/>
            <a:ext cx="0" cy="164592"/>
          </a:xfrm>
          <a:prstGeom prst="line">
            <a:avLst/>
          </a:prstGeom>
          <a:noFill/>
          <a:ln w="19050">
            <a:solidFill>
              <a:srgbClr val="1565C0"/>
            </a:solidFill>
            <a:prstDash val="solid"/>
          </a:ln>
        </p:spPr>
      </p:sp>
      <p:sp>
        <p:nvSpPr>
          <p:cNvPr id="38" name="Shape 35"/>
          <p:cNvSpPr/>
          <p:nvPr/>
        </p:nvSpPr>
        <p:spPr>
          <a:xfrm>
            <a:off x="411480" y="4343400"/>
            <a:ext cx="365760" cy="365760"/>
          </a:xfrm>
          <a:prstGeom prst="ellipse">
            <a:avLst/>
          </a:prstGeom>
          <a:solidFill>
            <a:srgbClr val="1565C0"/>
          </a:solidFill>
          <a:ln w="12700">
            <a:solidFill>
              <a:srgbClr val="1565C0"/>
            </a:solidFill>
            <a:prstDash val="solid"/>
          </a:ln>
        </p:spPr>
      </p:sp>
      <p:sp>
        <p:nvSpPr>
          <p:cNvPr id="39" name="Text 36"/>
          <p:cNvSpPr/>
          <p:nvPr/>
        </p:nvSpPr>
        <p:spPr>
          <a:xfrm>
            <a:off x="411480" y="4343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40" name="Text 37"/>
          <p:cNvSpPr/>
          <p:nvPr/>
        </p:nvSpPr>
        <p:spPr>
          <a:xfrm>
            <a:off x="868680" y="4325112"/>
            <a:ext cx="1005840" cy="347472"/>
          </a:xfrm>
          <a:prstGeom prst="rect">
            <a:avLst/>
          </a:prstGeom>
          <a:noFill/>
          <a:ln/>
        </p:spPr>
        <p:txBody>
          <a:bodyPr wrap="square" lIns="0" tIns="0" rIns="0" bIns="0" rtlCol="0" anchor="ctr"/>
          <a:lstStyle/>
          <a:p>
            <a:pPr indent="0" marL="0">
              <a:buNone/>
            </a:pPr>
            <a:r>
              <a:rPr lang="en-US" sz="1100" b="1" dirty="0">
                <a:solidFill>
                  <a:srgbClr val="0D2B55"/>
                </a:solidFill>
                <a:latin typeface="Calibri" pitchFamily="34" charset="0"/>
                <a:ea typeface="Calibri" pitchFamily="34" charset="-122"/>
                <a:cs typeface="Calibri" pitchFamily="34" charset="-120"/>
              </a:rPr>
              <a:t>Execute:</a:t>
            </a:r>
            <a:endParaRPr lang="en-US" sz="1100" dirty="0"/>
          </a:p>
        </p:txBody>
      </p:sp>
      <p:sp>
        <p:nvSpPr>
          <p:cNvPr id="41" name="Text 38"/>
          <p:cNvSpPr/>
          <p:nvPr/>
        </p:nvSpPr>
        <p:spPr>
          <a:xfrm>
            <a:off x="1920240" y="4325112"/>
            <a:ext cx="2331720" cy="347472"/>
          </a:xfrm>
          <a:prstGeom prst="rect">
            <a:avLst/>
          </a:prstGeom>
          <a:noFill/>
          <a:ln/>
        </p:spPr>
        <p:txBody>
          <a:bodyPr wrap="square" lIns="0" tIns="0" rIns="0" bIns="0" rtlCol="0" anchor="ctr"/>
          <a:lstStyle/>
          <a:p>
            <a:pPr indent="0" marL="0">
              <a:buNone/>
            </a:pPr>
            <a:r>
              <a:rPr lang="en-US" sz="1050" dirty="0">
                <a:solidFill>
                  <a:srgbClr val="334455"/>
                </a:solidFill>
                <a:latin typeface="Calibri" pitchFamily="34" charset="0"/>
                <a:ea typeface="Calibri" pitchFamily="34" charset="-122"/>
                <a:cs typeface="Calibri" pitchFamily="34" charset="-120"/>
              </a:rPr>
              <a:t>Run Arithmetic Logic to isolate thresholds/conditions</a:t>
            </a:r>
            <a:endParaRPr lang="en-US" sz="1050" dirty="0"/>
          </a:p>
        </p:txBody>
      </p:sp>
      <p:sp>
        <p:nvSpPr>
          <p:cNvPr id="42" name="Shape 39"/>
          <p:cNvSpPr/>
          <p:nvPr/>
        </p:nvSpPr>
        <p:spPr>
          <a:xfrm>
            <a:off x="4754880" y="1828800"/>
            <a:ext cx="4114800" cy="3108960"/>
          </a:xfrm>
          <a:prstGeom prst="rect">
            <a:avLst/>
          </a:prstGeom>
          <a:solidFill>
            <a:srgbClr val="FFFFFF"/>
          </a:solidFill>
          <a:ln w="12700">
            <a:solidFill>
              <a:srgbClr val="00897B"/>
            </a:solidFill>
            <a:prstDash val="solid"/>
          </a:ln>
          <a:effectLst>
            <a:outerShdw sx="100000" sy="100000" kx="0" ky="0" algn="bl" rotWithShape="0" blurRad="101600" dist="38100" dir="8100000">
              <a:srgbClr val="000000">
                <a:alpha val="13000"/>
              </a:srgbClr>
            </a:outerShdw>
          </a:effectLst>
        </p:spPr>
      </p:sp>
      <p:sp>
        <p:nvSpPr>
          <p:cNvPr id="43" name="Shape 40"/>
          <p:cNvSpPr/>
          <p:nvPr/>
        </p:nvSpPr>
        <p:spPr>
          <a:xfrm>
            <a:off x="4754880" y="1828800"/>
            <a:ext cx="4114800" cy="384048"/>
          </a:xfrm>
          <a:prstGeom prst="rect">
            <a:avLst/>
          </a:prstGeom>
          <a:solidFill>
            <a:srgbClr val="00897B"/>
          </a:solidFill>
          <a:ln w="12700">
            <a:solidFill>
              <a:srgbClr val="00897B"/>
            </a:solidFill>
            <a:prstDash val="solid"/>
          </a:ln>
        </p:spPr>
      </p:sp>
      <p:sp>
        <p:nvSpPr>
          <p:cNvPr id="44" name="Text 41"/>
          <p:cNvSpPr/>
          <p:nvPr/>
        </p:nvSpPr>
        <p:spPr>
          <a:xfrm>
            <a:off x="4754880" y="1828800"/>
            <a:ext cx="4114800" cy="384048"/>
          </a:xfrm>
          <a:prstGeom prst="rect">
            <a:avLst/>
          </a:prstGeom>
          <a:noFill/>
          <a:ln/>
        </p:spPr>
        <p:txBody>
          <a:bodyPr wrap="square" lIns="0" tIns="0" rIns="0" bIns="0" rtlCol="0" anchor="ctr"/>
          <a:lstStyle/>
          <a:p>
            <a:pPr algn="ctr" indent="0" marL="0">
              <a:buNone/>
            </a:pPr>
            <a:r>
              <a:rPr lang="en-US" sz="1150" b="1" dirty="0">
                <a:solidFill>
                  <a:srgbClr val="FFFFFF"/>
                </a:solidFill>
              </a:rPr>
              <a:t>PATH 2 — Contextual Grounding &amp; LLM Synthesis</a:t>
            </a:r>
            <a:endParaRPr lang="en-US" sz="1150" dirty="0"/>
          </a:p>
        </p:txBody>
      </p:sp>
      <p:sp>
        <p:nvSpPr>
          <p:cNvPr id="45" name="Shape 42"/>
          <p:cNvSpPr/>
          <p:nvPr/>
        </p:nvSpPr>
        <p:spPr>
          <a:xfrm>
            <a:off x="4892040" y="2304288"/>
            <a:ext cx="3840480" cy="1234440"/>
          </a:xfrm>
          <a:prstGeom prst="rect">
            <a:avLst/>
          </a:prstGeom>
          <a:solidFill>
            <a:srgbClr val="E3F2FD"/>
          </a:solidFill>
          <a:ln w="12700">
            <a:solidFill>
              <a:srgbClr val="1565C0"/>
            </a:solidFill>
            <a:prstDash val="solid"/>
          </a:ln>
        </p:spPr>
      </p:sp>
      <p:sp>
        <p:nvSpPr>
          <p:cNvPr id="46" name="Text 43"/>
          <p:cNvSpPr/>
          <p:nvPr/>
        </p:nvSpPr>
        <p:spPr>
          <a:xfrm>
            <a:off x="5029200" y="2350008"/>
            <a:ext cx="3474720" cy="320040"/>
          </a:xfrm>
          <a:prstGeom prst="rect">
            <a:avLst/>
          </a:prstGeom>
          <a:noFill/>
          <a:ln/>
        </p:spPr>
        <p:txBody>
          <a:bodyPr wrap="square" lIns="0" tIns="0" rIns="0" bIns="0" rtlCol="0" anchor="ctr"/>
          <a:lstStyle/>
          <a:p>
            <a:pPr indent="0" marL="0">
              <a:buNone/>
            </a:pPr>
            <a:r>
              <a:rPr lang="en-US" sz="1150" b="1" dirty="0">
                <a:solidFill>
                  <a:srgbClr val="0D2B55"/>
                </a:solidFill>
              </a:rPr>
              <a:t>Hard Facts (Graph Data):</a:t>
            </a:r>
            <a:endParaRPr lang="en-US" sz="1150" dirty="0"/>
          </a:p>
        </p:txBody>
      </p:sp>
      <p:sp>
        <p:nvSpPr>
          <p:cNvPr id="47" name="Text 44"/>
          <p:cNvSpPr/>
          <p:nvPr/>
        </p:nvSpPr>
        <p:spPr>
          <a:xfrm>
            <a:off x="5029200" y="2660904"/>
            <a:ext cx="3566160" cy="777240"/>
          </a:xfrm>
          <a:prstGeom prst="rect">
            <a:avLst/>
          </a:prstGeom>
          <a:noFill/>
          <a:ln/>
        </p:spPr>
        <p:txBody>
          <a:bodyPr wrap="square" lIns="0" tIns="0" rIns="0" bIns="0" rtlCol="0" anchor="ctr"/>
          <a:lstStyle/>
          <a:p>
            <a:pPr indent="0" marL="0">
              <a:buNone/>
            </a:pPr>
            <a:r>
              <a:rPr lang="en-US" sz="1050" dirty="0">
                <a:solidFill>
                  <a:srgbClr val="334455"/>
                </a:solidFill>
              </a:rPr>
              <a:t>Exact names, counts, calculated values from AGE.</a:t>
            </a:r>
            <a:endParaRPr lang="en-US" sz="1050" dirty="0"/>
          </a:p>
          <a:p>
            <a:pPr indent="0" marL="0">
              <a:buNone/>
            </a:pPr>
            <a:r>
              <a:rPr lang="en-US" sz="1050" dirty="0">
                <a:solidFill>
                  <a:srgbClr val="334455"/>
                </a:solidFill>
              </a:rPr>
              <a:t>Structural Accuracy by verifying specific link existence.</a:t>
            </a:r>
            <a:endParaRPr lang="en-US" sz="1050" dirty="0"/>
          </a:p>
        </p:txBody>
      </p:sp>
      <p:sp>
        <p:nvSpPr>
          <p:cNvPr id="48" name="Shape 45"/>
          <p:cNvSpPr/>
          <p:nvPr/>
        </p:nvSpPr>
        <p:spPr>
          <a:xfrm>
            <a:off x="4892040" y="3657600"/>
            <a:ext cx="3840480" cy="1143000"/>
          </a:xfrm>
          <a:prstGeom prst="rect">
            <a:avLst/>
          </a:prstGeom>
          <a:solidFill>
            <a:srgbClr val="E0F2F1"/>
          </a:solidFill>
          <a:ln w="12700">
            <a:solidFill>
              <a:srgbClr val="00897B"/>
            </a:solidFill>
            <a:prstDash val="solid"/>
          </a:ln>
        </p:spPr>
      </p:sp>
      <p:sp>
        <p:nvSpPr>
          <p:cNvPr id="49" name="Text 46"/>
          <p:cNvSpPr/>
          <p:nvPr/>
        </p:nvSpPr>
        <p:spPr>
          <a:xfrm>
            <a:off x="5029200" y="3703320"/>
            <a:ext cx="3474720" cy="320040"/>
          </a:xfrm>
          <a:prstGeom prst="rect">
            <a:avLst/>
          </a:prstGeom>
          <a:noFill/>
          <a:ln/>
        </p:spPr>
        <p:txBody>
          <a:bodyPr wrap="square" lIns="0" tIns="0" rIns="0" bIns="0" rtlCol="0" anchor="ctr"/>
          <a:lstStyle/>
          <a:p>
            <a:pPr indent="0" marL="0">
              <a:buNone/>
            </a:pPr>
            <a:r>
              <a:rPr lang="en-US" sz="1150" b="1" dirty="0">
                <a:solidFill>
                  <a:srgbClr val="0D2B55"/>
                </a:solidFill>
              </a:rPr>
              <a:t>Supporting Text (Vector Data):</a:t>
            </a:r>
            <a:endParaRPr lang="en-US" sz="1150" dirty="0"/>
          </a:p>
        </p:txBody>
      </p:sp>
      <p:sp>
        <p:nvSpPr>
          <p:cNvPr id="50" name="Text 47"/>
          <p:cNvSpPr/>
          <p:nvPr/>
        </p:nvSpPr>
        <p:spPr>
          <a:xfrm>
            <a:off x="5029200" y="4005072"/>
            <a:ext cx="3566160" cy="731520"/>
          </a:xfrm>
          <a:prstGeom prst="rect">
            <a:avLst/>
          </a:prstGeom>
          <a:noFill/>
          <a:ln/>
        </p:spPr>
        <p:txBody>
          <a:bodyPr wrap="square" lIns="0" tIns="0" rIns="0" bIns="0" rtlCol="0" anchor="ctr"/>
          <a:lstStyle/>
          <a:p>
            <a:pPr indent="0" marL="0">
              <a:buNone/>
            </a:pPr>
            <a:r>
              <a:rPr lang="en-US" sz="1050" dirty="0">
                <a:solidFill>
                  <a:srgbClr val="334455"/>
                </a:solidFill>
              </a:rPr>
              <a:t>Document Excerpts for unstructured context.</a:t>
            </a:r>
            <a:endParaRPr lang="en-US" sz="1050" dirty="0"/>
          </a:p>
          <a:p>
            <a:pPr indent="0" marL="0">
              <a:buNone/>
            </a:pPr>
            <a:r>
              <a:rPr lang="en-US" sz="1050" dirty="0">
                <a:solidFill>
                  <a:srgbClr val="334455"/>
                </a:solidFill>
              </a:rPr>
              <a:t>Provides the nuanced "Why" and narrative evidence.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55"/>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F57C00"/>
          </a:solidFill>
          <a:ln w="12700">
            <a:solidFill>
              <a:srgbClr val="F57C00"/>
            </a:solidFill>
            <a:prstDash val="solid"/>
          </a:ln>
        </p:spPr>
      </p:sp>
      <p:sp>
        <p:nvSpPr>
          <p:cNvPr id="4" name="Text 1"/>
          <p:cNvSpPr/>
          <p:nvPr/>
        </p:nvSpPr>
        <p:spPr>
          <a:xfrm>
            <a:off x="274320" y="164592"/>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Multi-Modal Search &amp; Orchestration</a:t>
            </a:r>
            <a:endParaRPr lang="en-US" sz="2800" dirty="0"/>
          </a:p>
        </p:txBody>
      </p:sp>
      <p:sp>
        <p:nvSpPr>
          <p:cNvPr id="5" name="Text 2"/>
          <p:cNvSpPr/>
          <p:nvPr/>
        </p:nvSpPr>
        <p:spPr>
          <a:xfrm>
            <a:off x="274320" y="694944"/>
            <a:ext cx="8229600" cy="292608"/>
          </a:xfrm>
          <a:prstGeom prst="rect">
            <a:avLst/>
          </a:prstGeom>
          <a:noFill/>
          <a:ln/>
        </p:spPr>
        <p:txBody>
          <a:bodyPr wrap="square" lIns="0" tIns="0" rIns="0" bIns="0" rtlCol="0" anchor="ctr"/>
          <a:lstStyle/>
          <a:p>
            <a:pPr indent="0" marL="0">
              <a:buNone/>
            </a:pPr>
            <a:r>
              <a:rPr lang="en-US" sz="1200" i="1" dirty="0">
                <a:solidFill>
                  <a:srgbClr val="88AACC"/>
                </a:solidFill>
              </a:rPr>
              <a:t>From Fuzzy Search to Deterministic Relationship Mapping</a:t>
            </a:r>
            <a:endParaRPr lang="en-US" sz="1200" dirty="0"/>
          </a:p>
        </p:txBody>
      </p:sp>
      <p:sp>
        <p:nvSpPr>
          <p:cNvPr id="6" name="Shape 3"/>
          <p:cNvSpPr/>
          <p:nvPr/>
        </p:nvSpPr>
        <p:spPr>
          <a:xfrm>
            <a:off x="320040" y="1078992"/>
            <a:ext cx="2743200" cy="1920240"/>
          </a:xfrm>
          <a:prstGeom prst="rect">
            <a:avLst/>
          </a:prstGeom>
          <a:solidFill>
            <a:srgbClr val="0F2537"/>
          </a:solidFill>
          <a:ln w="12700">
            <a:solidFill>
              <a:srgbClr val="1565C0"/>
            </a:solidFill>
            <a:prstDash val="solid"/>
          </a:ln>
          <a:effectLst>
            <a:outerShdw sx="100000" sy="100000" kx="0" ky="0" algn="bl" rotWithShape="0" blurRad="101600" dist="38100" dir="8100000">
              <a:srgbClr val="000000">
                <a:alpha val="13000"/>
              </a:srgbClr>
            </a:outerShdw>
          </a:effectLst>
        </p:spPr>
      </p:sp>
      <p:sp>
        <p:nvSpPr>
          <p:cNvPr id="7" name="Shape 4"/>
          <p:cNvSpPr/>
          <p:nvPr/>
        </p:nvSpPr>
        <p:spPr>
          <a:xfrm>
            <a:off x="320040" y="1078992"/>
            <a:ext cx="2743200" cy="109728"/>
          </a:xfrm>
          <a:prstGeom prst="rect">
            <a:avLst/>
          </a:prstGeom>
          <a:solidFill>
            <a:srgbClr val="1565C0"/>
          </a:solidFill>
          <a:ln w="12700">
            <a:solidFill>
              <a:srgbClr val="1565C0"/>
            </a:solidFill>
            <a:prstDash val="solid"/>
          </a:ln>
        </p:spPr>
      </p:sp>
      <p:sp>
        <p:nvSpPr>
          <p:cNvPr id="8" name="Shape 5"/>
          <p:cNvSpPr/>
          <p:nvPr/>
        </p:nvSpPr>
        <p:spPr>
          <a:xfrm>
            <a:off x="1371600" y="1225296"/>
            <a:ext cx="594360" cy="594360"/>
          </a:xfrm>
          <a:prstGeom prst="ellipse">
            <a:avLst/>
          </a:prstGeom>
          <a:solidFill>
            <a:srgbClr val="1565C0"/>
          </a:solidFill>
          <a:ln w="12700">
            <a:solidFill>
              <a:srgbClr val="1565C0"/>
            </a:solidFill>
            <a:prstDash val="solid"/>
          </a:ln>
        </p:spPr>
      </p:sp>
      <p:sp>
        <p:nvSpPr>
          <p:cNvPr id="9" name="Text 6"/>
          <p:cNvSpPr/>
          <p:nvPr/>
        </p:nvSpPr>
        <p:spPr>
          <a:xfrm>
            <a:off x="1371600" y="1225296"/>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0" name="Text 7"/>
          <p:cNvSpPr/>
          <p:nvPr/>
        </p:nvSpPr>
        <p:spPr>
          <a:xfrm>
            <a:off x="411480" y="1920240"/>
            <a:ext cx="2560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Cypher-Based Structured Retrieval</a:t>
            </a:r>
            <a:endParaRPr lang="en-US" sz="1100" dirty="0"/>
          </a:p>
        </p:txBody>
      </p:sp>
      <p:sp>
        <p:nvSpPr>
          <p:cNvPr id="11" name="Text 8"/>
          <p:cNvSpPr/>
          <p:nvPr/>
        </p:nvSpPr>
        <p:spPr>
          <a:xfrm>
            <a:off x="411480" y="2404872"/>
            <a:ext cx="2560320" cy="548640"/>
          </a:xfrm>
          <a:prstGeom prst="rect">
            <a:avLst/>
          </a:prstGeom>
          <a:noFill/>
          <a:ln/>
        </p:spPr>
        <p:txBody>
          <a:bodyPr wrap="square" lIns="0" tIns="0" rIns="0" bIns="0" rtlCol="0" anchor="ctr"/>
          <a:lstStyle/>
          <a:p>
            <a:pPr algn="ctr" indent="0" marL="0">
              <a:buNone/>
            </a:pPr>
            <a:r>
              <a:rPr lang="en-US" sz="950" dirty="0">
                <a:solidFill>
                  <a:srgbClr val="8899AA"/>
                </a:solidFill>
                <a:latin typeface="Calibri" pitchFamily="34" charset="0"/>
                <a:ea typeface="Calibri" pitchFamily="34" charset="-122"/>
                <a:cs typeface="Calibri" pitchFamily="34" charset="-120"/>
              </a:rPr>
              <a:t>Schema-aware Cypher queries enable precise entity lookup and multi-hop relationship traversal across the knowledge graph.</a:t>
            </a:r>
            <a:endParaRPr lang="en-US" sz="950" dirty="0"/>
          </a:p>
        </p:txBody>
      </p:sp>
      <p:sp>
        <p:nvSpPr>
          <p:cNvPr id="12" name="Shape 9"/>
          <p:cNvSpPr/>
          <p:nvPr/>
        </p:nvSpPr>
        <p:spPr>
          <a:xfrm>
            <a:off x="3246120" y="1078992"/>
            <a:ext cx="2743200" cy="1920240"/>
          </a:xfrm>
          <a:prstGeom prst="rect">
            <a:avLst/>
          </a:prstGeom>
          <a:solidFill>
            <a:srgbClr val="0F2537"/>
          </a:solidFill>
          <a:ln w="12700">
            <a:solidFill>
              <a:srgbClr val="F57C00"/>
            </a:solidFill>
            <a:prstDash val="solid"/>
          </a:ln>
          <a:effectLst>
            <a:outerShdw sx="100000" sy="100000" kx="0" ky="0" algn="bl" rotWithShape="0" blurRad="101600" dist="38100" dir="8100000">
              <a:srgbClr val="000000">
                <a:alpha val="13000"/>
              </a:srgbClr>
            </a:outerShdw>
          </a:effectLst>
        </p:spPr>
      </p:sp>
      <p:sp>
        <p:nvSpPr>
          <p:cNvPr id="13" name="Shape 10"/>
          <p:cNvSpPr/>
          <p:nvPr/>
        </p:nvSpPr>
        <p:spPr>
          <a:xfrm>
            <a:off x="3246120" y="1078992"/>
            <a:ext cx="2743200" cy="109728"/>
          </a:xfrm>
          <a:prstGeom prst="rect">
            <a:avLst/>
          </a:prstGeom>
          <a:solidFill>
            <a:srgbClr val="F57C00"/>
          </a:solidFill>
          <a:ln w="12700">
            <a:solidFill>
              <a:srgbClr val="F57C00"/>
            </a:solidFill>
            <a:prstDash val="solid"/>
          </a:ln>
        </p:spPr>
      </p:sp>
      <p:sp>
        <p:nvSpPr>
          <p:cNvPr id="14" name="Shape 11"/>
          <p:cNvSpPr/>
          <p:nvPr/>
        </p:nvSpPr>
        <p:spPr>
          <a:xfrm>
            <a:off x="4297680" y="1225296"/>
            <a:ext cx="594360" cy="594360"/>
          </a:xfrm>
          <a:prstGeom prst="ellipse">
            <a:avLst/>
          </a:prstGeom>
          <a:solidFill>
            <a:srgbClr val="F57C00"/>
          </a:solidFill>
          <a:ln w="12700">
            <a:solidFill>
              <a:srgbClr val="F57C00"/>
            </a:solidFill>
            <a:prstDash val="solid"/>
          </a:ln>
        </p:spPr>
      </p:sp>
      <p:sp>
        <p:nvSpPr>
          <p:cNvPr id="15" name="Text 12"/>
          <p:cNvSpPr/>
          <p:nvPr/>
        </p:nvSpPr>
        <p:spPr>
          <a:xfrm>
            <a:off x="4297680" y="1225296"/>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3"/>
          <p:cNvSpPr/>
          <p:nvPr/>
        </p:nvSpPr>
        <p:spPr>
          <a:xfrm>
            <a:off x="3337560" y="1920240"/>
            <a:ext cx="2560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Typo-Tolerant Lexical Search</a:t>
            </a:r>
            <a:endParaRPr lang="en-US" sz="1100" dirty="0"/>
          </a:p>
        </p:txBody>
      </p:sp>
      <p:sp>
        <p:nvSpPr>
          <p:cNvPr id="17" name="Text 14"/>
          <p:cNvSpPr/>
          <p:nvPr/>
        </p:nvSpPr>
        <p:spPr>
          <a:xfrm>
            <a:off x="3337560" y="2404872"/>
            <a:ext cx="2560320" cy="548640"/>
          </a:xfrm>
          <a:prstGeom prst="rect">
            <a:avLst/>
          </a:prstGeom>
          <a:noFill/>
          <a:ln/>
        </p:spPr>
        <p:txBody>
          <a:bodyPr wrap="square" lIns="0" tIns="0" rIns="0" bIns="0" rtlCol="0" anchor="ctr"/>
          <a:lstStyle/>
          <a:p>
            <a:pPr algn="ctr" indent="0" marL="0">
              <a:buNone/>
            </a:pPr>
            <a:r>
              <a:rPr lang="en-US" sz="950" dirty="0">
                <a:solidFill>
                  <a:srgbClr val="8899AA"/>
                </a:solidFill>
                <a:latin typeface="Calibri" pitchFamily="34" charset="0"/>
                <a:ea typeface="Calibri" pitchFamily="34" charset="-122"/>
                <a:cs typeface="Calibri" pitchFamily="34" charset="-120"/>
              </a:rPr>
              <a:t>Keyword and fuzzy matching handle misspellings, partial terms, and variations to ensure robust recall for user queries.</a:t>
            </a:r>
            <a:endParaRPr lang="en-US" sz="950" dirty="0"/>
          </a:p>
        </p:txBody>
      </p:sp>
      <p:sp>
        <p:nvSpPr>
          <p:cNvPr id="18" name="Shape 15"/>
          <p:cNvSpPr/>
          <p:nvPr/>
        </p:nvSpPr>
        <p:spPr>
          <a:xfrm>
            <a:off x="6172200" y="1078992"/>
            <a:ext cx="2743200" cy="1920240"/>
          </a:xfrm>
          <a:prstGeom prst="rect">
            <a:avLst/>
          </a:prstGeom>
          <a:solidFill>
            <a:srgbClr val="0F2537"/>
          </a:solidFill>
          <a:ln w="12700">
            <a:solidFill>
              <a:srgbClr val="00897B"/>
            </a:solidFill>
            <a:prstDash val="solid"/>
          </a:ln>
          <a:effectLst>
            <a:outerShdw sx="100000" sy="100000" kx="0" ky="0" algn="bl" rotWithShape="0" blurRad="101600" dist="38100" dir="8100000">
              <a:srgbClr val="000000">
                <a:alpha val="13000"/>
              </a:srgbClr>
            </a:outerShdw>
          </a:effectLst>
        </p:spPr>
      </p:sp>
      <p:sp>
        <p:nvSpPr>
          <p:cNvPr id="19" name="Shape 16"/>
          <p:cNvSpPr/>
          <p:nvPr/>
        </p:nvSpPr>
        <p:spPr>
          <a:xfrm>
            <a:off x="6172200" y="1078992"/>
            <a:ext cx="2743200" cy="109728"/>
          </a:xfrm>
          <a:prstGeom prst="rect">
            <a:avLst/>
          </a:prstGeom>
          <a:solidFill>
            <a:srgbClr val="00897B"/>
          </a:solidFill>
          <a:ln w="12700">
            <a:solidFill>
              <a:srgbClr val="00897B"/>
            </a:solidFill>
            <a:prstDash val="solid"/>
          </a:ln>
        </p:spPr>
      </p:sp>
      <p:sp>
        <p:nvSpPr>
          <p:cNvPr id="20" name="Shape 17"/>
          <p:cNvSpPr/>
          <p:nvPr/>
        </p:nvSpPr>
        <p:spPr>
          <a:xfrm>
            <a:off x="7223760" y="1225296"/>
            <a:ext cx="594360" cy="594360"/>
          </a:xfrm>
          <a:prstGeom prst="ellipse">
            <a:avLst/>
          </a:prstGeom>
          <a:solidFill>
            <a:srgbClr val="00897B"/>
          </a:solidFill>
          <a:ln w="12700">
            <a:solidFill>
              <a:srgbClr val="00897B"/>
            </a:solidFill>
            <a:prstDash val="solid"/>
          </a:ln>
        </p:spPr>
      </p:sp>
      <p:sp>
        <p:nvSpPr>
          <p:cNvPr id="21" name="Text 18"/>
          <p:cNvSpPr/>
          <p:nvPr/>
        </p:nvSpPr>
        <p:spPr>
          <a:xfrm>
            <a:off x="7223760" y="1225296"/>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Text 19"/>
          <p:cNvSpPr/>
          <p:nvPr/>
        </p:nvSpPr>
        <p:spPr>
          <a:xfrm>
            <a:off x="6263640" y="1920240"/>
            <a:ext cx="2560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Semantic Vector Search</a:t>
            </a:r>
            <a:endParaRPr lang="en-US" sz="1100" dirty="0"/>
          </a:p>
        </p:txBody>
      </p:sp>
      <p:sp>
        <p:nvSpPr>
          <p:cNvPr id="23" name="Text 20"/>
          <p:cNvSpPr/>
          <p:nvPr/>
        </p:nvSpPr>
        <p:spPr>
          <a:xfrm>
            <a:off x="6263640" y="2404872"/>
            <a:ext cx="2560320" cy="548640"/>
          </a:xfrm>
          <a:prstGeom prst="rect">
            <a:avLst/>
          </a:prstGeom>
          <a:noFill/>
          <a:ln/>
        </p:spPr>
        <p:txBody>
          <a:bodyPr wrap="square" lIns="0" tIns="0" rIns="0" bIns="0" rtlCol="0" anchor="ctr"/>
          <a:lstStyle/>
          <a:p>
            <a:pPr algn="ctr" indent="0" marL="0">
              <a:buNone/>
            </a:pPr>
            <a:r>
              <a:rPr lang="en-US" sz="950" dirty="0">
                <a:solidFill>
                  <a:srgbClr val="8899AA"/>
                </a:solidFill>
                <a:latin typeface="Calibri" pitchFamily="34" charset="0"/>
                <a:ea typeface="Calibri" pitchFamily="34" charset="-122"/>
                <a:cs typeface="Calibri" pitchFamily="34" charset="-120"/>
              </a:rPr>
              <a:t>Embedding-based similarity search retrieves conceptually related nodes and documents, even when exact keywords are absent.</a:t>
            </a:r>
            <a:endParaRPr lang="en-US" sz="950" dirty="0"/>
          </a:p>
        </p:txBody>
      </p:sp>
      <p:sp>
        <p:nvSpPr>
          <p:cNvPr id="24" name="Shape 21"/>
          <p:cNvSpPr/>
          <p:nvPr/>
        </p:nvSpPr>
        <p:spPr>
          <a:xfrm>
            <a:off x="1645920" y="3154680"/>
            <a:ext cx="2743200" cy="1783080"/>
          </a:xfrm>
          <a:prstGeom prst="rect">
            <a:avLst/>
          </a:prstGeom>
          <a:solidFill>
            <a:srgbClr val="0F2537"/>
          </a:solidFill>
          <a:ln w="12700">
            <a:solidFill>
              <a:srgbClr val="6A1B9A"/>
            </a:solidFill>
            <a:prstDash val="solid"/>
          </a:ln>
          <a:effectLst>
            <a:outerShdw sx="100000" sy="100000" kx="0" ky="0" algn="bl" rotWithShape="0" blurRad="101600" dist="38100" dir="8100000">
              <a:srgbClr val="000000">
                <a:alpha val="13000"/>
              </a:srgbClr>
            </a:outerShdw>
          </a:effectLst>
        </p:spPr>
      </p:sp>
      <p:sp>
        <p:nvSpPr>
          <p:cNvPr id="25" name="Shape 22"/>
          <p:cNvSpPr/>
          <p:nvPr/>
        </p:nvSpPr>
        <p:spPr>
          <a:xfrm>
            <a:off x="1645920" y="3154680"/>
            <a:ext cx="2743200" cy="109728"/>
          </a:xfrm>
          <a:prstGeom prst="rect">
            <a:avLst/>
          </a:prstGeom>
          <a:solidFill>
            <a:srgbClr val="6A1B9A"/>
          </a:solidFill>
          <a:ln w="12700">
            <a:solidFill>
              <a:srgbClr val="6A1B9A"/>
            </a:solidFill>
            <a:prstDash val="solid"/>
          </a:ln>
        </p:spPr>
      </p:sp>
      <p:sp>
        <p:nvSpPr>
          <p:cNvPr id="26" name="Shape 23"/>
          <p:cNvSpPr/>
          <p:nvPr/>
        </p:nvSpPr>
        <p:spPr>
          <a:xfrm>
            <a:off x="2697480" y="3310128"/>
            <a:ext cx="594360" cy="594360"/>
          </a:xfrm>
          <a:prstGeom prst="ellipse">
            <a:avLst/>
          </a:prstGeom>
          <a:solidFill>
            <a:srgbClr val="6A1B9A"/>
          </a:solidFill>
          <a:ln w="12700">
            <a:solidFill>
              <a:srgbClr val="6A1B9A"/>
            </a:solidFill>
            <a:prstDash val="solid"/>
          </a:ln>
        </p:spPr>
      </p:sp>
      <p:sp>
        <p:nvSpPr>
          <p:cNvPr id="27" name="Text 24"/>
          <p:cNvSpPr/>
          <p:nvPr/>
        </p:nvSpPr>
        <p:spPr>
          <a:xfrm>
            <a:off x="2697480" y="3310128"/>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5"/>
          <p:cNvSpPr/>
          <p:nvPr/>
        </p:nvSpPr>
        <p:spPr>
          <a:xfrm>
            <a:off x="1737360" y="3977640"/>
            <a:ext cx="25603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Subgraph Extraction</a:t>
            </a:r>
            <a:endParaRPr lang="en-US" sz="1100" dirty="0"/>
          </a:p>
        </p:txBody>
      </p:sp>
      <p:sp>
        <p:nvSpPr>
          <p:cNvPr id="29" name="Text 26"/>
          <p:cNvSpPr/>
          <p:nvPr/>
        </p:nvSpPr>
        <p:spPr>
          <a:xfrm>
            <a:off x="1737360" y="4416552"/>
            <a:ext cx="2560320" cy="475488"/>
          </a:xfrm>
          <a:prstGeom prst="rect">
            <a:avLst/>
          </a:prstGeom>
          <a:noFill/>
          <a:ln/>
        </p:spPr>
        <p:txBody>
          <a:bodyPr wrap="square" lIns="0" tIns="0" rIns="0" bIns="0" rtlCol="0" anchor="ctr"/>
          <a:lstStyle/>
          <a:p>
            <a:pPr algn="ctr" indent="0" marL="0">
              <a:buNone/>
            </a:pPr>
            <a:r>
              <a:rPr lang="en-US" sz="950" dirty="0">
                <a:solidFill>
                  <a:srgbClr val="8899AA"/>
                </a:solidFill>
                <a:latin typeface="Calibri" pitchFamily="34" charset="0"/>
                <a:ea typeface="Calibri" pitchFamily="34" charset="-122"/>
                <a:cs typeface="Calibri" pitchFamily="34" charset="-120"/>
              </a:rPr>
              <a:t>Relevant subgraphs are dynamically constructed to capture entities, relationships, and attributes required for reasoning.</a:t>
            </a:r>
            <a:endParaRPr lang="en-US" sz="950" dirty="0"/>
          </a:p>
        </p:txBody>
      </p:sp>
      <p:sp>
        <p:nvSpPr>
          <p:cNvPr id="30" name="Shape 27"/>
          <p:cNvSpPr/>
          <p:nvPr/>
        </p:nvSpPr>
        <p:spPr>
          <a:xfrm>
            <a:off x="4572000" y="3154680"/>
            <a:ext cx="2743200" cy="1783080"/>
          </a:xfrm>
          <a:prstGeom prst="rect">
            <a:avLst/>
          </a:prstGeom>
          <a:solidFill>
            <a:srgbClr val="0F2537"/>
          </a:solidFill>
          <a:ln w="12700">
            <a:solidFill>
              <a:srgbClr val="F57C00"/>
            </a:solidFill>
            <a:prstDash val="solid"/>
          </a:ln>
          <a:effectLst>
            <a:outerShdw sx="100000" sy="100000" kx="0" ky="0" algn="bl" rotWithShape="0" blurRad="101600" dist="38100" dir="8100000">
              <a:srgbClr val="000000">
                <a:alpha val="13000"/>
              </a:srgbClr>
            </a:outerShdw>
          </a:effectLst>
        </p:spPr>
      </p:sp>
      <p:sp>
        <p:nvSpPr>
          <p:cNvPr id="31" name="Shape 28"/>
          <p:cNvSpPr/>
          <p:nvPr/>
        </p:nvSpPr>
        <p:spPr>
          <a:xfrm>
            <a:off x="4572000" y="3154680"/>
            <a:ext cx="2743200" cy="109728"/>
          </a:xfrm>
          <a:prstGeom prst="rect">
            <a:avLst/>
          </a:prstGeom>
          <a:solidFill>
            <a:srgbClr val="F57C00"/>
          </a:solidFill>
          <a:ln w="12700">
            <a:solidFill>
              <a:srgbClr val="F57C00"/>
            </a:solidFill>
            <a:prstDash val="solid"/>
          </a:ln>
        </p:spPr>
      </p:sp>
      <p:sp>
        <p:nvSpPr>
          <p:cNvPr id="32" name="Shape 29"/>
          <p:cNvSpPr/>
          <p:nvPr/>
        </p:nvSpPr>
        <p:spPr>
          <a:xfrm>
            <a:off x="5623560" y="3310128"/>
            <a:ext cx="594360" cy="594360"/>
          </a:xfrm>
          <a:prstGeom prst="ellipse">
            <a:avLst/>
          </a:prstGeom>
          <a:solidFill>
            <a:srgbClr val="F57C00"/>
          </a:solidFill>
          <a:ln w="12700">
            <a:solidFill>
              <a:srgbClr val="F57C00"/>
            </a:solidFill>
            <a:prstDash val="solid"/>
          </a:ln>
        </p:spPr>
      </p:sp>
      <p:sp>
        <p:nvSpPr>
          <p:cNvPr id="33" name="Text 30"/>
          <p:cNvSpPr/>
          <p:nvPr/>
        </p:nvSpPr>
        <p:spPr>
          <a:xfrm>
            <a:off x="5623560" y="3310128"/>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Text 31"/>
          <p:cNvSpPr/>
          <p:nvPr/>
        </p:nvSpPr>
        <p:spPr>
          <a:xfrm>
            <a:off x="4663440" y="3977640"/>
            <a:ext cx="25603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Hybrid Retrieval Orchestration</a:t>
            </a:r>
            <a:endParaRPr lang="en-US" sz="1100" dirty="0"/>
          </a:p>
        </p:txBody>
      </p:sp>
      <p:sp>
        <p:nvSpPr>
          <p:cNvPr id="35" name="Text 32"/>
          <p:cNvSpPr/>
          <p:nvPr/>
        </p:nvSpPr>
        <p:spPr>
          <a:xfrm>
            <a:off x="4663440" y="4416552"/>
            <a:ext cx="2560320" cy="475488"/>
          </a:xfrm>
          <a:prstGeom prst="rect">
            <a:avLst/>
          </a:prstGeom>
          <a:noFill/>
          <a:ln/>
        </p:spPr>
        <p:txBody>
          <a:bodyPr wrap="square" lIns="0" tIns="0" rIns="0" bIns="0" rtlCol="0" anchor="ctr"/>
          <a:lstStyle/>
          <a:p>
            <a:pPr algn="ctr" indent="0" marL="0">
              <a:buNone/>
            </a:pPr>
            <a:r>
              <a:rPr lang="en-US" sz="950" dirty="0">
                <a:solidFill>
                  <a:srgbClr val="8899AA"/>
                </a:solidFill>
                <a:latin typeface="Calibri" pitchFamily="34" charset="0"/>
                <a:ea typeface="Calibri" pitchFamily="34" charset="-122"/>
                <a:cs typeface="Calibri" pitchFamily="34" charset="-120"/>
              </a:rPr>
              <a:t>Results from all modalities are unified and de-duplicated to form a comprehensive retrieval context for the LLM.</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1565C0"/>
          </a:solidFill>
          <a:ln w="12700">
            <a:solidFill>
              <a:srgbClr val="1565C0"/>
            </a:solidFill>
            <a:prstDash val="solid"/>
          </a:ln>
        </p:spPr>
      </p:sp>
      <p:sp>
        <p:nvSpPr>
          <p:cNvPr id="4" name="Text 1"/>
          <p:cNvSpPr/>
          <p:nvPr/>
        </p:nvSpPr>
        <p:spPr>
          <a:xfrm>
            <a:off x="457200" y="164592"/>
            <a:ext cx="8229600" cy="594360"/>
          </a:xfrm>
          <a:prstGeom prst="rect">
            <a:avLst/>
          </a:prstGeom>
          <a:noFill/>
          <a:ln/>
        </p:spPr>
        <p:txBody>
          <a:bodyPr wrap="square" lIns="0" tIns="0" rIns="0" bIns="0" rtlCol="0" anchor="ctr"/>
          <a:lstStyle/>
          <a:p>
            <a:pPr indent="0" marL="0">
              <a:buNone/>
            </a:pPr>
            <a:r>
              <a:rPr lang="en-US" sz="3000" b="1" dirty="0">
                <a:solidFill>
                  <a:srgbClr val="0D2B55"/>
                </a:solidFill>
                <a:latin typeface="Calibri" pitchFamily="34" charset="0"/>
                <a:ea typeface="Calibri" pitchFamily="34" charset="-122"/>
                <a:cs typeface="Calibri" pitchFamily="34" charset="-120"/>
              </a:rPr>
              <a:t>Evaluation on CIA Retrieval</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886968"/>
          <a:ext cx="4114800" cy="914400"/>
        </p:xfrm>
        <a:graphic>
          <a:graphicData uri="http://schemas.openxmlformats.org/drawingml/2006/table">
            <a:tbl>
              <a:tblPr/>
              <a:tblGrid>
                <a:gridCol w="3017520"/>
                <a:gridCol w="109728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Statistics — Without Spelling Correction</a:t>
                      </a:r>
                      <a:endParaRPr lang="en-US" sz="12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1565C0"/>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1565C0"/>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Total Questions</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answered via Cypher Context</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answered via Vector Context</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answered via Both Contexts</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with Incorrect Answer</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2540"/>
                          </a:solidFill>
                          <a:latin typeface="Calibri" pitchFamily="34" charset="0"/>
                          <a:ea typeface="Calibri" pitchFamily="34" charset="-122"/>
                          <a:cs typeface="Calibri" pitchFamily="34" charset="-120"/>
                        </a:rPr>
                        <a:t>Accuracy Percentage</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C62828"/>
                          </a:solidFill>
                          <a:latin typeface="Calibri" pitchFamily="34" charset="0"/>
                          <a:ea typeface="Calibri" pitchFamily="34" charset="-122"/>
                          <a:cs typeface="Calibri" pitchFamily="34" charset="-120"/>
                        </a:rPr>
                        <a:t>67.36%</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54880" y="886968"/>
          <a:ext cx="4114800" cy="914400"/>
        </p:xfrm>
        <a:graphic>
          <a:graphicData uri="http://schemas.openxmlformats.org/drawingml/2006/table">
            <a:tbl>
              <a:tblPr/>
              <a:tblGrid>
                <a:gridCol w="3017520"/>
                <a:gridCol w="1097280"/>
              </a:tblGrid>
              <a:tr h="34747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Statistics — With Jaccard Similarity (Typo Handling)</a:t>
                      </a:r>
                      <a:endParaRPr lang="en-US" sz="12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00897B"/>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00897B"/>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Total Questions</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answered via Cypher Context</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63 + 31</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answered via Vector Context</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1 + 31</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answered via Both Contexts</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Questions with Incorrect Answer</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54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A2540"/>
                          </a:solidFill>
                          <a:latin typeface="Calibri" pitchFamily="34" charset="0"/>
                          <a:ea typeface="Calibri" pitchFamily="34" charset="-122"/>
                          <a:cs typeface="Calibri" pitchFamily="34" charset="-120"/>
                        </a:rPr>
                        <a:t>Accuracy Percentage</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E7D32"/>
                          </a:solidFill>
                          <a:latin typeface="Calibri" pitchFamily="34" charset="0"/>
                          <a:ea typeface="Calibri" pitchFamily="34" charset="-122"/>
                          <a:cs typeface="Calibri" pitchFamily="34" charset="-120"/>
                        </a:rPr>
                        <a:t>100.0%</a:t>
                      </a:r>
                      <a:endParaRPr lang="en-US" sz="1100" dirty="0">
                        <a:latin typeface="Calibri" charset="0"/>
                        <a:ea typeface="Calibri" charset="0"/>
                        <a:cs typeface="Calibri" charset="0"/>
                      </a:endParaRPr>
                    </a:p>
                  </a:txBody>
                  <a:tcPr marL="91440" marR="91440" marT="45720" marB="45720">
                    <a:lnL w="6350" cap="flat" cmpd="sng" algn="ctr">
                      <a:solidFill>
                        <a:srgbClr val="DEE4EA"/>
                      </a:solidFill>
                      <a:prstDash val="solid"/>
                      <a:round/>
                      <a:headEnd type="none" w="med" len="med"/>
                      <a:tailEnd type="none" w="med" len="med"/>
                    </a:lnL>
                    <a:lnR w="6350" cap="flat" cmpd="sng" algn="ctr">
                      <a:solidFill>
                        <a:srgbClr val="DEE4EA"/>
                      </a:solidFill>
                      <a:prstDash val="solid"/>
                      <a:round/>
                      <a:headEnd type="none" w="med" len="med"/>
                      <a:tailEnd type="none" w="med" len="med"/>
                    </a:lnR>
                    <a:lnT w="6350" cap="flat" cmpd="sng" algn="ctr">
                      <a:solidFill>
                        <a:srgbClr val="DEE4EA"/>
                      </a:solidFill>
                      <a:prstDash val="solid"/>
                      <a:round/>
                      <a:headEnd type="none" w="med" len="med"/>
                      <a:tailEnd type="none" w="med" len="med"/>
                    </a:lnT>
                    <a:lnB w="6350" cap="flat" cmpd="sng" algn="ctr">
                      <a:solidFill>
                        <a:srgbClr val="DEE4EA"/>
                      </a:solidFill>
                      <a:prstDash val="solid"/>
                      <a:round/>
                      <a:headEnd type="none" w="med" len="med"/>
                      <a:tailEnd type="none" w="med" len="med"/>
                    </a:lnB>
                    <a:solidFill>
                      <a:srgbClr val="FFFFFF"/>
                    </a:solidFill>
                  </a:tcPr>
                </a:tc>
              </a:tr>
            </a:tbl>
          </a:graphicData>
        </a:graphic>
      </p:graphicFrame>
      <p:graphicFrame>
        <p:nvGraphicFramePr>
          <p:cNvPr id="7" name="Chart 0" descr=""/>
          <p:cNvGraphicFramePr/>
          <p:nvPr/>
        </p:nvGraphicFramePr>
        <p:xfrm>
          <a:off x="457200" y="3154680"/>
          <a:ext cx="8229600" cy="1783080"/>
        </p:xfrm>
        <a:graphic xmlns:a="http://schemas.openxmlformats.org/drawingml/2006/main">
          <a:graphicData uri="http://schemas.openxmlformats.org/drawingml/2006/chart">
            <c:chart xmlns:c="http://schemas.openxmlformats.org/drawingml/2006/chart" r:id="rId1"/>
          </a:graphicData>
        </a:graphic>
      </p:graphicFrame>
      <p:sp>
        <p:nvSpPr>
          <p:cNvPr id="8" name="Shape 2"/>
          <p:cNvSpPr/>
          <p:nvPr/>
        </p:nvSpPr>
        <p:spPr>
          <a:xfrm>
            <a:off x="7863840" y="4069080"/>
            <a:ext cx="1097280" cy="594360"/>
          </a:xfrm>
          <a:prstGeom prst="ellipse">
            <a:avLst/>
          </a:prstGeom>
          <a:solidFill>
            <a:srgbClr val="2E7D32"/>
          </a:solidFill>
          <a:ln w="12700">
            <a:solidFill>
              <a:srgbClr val="2E7D32"/>
            </a:solidFill>
            <a:prstDash val="solid"/>
          </a:ln>
        </p:spPr>
      </p:sp>
      <p:sp>
        <p:nvSpPr>
          <p:cNvPr id="9" name="Text 3"/>
          <p:cNvSpPr/>
          <p:nvPr/>
        </p:nvSpPr>
        <p:spPr>
          <a:xfrm>
            <a:off x="7863840" y="4069080"/>
            <a:ext cx="1097280" cy="594360"/>
          </a:xfrm>
          <a:prstGeom prst="rect">
            <a:avLst/>
          </a:prstGeom>
          <a:noFill/>
          <a:ln/>
        </p:spPr>
        <p:txBody>
          <a:bodyPr wrap="square" lIns="0" tIns="0" rIns="0" bIns="0" rtlCol="0" anchor="ctr"/>
          <a:lstStyle/>
          <a:p>
            <a:pPr algn="ctr" indent="0" marL="0">
              <a:buNone/>
            </a:pPr>
            <a:r>
              <a:rPr lang="en-US" sz="1200" b="1" dirty="0">
                <a:solidFill>
                  <a:srgbClr val="FFFFFF"/>
                </a:solidFill>
              </a:rPr>
              <a:t>+32.64%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2B55"/>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2196F3"/>
          </a:solidFill>
          <a:ln w="12700">
            <a:solidFill>
              <a:srgbClr val="2196F3"/>
            </a:solidFill>
            <a:prstDash val="solid"/>
          </a:ln>
        </p:spPr>
      </p:sp>
      <p:sp>
        <p:nvSpPr>
          <p:cNvPr id="4" name="Shape 1"/>
          <p:cNvSpPr/>
          <p:nvPr/>
        </p:nvSpPr>
        <p:spPr>
          <a:xfrm>
            <a:off x="0" y="4389120"/>
            <a:ext cx="9144000" cy="754380"/>
          </a:xfrm>
          <a:prstGeom prst="rect">
            <a:avLst/>
          </a:prstGeom>
          <a:solidFill>
            <a:srgbClr val="1A3A6A"/>
          </a:solidFill>
          <a:ln w="12700">
            <a:solidFill>
              <a:srgbClr val="1A3A6A"/>
            </a:solidFill>
            <a:prstDash val="solid"/>
          </a:ln>
        </p:spPr>
      </p:sp>
      <p:sp>
        <p:nvSpPr>
          <p:cNvPr id="5" name="Text 2"/>
          <p:cNvSpPr/>
          <p:nvPr/>
        </p:nvSpPr>
        <p:spPr>
          <a:xfrm>
            <a:off x="457200" y="228600"/>
            <a:ext cx="8229600" cy="68580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6" name="Shape 3"/>
          <p:cNvSpPr/>
          <p:nvPr/>
        </p:nvSpPr>
        <p:spPr>
          <a:xfrm>
            <a:off x="274320" y="1051560"/>
            <a:ext cx="4160520" cy="1005840"/>
          </a:xfrm>
          <a:prstGeom prst="rect">
            <a:avLst/>
          </a:prstGeom>
          <a:solidFill>
            <a:srgbClr val="0F2537"/>
          </a:solidFill>
          <a:ln w="12700">
            <a:solidFill>
              <a:srgbClr val="2196F3"/>
            </a:solidFill>
            <a:prstDash val="solid"/>
          </a:ln>
          <a:effectLst>
            <a:outerShdw sx="100000" sy="100000" kx="0" ky="0" algn="bl" rotWithShape="0" blurRad="101600" dist="38100" dir="8100000">
              <a:srgbClr val="000000">
                <a:alpha val="13000"/>
              </a:srgbClr>
            </a:outerShdw>
          </a:effectLst>
        </p:spPr>
      </p:sp>
      <p:sp>
        <p:nvSpPr>
          <p:cNvPr id="7" name="Shape 4"/>
          <p:cNvSpPr/>
          <p:nvPr/>
        </p:nvSpPr>
        <p:spPr>
          <a:xfrm>
            <a:off x="274320" y="1051560"/>
            <a:ext cx="109728" cy="1005840"/>
          </a:xfrm>
          <a:prstGeom prst="rect">
            <a:avLst/>
          </a:prstGeom>
          <a:solidFill>
            <a:srgbClr val="2196F3"/>
          </a:solidFill>
          <a:ln w="12700">
            <a:solidFill>
              <a:srgbClr val="2196F3"/>
            </a:solidFill>
            <a:prstDash val="solid"/>
          </a:ln>
        </p:spPr>
      </p:sp>
      <p:sp>
        <p:nvSpPr>
          <p:cNvPr id="8" name="Shape 5"/>
          <p:cNvSpPr/>
          <p:nvPr/>
        </p:nvSpPr>
        <p:spPr>
          <a:xfrm>
            <a:off x="475488" y="1325880"/>
            <a:ext cx="457200" cy="457200"/>
          </a:xfrm>
          <a:prstGeom prst="ellipse">
            <a:avLst/>
          </a:prstGeom>
          <a:solidFill>
            <a:srgbClr val="2196F3"/>
          </a:solidFill>
          <a:ln w="12700">
            <a:solidFill>
              <a:srgbClr val="2196F3"/>
            </a:solidFill>
            <a:prstDash val="solid"/>
          </a:ln>
        </p:spPr>
      </p:sp>
      <p:sp>
        <p:nvSpPr>
          <p:cNvPr id="9" name="Text 6"/>
          <p:cNvSpPr/>
          <p:nvPr/>
        </p:nvSpPr>
        <p:spPr>
          <a:xfrm>
            <a:off x="475488" y="132588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0" name="Text 7"/>
          <p:cNvSpPr/>
          <p:nvPr/>
        </p:nvSpPr>
        <p:spPr>
          <a:xfrm>
            <a:off x="1051560" y="1207008"/>
            <a:ext cx="3291840" cy="69494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Hybrid KG bridges Structured &amp; Unstructured data in one unified graph</a:t>
            </a:r>
            <a:endParaRPr lang="en-US" sz="1150" dirty="0"/>
          </a:p>
        </p:txBody>
      </p:sp>
      <p:sp>
        <p:nvSpPr>
          <p:cNvPr id="11" name="Shape 8"/>
          <p:cNvSpPr/>
          <p:nvPr/>
        </p:nvSpPr>
        <p:spPr>
          <a:xfrm>
            <a:off x="4709160" y="1051560"/>
            <a:ext cx="4160520" cy="1005840"/>
          </a:xfrm>
          <a:prstGeom prst="rect">
            <a:avLst/>
          </a:prstGeom>
          <a:solidFill>
            <a:srgbClr val="0F2537"/>
          </a:solidFill>
          <a:ln w="12700">
            <a:solidFill>
              <a:srgbClr val="F57C00"/>
            </a:solidFill>
            <a:prstDash val="solid"/>
          </a:ln>
          <a:effectLst>
            <a:outerShdw sx="100000" sy="100000" kx="0" ky="0" algn="bl" rotWithShape="0" blurRad="101600" dist="38100" dir="8100000">
              <a:srgbClr val="000000">
                <a:alpha val="13000"/>
              </a:srgbClr>
            </a:outerShdw>
          </a:effectLst>
        </p:spPr>
      </p:sp>
      <p:sp>
        <p:nvSpPr>
          <p:cNvPr id="12" name="Shape 9"/>
          <p:cNvSpPr/>
          <p:nvPr/>
        </p:nvSpPr>
        <p:spPr>
          <a:xfrm>
            <a:off x="4709160" y="1051560"/>
            <a:ext cx="109728" cy="1005840"/>
          </a:xfrm>
          <a:prstGeom prst="rect">
            <a:avLst/>
          </a:prstGeom>
          <a:solidFill>
            <a:srgbClr val="F57C00"/>
          </a:solidFill>
          <a:ln w="12700">
            <a:solidFill>
              <a:srgbClr val="F57C00"/>
            </a:solidFill>
            <a:prstDash val="solid"/>
          </a:ln>
        </p:spPr>
      </p:sp>
      <p:sp>
        <p:nvSpPr>
          <p:cNvPr id="13" name="Shape 10"/>
          <p:cNvSpPr/>
          <p:nvPr/>
        </p:nvSpPr>
        <p:spPr>
          <a:xfrm>
            <a:off x="4910328" y="1325880"/>
            <a:ext cx="457200" cy="457200"/>
          </a:xfrm>
          <a:prstGeom prst="ellipse">
            <a:avLst/>
          </a:prstGeom>
          <a:solidFill>
            <a:srgbClr val="F57C00"/>
          </a:solidFill>
          <a:ln w="12700">
            <a:solidFill>
              <a:srgbClr val="F57C00"/>
            </a:solidFill>
            <a:prstDash val="solid"/>
          </a:ln>
        </p:spPr>
      </p:sp>
      <p:sp>
        <p:nvSpPr>
          <p:cNvPr id="14" name="Text 11"/>
          <p:cNvSpPr/>
          <p:nvPr/>
        </p:nvSpPr>
        <p:spPr>
          <a:xfrm>
            <a:off x="4910328" y="132588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2"/>
          <p:cNvSpPr/>
          <p:nvPr/>
        </p:nvSpPr>
        <p:spPr>
          <a:xfrm>
            <a:off x="5486400" y="1207008"/>
            <a:ext cx="3291840" cy="69494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Dual-Path Retrieval delivers 100% accuracy with Jaccard Similarity</a:t>
            </a:r>
            <a:endParaRPr lang="en-US" sz="1150" dirty="0"/>
          </a:p>
        </p:txBody>
      </p:sp>
      <p:sp>
        <p:nvSpPr>
          <p:cNvPr id="16" name="Shape 13"/>
          <p:cNvSpPr/>
          <p:nvPr/>
        </p:nvSpPr>
        <p:spPr>
          <a:xfrm>
            <a:off x="274320" y="2286000"/>
            <a:ext cx="4160520" cy="1005840"/>
          </a:xfrm>
          <a:prstGeom prst="rect">
            <a:avLst/>
          </a:prstGeom>
          <a:solidFill>
            <a:srgbClr val="0F2537"/>
          </a:solidFill>
          <a:ln w="12700">
            <a:solidFill>
              <a:srgbClr val="00897B"/>
            </a:solidFill>
            <a:prstDash val="solid"/>
          </a:ln>
          <a:effectLst>
            <a:outerShdw sx="100000" sy="100000" kx="0" ky="0" algn="bl" rotWithShape="0" blurRad="101600" dist="38100" dir="8100000">
              <a:srgbClr val="000000">
                <a:alpha val="13000"/>
              </a:srgbClr>
            </a:outerShdw>
          </a:effectLst>
        </p:spPr>
      </p:sp>
      <p:sp>
        <p:nvSpPr>
          <p:cNvPr id="17" name="Shape 14"/>
          <p:cNvSpPr/>
          <p:nvPr/>
        </p:nvSpPr>
        <p:spPr>
          <a:xfrm>
            <a:off x="274320" y="2286000"/>
            <a:ext cx="109728" cy="1005840"/>
          </a:xfrm>
          <a:prstGeom prst="rect">
            <a:avLst/>
          </a:prstGeom>
          <a:solidFill>
            <a:srgbClr val="00897B"/>
          </a:solidFill>
          <a:ln w="12700">
            <a:solidFill>
              <a:srgbClr val="00897B"/>
            </a:solidFill>
            <a:prstDash val="solid"/>
          </a:ln>
        </p:spPr>
      </p:sp>
      <p:sp>
        <p:nvSpPr>
          <p:cNvPr id="18" name="Shape 15"/>
          <p:cNvSpPr/>
          <p:nvPr/>
        </p:nvSpPr>
        <p:spPr>
          <a:xfrm>
            <a:off x="475488" y="2560320"/>
            <a:ext cx="457200" cy="457200"/>
          </a:xfrm>
          <a:prstGeom prst="ellipse">
            <a:avLst/>
          </a:prstGeom>
          <a:solidFill>
            <a:srgbClr val="00897B"/>
          </a:solidFill>
          <a:ln w="12700">
            <a:solidFill>
              <a:srgbClr val="00897B"/>
            </a:solidFill>
            <a:prstDash val="solid"/>
          </a:ln>
        </p:spPr>
      </p:sp>
      <p:sp>
        <p:nvSpPr>
          <p:cNvPr id="19" name="Text 16"/>
          <p:cNvSpPr/>
          <p:nvPr/>
        </p:nvSpPr>
        <p:spPr>
          <a:xfrm>
            <a:off x="475488" y="256032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ext 17"/>
          <p:cNvSpPr/>
          <p:nvPr/>
        </p:nvSpPr>
        <p:spPr>
          <a:xfrm>
            <a:off x="1051560" y="2441448"/>
            <a:ext cx="3291840" cy="69494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Every answer is explainable, traceable node → edge → source</a:t>
            </a:r>
            <a:endParaRPr lang="en-US" sz="1150" dirty="0"/>
          </a:p>
        </p:txBody>
      </p:sp>
      <p:sp>
        <p:nvSpPr>
          <p:cNvPr id="21" name="Shape 18"/>
          <p:cNvSpPr/>
          <p:nvPr/>
        </p:nvSpPr>
        <p:spPr>
          <a:xfrm>
            <a:off x="4709160" y="2286000"/>
            <a:ext cx="4160520" cy="1005840"/>
          </a:xfrm>
          <a:prstGeom prst="rect">
            <a:avLst/>
          </a:prstGeom>
          <a:solidFill>
            <a:srgbClr val="0F2537"/>
          </a:solidFill>
          <a:ln w="12700">
            <a:solidFill>
              <a:srgbClr val="6A1B9A"/>
            </a:solidFill>
            <a:prstDash val="solid"/>
          </a:ln>
          <a:effectLst>
            <a:outerShdw sx="100000" sy="100000" kx="0" ky="0" algn="bl" rotWithShape="0" blurRad="101600" dist="38100" dir="8100000">
              <a:srgbClr val="000000">
                <a:alpha val="13000"/>
              </a:srgbClr>
            </a:outerShdw>
          </a:effectLst>
        </p:spPr>
      </p:sp>
      <p:sp>
        <p:nvSpPr>
          <p:cNvPr id="22" name="Shape 19"/>
          <p:cNvSpPr/>
          <p:nvPr/>
        </p:nvSpPr>
        <p:spPr>
          <a:xfrm>
            <a:off x="4709160" y="2286000"/>
            <a:ext cx="109728" cy="1005840"/>
          </a:xfrm>
          <a:prstGeom prst="rect">
            <a:avLst/>
          </a:prstGeom>
          <a:solidFill>
            <a:srgbClr val="6A1B9A"/>
          </a:solidFill>
          <a:ln w="12700">
            <a:solidFill>
              <a:srgbClr val="6A1B9A"/>
            </a:solidFill>
            <a:prstDash val="solid"/>
          </a:ln>
        </p:spPr>
      </p:sp>
      <p:sp>
        <p:nvSpPr>
          <p:cNvPr id="23" name="Shape 20"/>
          <p:cNvSpPr/>
          <p:nvPr/>
        </p:nvSpPr>
        <p:spPr>
          <a:xfrm>
            <a:off x="4910328" y="2560320"/>
            <a:ext cx="457200" cy="457200"/>
          </a:xfrm>
          <a:prstGeom prst="ellipse">
            <a:avLst/>
          </a:prstGeom>
          <a:solidFill>
            <a:srgbClr val="6A1B9A"/>
          </a:solidFill>
          <a:ln w="12700">
            <a:solidFill>
              <a:srgbClr val="6A1B9A"/>
            </a:solidFill>
            <a:prstDash val="solid"/>
          </a:ln>
        </p:spPr>
      </p:sp>
      <p:sp>
        <p:nvSpPr>
          <p:cNvPr id="24" name="Text 21"/>
          <p:cNvSpPr/>
          <p:nvPr/>
        </p:nvSpPr>
        <p:spPr>
          <a:xfrm>
            <a:off x="4910328" y="256032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5" name="Text 22"/>
          <p:cNvSpPr/>
          <p:nvPr/>
        </p:nvSpPr>
        <p:spPr>
          <a:xfrm>
            <a:off x="5486400" y="2441448"/>
            <a:ext cx="3291840" cy="694944"/>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4 live use cases: CIA (Prod), Recommendations, Email KG, Card Insights</a:t>
            </a:r>
            <a:endParaRPr lang="en-US" sz="1150" dirty="0"/>
          </a:p>
        </p:txBody>
      </p:sp>
      <p:sp>
        <p:nvSpPr>
          <p:cNvPr id="26" name="Shape 23"/>
          <p:cNvSpPr/>
          <p:nvPr/>
        </p:nvSpPr>
        <p:spPr>
          <a:xfrm>
            <a:off x="2103120" y="3703320"/>
            <a:ext cx="4937760" cy="566928"/>
          </a:xfrm>
          <a:prstGeom prst="rect">
            <a:avLst/>
          </a:prstGeom>
          <a:solidFill>
            <a:srgbClr val="0F2537"/>
          </a:solidFill>
          <a:ln w="12700">
            <a:solidFill>
              <a:srgbClr val="2E7D32"/>
            </a:solidFill>
            <a:prstDash val="solid"/>
          </a:ln>
          <a:effectLst>
            <a:outerShdw sx="100000" sy="100000" kx="0" ky="0" algn="bl" rotWithShape="0" blurRad="101600" dist="38100" dir="8100000">
              <a:srgbClr val="000000">
                <a:alpha val="13000"/>
              </a:srgbClr>
            </a:outerShdw>
          </a:effectLst>
        </p:spPr>
      </p:sp>
      <p:sp>
        <p:nvSpPr>
          <p:cNvPr id="27" name="Shape 24"/>
          <p:cNvSpPr/>
          <p:nvPr/>
        </p:nvSpPr>
        <p:spPr>
          <a:xfrm>
            <a:off x="2240280" y="3767328"/>
            <a:ext cx="429768" cy="429768"/>
          </a:xfrm>
          <a:prstGeom prst="ellipse">
            <a:avLst/>
          </a:prstGeom>
          <a:solidFill>
            <a:srgbClr val="2E7D32"/>
          </a:solidFill>
          <a:ln w="12700">
            <a:solidFill>
              <a:srgbClr val="2E7D32"/>
            </a:solidFill>
            <a:prstDash val="solid"/>
          </a:ln>
        </p:spPr>
      </p:sp>
      <p:sp>
        <p:nvSpPr>
          <p:cNvPr id="28" name="Text 25"/>
          <p:cNvSpPr/>
          <p:nvPr/>
        </p:nvSpPr>
        <p:spPr>
          <a:xfrm>
            <a:off x="2240280" y="3767328"/>
            <a:ext cx="429768" cy="429768"/>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9" name="Text 26"/>
          <p:cNvSpPr/>
          <p:nvPr/>
        </p:nvSpPr>
        <p:spPr>
          <a:xfrm>
            <a:off x="2743200" y="3703320"/>
            <a:ext cx="4206240" cy="56692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Reusable operator framework — plug in any new data source or use case</a:t>
            </a:r>
            <a:endParaRPr lang="en-US" sz="1150" dirty="0"/>
          </a:p>
        </p:txBody>
      </p:sp>
      <p:sp>
        <p:nvSpPr>
          <p:cNvPr id="30" name="Text 27"/>
          <p:cNvSpPr/>
          <p:nvPr/>
        </p:nvSpPr>
        <p:spPr>
          <a:xfrm>
            <a:off x="0" y="4462272"/>
            <a:ext cx="9144000" cy="411480"/>
          </a:xfrm>
          <a:prstGeom prst="rect">
            <a:avLst/>
          </a:prstGeom>
          <a:noFill/>
          <a:ln/>
        </p:spPr>
        <p:txBody>
          <a:bodyPr wrap="square" lIns="0" tIns="0" rIns="0" bIns="0" rtlCol="0" anchor="ctr"/>
          <a:lstStyle/>
          <a:p>
            <a:pPr algn="ctr" indent="0" marL="0">
              <a:buNone/>
            </a:pPr>
            <a:r>
              <a:rPr lang="en-US" sz="1100" i="1" dirty="0">
                <a:solidFill>
                  <a:srgbClr val="88AACC"/>
                </a:solidFill>
              </a:rPr>
              <a:t>UDIT – Knowledge Byte Session  ·  March 26, 2026  ·  Hybrid Knowledge Graph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Knowledge Graph for Enterprise Intelligence</dc:title>
  <dc:subject>PptxGenJS Presentation</dc:subject>
  <dc:creator>PptxGenJS</dc:creator>
  <cp:lastModifiedBy>PptxGenJS</cp:lastModifiedBy>
  <cp:revision>1</cp:revision>
  <dcterms:created xsi:type="dcterms:W3CDTF">2026-03-25T21:31:34Z</dcterms:created>
  <dcterms:modified xsi:type="dcterms:W3CDTF">2026-03-25T21:31:34Z</dcterms:modified>
</cp:coreProperties>
</file>