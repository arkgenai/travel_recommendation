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457200" y="548640"/>
            <a:ext cx="5669280" cy="5303520"/>
          </a:xfrm>
          <a:prstGeom prst="rect">
            <a:avLst/>
          </a:prstGeom>
          <a:noFill/>
          <a:ln/>
        </p:spPr>
        <p:txBody>
          <a:bodyPr wrap="square" rtlCol="0" anchor="t"/>
          <a:lstStyle/>
          <a:p>
            <a:pPr algn="l" indent="0" marL="0">
              <a:lnSpc>
                <a:spcPct val="110000"/>
              </a:lnSpc>
              <a:buNone/>
            </a:pPr>
            <a:r>
              <a:rPr lang="en-US" sz="4200" b="1" dirty="0">
                <a:solidFill>
                  <a:srgbClr val="0D1B3E"/>
                </a:solidFill>
                <a:latin typeface="Arial Black" pitchFamily="34" charset="0"/>
                <a:ea typeface="Arial Black" pitchFamily="34" charset="-122"/>
                <a:cs typeface="Arial Black" pitchFamily="34" charset="-120"/>
              </a:rPr>
              <a:t>THE NEXT</a:t>
            </a:r>
            <a:endParaRPr lang="en-US" sz="4200" dirty="0"/>
          </a:p>
          <a:p>
            <a:pPr algn="l" indent="0" marL="0">
              <a:lnSpc>
                <a:spcPct val="110000"/>
              </a:lnSpc>
              <a:buNone/>
            </a:pPr>
            <a:r>
              <a:rPr lang="en-US" sz="4200" b="1" dirty="0">
                <a:solidFill>
                  <a:srgbClr val="0D1B3E"/>
                </a:solidFill>
                <a:latin typeface="Arial Black" pitchFamily="34" charset="0"/>
                <a:ea typeface="Arial Black" pitchFamily="34" charset="-122"/>
                <a:cs typeface="Arial Black" pitchFamily="34" charset="-120"/>
              </a:rPr>
              <a:t>EVOLUTION OF</a:t>
            </a:r>
            <a:endParaRPr lang="en-US" sz="4200" dirty="0"/>
          </a:p>
          <a:p>
            <a:pPr algn="l" indent="0" marL="0">
              <a:lnSpc>
                <a:spcPct val="110000"/>
              </a:lnSpc>
              <a:buNone/>
            </a:pPr>
            <a:r>
              <a:rPr lang="en-US" sz="4200" b="1" dirty="0">
                <a:solidFill>
                  <a:srgbClr val="0D1B3E"/>
                </a:solidFill>
                <a:latin typeface="Arial Black" pitchFamily="34" charset="0"/>
                <a:ea typeface="Arial Black" pitchFamily="34" charset="-122"/>
                <a:cs typeface="Arial Black" pitchFamily="34" charset="-120"/>
              </a:rPr>
              <a:t>ENTERPRISE AI:</a:t>
            </a:r>
            <a:endParaRPr lang="en-US" sz="4200" dirty="0"/>
          </a:p>
          <a:p>
            <a:pPr algn="l" indent="0" marL="0">
              <a:lnSpc>
                <a:spcPct val="110000"/>
              </a:lnSpc>
              <a:buNone/>
            </a:pPr>
            <a:r>
              <a:rPr lang="en-US" sz="4200" b="1" dirty="0">
                <a:solidFill>
                  <a:srgbClr val="0D1B3E"/>
                </a:solidFill>
                <a:latin typeface="Arial Black" pitchFamily="34" charset="0"/>
                <a:ea typeface="Arial Black" pitchFamily="34" charset="-122"/>
                <a:cs typeface="Arial Black" pitchFamily="34" charset="-120"/>
              </a:rPr>
              <a:t>SCALING</a:t>
            </a:r>
            <a:endParaRPr lang="en-US" sz="4200" dirty="0"/>
          </a:p>
          <a:p>
            <a:pPr algn="l" indent="0" marL="0">
              <a:lnSpc>
                <a:spcPct val="110000"/>
              </a:lnSpc>
              <a:buNone/>
            </a:pPr>
            <a:r>
              <a:rPr lang="en-US" sz="4200" b="1" dirty="0">
                <a:solidFill>
                  <a:srgbClr val="0D1B3E"/>
                </a:solidFill>
                <a:latin typeface="Arial Black" pitchFamily="34" charset="0"/>
                <a:ea typeface="Arial Black" pitchFamily="34" charset="-122"/>
                <a:cs typeface="Arial Black" pitchFamily="34" charset="-120"/>
              </a:rPr>
              <a:t>GRAPH-BASED</a:t>
            </a:r>
            <a:endParaRPr lang="en-US" sz="4200" dirty="0"/>
          </a:p>
          <a:p>
            <a:pPr algn="l" indent="0" marL="0">
              <a:lnSpc>
                <a:spcPct val="110000"/>
              </a:lnSpc>
              <a:buNone/>
            </a:pPr>
            <a:r>
              <a:rPr lang="en-US" sz="4200" b="1" dirty="0">
                <a:solidFill>
                  <a:srgbClr val="0D1B3E"/>
                </a:solidFill>
                <a:latin typeface="Arial Black" pitchFamily="34" charset="0"/>
                <a:ea typeface="Arial Black" pitchFamily="34" charset="-122"/>
                <a:cs typeface="Arial Black" pitchFamily="34" charset="-120"/>
              </a:rPr>
              <a:t>RAG</a:t>
            </a:r>
            <a:endParaRPr lang="en-US" sz="4200" dirty="0"/>
          </a:p>
        </p:txBody>
      </p:sp>
      <p:sp>
        <p:nvSpPr>
          <p:cNvPr id="4" name="Text 2"/>
          <p:cNvSpPr/>
          <p:nvPr/>
        </p:nvSpPr>
        <p:spPr>
          <a:xfrm>
            <a:off x="457200" y="5669280"/>
            <a:ext cx="5303520" cy="914400"/>
          </a:xfrm>
          <a:prstGeom prst="rect">
            <a:avLst/>
          </a:prstGeom>
          <a:noFill/>
          <a:ln/>
        </p:spPr>
        <p:txBody>
          <a:bodyPr wrap="square" rtlCol="0" anchor="ctr"/>
          <a:lstStyle/>
          <a:p>
            <a:pPr algn="l" indent="0" marL="0">
              <a:buNone/>
            </a:pPr>
            <a:r>
              <a:rPr lang="en-US" sz="1800" dirty="0">
                <a:solidFill>
                  <a:srgbClr val="6B7280"/>
                </a:solidFill>
                <a:latin typeface="Calibri" pitchFamily="34" charset="0"/>
                <a:ea typeface="Calibri" pitchFamily="34" charset="-122"/>
                <a:cs typeface="Calibri" pitchFamily="34" charset="-120"/>
              </a:rPr>
              <a:t>Unlocking Multi-Hop Reasoning,</a:t>
            </a:r>
            <a:endParaRPr lang="en-US" sz="1800" dirty="0"/>
          </a:p>
          <a:p>
            <a:pPr algn="l" indent="0" marL="0">
              <a:buNone/>
            </a:pPr>
            <a:r>
              <a:rPr lang="en-US" sz="1800" dirty="0">
                <a:solidFill>
                  <a:srgbClr val="6B7280"/>
                </a:solidFill>
                <a:latin typeface="Calibri" pitchFamily="34" charset="0"/>
                <a:ea typeface="Calibri" pitchFamily="34" charset="-122"/>
                <a:cs typeface="Calibri" pitchFamily="34" charset="-120"/>
              </a:rPr>
              <a:t>Auditability, and ROI at</a:t>
            </a:r>
            <a:endParaRPr lang="en-US" sz="1800" dirty="0"/>
          </a:p>
          <a:p>
            <a:pPr algn="l" indent="0" marL="0">
              <a:buNone/>
            </a:pPr>
            <a:r>
              <a:rPr lang="en-US" sz="1800" dirty="0">
                <a:solidFill>
                  <a:srgbClr val="6B7280"/>
                </a:solidFill>
                <a:latin typeface="Calibri" pitchFamily="34" charset="0"/>
                <a:ea typeface="Calibri" pitchFamily="34" charset="-122"/>
                <a:cs typeface="Calibri" pitchFamily="34" charset="-120"/>
              </a:rPr>
              <a:t>Enterprise Scale</a:t>
            </a:r>
            <a:endParaRPr lang="en-US" sz="1800" dirty="0"/>
          </a:p>
        </p:txBody>
      </p:sp>
      <p:pic>
        <p:nvPicPr>
          <p:cNvPr id="5" name="Image 0" descr="preencoded.png">    </p:cNvPr>
          <p:cNvPicPr>
            <a:picLocks noChangeAspect="1"/>
          </p:cNvPicPr>
          <p:nvPr/>
        </p:nvPicPr>
        <p:blipFill>
          <a:blip r:embed="rId1"/>
          <a:stretch>
            <a:fillRect/>
          </a:stretch>
        </p:blipFill>
        <p:spPr>
          <a:xfrm>
            <a:off x="6035040" y="365760"/>
            <a:ext cx="2926080" cy="2926080"/>
          </a:xfrm>
          <a:prstGeom prst="rect">
            <a:avLst/>
          </a:prstGeom>
        </p:spPr>
      </p:pic>
      <p:pic>
        <p:nvPicPr>
          <p:cNvPr id="6" name="Image 1" descr="preencoded.png">    </p:cNvPr>
          <p:cNvPicPr>
            <a:picLocks noChangeAspect="1"/>
          </p:cNvPicPr>
          <p:nvPr/>
        </p:nvPicPr>
        <p:blipFill>
          <a:blip r:embed="rId2"/>
          <a:stretch>
            <a:fillRect/>
          </a:stretch>
        </p:blipFill>
        <p:spPr>
          <a:xfrm>
            <a:off x="7132320" y="2286000"/>
            <a:ext cx="4389120" cy="4114800"/>
          </a:xfrm>
          <a:prstGeom prst="rect">
            <a:avLst/>
          </a:prstGeom>
        </p:spPr>
      </p:pic>
      <p:sp>
        <p:nvSpPr>
          <p:cNvPr id="7" name="Text 3"/>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228600"/>
            <a:ext cx="11430000" cy="1371600"/>
          </a:xfrm>
          <a:prstGeom prst="rect">
            <a:avLst/>
          </a:prstGeom>
          <a:noFill/>
          <a:ln/>
        </p:spPr>
        <p:txBody>
          <a:bodyPr wrap="square" rtlCol="0" anchor="ctr"/>
          <a:lstStyle/>
          <a:p>
            <a:pPr algn="l" indent="0" marL="0">
              <a:buNone/>
            </a:pPr>
            <a:r>
              <a:rPr lang="en-US" sz="3400" b="1" dirty="0">
                <a:solidFill>
                  <a:srgbClr val="0D1B3E"/>
                </a:solidFill>
                <a:latin typeface="Arial Black" pitchFamily="34" charset="0"/>
                <a:ea typeface="Arial Black" pitchFamily="34" charset="-122"/>
                <a:cs typeface="Arial Black" pitchFamily="34" charset="-120"/>
              </a:rPr>
              <a:t>EXECUTIVE SUMMARY: BREAKING</a:t>
            </a:r>
            <a:endParaRPr lang="en-US" sz="3400" dirty="0"/>
          </a:p>
          <a:p>
            <a:pPr algn="l" indent="0" marL="0">
              <a:buNone/>
            </a:pPr>
            <a:r>
              <a:rPr lang="en-US" sz="3400" b="1" dirty="0">
                <a:solidFill>
                  <a:srgbClr val="0D1B3E"/>
                </a:solidFill>
                <a:latin typeface="Arial Black" pitchFamily="34" charset="0"/>
                <a:ea typeface="Arial Black" pitchFamily="34" charset="-122"/>
                <a:cs typeface="Arial Black" pitchFamily="34" charset="-120"/>
              </a:rPr>
              <a:t>THE GENERATIVE AI CEILING</a:t>
            </a:r>
            <a:endParaRPr lang="en-US" sz="3400" dirty="0"/>
          </a:p>
        </p:txBody>
      </p:sp>
      <p:sp>
        <p:nvSpPr>
          <p:cNvPr id="4" name="Text 2"/>
          <p:cNvSpPr/>
          <p:nvPr/>
        </p:nvSpPr>
        <p:spPr>
          <a:xfrm>
            <a:off x="365760" y="1691640"/>
            <a:ext cx="3657600" cy="100584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THE REALITY: </a:t>
            </a:r>
            <a:pPr indent="0" marL="0">
              <a:buNone/>
            </a:pPr>
            <a:r>
              <a:rPr lang="en-US" sz="1300" dirty="0">
                <a:solidFill>
                  <a:srgbClr val="333333"/>
                </a:solidFill>
                <a:latin typeface="Calibri" pitchFamily="34" charset="0"/>
                <a:ea typeface="Calibri" pitchFamily="34" charset="-122"/>
                <a:cs typeface="Calibri" pitchFamily="34" charset="-120"/>
              </a:rPr>
              <a:t>Current Generative AI investments (Standard Vector RAG) are stalling on complex, highly-regulated enterprise data.</a:t>
            </a:r>
            <a:endParaRPr lang="en-US" sz="1300" dirty="0"/>
          </a:p>
        </p:txBody>
      </p:sp>
      <p:sp>
        <p:nvSpPr>
          <p:cNvPr id="5" name="Text 3"/>
          <p:cNvSpPr/>
          <p:nvPr/>
        </p:nvSpPr>
        <p:spPr>
          <a:xfrm>
            <a:off x="4206240" y="1691640"/>
            <a:ext cx="3657600" cy="100584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THE INTERVENTION: </a:t>
            </a:r>
            <a:pPr indent="0" marL="0">
              <a:buNone/>
            </a:pPr>
            <a:r>
              <a:rPr lang="en-US" sz="1300" dirty="0">
                <a:solidFill>
                  <a:srgbClr val="333333"/>
                </a:solidFill>
                <a:latin typeface="Calibri" pitchFamily="34" charset="0"/>
                <a:ea typeface="Calibri" pitchFamily="34" charset="-122"/>
                <a:cs typeface="Calibri" pitchFamily="34" charset="-120"/>
              </a:rPr>
              <a:t>Graph-based Retrieval is the proven solution to unlock multi-hop reasoning, guarantee compliance, and reduce resolution times.</a:t>
            </a:r>
            <a:endParaRPr lang="en-US" sz="1300" dirty="0"/>
          </a:p>
        </p:txBody>
      </p:sp>
      <p:sp>
        <p:nvSpPr>
          <p:cNvPr id="6" name="Text 4"/>
          <p:cNvSpPr/>
          <p:nvPr/>
        </p:nvSpPr>
        <p:spPr>
          <a:xfrm>
            <a:off x="8046720" y="1691640"/>
            <a:ext cx="3657600" cy="100584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THE OBJECTIVE: </a:t>
            </a:r>
            <a:pPr indent="0" marL="0">
              <a:buNone/>
            </a:pPr>
            <a:r>
              <a:rPr lang="en-US" sz="1300" dirty="0">
                <a:solidFill>
                  <a:srgbClr val="333333"/>
                </a:solidFill>
                <a:latin typeface="Calibri" pitchFamily="34" charset="0"/>
                <a:ea typeface="Calibri" pitchFamily="34" charset="-122"/>
                <a:cs typeface="Calibri" pitchFamily="34" charset="-120"/>
              </a:rPr>
              <a:t>Secure sponsorship to scale our hybrid, cost-optimized GraphRAG framework.</a:t>
            </a:r>
            <a:endParaRPr lang="en-US" sz="1300" dirty="0"/>
          </a:p>
        </p:txBody>
      </p:sp>
      <p:sp>
        <p:nvSpPr>
          <p:cNvPr id="7" name="Shape 5"/>
          <p:cNvSpPr/>
          <p:nvPr/>
        </p:nvSpPr>
        <p:spPr>
          <a:xfrm>
            <a:off x="320040" y="2834640"/>
            <a:ext cx="3566160" cy="3749040"/>
          </a:xfrm>
          <a:prstGeom prst="rect">
            <a:avLst/>
          </a:prstGeom>
          <a:solidFill>
            <a:srgbClr val="FFFFFF"/>
          </a:solidFill>
          <a:ln w="12700">
            <a:solidFill>
              <a:srgbClr val="D1D5DB"/>
            </a:solidFill>
            <a:prstDash val="solid"/>
          </a:ln>
        </p:spPr>
      </p:sp>
      <p:sp>
        <p:nvSpPr>
          <p:cNvPr id="8" name="Text 6"/>
          <p:cNvSpPr/>
          <p:nvPr/>
        </p:nvSpPr>
        <p:spPr>
          <a:xfrm>
            <a:off x="429768" y="2907792"/>
            <a:ext cx="3337560" cy="868680"/>
          </a:xfrm>
          <a:prstGeom prst="rect">
            <a:avLst/>
          </a:prstGeom>
          <a:noFill/>
          <a:ln/>
        </p:spPr>
        <p:txBody>
          <a:bodyPr wrap="square" rtlCol="0" anchor="ctr"/>
          <a:lstStyle/>
          <a:p>
            <a:pPr indent="0" marL="0">
              <a:buNone/>
            </a:pPr>
            <a:r>
              <a:rPr lang="en-US" sz="4400" b="1" dirty="0">
                <a:solidFill>
                  <a:srgbClr val="B5621F"/>
                </a:solidFill>
                <a:latin typeface="Arial Black" pitchFamily="34" charset="0"/>
                <a:ea typeface="Arial Black" pitchFamily="34" charset="-122"/>
                <a:cs typeface="Arial Black" pitchFamily="34" charset="-120"/>
              </a:rPr>
              <a:t>78.5%</a:t>
            </a:r>
            <a:endParaRPr lang="en-US" sz="4400" dirty="0"/>
          </a:p>
        </p:txBody>
      </p:sp>
      <p:sp>
        <p:nvSpPr>
          <p:cNvPr id="9" name="Text 7"/>
          <p:cNvSpPr/>
          <p:nvPr/>
        </p:nvSpPr>
        <p:spPr>
          <a:xfrm>
            <a:off x="429768" y="3822192"/>
            <a:ext cx="3337560" cy="365760"/>
          </a:xfrm>
          <a:prstGeom prst="rect">
            <a:avLst/>
          </a:prstGeom>
          <a:noFill/>
          <a:ln/>
        </p:spPr>
        <p:txBody>
          <a:bodyPr wrap="square" rtlCol="0" anchor="ctr"/>
          <a:lstStyle/>
          <a:p>
            <a:pPr indent="0" marL="0">
              <a:buNone/>
            </a:pPr>
            <a:r>
              <a:rPr lang="en-US" sz="1600" b="1" dirty="0">
                <a:solidFill>
                  <a:srgbClr val="0D1B3E"/>
                </a:solidFill>
                <a:latin typeface="Arial Black" pitchFamily="34" charset="0"/>
                <a:ea typeface="Arial Black" pitchFamily="34" charset="-122"/>
                <a:cs typeface="Arial Black" pitchFamily="34" charset="-120"/>
              </a:rPr>
              <a:t>WIN-RATE</a:t>
            </a:r>
            <a:endParaRPr lang="en-US" sz="1600" dirty="0"/>
          </a:p>
        </p:txBody>
      </p:sp>
      <p:sp>
        <p:nvSpPr>
          <p:cNvPr id="10" name="Text 8"/>
          <p:cNvSpPr/>
          <p:nvPr/>
        </p:nvSpPr>
        <p:spPr>
          <a:xfrm>
            <a:off x="429768" y="4251960"/>
            <a:ext cx="3337560" cy="91440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Unmatched precision over standard dense vector retrieval on complex legacy tasks.</a:t>
            </a:r>
            <a:endParaRPr lang="en-US" sz="1200" dirty="0"/>
          </a:p>
        </p:txBody>
      </p:sp>
      <p:pic>
        <p:nvPicPr>
          <p:cNvPr id="11" name="Image 0" descr="preencoded.png">    </p:cNvPr>
          <p:cNvPicPr>
            <a:picLocks noChangeAspect="1"/>
          </p:cNvPicPr>
          <p:nvPr/>
        </p:nvPicPr>
        <p:blipFill>
          <a:blip r:embed="rId1"/>
          <a:stretch>
            <a:fillRect/>
          </a:stretch>
        </p:blipFill>
        <p:spPr>
          <a:xfrm>
            <a:off x="2926080" y="2926080"/>
            <a:ext cx="731520" cy="731520"/>
          </a:xfrm>
          <a:prstGeom prst="rect">
            <a:avLst/>
          </a:prstGeom>
        </p:spPr>
      </p:pic>
      <p:sp>
        <p:nvSpPr>
          <p:cNvPr id="12" name="Shape 9"/>
          <p:cNvSpPr/>
          <p:nvPr/>
        </p:nvSpPr>
        <p:spPr>
          <a:xfrm>
            <a:off x="4160520" y="2834640"/>
            <a:ext cx="3566160" cy="3749040"/>
          </a:xfrm>
          <a:prstGeom prst="rect">
            <a:avLst/>
          </a:prstGeom>
          <a:solidFill>
            <a:srgbClr val="FFFFFF"/>
          </a:solidFill>
          <a:ln w="12700">
            <a:solidFill>
              <a:srgbClr val="D1D5DB"/>
            </a:solidFill>
            <a:prstDash val="solid"/>
          </a:ln>
        </p:spPr>
      </p:sp>
      <p:sp>
        <p:nvSpPr>
          <p:cNvPr id="13" name="Text 10"/>
          <p:cNvSpPr/>
          <p:nvPr/>
        </p:nvSpPr>
        <p:spPr>
          <a:xfrm>
            <a:off x="4270248" y="2907792"/>
            <a:ext cx="3337560" cy="868680"/>
          </a:xfrm>
          <a:prstGeom prst="rect">
            <a:avLst/>
          </a:prstGeom>
          <a:noFill/>
          <a:ln/>
        </p:spPr>
        <p:txBody>
          <a:bodyPr wrap="square" rtlCol="0" anchor="ctr"/>
          <a:lstStyle/>
          <a:p>
            <a:pPr indent="0" marL="0">
              <a:buNone/>
            </a:pPr>
            <a:r>
              <a:rPr lang="en-US" sz="4400" b="1" dirty="0">
                <a:solidFill>
                  <a:srgbClr val="B5621F"/>
                </a:solidFill>
                <a:latin typeface="Arial Black" pitchFamily="34" charset="0"/>
                <a:ea typeface="Arial Black" pitchFamily="34" charset="-122"/>
                <a:cs typeface="Arial Black" pitchFamily="34" charset="-120"/>
              </a:rPr>
              <a:t>100%</a:t>
            </a:r>
            <a:endParaRPr lang="en-US" sz="4400" dirty="0"/>
          </a:p>
        </p:txBody>
      </p:sp>
      <p:sp>
        <p:nvSpPr>
          <p:cNvPr id="14" name="Text 11"/>
          <p:cNvSpPr/>
          <p:nvPr/>
        </p:nvSpPr>
        <p:spPr>
          <a:xfrm>
            <a:off x="4270248" y="3822192"/>
            <a:ext cx="3337560" cy="365760"/>
          </a:xfrm>
          <a:prstGeom prst="rect">
            <a:avLst/>
          </a:prstGeom>
          <a:noFill/>
          <a:ln/>
        </p:spPr>
        <p:txBody>
          <a:bodyPr wrap="square" rtlCol="0" anchor="ctr"/>
          <a:lstStyle/>
          <a:p>
            <a:pPr indent="0" marL="0">
              <a:buNone/>
            </a:pPr>
            <a:r>
              <a:rPr lang="en-US" sz="1600" b="1" dirty="0">
                <a:solidFill>
                  <a:srgbClr val="0D1B3E"/>
                </a:solidFill>
                <a:latin typeface="Arial Black" pitchFamily="34" charset="0"/>
                <a:ea typeface="Arial Black" pitchFamily="34" charset="-122"/>
                <a:cs typeface="Arial Black" pitchFamily="34" charset="-120"/>
              </a:rPr>
              <a:t>AUDITABILITY</a:t>
            </a:r>
            <a:endParaRPr lang="en-US" sz="1600" dirty="0"/>
          </a:p>
        </p:txBody>
      </p:sp>
      <p:sp>
        <p:nvSpPr>
          <p:cNvPr id="15" name="Text 12"/>
          <p:cNvSpPr/>
          <p:nvPr/>
        </p:nvSpPr>
        <p:spPr>
          <a:xfrm>
            <a:off x="4270248" y="4251960"/>
            <a:ext cx="3337560" cy="91440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Zero-hallucination, transparent source tracing for strict regulatory compliance.</a:t>
            </a:r>
            <a:endParaRPr lang="en-US" sz="1200" dirty="0"/>
          </a:p>
        </p:txBody>
      </p:sp>
      <p:pic>
        <p:nvPicPr>
          <p:cNvPr id="16" name="Image 1" descr="preencoded.png">    </p:cNvPr>
          <p:cNvPicPr>
            <a:picLocks noChangeAspect="1"/>
          </p:cNvPicPr>
          <p:nvPr/>
        </p:nvPicPr>
        <p:blipFill>
          <a:blip r:embed="rId2"/>
          <a:stretch>
            <a:fillRect/>
          </a:stretch>
        </p:blipFill>
        <p:spPr>
          <a:xfrm>
            <a:off x="6766560" y="2926080"/>
            <a:ext cx="731520" cy="731520"/>
          </a:xfrm>
          <a:prstGeom prst="rect">
            <a:avLst/>
          </a:prstGeom>
        </p:spPr>
      </p:pic>
      <p:sp>
        <p:nvSpPr>
          <p:cNvPr id="17" name="Shape 13"/>
          <p:cNvSpPr/>
          <p:nvPr/>
        </p:nvSpPr>
        <p:spPr>
          <a:xfrm>
            <a:off x="8001000" y="2834640"/>
            <a:ext cx="3566160" cy="3749040"/>
          </a:xfrm>
          <a:prstGeom prst="rect">
            <a:avLst/>
          </a:prstGeom>
          <a:solidFill>
            <a:srgbClr val="FFFFFF"/>
          </a:solidFill>
          <a:ln w="12700">
            <a:solidFill>
              <a:srgbClr val="D1D5DB"/>
            </a:solidFill>
            <a:prstDash val="solid"/>
          </a:ln>
        </p:spPr>
      </p:sp>
      <p:sp>
        <p:nvSpPr>
          <p:cNvPr id="18" name="Text 14"/>
          <p:cNvSpPr/>
          <p:nvPr/>
        </p:nvSpPr>
        <p:spPr>
          <a:xfrm>
            <a:off x="8110728" y="2907792"/>
            <a:ext cx="3337560" cy="868680"/>
          </a:xfrm>
          <a:prstGeom prst="rect">
            <a:avLst/>
          </a:prstGeom>
          <a:noFill/>
          <a:ln/>
        </p:spPr>
        <p:txBody>
          <a:bodyPr wrap="square" rtlCol="0" anchor="ctr"/>
          <a:lstStyle/>
          <a:p>
            <a:pPr indent="0" marL="0">
              <a:buNone/>
            </a:pPr>
            <a:r>
              <a:rPr lang="en-US" sz="4400" b="1" dirty="0">
                <a:solidFill>
                  <a:srgbClr val="B5621F"/>
                </a:solidFill>
                <a:latin typeface="Arial Black" pitchFamily="34" charset="0"/>
                <a:ea typeface="Arial Black" pitchFamily="34" charset="-122"/>
                <a:cs typeface="Arial Black" pitchFamily="34" charset="-120"/>
              </a:rPr>
              <a:t>90%</a:t>
            </a:r>
            <a:endParaRPr lang="en-US" sz="4400" dirty="0"/>
          </a:p>
        </p:txBody>
      </p:sp>
      <p:sp>
        <p:nvSpPr>
          <p:cNvPr id="19" name="Text 15"/>
          <p:cNvSpPr/>
          <p:nvPr/>
        </p:nvSpPr>
        <p:spPr>
          <a:xfrm>
            <a:off x="8110728" y="3822192"/>
            <a:ext cx="3337560" cy="365760"/>
          </a:xfrm>
          <a:prstGeom prst="rect">
            <a:avLst/>
          </a:prstGeom>
          <a:noFill/>
          <a:ln/>
        </p:spPr>
        <p:txBody>
          <a:bodyPr wrap="square" rtlCol="0" anchor="ctr"/>
          <a:lstStyle/>
          <a:p>
            <a:pPr indent="0" marL="0">
              <a:buNone/>
            </a:pPr>
            <a:r>
              <a:rPr lang="en-US" sz="1600" b="1" dirty="0">
                <a:solidFill>
                  <a:srgbClr val="0D1B3E"/>
                </a:solidFill>
                <a:latin typeface="Arial Black" pitchFamily="34" charset="0"/>
                <a:ea typeface="Arial Black" pitchFamily="34" charset="-122"/>
                <a:cs typeface="Arial Black" pitchFamily="34" charset="-120"/>
              </a:rPr>
              <a:t>COST REDUCTION</a:t>
            </a:r>
            <a:endParaRPr lang="en-US" sz="1600" dirty="0"/>
          </a:p>
        </p:txBody>
      </p:sp>
      <p:sp>
        <p:nvSpPr>
          <p:cNvPr id="20" name="Text 16"/>
          <p:cNvSpPr/>
          <p:nvPr/>
        </p:nvSpPr>
        <p:spPr>
          <a:xfrm>
            <a:off x="8110728" y="4251960"/>
            <a:ext cx="3337560" cy="91440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Using hybrid classical NLP extraction to bypass massive LLM compute costs at scale.</a:t>
            </a:r>
            <a:endParaRPr lang="en-US" sz="1200" dirty="0"/>
          </a:p>
        </p:txBody>
      </p:sp>
      <p:sp>
        <p:nvSpPr>
          <p:cNvPr id="21" name="Shape 17"/>
          <p:cNvSpPr/>
          <p:nvPr/>
        </p:nvSpPr>
        <p:spPr>
          <a:xfrm>
            <a:off x="8503920" y="5303520"/>
            <a:ext cx="502920" cy="868680"/>
          </a:xfrm>
          <a:prstGeom prst="rect">
            <a:avLst/>
          </a:prstGeom>
          <a:solidFill>
            <a:srgbClr val="4A6FA5"/>
          </a:solidFill>
          <a:ln/>
        </p:spPr>
      </p:sp>
      <p:sp>
        <p:nvSpPr>
          <p:cNvPr id="22" name="Shape 18"/>
          <p:cNvSpPr/>
          <p:nvPr/>
        </p:nvSpPr>
        <p:spPr>
          <a:xfrm>
            <a:off x="9144000" y="5532120"/>
            <a:ext cx="502920" cy="640080"/>
          </a:xfrm>
          <a:prstGeom prst="rect">
            <a:avLst/>
          </a:prstGeom>
          <a:solidFill>
            <a:srgbClr val="B5621F"/>
          </a:solidFill>
          <a:ln/>
        </p:spPr>
      </p:sp>
      <p:sp>
        <p:nvSpPr>
          <p:cNvPr id="23" name="Shape 19"/>
          <p:cNvSpPr/>
          <p:nvPr/>
        </p:nvSpPr>
        <p:spPr>
          <a:xfrm>
            <a:off x="9784080" y="5715000"/>
            <a:ext cx="502920" cy="457200"/>
          </a:xfrm>
          <a:prstGeom prst="rect">
            <a:avLst/>
          </a:prstGeom>
          <a:solidFill>
            <a:srgbClr val="C8783A"/>
          </a:solidFill>
          <a:ln/>
        </p:spPr>
      </p:sp>
      <p:sp>
        <p:nvSpPr>
          <p:cNvPr id="24" name="Text 20"/>
          <p:cNvSpPr/>
          <p:nvPr/>
        </p:nvSpPr>
        <p:spPr>
          <a:xfrm>
            <a:off x="8321040" y="6217920"/>
            <a:ext cx="822960" cy="256032"/>
          </a:xfrm>
          <a:prstGeom prst="rect">
            <a:avLst/>
          </a:prstGeom>
          <a:noFill/>
          <a:ln/>
        </p:spPr>
        <p:txBody>
          <a:bodyPr wrap="square" rtlCol="0" anchor="ctr"/>
          <a:lstStyle/>
          <a:p>
            <a:pPr algn="ctr" indent="0" marL="0">
              <a:buNone/>
            </a:pPr>
            <a:r>
              <a:rPr lang="en-US" sz="800" dirty="0">
                <a:solidFill>
                  <a:srgbClr val="6B7280"/>
                </a:solidFill>
              </a:rPr>
              <a:t>LLM</a:t>
            </a:r>
            <a:endParaRPr lang="en-US" sz="800" dirty="0"/>
          </a:p>
        </p:txBody>
      </p:sp>
      <p:sp>
        <p:nvSpPr>
          <p:cNvPr id="25" name="Text 21"/>
          <p:cNvSpPr/>
          <p:nvPr/>
        </p:nvSpPr>
        <p:spPr>
          <a:xfrm>
            <a:off x="8961120" y="6217920"/>
            <a:ext cx="822960" cy="256032"/>
          </a:xfrm>
          <a:prstGeom prst="rect">
            <a:avLst/>
          </a:prstGeom>
          <a:noFill/>
          <a:ln/>
        </p:spPr>
        <p:txBody>
          <a:bodyPr wrap="square" rtlCol="0" anchor="ctr"/>
          <a:lstStyle/>
          <a:p>
            <a:pPr algn="ctr" indent="0" marL="0">
              <a:buNone/>
            </a:pPr>
            <a:r>
              <a:rPr lang="en-US" sz="800" dirty="0">
                <a:solidFill>
                  <a:srgbClr val="6B7280"/>
                </a:solidFill>
              </a:rPr>
              <a:t>NLP</a:t>
            </a:r>
            <a:endParaRPr lang="en-US" sz="800" dirty="0"/>
          </a:p>
        </p:txBody>
      </p:sp>
      <p:sp>
        <p:nvSpPr>
          <p:cNvPr id="26" name="Text 22"/>
          <p:cNvSpPr/>
          <p:nvPr/>
        </p:nvSpPr>
        <p:spPr>
          <a:xfrm>
            <a:off x="9601200" y="6217920"/>
            <a:ext cx="822960" cy="256032"/>
          </a:xfrm>
          <a:prstGeom prst="rect">
            <a:avLst/>
          </a:prstGeom>
          <a:noFill/>
          <a:ln/>
        </p:spPr>
        <p:txBody>
          <a:bodyPr wrap="square" rtlCol="0" anchor="ctr"/>
          <a:lstStyle/>
          <a:p>
            <a:pPr algn="ctr" indent="0" marL="0">
              <a:buNone/>
            </a:pPr>
            <a:r>
              <a:rPr lang="en-US" sz="800" dirty="0">
                <a:solidFill>
                  <a:srgbClr val="6B7280"/>
                </a:solidFill>
              </a:rPr>
              <a:t>Cost</a:t>
            </a:r>
            <a:endParaRPr lang="en-US" sz="800" dirty="0"/>
          </a:p>
        </p:txBody>
      </p:sp>
      <p:sp>
        <p:nvSpPr>
          <p:cNvPr id="27" name="Text 23"/>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228600"/>
            <a:ext cx="11430000" cy="1463040"/>
          </a:xfrm>
          <a:prstGeom prst="rect">
            <a:avLst/>
          </a:prstGeom>
          <a:noFill/>
          <a:ln/>
        </p:spPr>
        <p:txBody>
          <a:bodyPr wrap="square" rtlCol="0" anchor="ctr"/>
          <a:lstStyle/>
          <a:p>
            <a:pPr indent="0" marL="0">
              <a:buNone/>
            </a:pPr>
            <a:r>
              <a:rPr lang="en-US" sz="3600" b="1" dirty="0">
                <a:solidFill>
                  <a:srgbClr val="0D1B3E"/>
                </a:solidFill>
                <a:latin typeface="Arial Black" pitchFamily="34" charset="0"/>
                <a:ea typeface="Arial Black" pitchFamily="34" charset="-122"/>
                <a:cs typeface="Arial Black" pitchFamily="34" charset="-120"/>
              </a:rPr>
              <a:t>THE AI GROWTH CEILING:</a:t>
            </a:r>
            <a:endParaRPr lang="en-US" sz="3600" dirty="0"/>
          </a:p>
          <a:p>
            <a:pPr indent="0" marL="0">
              <a:buNone/>
            </a:pPr>
            <a:r>
              <a:rPr lang="en-US" sz="3600" b="1" dirty="0">
                <a:solidFill>
                  <a:srgbClr val="0D1B3E"/>
                </a:solidFill>
                <a:latin typeface="Arial Black" pitchFamily="34" charset="0"/>
                <a:ea typeface="Arial Black" pitchFamily="34" charset="-122"/>
                <a:cs typeface="Arial Black" pitchFamily="34" charset="-120"/>
              </a:rPr>
              <a:t>STANDARD RAG IS HITTING A WALL</a:t>
            </a:r>
            <a:endParaRPr lang="en-US" sz="3600" dirty="0"/>
          </a:p>
        </p:txBody>
      </p:sp>
      <p:pic>
        <p:nvPicPr>
          <p:cNvPr id="4" name="Image 0" descr="preencoded.png">    </p:cNvPr>
          <p:cNvPicPr>
            <a:picLocks noChangeAspect="1"/>
          </p:cNvPicPr>
          <p:nvPr/>
        </p:nvPicPr>
        <p:blipFill>
          <a:blip r:embed="rId1"/>
          <a:stretch>
            <a:fillRect/>
          </a:stretch>
        </p:blipFill>
        <p:spPr>
          <a:xfrm>
            <a:off x="1371600" y="1554480"/>
            <a:ext cx="9144000" cy="3108960"/>
          </a:xfrm>
          <a:prstGeom prst="rect">
            <a:avLst/>
          </a:prstGeom>
        </p:spPr>
      </p:pic>
      <p:sp>
        <p:nvSpPr>
          <p:cNvPr id="5" name="Text 2"/>
          <p:cNvSpPr/>
          <p:nvPr/>
        </p:nvSpPr>
        <p:spPr>
          <a:xfrm>
            <a:off x="274320" y="4754880"/>
            <a:ext cx="3657600" cy="594360"/>
          </a:xfrm>
          <a:prstGeom prst="rect">
            <a:avLst/>
          </a:prstGeom>
          <a:noFill/>
          <a:ln/>
        </p:spPr>
        <p:txBody>
          <a:bodyPr wrap="square" rtlCol="0" anchor="ctr"/>
          <a:lstStyle/>
          <a:p>
            <a:pPr algn="l" indent="0" marL="0">
              <a:buNone/>
            </a:pPr>
            <a:r>
              <a:rPr lang="en-US" sz="1200" b="1" dirty="0">
                <a:solidFill>
                  <a:srgbClr val="0D1B3E"/>
                </a:solidFill>
                <a:latin typeface="Arial Black" pitchFamily="34" charset="0"/>
                <a:ea typeface="Arial Black" pitchFamily="34" charset="-122"/>
                <a:cs typeface="Arial Black" pitchFamily="34" charset="-120"/>
              </a:rPr>
              <a:t>ACCURACY DEGRADATION</a:t>
            </a:r>
            <a:endParaRPr lang="en-US" sz="1200" dirty="0"/>
          </a:p>
          <a:p>
            <a:pPr algn="l" indent="0" marL="0">
              <a:buNone/>
            </a:pPr>
            <a:r>
              <a:rPr lang="en-US" sz="1200" b="1" dirty="0">
                <a:solidFill>
                  <a:srgbClr val="0D1B3E"/>
                </a:solidFill>
                <a:latin typeface="Arial Black" pitchFamily="34" charset="0"/>
                <a:ea typeface="Arial Black" pitchFamily="34" charset="-122"/>
                <a:cs typeface="Arial Black" pitchFamily="34" charset="-120"/>
              </a:rPr>
              <a:t>(CONTEXT LOSS)</a:t>
            </a:r>
            <a:endParaRPr lang="en-US" sz="1200" dirty="0"/>
          </a:p>
        </p:txBody>
      </p:sp>
      <p:sp>
        <p:nvSpPr>
          <p:cNvPr id="6" name="Text 3"/>
          <p:cNvSpPr/>
          <p:nvPr/>
        </p:nvSpPr>
        <p:spPr>
          <a:xfrm>
            <a:off x="274320" y="5394960"/>
            <a:ext cx="3657600" cy="1188720"/>
          </a:xfrm>
          <a:prstGeom prst="rect">
            <a:avLst/>
          </a:prstGeom>
          <a:noFill/>
          <a:ln/>
        </p:spPr>
        <p:txBody>
          <a:bodyPr wrap="square" rtlCol="0" anchor="ctr"/>
          <a:lstStyle/>
          <a:p>
            <a:pPr algn="l" indent="0" marL="0">
              <a:buNone/>
            </a:pPr>
            <a:r>
              <a:rPr lang="en-US" sz="1200" dirty="0">
                <a:solidFill>
                  <a:srgbClr val="333333"/>
                </a:solidFill>
                <a:latin typeface="Calibri" pitchFamily="34" charset="0"/>
                <a:ea typeface="Calibri" pitchFamily="34" charset="-122"/>
                <a:cs typeface="Calibri" pitchFamily="34" charset="-120"/>
              </a:rPr>
              <a:t>Struggles with dense, specialized enterprise data where documents share highly concentrated terminology.</a:t>
            </a:r>
            <a:endParaRPr lang="en-US" sz="1200" dirty="0"/>
          </a:p>
        </p:txBody>
      </p:sp>
      <p:sp>
        <p:nvSpPr>
          <p:cNvPr id="7" name="Text 4"/>
          <p:cNvSpPr/>
          <p:nvPr/>
        </p:nvSpPr>
        <p:spPr>
          <a:xfrm>
            <a:off x="4160520" y="4754880"/>
            <a:ext cx="3657600" cy="594360"/>
          </a:xfrm>
          <a:prstGeom prst="rect">
            <a:avLst/>
          </a:prstGeom>
          <a:noFill/>
          <a:ln/>
        </p:spPr>
        <p:txBody>
          <a:bodyPr wrap="square" rtlCol="0" anchor="ctr"/>
          <a:lstStyle/>
          <a:p>
            <a:pPr algn="l" indent="0" marL="0">
              <a:buNone/>
            </a:pPr>
            <a:r>
              <a:rPr lang="en-US" sz="1200" b="1" dirty="0">
                <a:solidFill>
                  <a:srgbClr val="0D1B3E"/>
                </a:solidFill>
                <a:latin typeface="Arial Black" pitchFamily="34" charset="0"/>
                <a:ea typeface="Arial Black" pitchFamily="34" charset="-122"/>
                <a:cs typeface="Arial Black" pitchFamily="34" charset="-120"/>
              </a:rPr>
              <a:t>REASONING FAILURE</a:t>
            </a:r>
            <a:endParaRPr lang="en-US" sz="1200" dirty="0"/>
          </a:p>
          <a:p>
            <a:pPr algn="l" indent="0" marL="0">
              <a:buNone/>
            </a:pPr>
            <a:r>
              <a:rPr lang="en-US" sz="1200" b="1" dirty="0">
                <a:solidFill>
                  <a:srgbClr val="0D1B3E"/>
                </a:solidFill>
                <a:latin typeface="Arial Black" pitchFamily="34" charset="0"/>
                <a:ea typeface="Arial Black" pitchFamily="34" charset="-122"/>
                <a:cs typeface="Arial Black" pitchFamily="34" charset="-120"/>
              </a:rPr>
              <a:t>(THE MULTI-HOP GAP)</a:t>
            </a:r>
            <a:endParaRPr lang="en-US" sz="1200" dirty="0"/>
          </a:p>
        </p:txBody>
      </p:sp>
      <p:sp>
        <p:nvSpPr>
          <p:cNvPr id="8" name="Text 5"/>
          <p:cNvSpPr/>
          <p:nvPr/>
        </p:nvSpPr>
        <p:spPr>
          <a:xfrm>
            <a:off x="4160520" y="5394960"/>
            <a:ext cx="3657600" cy="1188720"/>
          </a:xfrm>
          <a:prstGeom prst="rect">
            <a:avLst/>
          </a:prstGeom>
          <a:noFill/>
          <a:ln/>
        </p:spPr>
        <p:txBody>
          <a:bodyPr wrap="square" rtlCol="0" anchor="ctr"/>
          <a:lstStyle/>
          <a:p>
            <a:pPr algn="l" indent="0" marL="0">
              <a:buNone/>
            </a:pPr>
            <a:r>
              <a:rPr lang="en-US" sz="1200" dirty="0">
                <a:solidFill>
                  <a:srgbClr val="333333"/>
                </a:solidFill>
                <a:latin typeface="Calibri" pitchFamily="34" charset="0"/>
                <a:ea typeface="Calibri" pitchFamily="34" charset="-122"/>
                <a:cs typeface="Calibri" pitchFamily="34" charset="-120"/>
              </a:rPr>
              <a:t>Fails to connect complex, distributed facts (A to B to C) necessary for answering high-level operational questions.</a:t>
            </a:r>
            <a:endParaRPr lang="en-US" sz="1200" dirty="0"/>
          </a:p>
        </p:txBody>
      </p:sp>
      <p:sp>
        <p:nvSpPr>
          <p:cNvPr id="9" name="Text 6"/>
          <p:cNvSpPr/>
          <p:nvPr/>
        </p:nvSpPr>
        <p:spPr>
          <a:xfrm>
            <a:off x="8046720" y="4754880"/>
            <a:ext cx="3657600" cy="594360"/>
          </a:xfrm>
          <a:prstGeom prst="rect">
            <a:avLst/>
          </a:prstGeom>
          <a:noFill/>
          <a:ln/>
        </p:spPr>
        <p:txBody>
          <a:bodyPr wrap="square" rtlCol="0" anchor="ctr"/>
          <a:lstStyle/>
          <a:p>
            <a:pPr algn="l" indent="0" marL="0">
              <a:buNone/>
            </a:pPr>
            <a:r>
              <a:rPr lang="en-US" sz="1200" b="1" dirty="0">
                <a:solidFill>
                  <a:srgbClr val="0D1B3E"/>
                </a:solidFill>
                <a:latin typeface="Arial Black" pitchFamily="34" charset="0"/>
                <a:ea typeface="Arial Black" pitchFamily="34" charset="-122"/>
                <a:cs typeface="Arial Black" pitchFamily="34" charset="-120"/>
              </a:rPr>
              <a:t>AUDITABILITY FAILURES</a:t>
            </a:r>
            <a:endParaRPr lang="en-US" sz="1200" dirty="0"/>
          </a:p>
          <a:p>
            <a:pPr algn="l" indent="0" marL="0">
              <a:buNone/>
            </a:pPr>
            <a:r>
              <a:rPr lang="en-US" sz="1200" b="1" dirty="0">
                <a:solidFill>
                  <a:srgbClr val="0D1B3E"/>
                </a:solidFill>
                <a:latin typeface="Arial Black" pitchFamily="34" charset="0"/>
                <a:ea typeface="Arial Black" pitchFamily="34" charset="-122"/>
                <a:cs typeface="Arial Black" pitchFamily="34" charset="-120"/>
              </a:rPr>
              <a:t>(THE BLACK BOX)</a:t>
            </a:r>
            <a:endParaRPr lang="en-US" sz="1200" dirty="0"/>
          </a:p>
        </p:txBody>
      </p:sp>
      <p:sp>
        <p:nvSpPr>
          <p:cNvPr id="10" name="Text 7"/>
          <p:cNvSpPr/>
          <p:nvPr/>
        </p:nvSpPr>
        <p:spPr>
          <a:xfrm>
            <a:off x="8046720" y="5394960"/>
            <a:ext cx="3657600" cy="1188720"/>
          </a:xfrm>
          <a:prstGeom prst="rect">
            <a:avLst/>
          </a:prstGeom>
          <a:noFill/>
          <a:ln/>
        </p:spPr>
        <p:txBody>
          <a:bodyPr wrap="square" rtlCol="0" anchor="ctr"/>
          <a:lstStyle/>
          <a:p>
            <a:pPr algn="l" indent="0" marL="0">
              <a:buNone/>
            </a:pPr>
            <a:r>
              <a:rPr lang="en-US" sz="1200" dirty="0">
                <a:solidFill>
                  <a:srgbClr val="333333"/>
                </a:solidFill>
                <a:latin typeface="Calibri" pitchFamily="34" charset="0"/>
                <a:ea typeface="Calibri" pitchFamily="34" charset="-122"/>
                <a:cs typeface="Calibri" pitchFamily="34" charset="-120"/>
              </a:rPr>
              <a:t>Provides answers without a clear, verifiable chain of logic, that regulators cannot audit.</a:t>
            </a:r>
            <a:endParaRPr lang="en-US" sz="1200" dirty="0"/>
          </a:p>
        </p:txBody>
      </p:sp>
      <p:sp>
        <p:nvSpPr>
          <p:cNvPr id="11" name="Text 8"/>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228600"/>
            <a:ext cx="11430000" cy="777240"/>
          </a:xfrm>
          <a:prstGeom prst="rect">
            <a:avLst/>
          </a:prstGeom>
          <a:noFill/>
          <a:ln/>
        </p:spPr>
        <p:txBody>
          <a:bodyPr wrap="square" rtlCol="0" anchor="ctr"/>
          <a:lstStyle/>
          <a:p>
            <a:pPr indent="0" marL="0">
              <a:buNone/>
            </a:pPr>
            <a:r>
              <a:rPr lang="en-US" sz="3400" b="1" dirty="0">
                <a:solidFill>
                  <a:srgbClr val="0D1B3E"/>
                </a:solidFill>
                <a:latin typeface="Arial Black" pitchFamily="34" charset="0"/>
                <a:ea typeface="Arial Black" pitchFamily="34" charset="-122"/>
                <a:cs typeface="Arial Black" pitchFamily="34" charset="-120"/>
              </a:rPr>
              <a:t>THE ROOT CAUSE: THE CHUNKING PROBLEM</a:t>
            </a:r>
            <a:endParaRPr lang="en-US" sz="3400" dirty="0"/>
          </a:p>
        </p:txBody>
      </p:sp>
      <p:sp>
        <p:nvSpPr>
          <p:cNvPr id="4" name="Text 2"/>
          <p:cNvSpPr/>
          <p:nvPr/>
        </p:nvSpPr>
        <p:spPr>
          <a:xfrm>
            <a:off x="457200" y="1143000"/>
            <a:ext cx="5486400" cy="411480"/>
          </a:xfrm>
          <a:prstGeom prst="rect">
            <a:avLst/>
          </a:prstGeom>
          <a:noFill/>
          <a:ln/>
        </p:spPr>
        <p:txBody>
          <a:bodyPr wrap="square" rtlCol="0" anchor="ctr"/>
          <a:lstStyle/>
          <a:p>
            <a:pPr algn="ctr" indent="0" marL="0">
              <a:buNone/>
            </a:pPr>
            <a:r>
              <a:rPr lang="en-US" sz="1800" b="1" dirty="0">
                <a:solidFill>
                  <a:srgbClr val="0D1B3E"/>
                </a:solidFill>
                <a:latin typeface="Arial Black" pitchFamily="34" charset="0"/>
                <a:ea typeface="Arial Black" pitchFamily="34" charset="-122"/>
                <a:cs typeface="Arial Black" pitchFamily="34" charset="-120"/>
              </a:rPr>
              <a:t>NAIVE CHUNKING</a:t>
            </a:r>
            <a:endParaRPr lang="en-US" sz="1800" dirty="0"/>
          </a:p>
        </p:txBody>
      </p:sp>
      <p:sp>
        <p:nvSpPr>
          <p:cNvPr id="5" name="Text 3"/>
          <p:cNvSpPr/>
          <p:nvPr/>
        </p:nvSpPr>
        <p:spPr>
          <a:xfrm>
            <a:off x="6400800" y="1143000"/>
            <a:ext cx="5486400" cy="411480"/>
          </a:xfrm>
          <a:prstGeom prst="rect">
            <a:avLst/>
          </a:prstGeom>
          <a:noFill/>
          <a:ln/>
        </p:spPr>
        <p:txBody>
          <a:bodyPr wrap="square" rtlCol="0" anchor="ctr"/>
          <a:lstStyle/>
          <a:p>
            <a:pPr algn="ctr" indent="0" marL="0">
              <a:buNone/>
            </a:pPr>
            <a:r>
              <a:rPr lang="en-US" sz="1800" b="1" dirty="0">
                <a:solidFill>
                  <a:srgbClr val="B5621F"/>
                </a:solidFill>
                <a:latin typeface="Arial Black" pitchFamily="34" charset="0"/>
                <a:ea typeface="Arial Black" pitchFamily="34" charset="-122"/>
                <a:cs typeface="Arial Black" pitchFamily="34" charset="-120"/>
              </a:rPr>
              <a:t>RELATIONAL PRESERVATION</a:t>
            </a:r>
            <a:endParaRPr lang="en-US" sz="1800" dirty="0"/>
          </a:p>
        </p:txBody>
      </p:sp>
      <p:sp>
        <p:nvSpPr>
          <p:cNvPr id="6" name="Shape 4"/>
          <p:cNvSpPr/>
          <p:nvPr/>
        </p:nvSpPr>
        <p:spPr>
          <a:xfrm>
            <a:off x="6099048" y="1097280"/>
            <a:ext cx="0" cy="5029200"/>
          </a:xfrm>
          <a:prstGeom prst="line">
            <a:avLst/>
          </a:prstGeom>
          <a:noFill/>
          <a:ln w="19050">
            <a:solidFill>
              <a:srgbClr val="D1D5DB"/>
            </a:solidFill>
            <a:prstDash val="solid"/>
          </a:ln>
        </p:spPr>
      </p:sp>
      <p:sp>
        <p:nvSpPr>
          <p:cNvPr id="7" name="Shape 5"/>
          <p:cNvSpPr/>
          <p:nvPr/>
        </p:nvSpPr>
        <p:spPr>
          <a:xfrm>
            <a:off x="457200" y="1645920"/>
            <a:ext cx="5303520" cy="3474720"/>
          </a:xfrm>
          <a:prstGeom prst="rect">
            <a:avLst/>
          </a:prstGeom>
          <a:solidFill>
            <a:srgbClr val="EFF4FF"/>
          </a:solidFill>
          <a:ln w="19050">
            <a:solidFill>
              <a:srgbClr val="8B9DC3"/>
            </a:solidFill>
            <a:prstDash val="solid"/>
          </a:ln>
        </p:spPr>
      </p:sp>
      <p:sp>
        <p:nvSpPr>
          <p:cNvPr id="8" name="Text 6"/>
          <p:cNvSpPr/>
          <p:nvPr/>
        </p:nvSpPr>
        <p:spPr>
          <a:xfrm>
            <a:off x="640080" y="1828800"/>
            <a:ext cx="4937760" cy="301752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Apple Computer, Inc. was founded in 1976. The Apple II, released in 1977, was a major success. The Apple Lisa, introduced in 1983, was one of the first personal computers with a GUI. The Macintosh created in 1984, became iconic. Steve Jobs returned in 1997, leading a period of innovation.</a:t>
            </a:r>
            <a:endParaRPr lang="en-US" sz="1300" dirty="0"/>
          </a:p>
        </p:txBody>
      </p:sp>
      <p:sp>
        <p:nvSpPr>
          <p:cNvPr id="9" name="Shape 7"/>
          <p:cNvSpPr/>
          <p:nvPr/>
        </p:nvSpPr>
        <p:spPr>
          <a:xfrm>
            <a:off x="2560320" y="1645920"/>
            <a:ext cx="0" cy="3474720"/>
          </a:xfrm>
          <a:prstGeom prst="line">
            <a:avLst/>
          </a:prstGeom>
          <a:noFill/>
          <a:ln w="25400">
            <a:solidFill>
              <a:srgbClr val="4472C4"/>
            </a:solidFill>
            <a:prstDash val="solid"/>
          </a:ln>
        </p:spPr>
      </p:sp>
      <p:sp>
        <p:nvSpPr>
          <p:cNvPr id="10" name="Shape 8"/>
          <p:cNvSpPr/>
          <p:nvPr/>
        </p:nvSpPr>
        <p:spPr>
          <a:xfrm>
            <a:off x="4114800" y="1645920"/>
            <a:ext cx="0" cy="3474720"/>
          </a:xfrm>
          <a:prstGeom prst="line">
            <a:avLst/>
          </a:prstGeom>
          <a:noFill/>
          <a:ln w="25400">
            <a:solidFill>
              <a:srgbClr val="4472C4"/>
            </a:solidFill>
            <a:prstDash val="solid"/>
          </a:ln>
        </p:spPr>
      </p:sp>
      <p:sp>
        <p:nvSpPr>
          <p:cNvPr id="11" name="Shape 9"/>
          <p:cNvSpPr/>
          <p:nvPr/>
        </p:nvSpPr>
        <p:spPr>
          <a:xfrm>
            <a:off x="457200" y="2743200"/>
            <a:ext cx="5303520" cy="0"/>
          </a:xfrm>
          <a:prstGeom prst="line">
            <a:avLst/>
          </a:prstGeom>
          <a:noFill/>
          <a:ln w="25400">
            <a:solidFill>
              <a:srgbClr val="4472C4"/>
            </a:solidFill>
            <a:prstDash val="solid"/>
          </a:ln>
        </p:spPr>
      </p:sp>
      <p:sp>
        <p:nvSpPr>
          <p:cNvPr id="12" name="Shape 10"/>
          <p:cNvSpPr/>
          <p:nvPr/>
        </p:nvSpPr>
        <p:spPr>
          <a:xfrm>
            <a:off x="457200" y="3840480"/>
            <a:ext cx="5303520" cy="0"/>
          </a:xfrm>
          <a:prstGeom prst="line">
            <a:avLst/>
          </a:prstGeom>
          <a:noFill/>
          <a:ln w="25400">
            <a:solidFill>
              <a:srgbClr val="4472C4"/>
            </a:solidFill>
            <a:prstDash val="solid"/>
          </a:ln>
        </p:spPr>
      </p:sp>
      <p:pic>
        <p:nvPicPr>
          <p:cNvPr id="13" name="Image 0" descr="preencoded.png">    </p:cNvPr>
          <p:cNvPicPr>
            <a:picLocks noChangeAspect="1"/>
          </p:cNvPicPr>
          <p:nvPr/>
        </p:nvPicPr>
        <p:blipFill>
          <a:blip r:embed="rId1"/>
          <a:stretch>
            <a:fillRect/>
          </a:stretch>
        </p:blipFill>
        <p:spPr>
          <a:xfrm>
            <a:off x="6309360" y="1371600"/>
            <a:ext cx="5303520" cy="4114800"/>
          </a:xfrm>
          <a:prstGeom prst="rect">
            <a:avLst/>
          </a:prstGeom>
        </p:spPr>
      </p:pic>
      <p:sp>
        <p:nvSpPr>
          <p:cNvPr id="14" name="Text 11"/>
          <p:cNvSpPr/>
          <p:nvPr/>
        </p:nvSpPr>
        <p:spPr>
          <a:xfrm>
            <a:off x="457200" y="5212080"/>
            <a:ext cx="5303520" cy="9144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Slices enterprise knowledge into rigid blocks, creating proximity bias and destroying structural relationships (e.g., inaccurately attributing the Macintosh creation to 1983).</a:t>
            </a:r>
            <a:endParaRPr lang="en-US" sz="1100" dirty="0"/>
          </a:p>
        </p:txBody>
      </p:sp>
      <p:sp>
        <p:nvSpPr>
          <p:cNvPr id="15" name="Text 12"/>
          <p:cNvSpPr/>
          <p:nvPr/>
        </p:nvSpPr>
        <p:spPr>
          <a:xfrm>
            <a:off x="6400800" y="5212080"/>
            <a:ext cx="5303520" cy="9144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Graph structures capture the actual logic and conditions of the text, preserving the whole thought intact regardless of document length.</a:t>
            </a:r>
            <a:endParaRPr lang="en-US" sz="1100" dirty="0"/>
          </a:p>
        </p:txBody>
      </p:sp>
      <p:sp>
        <p:nvSpPr>
          <p:cNvPr id="16" name="Text 13"/>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1280160"/>
          </a:xfrm>
          <a:prstGeom prst="rect">
            <a:avLst/>
          </a:prstGeom>
          <a:noFill/>
          <a:ln/>
        </p:spPr>
        <p:txBody>
          <a:bodyPr wrap="square" rtlCol="0" anchor="ctr"/>
          <a:lstStyle/>
          <a:p>
            <a:pPr indent="0" marL="0">
              <a:buNone/>
            </a:pPr>
            <a:r>
              <a:rPr lang="en-US" sz="3200" b="1" dirty="0">
                <a:solidFill>
                  <a:srgbClr val="0D1B3E"/>
                </a:solidFill>
                <a:latin typeface="Arial Black" pitchFamily="34" charset="0"/>
                <a:ea typeface="Arial Black" pitchFamily="34" charset="-122"/>
                <a:cs typeface="Arial Black" pitchFamily="34" charset="-120"/>
              </a:rPr>
              <a:t>THE PARADIGM SHIFT: FROM STATIC</a:t>
            </a:r>
            <a:endParaRPr lang="en-US" sz="3200" dirty="0"/>
          </a:p>
          <a:p>
            <a:pPr indent="0" marL="0">
              <a:buNone/>
            </a:pPr>
            <a:r>
              <a:rPr lang="en-US" sz="3200" b="1" dirty="0">
                <a:solidFill>
                  <a:srgbClr val="0D1B3E"/>
                </a:solidFill>
                <a:latin typeface="Arial Black" pitchFamily="34" charset="0"/>
                <a:ea typeface="Arial Black" pitchFamily="34" charset="-122"/>
                <a:cs typeface="Arial Black" pitchFamily="34" charset="-120"/>
              </a:rPr>
              <a:t>VECTORS TO DYNAMIC GRAPHS</a:t>
            </a:r>
            <a:endParaRPr lang="en-US" sz="3200" dirty="0"/>
          </a:p>
        </p:txBody>
      </p:sp>
      <p:sp>
        <p:nvSpPr>
          <p:cNvPr id="4" name="Text 2"/>
          <p:cNvSpPr/>
          <p:nvPr/>
        </p:nvSpPr>
        <p:spPr>
          <a:xfrm>
            <a:off x="365760" y="1463040"/>
            <a:ext cx="10972800" cy="411480"/>
          </a:xfrm>
          <a:prstGeom prst="rect">
            <a:avLst/>
          </a:prstGeom>
          <a:noFill/>
          <a:ln/>
        </p:spPr>
        <p:txBody>
          <a:bodyPr wrap="square" rtlCol="0" anchor="ctr"/>
          <a:lstStyle/>
          <a:p>
            <a:pPr indent="0" marL="0">
              <a:buNone/>
            </a:pPr>
            <a:r>
              <a:rPr lang="en-US" sz="1500" b="1" dirty="0">
                <a:solidFill>
                  <a:srgbClr val="0D1B3E"/>
                </a:solidFill>
                <a:latin typeface="Calibri" pitchFamily="34" charset="0"/>
                <a:ea typeface="Calibri" pitchFamily="34" charset="-122"/>
                <a:cs typeface="Calibri" pitchFamily="34" charset="-120"/>
              </a:rPr>
              <a:t>Key Takeaway: </a:t>
            </a:r>
            <a:pPr indent="0" marL="0">
              <a:buNone/>
            </a:pPr>
            <a:r>
              <a:rPr lang="en-US" sz="1500" dirty="0">
                <a:solidFill>
                  <a:srgbClr val="333333"/>
                </a:solidFill>
                <a:latin typeface="Calibri" pitchFamily="34" charset="0"/>
                <a:ea typeface="Calibri" pitchFamily="34" charset="-122"/>
                <a:cs typeface="Calibri" pitchFamily="34" charset="-120"/>
              </a:rPr>
              <a:t>We are upgrading our AI from a simple matching engine into a reasoning engine.</a:t>
            </a:r>
            <a:endParaRPr lang="en-US" sz="1500" dirty="0"/>
          </a:p>
        </p:txBody>
      </p:sp>
      <p:sp>
        <p:nvSpPr>
          <p:cNvPr id="5" name="Text 3"/>
          <p:cNvSpPr/>
          <p:nvPr/>
        </p:nvSpPr>
        <p:spPr>
          <a:xfrm>
            <a:off x="457200" y="2103120"/>
            <a:ext cx="5303520" cy="411480"/>
          </a:xfrm>
          <a:prstGeom prst="rect">
            <a:avLst/>
          </a:prstGeom>
          <a:noFill/>
          <a:ln/>
        </p:spPr>
        <p:txBody>
          <a:bodyPr wrap="square" rtlCol="0" anchor="ctr"/>
          <a:lstStyle/>
          <a:p>
            <a:pPr algn="ctr" indent="0" marL="0">
              <a:buNone/>
            </a:pPr>
            <a:r>
              <a:rPr lang="en-US" sz="1800" b="1" dirty="0">
                <a:solidFill>
                  <a:srgbClr val="0D1B3E"/>
                </a:solidFill>
                <a:latin typeface="Arial Black" pitchFamily="34" charset="0"/>
                <a:ea typeface="Arial Black" pitchFamily="34" charset="-122"/>
                <a:cs typeface="Arial Black" pitchFamily="34" charset="-120"/>
              </a:rPr>
              <a:t>VECTOR SEARCH</a:t>
            </a:r>
            <a:endParaRPr lang="en-US" sz="1800" dirty="0"/>
          </a:p>
        </p:txBody>
      </p:sp>
      <p:sp>
        <p:nvSpPr>
          <p:cNvPr id="6" name="Text 4"/>
          <p:cNvSpPr/>
          <p:nvPr/>
        </p:nvSpPr>
        <p:spPr>
          <a:xfrm>
            <a:off x="457200" y="2542032"/>
            <a:ext cx="5303520" cy="54864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Querying for isolated words that look</a:t>
            </a:r>
            <a:endParaRPr lang="en-US" sz="1300" dirty="0"/>
          </a:p>
          <a:p>
            <a:pPr algn="ctr" indent="0" marL="0">
              <a:buNone/>
            </a:pPr>
            <a:r>
              <a:rPr lang="en-US" sz="1300" dirty="0">
                <a:solidFill>
                  <a:srgbClr val="6B7280"/>
                </a:solidFill>
                <a:latin typeface="Calibri" pitchFamily="34" charset="0"/>
                <a:ea typeface="Calibri" pitchFamily="34" charset="-122"/>
                <a:cs typeface="Calibri" pitchFamily="34" charset="-120"/>
              </a:rPr>
              <a:t>statistically similar. (Blind proximity).</a:t>
            </a:r>
            <a:endParaRPr lang="en-US" sz="1300" dirty="0"/>
          </a:p>
        </p:txBody>
      </p:sp>
      <p:pic>
        <p:nvPicPr>
          <p:cNvPr id="7" name="Image 0" descr="preencoded.png">    </p:cNvPr>
          <p:cNvPicPr>
            <a:picLocks noChangeAspect="1"/>
          </p:cNvPicPr>
          <p:nvPr/>
        </p:nvPicPr>
        <p:blipFill>
          <a:blip r:embed="rId1"/>
          <a:stretch>
            <a:fillRect/>
          </a:stretch>
        </p:blipFill>
        <p:spPr>
          <a:xfrm>
            <a:off x="548640" y="3200400"/>
            <a:ext cx="5120640" cy="3200400"/>
          </a:xfrm>
          <a:prstGeom prst="rect">
            <a:avLst/>
          </a:prstGeom>
        </p:spPr>
      </p:pic>
      <p:pic>
        <p:nvPicPr>
          <p:cNvPr id="8" name="Image 1" descr="preencoded.png">    </p:cNvPr>
          <p:cNvPicPr>
            <a:picLocks noChangeAspect="1"/>
          </p:cNvPicPr>
          <p:nvPr/>
        </p:nvPicPr>
        <p:blipFill>
          <a:blip r:embed="rId2"/>
          <a:stretch>
            <a:fillRect/>
          </a:stretch>
        </p:blipFill>
        <p:spPr>
          <a:xfrm>
            <a:off x="3840480" y="3657600"/>
            <a:ext cx="1645920" cy="1645920"/>
          </a:xfrm>
          <a:prstGeom prst="rect">
            <a:avLst/>
          </a:prstGeom>
        </p:spPr>
      </p:pic>
      <p:sp>
        <p:nvSpPr>
          <p:cNvPr id="9" name="Shape 5"/>
          <p:cNvSpPr/>
          <p:nvPr/>
        </p:nvSpPr>
        <p:spPr>
          <a:xfrm>
            <a:off x="6099048" y="2011680"/>
            <a:ext cx="0" cy="4663440"/>
          </a:xfrm>
          <a:prstGeom prst="line">
            <a:avLst/>
          </a:prstGeom>
          <a:noFill/>
          <a:ln w="19050">
            <a:solidFill>
              <a:srgbClr val="D1D5DB"/>
            </a:solidFill>
            <a:prstDash val="solid"/>
          </a:ln>
        </p:spPr>
      </p:sp>
      <p:sp>
        <p:nvSpPr>
          <p:cNvPr id="10" name="Text 6"/>
          <p:cNvSpPr/>
          <p:nvPr/>
        </p:nvSpPr>
        <p:spPr>
          <a:xfrm>
            <a:off x="6400800" y="2103120"/>
            <a:ext cx="5303520" cy="411480"/>
          </a:xfrm>
          <a:prstGeom prst="rect">
            <a:avLst/>
          </a:prstGeom>
          <a:noFill/>
          <a:ln/>
        </p:spPr>
        <p:txBody>
          <a:bodyPr wrap="square" rtlCol="0" anchor="ctr"/>
          <a:lstStyle/>
          <a:p>
            <a:pPr algn="ctr" indent="0" marL="0">
              <a:buNone/>
            </a:pPr>
            <a:r>
              <a:rPr lang="en-US" sz="1800" b="1" dirty="0">
                <a:solidFill>
                  <a:srgbClr val="B5621F"/>
                </a:solidFill>
                <a:latin typeface="Arial Black" pitchFamily="34" charset="0"/>
                <a:ea typeface="Arial Black" pitchFamily="34" charset="-122"/>
                <a:cs typeface="Arial Black" pitchFamily="34" charset="-120"/>
              </a:rPr>
              <a:t>GRAPH RETRIEVAL</a:t>
            </a:r>
            <a:endParaRPr lang="en-US" sz="1800" dirty="0"/>
          </a:p>
        </p:txBody>
      </p:sp>
      <p:sp>
        <p:nvSpPr>
          <p:cNvPr id="11" name="Text 7"/>
          <p:cNvSpPr/>
          <p:nvPr/>
        </p:nvSpPr>
        <p:spPr>
          <a:xfrm>
            <a:off x="6400800" y="2542032"/>
            <a:ext cx="5303520" cy="54864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Querying an intelligent, interconnected map of</a:t>
            </a:r>
            <a:endParaRPr lang="en-US" sz="1300" dirty="0"/>
          </a:p>
          <a:p>
            <a:pPr algn="ctr" indent="0" marL="0">
              <a:buNone/>
            </a:pPr>
            <a:r>
              <a:rPr lang="en-US" sz="1300" dirty="0">
                <a:solidFill>
                  <a:srgbClr val="6B7280"/>
                </a:solidFill>
                <a:latin typeface="Calibri" pitchFamily="34" charset="0"/>
                <a:ea typeface="Calibri" pitchFamily="34" charset="-122"/>
                <a:cs typeface="Calibri" pitchFamily="34" charset="-120"/>
              </a:rPr>
              <a:t>relationships and keys. (Semantic logic).</a:t>
            </a:r>
            <a:endParaRPr lang="en-US" sz="1300" dirty="0"/>
          </a:p>
        </p:txBody>
      </p:sp>
      <p:pic>
        <p:nvPicPr>
          <p:cNvPr id="12" name="Image 2" descr="preencoded.png">    </p:cNvPr>
          <p:cNvPicPr>
            <a:picLocks noChangeAspect="1"/>
          </p:cNvPicPr>
          <p:nvPr/>
        </p:nvPicPr>
        <p:blipFill>
          <a:blip r:embed="rId3"/>
          <a:stretch>
            <a:fillRect/>
          </a:stretch>
        </p:blipFill>
        <p:spPr>
          <a:xfrm>
            <a:off x="6858000" y="3108960"/>
            <a:ext cx="4754880" cy="3291840"/>
          </a:xfrm>
          <a:prstGeom prst="rect">
            <a:avLst/>
          </a:prstGeom>
        </p:spPr>
      </p:pic>
      <p:sp>
        <p:nvSpPr>
          <p:cNvPr id="13" name="Text 8"/>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1097280"/>
          </a:xfrm>
          <a:prstGeom prst="rect">
            <a:avLst/>
          </a:prstGeom>
          <a:noFill/>
          <a:ln/>
        </p:spPr>
        <p:txBody>
          <a:bodyPr wrap="square" rtlCol="0" anchor="ctr"/>
          <a:lstStyle/>
          <a:p>
            <a:pPr indent="0" marL="0">
              <a:buNone/>
            </a:pPr>
            <a:r>
              <a:rPr lang="en-US" sz="3400" b="1" dirty="0">
                <a:solidFill>
                  <a:srgbClr val="0D1B3E"/>
                </a:solidFill>
                <a:latin typeface="Arial Black" pitchFamily="34" charset="0"/>
                <a:ea typeface="Arial Black" pitchFamily="34" charset="-122"/>
                <a:cs typeface="Arial Black" pitchFamily="34" charset="-120"/>
              </a:rPr>
              <a:t>ENTERPRISE DIAGNOSTIC:</a:t>
            </a:r>
            <a:endParaRPr lang="en-US" sz="3400" dirty="0"/>
          </a:p>
          <a:p>
            <a:pPr indent="0" marL="0">
              <a:buNone/>
            </a:pPr>
            <a:r>
              <a:rPr lang="en-US" sz="3400" b="1" dirty="0">
                <a:solidFill>
                  <a:srgbClr val="0D1B3E"/>
                </a:solidFill>
                <a:latin typeface="Arial Black" pitchFamily="34" charset="0"/>
                <a:ea typeface="Arial Black" pitchFamily="34" charset="-122"/>
                <a:cs typeface="Arial Black" pitchFamily="34" charset="-120"/>
              </a:rPr>
              <a:t>VECTOR RAG VS. GRAPH RAG</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417320"/>
          <a:ext cx="11155680" cy="5029200"/>
        </p:xfrm>
        <a:graphic>
          <a:graphicData uri="http://schemas.openxmlformats.org/drawingml/2006/table">
            <a:tbl>
              <a:tblPr/>
              <a:tblGrid>
                <a:gridCol w="2560320"/>
                <a:gridCol w="4114800"/>
                <a:gridCol w="4480560"/>
              </a:tblGrid>
              <a:tr h="777240">
                <a:tc>
                  <a:txBody>
                    <a:bodyPr/>
                    <a:lstStyle/>
                    <a:p>
                      <a:pPr indent="0" marL="0">
                        <a:buNone/>
                      </a:pPr>
                      <a:r>
                        <a:rPr lang="en-US" sz="1300" b="1" dirty="0">
                          <a:solidFill>
                            <a:srgbClr val="0D1B3E"/>
                          </a:solidFill>
                          <a:latin typeface="Arial Black" pitchFamily="34" charset="0"/>
                          <a:ea typeface="Arial Black" pitchFamily="34" charset="-122"/>
                          <a:cs typeface="Arial Black" pitchFamily="34" charset="-120"/>
                        </a:rPr>
                        <a:t>EVALUATION</a:t>
                      </a:r>
                      <a:endParaRPr lang="en-US" sz="1300" dirty="0">
                        <a:latin typeface="Arial Black" charset="0"/>
                        <a:ea typeface="Arial Black" charset="0"/>
                        <a:cs typeface="Arial Black" charset="0"/>
                      </a:endParaRPr>
                    </a:p>
                    <a:p>
                      <a:pPr indent="0" marL="0">
                        <a:buNone/>
                      </a:pPr>
                      <a:r>
                        <a:rPr lang="en-US" sz="1300" b="1" dirty="0">
                          <a:solidFill>
                            <a:srgbClr val="0D1B3E"/>
                          </a:solidFill>
                          <a:latin typeface="Arial Black" pitchFamily="34" charset="0"/>
                          <a:ea typeface="Arial Black" pitchFamily="34" charset="-122"/>
                          <a:cs typeface="Arial Black" pitchFamily="34" charset="-120"/>
                        </a:rPr>
                        <a:t>DIMENSIONS</a:t>
                      </a:r>
                      <a:endParaRPr lang="en-US" sz="1300" dirty="0">
                        <a:latin typeface="Arial Black" charset="0"/>
                        <a:ea typeface="Arial Black" charset="0"/>
                        <a:cs typeface="Arial Black"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280"/>
                          </a:solidFill>
                          <a:latin typeface="Arial Black" pitchFamily="34" charset="0"/>
                          <a:ea typeface="Arial Black" pitchFamily="34" charset="-122"/>
                          <a:cs typeface="Arial Black" pitchFamily="34" charset="-120"/>
                        </a:rPr>
                        <a:t>VECTOR RAG</a:t>
                      </a:r>
                      <a:endParaRPr lang="en-US" sz="1500" dirty="0">
                        <a:latin typeface="Arial Black" charset="0"/>
                        <a:ea typeface="Arial Black" charset="0"/>
                        <a:cs typeface="Arial Black"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5621F"/>
                          </a:solidFill>
                          <a:latin typeface="Arial Black" pitchFamily="34" charset="0"/>
                          <a:ea typeface="Arial Black" pitchFamily="34" charset="-122"/>
                          <a:cs typeface="Arial Black" pitchFamily="34" charset="-120"/>
                        </a:rPr>
                        <a:t>GRAPH RAG</a:t>
                      </a:r>
                      <a:endParaRPr lang="en-US" sz="1500" dirty="0">
                        <a:latin typeface="Arial Black" charset="0"/>
                        <a:ea typeface="Arial Black" charset="0"/>
                        <a:cs typeface="Arial Black"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914400">
                <a:tc>
                  <a:txBody>
                    <a:bodyPr/>
                    <a:lstStyle/>
                    <a:p>
                      <a:pPr indent="0" marL="0">
                        <a:buNone/>
                      </a:pPr>
                      <a:r>
                        <a:rPr lang="en-US" sz="1400" dirty="0">
                          <a:solidFill>
                            <a:srgbClr val="0D1B3E"/>
                          </a:solidFill>
                          <a:latin typeface="Calibri" pitchFamily="34" charset="0"/>
                          <a:ea typeface="Calibri" pitchFamily="34" charset="-122"/>
                          <a:cs typeface="Calibri" pitchFamily="34" charset="-120"/>
                        </a:rPr>
                        <a:t>Data Handling</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Flat, isolated document chunks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Interconnected entity networks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1005840">
                <a:tc>
                  <a:txBody>
                    <a:bodyPr/>
                    <a:lstStyle/>
                    <a:p>
                      <a:pPr indent="0" marL="0">
                        <a:buNone/>
                      </a:pPr>
                      <a:r>
                        <a:rPr lang="en-US" sz="1400" dirty="0">
                          <a:solidFill>
                            <a:srgbClr val="0D1B3E"/>
                          </a:solidFill>
                          <a:latin typeface="Calibri" pitchFamily="34" charset="0"/>
                          <a:ea typeface="Calibri" pitchFamily="34" charset="-122"/>
                          <a:cs typeface="Calibri" pitchFamily="34" charset="-120"/>
                        </a:rPr>
                        <a:t>Complex Queries</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Fails at multi-hop synthesis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Excels at multi-hop reasoning and composition</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1097280">
                <a:tc>
                  <a:txBody>
                    <a:bodyPr/>
                    <a:lstStyle/>
                    <a:p>
                      <a:pPr indent="0" marL="0">
                        <a:buNone/>
                      </a:pPr>
                      <a:r>
                        <a:rPr lang="en-US" sz="1400" dirty="0">
                          <a:solidFill>
                            <a:srgbClr val="0D1B3E"/>
                          </a:solidFill>
                          <a:latin typeface="Calibri" pitchFamily="34" charset="0"/>
                          <a:ea typeface="Calibri" pitchFamily="34" charset="-122"/>
                          <a:cs typeface="Calibri" pitchFamily="34" charset="-120"/>
                        </a:rPr>
                        <a:t>Auditability &amp;</a:t>
                      </a:r>
                      <a:endParaRPr lang="en-US" sz="1400" dirty="0">
                        <a:latin typeface="Calibri" charset="0"/>
                        <a:ea typeface="Calibri" charset="0"/>
                        <a:cs typeface="Calibri" charset="0"/>
                      </a:endParaRPr>
                    </a:p>
                    <a:p>
                      <a:pPr indent="0" marL="0">
                        <a:buNone/>
                      </a:pPr>
                      <a:r>
                        <a:rPr lang="en-US" sz="1400" dirty="0">
                          <a:solidFill>
                            <a:srgbClr val="0D1B3E"/>
                          </a:solidFill>
                          <a:latin typeface="Calibri" pitchFamily="34" charset="0"/>
                          <a:ea typeface="Calibri" pitchFamily="34" charset="-122"/>
                          <a:cs typeface="Calibri" pitchFamily="34" charset="-120"/>
                        </a:rPr>
                        <a:t>Compliance</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Black Box (opaque origins)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Fully transparent (100% source-traced relationships)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1005840">
                <a:tc>
                  <a:txBody>
                    <a:bodyPr/>
                    <a:lstStyle/>
                    <a:p>
                      <a:pPr indent="0" marL="0">
                        <a:buNone/>
                      </a:pPr>
                      <a:r>
                        <a:rPr lang="en-US" sz="1400" dirty="0">
                          <a:solidFill>
                            <a:srgbClr val="0D1B3E"/>
                          </a:solidFill>
                          <a:latin typeface="Calibri" pitchFamily="34" charset="0"/>
                          <a:ea typeface="Calibri" pitchFamily="34" charset="-122"/>
                          <a:cs typeface="Calibri" pitchFamily="34" charset="-120"/>
                        </a:rPr>
                        <a:t>Enterprise Readiness</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High hallucination risk on dense data</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44444"/>
                          </a:solidFill>
                          <a:latin typeface="Calibri" pitchFamily="34" charset="0"/>
                          <a:ea typeface="Calibri" pitchFamily="34" charset="-122"/>
                          <a:cs typeface="Calibri" pitchFamily="34" charset="-120"/>
                        </a:rPr>
                        <a:t>High fidelity, condition-aware precision</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5" name="Text 2"/>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548640"/>
          </a:xfrm>
          <a:prstGeom prst="rect">
            <a:avLst/>
          </a:prstGeom>
          <a:noFill/>
          <a:ln/>
        </p:spPr>
        <p:txBody>
          <a:bodyPr wrap="square" rtlCol="0" anchor="ctr"/>
          <a:lstStyle/>
          <a:p>
            <a:pPr indent="0" marL="0">
              <a:buNone/>
            </a:pPr>
            <a:r>
              <a:rPr lang="en-US" sz="2800" b="1" dirty="0">
                <a:solidFill>
                  <a:srgbClr val="0D1B3E"/>
                </a:solidFill>
                <a:latin typeface="Calibri" pitchFamily="34" charset="0"/>
                <a:ea typeface="Calibri" pitchFamily="34" charset="-122"/>
                <a:cs typeface="Calibri" pitchFamily="34" charset="-120"/>
              </a:rPr>
              <a:t>How It Works: The MDER Refinement Engine</a:t>
            </a:r>
            <a:endParaRPr lang="en-US" sz="2800" dirty="0"/>
          </a:p>
        </p:txBody>
      </p:sp>
      <p:sp>
        <p:nvSpPr>
          <p:cNvPr id="4" name="Text 2"/>
          <p:cNvSpPr/>
          <p:nvPr/>
        </p:nvSpPr>
        <p:spPr>
          <a:xfrm>
            <a:off x="365760" y="749808"/>
            <a:ext cx="11430000" cy="502920"/>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Shift the Workload: By compressing multi-hop evidence into entity-centric summaries during indexing, we eliminate slow traversal during retrieval.</a:t>
            </a:r>
            <a:endParaRPr lang="en-US" sz="1400" dirty="0"/>
          </a:p>
        </p:txBody>
      </p:sp>
      <p:pic>
        <p:nvPicPr>
          <p:cNvPr id="5" name="Image 0" descr="preencoded.png">    </p:cNvPr>
          <p:cNvPicPr>
            <a:picLocks noChangeAspect="1"/>
          </p:cNvPicPr>
          <p:nvPr/>
        </p:nvPicPr>
        <p:blipFill>
          <a:blip r:embed="rId1"/>
          <a:stretch>
            <a:fillRect/>
          </a:stretch>
        </p:blipFill>
        <p:spPr>
          <a:xfrm>
            <a:off x="365760" y="1280160"/>
            <a:ext cx="7315200" cy="5303520"/>
          </a:xfrm>
          <a:prstGeom prst="rect">
            <a:avLst/>
          </a:prstGeom>
        </p:spPr>
      </p:pic>
      <p:sp>
        <p:nvSpPr>
          <p:cNvPr id="6" name="Text 3"/>
          <p:cNvSpPr/>
          <p:nvPr/>
        </p:nvSpPr>
        <p:spPr>
          <a:xfrm>
            <a:off x="7863840" y="1920240"/>
            <a:ext cx="2286000" cy="365760"/>
          </a:xfrm>
          <a:prstGeom prst="rect">
            <a:avLst/>
          </a:prstGeom>
          <a:noFill/>
          <a:ln/>
        </p:spPr>
        <p:txBody>
          <a:bodyPr wrap="square" rtlCol="0" anchor="ctr"/>
          <a:lstStyle/>
          <a:p>
            <a:pPr indent="0" marL="0">
              <a:buNone/>
            </a:pPr>
            <a:r>
              <a:rPr lang="en-US" sz="1800" b="1" dirty="0">
                <a:solidFill>
                  <a:srgbClr val="0D1B3E"/>
                </a:solidFill>
                <a:latin typeface="Calibri" pitchFamily="34" charset="0"/>
                <a:ea typeface="Calibri" pitchFamily="34" charset="-122"/>
                <a:cs typeface="Calibri" pitchFamily="34" charset="-120"/>
              </a:rPr>
              <a:t>Map</a:t>
            </a:r>
            <a:endParaRPr lang="en-US" sz="1800" dirty="0"/>
          </a:p>
        </p:txBody>
      </p:sp>
      <p:sp>
        <p:nvSpPr>
          <p:cNvPr id="7" name="Text 4"/>
          <p:cNvSpPr/>
          <p:nvPr/>
        </p:nvSpPr>
        <p:spPr>
          <a:xfrm>
            <a:off x="7863840" y="2304288"/>
            <a:ext cx="3840480" cy="59436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Extract raw subject-predicate-object triples from unstructured text.</a:t>
            </a:r>
            <a:endParaRPr lang="en-US" sz="1200" dirty="0"/>
          </a:p>
        </p:txBody>
      </p:sp>
      <p:sp>
        <p:nvSpPr>
          <p:cNvPr id="8" name="Text 5"/>
          <p:cNvSpPr/>
          <p:nvPr/>
        </p:nvSpPr>
        <p:spPr>
          <a:xfrm>
            <a:off x="7863840" y="3063240"/>
            <a:ext cx="2286000" cy="365760"/>
          </a:xfrm>
          <a:prstGeom prst="rect">
            <a:avLst/>
          </a:prstGeom>
          <a:noFill/>
          <a:ln/>
        </p:spPr>
        <p:txBody>
          <a:bodyPr wrap="square" rtlCol="0" anchor="ctr"/>
          <a:lstStyle/>
          <a:p>
            <a:pPr indent="0" marL="0">
              <a:buNone/>
            </a:pPr>
            <a:r>
              <a:rPr lang="en-US" sz="1800" b="1" dirty="0">
                <a:solidFill>
                  <a:srgbClr val="0D1B3E"/>
                </a:solidFill>
                <a:latin typeface="Calibri" pitchFamily="34" charset="0"/>
                <a:ea typeface="Calibri" pitchFamily="34" charset="-122"/>
                <a:cs typeface="Calibri" pitchFamily="34" charset="-120"/>
              </a:rPr>
              <a:t>Disambiguate</a:t>
            </a:r>
            <a:endParaRPr lang="en-US" sz="1800" dirty="0"/>
          </a:p>
        </p:txBody>
      </p:sp>
      <p:sp>
        <p:nvSpPr>
          <p:cNvPr id="9" name="Text 6"/>
          <p:cNvSpPr/>
          <p:nvPr/>
        </p:nvSpPr>
        <p:spPr>
          <a:xfrm>
            <a:off x="7863840" y="3447288"/>
            <a:ext cx="3840480" cy="59436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Unify fragmented or redundant entities (e.g., EU and European Union).</a:t>
            </a:r>
            <a:endParaRPr lang="en-US" sz="1200" dirty="0"/>
          </a:p>
        </p:txBody>
      </p:sp>
      <p:sp>
        <p:nvSpPr>
          <p:cNvPr id="10" name="Text 7"/>
          <p:cNvSpPr/>
          <p:nvPr/>
        </p:nvSpPr>
        <p:spPr>
          <a:xfrm>
            <a:off x="7863840" y="4206240"/>
            <a:ext cx="2286000" cy="365760"/>
          </a:xfrm>
          <a:prstGeom prst="rect">
            <a:avLst/>
          </a:prstGeom>
          <a:noFill/>
          <a:ln/>
        </p:spPr>
        <p:txBody>
          <a:bodyPr wrap="square" rtlCol="0" anchor="ctr"/>
          <a:lstStyle/>
          <a:p>
            <a:pPr indent="0" marL="0">
              <a:buNone/>
            </a:pPr>
            <a:r>
              <a:rPr lang="en-US" sz="1800" b="1" dirty="0">
                <a:solidFill>
                  <a:srgbClr val="0D1B3E"/>
                </a:solidFill>
                <a:latin typeface="Calibri" pitchFamily="34" charset="0"/>
                <a:ea typeface="Calibri" pitchFamily="34" charset="-122"/>
                <a:cs typeface="Calibri" pitchFamily="34" charset="-120"/>
              </a:rPr>
              <a:t>Enrich</a:t>
            </a:r>
            <a:endParaRPr lang="en-US" sz="1800" dirty="0"/>
          </a:p>
        </p:txBody>
      </p:sp>
      <p:sp>
        <p:nvSpPr>
          <p:cNvPr id="11" name="Text 8"/>
          <p:cNvSpPr/>
          <p:nvPr/>
        </p:nvSpPr>
        <p:spPr>
          <a:xfrm>
            <a:off x="7863840" y="4590288"/>
            <a:ext cx="3840480" cy="59436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Reintroduce contextual nuance (conditions, dates, qualifiers) to the structural connections.</a:t>
            </a:r>
            <a:endParaRPr lang="en-US" sz="1200" dirty="0"/>
          </a:p>
        </p:txBody>
      </p:sp>
      <p:sp>
        <p:nvSpPr>
          <p:cNvPr id="12" name="Text 9"/>
          <p:cNvSpPr/>
          <p:nvPr/>
        </p:nvSpPr>
        <p:spPr>
          <a:xfrm>
            <a:off x="7863840" y="5349240"/>
            <a:ext cx="2286000" cy="365760"/>
          </a:xfrm>
          <a:prstGeom prst="rect">
            <a:avLst/>
          </a:prstGeom>
          <a:noFill/>
          <a:ln/>
        </p:spPr>
        <p:txBody>
          <a:bodyPr wrap="square" rtlCol="0" anchor="ctr"/>
          <a:lstStyle/>
          <a:p>
            <a:pPr indent="0" marL="0">
              <a:buNone/>
            </a:pPr>
            <a:r>
              <a:rPr lang="en-US" sz="1800" b="1" dirty="0">
                <a:solidFill>
                  <a:srgbClr val="0D1B3E"/>
                </a:solidFill>
                <a:latin typeface="Calibri" pitchFamily="34" charset="0"/>
                <a:ea typeface="Calibri" pitchFamily="34" charset="-122"/>
                <a:cs typeface="Calibri" pitchFamily="34" charset="-120"/>
              </a:rPr>
              <a:t>Reduce</a:t>
            </a:r>
            <a:endParaRPr lang="en-US" sz="1800" dirty="0"/>
          </a:p>
        </p:txBody>
      </p:sp>
      <p:sp>
        <p:nvSpPr>
          <p:cNvPr id="13" name="Text 10"/>
          <p:cNvSpPr/>
          <p:nvPr/>
        </p:nvSpPr>
        <p:spPr>
          <a:xfrm>
            <a:off x="7863840" y="5733288"/>
            <a:ext cx="3840480" cy="59436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Consolidate into pristine, hop-free Entity Summaries.</a:t>
            </a:r>
            <a:endParaRPr lang="en-US" sz="1200" dirty="0"/>
          </a:p>
        </p:txBody>
      </p:sp>
      <p:sp>
        <p:nvSpPr>
          <p:cNvPr id="14" name="Shape 11"/>
          <p:cNvSpPr/>
          <p:nvPr/>
        </p:nvSpPr>
        <p:spPr>
          <a:xfrm>
            <a:off x="7132320" y="6035040"/>
            <a:ext cx="4572000" cy="548640"/>
          </a:xfrm>
          <a:prstGeom prst="rect">
            <a:avLst/>
          </a:prstGeom>
          <a:solidFill>
            <a:srgbClr val="B5621F"/>
          </a:solidFill>
          <a:ln/>
        </p:spPr>
      </p:sp>
      <p:sp>
        <p:nvSpPr>
          <p:cNvPr id="15" name="Text 12"/>
          <p:cNvSpPr/>
          <p:nvPr/>
        </p:nvSpPr>
        <p:spPr>
          <a:xfrm>
            <a:off x="7132320" y="6035040"/>
            <a:ext cx="457200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Entity Summary — Ready for instant LLM consumption.</a:t>
            </a:r>
            <a:endParaRPr lang="en-US" sz="1300" dirty="0"/>
          </a:p>
        </p:txBody>
      </p:sp>
      <p:sp>
        <p:nvSpPr>
          <p:cNvPr id="16" name="Text 13"/>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548640"/>
          </a:xfrm>
          <a:prstGeom prst="rect">
            <a:avLst/>
          </a:prstGeom>
          <a:noFill/>
          <a:ln/>
        </p:spPr>
        <p:txBody>
          <a:bodyPr wrap="square"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The Best of Both Worlds: Hybrid Retrieval Architecture</a:t>
            </a:r>
            <a:endParaRPr lang="en-US" sz="2600" dirty="0"/>
          </a:p>
        </p:txBody>
      </p:sp>
      <p:sp>
        <p:nvSpPr>
          <p:cNvPr id="4" name="Text 2"/>
          <p:cNvSpPr/>
          <p:nvPr/>
        </p:nvSpPr>
        <p:spPr>
          <a:xfrm>
            <a:off x="365760" y="749808"/>
            <a:ext cx="11430000" cy="36576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A cascaded retrieval strategy that guarantees high recall without sacrificing accuracy.</a:t>
            </a:r>
            <a:endParaRPr lang="en-US" sz="1400" dirty="0"/>
          </a:p>
        </p:txBody>
      </p:sp>
      <p:pic>
        <p:nvPicPr>
          <p:cNvPr id="5" name="Image 0" descr="preencoded.png">    </p:cNvPr>
          <p:cNvPicPr>
            <a:picLocks noChangeAspect="1"/>
          </p:cNvPicPr>
          <p:nvPr/>
        </p:nvPicPr>
        <p:blipFill>
          <a:blip r:embed="rId1"/>
          <a:stretch>
            <a:fillRect/>
          </a:stretch>
        </p:blipFill>
        <p:spPr>
          <a:xfrm>
            <a:off x="365760" y="1371600"/>
            <a:ext cx="11338560" cy="5029200"/>
          </a:xfrm>
          <a:prstGeom prst="rect">
            <a:avLst/>
          </a:prstGeom>
        </p:spPr>
      </p:pic>
      <p:sp>
        <p:nvSpPr>
          <p:cNvPr id="6" name="Text 3"/>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37160"/>
            <a:ext cx="11430000" cy="1097280"/>
          </a:xfrm>
          <a:prstGeom prst="rect">
            <a:avLst/>
          </a:prstGeom>
          <a:noFill/>
          <a:ln/>
        </p:spPr>
        <p:txBody>
          <a:bodyPr wrap="square" rtlCol="0" anchor="ctr"/>
          <a:lstStyle/>
          <a:p>
            <a:pPr indent="0" marL="0">
              <a:buNone/>
            </a:pPr>
            <a:r>
              <a:rPr lang="en-US" sz="3000" b="1" dirty="0">
                <a:solidFill>
                  <a:srgbClr val="0D1B3E"/>
                </a:solidFill>
                <a:latin typeface="Calibri" pitchFamily="34" charset="0"/>
                <a:ea typeface="Calibri" pitchFamily="34" charset="-122"/>
                <a:cs typeface="Calibri" pitchFamily="34" charset="-120"/>
              </a:rPr>
              <a:t>Industry Outcomes: The ROI of</a:t>
            </a:r>
            <a:endParaRPr lang="en-US" sz="3000" dirty="0"/>
          </a:p>
          <a:p>
            <a:pPr indent="0" marL="0">
              <a:buNone/>
            </a:pPr>
            <a:r>
              <a:rPr lang="en-US" sz="3000" b="1" dirty="0">
                <a:solidFill>
                  <a:srgbClr val="0D1B3E"/>
                </a:solidFill>
                <a:latin typeface="Calibri" pitchFamily="34" charset="0"/>
                <a:ea typeface="Calibri" pitchFamily="34" charset="-122"/>
                <a:cs typeface="Calibri" pitchFamily="34" charset="-120"/>
              </a:rPr>
              <a:t>GraphRAG is Proven</a:t>
            </a:r>
            <a:endParaRPr lang="en-US" sz="3000" dirty="0"/>
          </a:p>
        </p:txBody>
      </p:sp>
      <p:sp>
        <p:nvSpPr>
          <p:cNvPr id="4" name="Shape 2"/>
          <p:cNvSpPr/>
          <p:nvPr/>
        </p:nvSpPr>
        <p:spPr>
          <a:xfrm>
            <a:off x="320040" y="1371600"/>
            <a:ext cx="3566160" cy="5120640"/>
          </a:xfrm>
          <a:prstGeom prst="rect">
            <a:avLst/>
          </a:prstGeom>
          <a:solidFill>
            <a:srgbClr val="FFFFFF"/>
          </a:solidFill>
          <a:ln w="12700">
            <a:solidFill>
              <a:srgbClr val="D1D5DB"/>
            </a:solidFill>
            <a:prstDash val="solid"/>
          </a:ln>
        </p:spPr>
      </p:sp>
      <p:sp>
        <p:nvSpPr>
          <p:cNvPr id="5" name="Text 3"/>
          <p:cNvSpPr/>
          <p:nvPr/>
        </p:nvSpPr>
        <p:spPr>
          <a:xfrm>
            <a:off x="457200" y="1463040"/>
            <a:ext cx="3291840" cy="1097280"/>
          </a:xfrm>
          <a:prstGeom prst="rect">
            <a:avLst/>
          </a:prstGeom>
          <a:noFill/>
          <a:ln/>
        </p:spPr>
        <p:txBody>
          <a:bodyPr wrap="square" rtlCol="0" anchor="ctr"/>
          <a:lstStyle/>
          <a:p>
            <a:pPr indent="0" marL="0">
              <a:buNone/>
            </a:pPr>
            <a:r>
              <a:rPr lang="en-US" sz="4600" b="1" dirty="0">
                <a:solidFill>
                  <a:srgbClr val="0D1B3E"/>
                </a:solidFill>
                <a:latin typeface="Arial Black" pitchFamily="34" charset="0"/>
                <a:ea typeface="Arial Black" pitchFamily="34" charset="-122"/>
                <a:cs typeface="Arial Black" pitchFamily="34" charset="-120"/>
              </a:rPr>
              <a:t>28.6%</a:t>
            </a:r>
            <a:endParaRPr lang="en-US" sz="4600" dirty="0"/>
          </a:p>
        </p:txBody>
      </p:sp>
      <p:sp>
        <p:nvSpPr>
          <p:cNvPr id="6" name="Text 4"/>
          <p:cNvSpPr/>
          <p:nvPr/>
        </p:nvSpPr>
        <p:spPr>
          <a:xfrm>
            <a:off x="457200" y="2560320"/>
            <a:ext cx="3291840" cy="411480"/>
          </a:xfrm>
          <a:prstGeom prst="rect">
            <a:avLst/>
          </a:prstGeom>
          <a:noFill/>
          <a:ln/>
        </p:spPr>
        <p:txBody>
          <a:bodyPr wrap="square" rtlCol="0" anchor="ctr"/>
          <a:lstStyle/>
          <a:p>
            <a:pPr indent="0" marL="0">
              <a:buNone/>
            </a:pPr>
            <a:r>
              <a:rPr lang="en-US" sz="1600" b="1" dirty="0">
                <a:solidFill>
                  <a:srgbClr val="0D1B3E"/>
                </a:solidFill>
                <a:latin typeface="Arial Black" pitchFamily="34" charset="0"/>
                <a:ea typeface="Arial Black" pitchFamily="34" charset="-122"/>
                <a:cs typeface="Arial Black" pitchFamily="34" charset="-120"/>
              </a:rPr>
              <a:t>Drop in Resolution Time</a:t>
            </a:r>
            <a:endParaRPr lang="en-US" sz="1600" dirty="0"/>
          </a:p>
        </p:txBody>
      </p:sp>
      <p:sp>
        <p:nvSpPr>
          <p:cNvPr id="7" name="Text 5"/>
          <p:cNvSpPr/>
          <p:nvPr/>
        </p:nvSpPr>
        <p:spPr>
          <a:xfrm>
            <a:off x="457200" y="3063240"/>
            <a:ext cx="329184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LinkedIn: Reduced mean customer service issue resolution from 40 hours to 15 hours by parsing tickets into intra-issue trees and inter-issue graphs.</a:t>
            </a:r>
            <a:endParaRPr lang="en-US" sz="1200" dirty="0"/>
          </a:p>
        </p:txBody>
      </p:sp>
      <p:sp>
        <p:nvSpPr>
          <p:cNvPr id="8" name="Shape 6"/>
          <p:cNvSpPr/>
          <p:nvPr/>
        </p:nvSpPr>
        <p:spPr>
          <a:xfrm>
            <a:off x="594360" y="4389120"/>
            <a:ext cx="3017520" cy="0"/>
          </a:xfrm>
          <a:prstGeom prst="line">
            <a:avLst/>
          </a:prstGeom>
          <a:noFill/>
          <a:ln w="12700">
            <a:solidFill>
              <a:srgbClr val="D1D5DB"/>
            </a:solidFill>
            <a:prstDash val="solid"/>
          </a:ln>
        </p:spPr>
      </p:sp>
      <p:sp>
        <p:nvSpPr>
          <p:cNvPr id="9" name="Shape 7"/>
          <p:cNvSpPr/>
          <p:nvPr/>
        </p:nvSpPr>
        <p:spPr>
          <a:xfrm>
            <a:off x="594360" y="4754880"/>
            <a:ext cx="3017520" cy="0"/>
          </a:xfrm>
          <a:prstGeom prst="line">
            <a:avLst/>
          </a:prstGeom>
          <a:noFill/>
          <a:ln w="12700">
            <a:solidFill>
              <a:srgbClr val="D1D5DB"/>
            </a:solidFill>
            <a:prstDash val="solid"/>
          </a:ln>
        </p:spPr>
      </p:sp>
      <p:sp>
        <p:nvSpPr>
          <p:cNvPr id="10" name="Text 8"/>
          <p:cNvSpPr/>
          <p:nvPr/>
        </p:nvSpPr>
        <p:spPr>
          <a:xfrm>
            <a:off x="594360" y="4297680"/>
            <a:ext cx="1097280" cy="256032"/>
          </a:xfrm>
          <a:prstGeom prst="rect">
            <a:avLst/>
          </a:prstGeom>
          <a:noFill/>
          <a:ln/>
        </p:spPr>
        <p:txBody>
          <a:bodyPr wrap="square" rtlCol="0" anchor="ctr"/>
          <a:lstStyle/>
          <a:p>
            <a:pPr indent="0" marL="0">
              <a:buNone/>
            </a:pPr>
            <a:r>
              <a:rPr lang="en-US" sz="1000" dirty="0">
                <a:solidFill>
                  <a:srgbClr val="6B7280"/>
                </a:solidFill>
              </a:rPr>
              <a:t>40 Hours</a:t>
            </a:r>
            <a:endParaRPr lang="en-US" sz="1000" dirty="0"/>
          </a:p>
        </p:txBody>
      </p:sp>
      <p:sp>
        <p:nvSpPr>
          <p:cNvPr id="11" name="Text 9"/>
          <p:cNvSpPr/>
          <p:nvPr/>
        </p:nvSpPr>
        <p:spPr>
          <a:xfrm>
            <a:off x="594360" y="4663440"/>
            <a:ext cx="1097280" cy="256032"/>
          </a:xfrm>
          <a:prstGeom prst="rect">
            <a:avLst/>
          </a:prstGeom>
          <a:noFill/>
          <a:ln/>
        </p:spPr>
        <p:txBody>
          <a:bodyPr wrap="square" rtlCol="0" anchor="ctr"/>
          <a:lstStyle/>
          <a:p>
            <a:pPr indent="0" marL="0">
              <a:buNone/>
            </a:pPr>
            <a:r>
              <a:rPr lang="en-US" sz="1000" dirty="0">
                <a:solidFill>
                  <a:srgbClr val="6B7280"/>
                </a:solidFill>
              </a:rPr>
              <a:t>15 Hours</a:t>
            </a:r>
            <a:endParaRPr lang="en-US" sz="1000" dirty="0"/>
          </a:p>
        </p:txBody>
      </p:sp>
      <p:sp>
        <p:nvSpPr>
          <p:cNvPr id="12" name="Shape 10"/>
          <p:cNvSpPr/>
          <p:nvPr/>
        </p:nvSpPr>
        <p:spPr>
          <a:xfrm>
            <a:off x="1691640" y="4389120"/>
            <a:ext cx="1371600" cy="365760"/>
          </a:xfrm>
          <a:prstGeom prst="line">
            <a:avLst/>
          </a:prstGeom>
          <a:noFill/>
          <a:ln w="38100">
            <a:solidFill>
              <a:srgbClr val="B5621F"/>
            </a:solidFill>
            <a:prstDash val="solid"/>
          </a:ln>
        </p:spPr>
      </p:sp>
      <p:sp>
        <p:nvSpPr>
          <p:cNvPr id="13" name="Text 11"/>
          <p:cNvSpPr/>
          <p:nvPr/>
        </p:nvSpPr>
        <p:spPr>
          <a:xfrm>
            <a:off x="1691640" y="5074920"/>
            <a:ext cx="548640" cy="274320"/>
          </a:xfrm>
          <a:prstGeom prst="rect">
            <a:avLst/>
          </a:prstGeom>
          <a:noFill/>
          <a:ln/>
        </p:spPr>
        <p:txBody>
          <a:bodyPr wrap="square" rtlCol="0" anchor="ctr"/>
          <a:lstStyle/>
          <a:p>
            <a:pPr algn="ctr" indent="0" marL="0">
              <a:buNone/>
            </a:pPr>
            <a:r>
              <a:rPr lang="en-US" sz="1000" dirty="0">
                <a:solidFill>
                  <a:srgbClr val="6B7280"/>
                </a:solidFill>
              </a:rPr>
              <a:t>Start</a:t>
            </a:r>
            <a:endParaRPr lang="en-US" sz="1000" dirty="0"/>
          </a:p>
        </p:txBody>
      </p:sp>
      <p:sp>
        <p:nvSpPr>
          <p:cNvPr id="14" name="Text 12"/>
          <p:cNvSpPr/>
          <p:nvPr/>
        </p:nvSpPr>
        <p:spPr>
          <a:xfrm>
            <a:off x="2788920" y="5074920"/>
            <a:ext cx="548640" cy="274320"/>
          </a:xfrm>
          <a:prstGeom prst="rect">
            <a:avLst/>
          </a:prstGeom>
          <a:noFill/>
          <a:ln/>
        </p:spPr>
        <p:txBody>
          <a:bodyPr wrap="square" rtlCol="0" anchor="ctr"/>
          <a:lstStyle/>
          <a:p>
            <a:pPr algn="ctr" indent="0" marL="0">
              <a:buNone/>
            </a:pPr>
            <a:r>
              <a:rPr lang="en-US" sz="1000" dirty="0">
                <a:solidFill>
                  <a:srgbClr val="6B7280"/>
                </a:solidFill>
              </a:rPr>
              <a:t>End</a:t>
            </a:r>
            <a:endParaRPr lang="en-US" sz="1000" dirty="0"/>
          </a:p>
        </p:txBody>
      </p:sp>
      <p:sp>
        <p:nvSpPr>
          <p:cNvPr id="15" name="Shape 13"/>
          <p:cNvSpPr/>
          <p:nvPr/>
        </p:nvSpPr>
        <p:spPr>
          <a:xfrm>
            <a:off x="4160520" y="1371600"/>
            <a:ext cx="3566160" cy="5120640"/>
          </a:xfrm>
          <a:prstGeom prst="rect">
            <a:avLst/>
          </a:prstGeom>
          <a:solidFill>
            <a:srgbClr val="FFFFFF"/>
          </a:solidFill>
          <a:ln w="12700">
            <a:solidFill>
              <a:srgbClr val="D1D5DB"/>
            </a:solidFill>
            <a:prstDash val="solid"/>
          </a:ln>
        </p:spPr>
      </p:sp>
      <p:sp>
        <p:nvSpPr>
          <p:cNvPr id="16" name="Text 14"/>
          <p:cNvSpPr/>
          <p:nvPr/>
        </p:nvSpPr>
        <p:spPr>
          <a:xfrm>
            <a:off x="4297680" y="1463040"/>
            <a:ext cx="3291840" cy="1097280"/>
          </a:xfrm>
          <a:prstGeom prst="rect">
            <a:avLst/>
          </a:prstGeom>
          <a:noFill/>
          <a:ln/>
        </p:spPr>
        <p:txBody>
          <a:bodyPr wrap="square" rtlCol="0" anchor="ctr"/>
          <a:lstStyle/>
          <a:p>
            <a:pPr indent="0" marL="0">
              <a:buNone/>
            </a:pPr>
            <a:r>
              <a:rPr lang="en-US" sz="4600" b="1" dirty="0">
                <a:solidFill>
                  <a:srgbClr val="0D1B3E"/>
                </a:solidFill>
                <a:latin typeface="Arial Black" pitchFamily="34" charset="0"/>
                <a:ea typeface="Arial Black" pitchFamily="34" charset="-122"/>
                <a:cs typeface="Arial Black" pitchFamily="34" charset="-120"/>
              </a:rPr>
              <a:t>1st Place</a:t>
            </a:r>
            <a:endParaRPr lang="en-US" sz="4600" dirty="0"/>
          </a:p>
        </p:txBody>
      </p:sp>
      <p:sp>
        <p:nvSpPr>
          <p:cNvPr id="17" name="Text 15"/>
          <p:cNvSpPr/>
          <p:nvPr/>
        </p:nvSpPr>
        <p:spPr>
          <a:xfrm>
            <a:off x="4297680" y="2560320"/>
            <a:ext cx="3291840" cy="411480"/>
          </a:xfrm>
          <a:prstGeom prst="rect">
            <a:avLst/>
          </a:prstGeom>
          <a:noFill/>
          <a:ln/>
        </p:spPr>
        <p:txBody>
          <a:bodyPr wrap="square" rtlCol="0" anchor="ctr"/>
          <a:lstStyle/>
          <a:p>
            <a:pPr indent="0" marL="0">
              <a:buNone/>
            </a:pPr>
            <a:r>
              <a:rPr lang="en-US" sz="1600" b="1" dirty="0">
                <a:solidFill>
                  <a:srgbClr val="0D1B3E"/>
                </a:solidFill>
                <a:latin typeface="Arial Black" pitchFamily="34" charset="0"/>
                <a:ea typeface="Arial Black" pitchFamily="34" charset="-122"/>
                <a:cs typeface="Arial Black" pitchFamily="34" charset="-120"/>
              </a:rPr>
              <a:t>Benchmark Accuracy</a:t>
            </a:r>
            <a:endParaRPr lang="en-US" sz="1600" dirty="0"/>
          </a:p>
        </p:txBody>
      </p:sp>
      <p:sp>
        <p:nvSpPr>
          <p:cNvPr id="18" name="Text 16"/>
          <p:cNvSpPr/>
          <p:nvPr/>
        </p:nvSpPr>
        <p:spPr>
          <a:xfrm>
            <a:off x="4297680" y="3063240"/>
            <a:ext cx="329184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Writer: Defeated 7 enterprise vector systems. Enabled AI in regulated healthcare/finance by exposing exact reasoning snippets and ensuring zero-hallucination auditability.</a:t>
            </a:r>
            <a:endParaRPr lang="en-US" sz="1200" dirty="0"/>
          </a:p>
        </p:txBody>
      </p:sp>
      <p:pic>
        <p:nvPicPr>
          <p:cNvPr id="19" name="Image 0" descr="preencoded.png">    </p:cNvPr>
          <p:cNvPicPr>
            <a:picLocks noChangeAspect="1"/>
          </p:cNvPicPr>
          <p:nvPr/>
        </p:nvPicPr>
        <p:blipFill>
          <a:blip r:embed="rId1"/>
          <a:stretch>
            <a:fillRect/>
          </a:stretch>
        </p:blipFill>
        <p:spPr>
          <a:xfrm>
            <a:off x="5440680" y="4572000"/>
            <a:ext cx="914400" cy="914400"/>
          </a:xfrm>
          <a:prstGeom prst="rect">
            <a:avLst/>
          </a:prstGeom>
        </p:spPr>
      </p:pic>
      <p:sp>
        <p:nvSpPr>
          <p:cNvPr id="20" name="Shape 17"/>
          <p:cNvSpPr/>
          <p:nvPr/>
        </p:nvSpPr>
        <p:spPr>
          <a:xfrm>
            <a:off x="8001000" y="1371600"/>
            <a:ext cx="3566160" cy="5120640"/>
          </a:xfrm>
          <a:prstGeom prst="rect">
            <a:avLst/>
          </a:prstGeom>
          <a:solidFill>
            <a:srgbClr val="FFFFFF"/>
          </a:solidFill>
          <a:ln w="12700">
            <a:solidFill>
              <a:srgbClr val="D1D5DB"/>
            </a:solidFill>
            <a:prstDash val="solid"/>
          </a:ln>
        </p:spPr>
      </p:sp>
      <p:sp>
        <p:nvSpPr>
          <p:cNvPr id="21" name="Text 18"/>
          <p:cNvSpPr/>
          <p:nvPr/>
        </p:nvSpPr>
        <p:spPr>
          <a:xfrm>
            <a:off x="8138160" y="1463040"/>
            <a:ext cx="3291840" cy="1097280"/>
          </a:xfrm>
          <a:prstGeom prst="rect">
            <a:avLst/>
          </a:prstGeom>
          <a:noFill/>
          <a:ln/>
        </p:spPr>
        <p:txBody>
          <a:bodyPr wrap="square" rtlCol="0" anchor="ctr"/>
          <a:lstStyle/>
          <a:p>
            <a:pPr indent="0" marL="0">
              <a:buNone/>
            </a:pPr>
            <a:r>
              <a:rPr lang="en-US" sz="4600" b="1" dirty="0">
                <a:solidFill>
                  <a:srgbClr val="0D1B3E"/>
                </a:solidFill>
                <a:latin typeface="Arial Black" pitchFamily="34" charset="0"/>
                <a:ea typeface="Arial Black" pitchFamily="34" charset="-122"/>
                <a:cs typeface="Arial Black" pitchFamily="34" charset="-120"/>
              </a:rPr>
              <a:t>78.5%</a:t>
            </a:r>
            <a:endParaRPr lang="en-US" sz="4600" dirty="0"/>
          </a:p>
        </p:txBody>
      </p:sp>
      <p:sp>
        <p:nvSpPr>
          <p:cNvPr id="22" name="Text 19"/>
          <p:cNvSpPr/>
          <p:nvPr/>
        </p:nvSpPr>
        <p:spPr>
          <a:xfrm>
            <a:off x="8138160" y="2560320"/>
            <a:ext cx="3291840" cy="411480"/>
          </a:xfrm>
          <a:prstGeom prst="rect">
            <a:avLst/>
          </a:prstGeom>
          <a:noFill/>
          <a:ln/>
        </p:spPr>
        <p:txBody>
          <a:bodyPr wrap="square" rtlCol="0" anchor="ctr"/>
          <a:lstStyle/>
          <a:p>
            <a:pPr indent="0" marL="0">
              <a:buNone/>
            </a:pPr>
            <a:r>
              <a:rPr lang="en-US" sz="1600" b="1" dirty="0">
                <a:solidFill>
                  <a:srgbClr val="0D1B3E"/>
                </a:solidFill>
                <a:latin typeface="Arial Black" pitchFamily="34" charset="0"/>
                <a:ea typeface="Arial Black" pitchFamily="34" charset="-122"/>
                <a:cs typeface="Arial Black" pitchFamily="34" charset="-120"/>
              </a:rPr>
              <a:t>Win-Rate</a:t>
            </a:r>
            <a:endParaRPr lang="en-US" sz="1600" dirty="0"/>
          </a:p>
        </p:txBody>
      </p:sp>
      <p:sp>
        <p:nvSpPr>
          <p:cNvPr id="23" name="Text 20"/>
          <p:cNvSpPr/>
          <p:nvPr/>
        </p:nvSpPr>
        <p:spPr>
          <a:xfrm>
            <a:off x="8138160" y="3063240"/>
            <a:ext cx="329184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SAP: Overpowered dense vector retrieval in complex legacy code migration (ABAP to S/4HANA) by understanding transaction-to-screen structural dependencies.</a:t>
            </a:r>
            <a:endParaRPr lang="en-US" sz="1200" dirty="0"/>
          </a:p>
        </p:txBody>
      </p:sp>
      <p:sp>
        <p:nvSpPr>
          <p:cNvPr id="24" name="Shape 21"/>
          <p:cNvSpPr/>
          <p:nvPr/>
        </p:nvSpPr>
        <p:spPr>
          <a:xfrm>
            <a:off x="8321040" y="4754880"/>
            <a:ext cx="914400" cy="1005840"/>
          </a:xfrm>
          <a:prstGeom prst="rect">
            <a:avLst/>
          </a:prstGeom>
          <a:solidFill>
            <a:srgbClr val="4A6FA5"/>
          </a:solidFill>
          <a:ln/>
        </p:spPr>
      </p:sp>
      <p:sp>
        <p:nvSpPr>
          <p:cNvPr id="25" name="Shape 22"/>
          <p:cNvSpPr/>
          <p:nvPr/>
        </p:nvSpPr>
        <p:spPr>
          <a:xfrm>
            <a:off x="9509760" y="4389120"/>
            <a:ext cx="914400" cy="1371600"/>
          </a:xfrm>
          <a:prstGeom prst="rect">
            <a:avLst/>
          </a:prstGeom>
          <a:solidFill>
            <a:srgbClr val="B5621F"/>
          </a:solidFill>
          <a:ln/>
        </p:spPr>
      </p:sp>
      <p:sp>
        <p:nvSpPr>
          <p:cNvPr id="26" name="Text 23"/>
          <p:cNvSpPr/>
          <p:nvPr/>
        </p:nvSpPr>
        <p:spPr>
          <a:xfrm>
            <a:off x="8229600" y="5806440"/>
            <a:ext cx="1097280" cy="365760"/>
          </a:xfrm>
          <a:prstGeom prst="rect">
            <a:avLst/>
          </a:prstGeom>
          <a:noFill/>
          <a:ln/>
        </p:spPr>
        <p:txBody>
          <a:bodyPr wrap="square" rtlCol="0" anchor="ctr"/>
          <a:lstStyle/>
          <a:p>
            <a:pPr algn="ctr" indent="0" marL="0">
              <a:buNone/>
            </a:pPr>
            <a:r>
              <a:rPr lang="en-US" sz="900" dirty="0">
                <a:solidFill>
                  <a:srgbClr val="6B7280"/>
                </a:solidFill>
              </a:rPr>
              <a:t>Dense</a:t>
            </a:r>
            <a:endParaRPr lang="en-US" sz="900" dirty="0"/>
          </a:p>
          <a:p>
            <a:pPr algn="ctr" indent="0" marL="0">
              <a:buNone/>
            </a:pPr>
            <a:r>
              <a:rPr lang="en-US" sz="900" dirty="0">
                <a:solidFill>
                  <a:srgbClr val="6B7280"/>
                </a:solidFill>
              </a:rPr>
              <a:t>Vector</a:t>
            </a:r>
            <a:endParaRPr lang="en-US" sz="900" dirty="0"/>
          </a:p>
        </p:txBody>
      </p:sp>
      <p:sp>
        <p:nvSpPr>
          <p:cNvPr id="27" name="Text 24"/>
          <p:cNvSpPr/>
          <p:nvPr/>
        </p:nvSpPr>
        <p:spPr>
          <a:xfrm>
            <a:off x="9418320" y="5806440"/>
            <a:ext cx="1097280" cy="365760"/>
          </a:xfrm>
          <a:prstGeom prst="rect">
            <a:avLst/>
          </a:prstGeom>
          <a:noFill/>
          <a:ln/>
        </p:spPr>
        <p:txBody>
          <a:bodyPr wrap="square" rtlCol="0" anchor="ctr"/>
          <a:lstStyle/>
          <a:p>
            <a:pPr algn="ctr" indent="0" marL="0">
              <a:buNone/>
            </a:pPr>
            <a:r>
              <a:rPr lang="en-US" sz="900" dirty="0">
                <a:solidFill>
                  <a:srgbClr val="6B7280"/>
                </a:solidFill>
              </a:rPr>
              <a:t>Graph</a:t>
            </a:r>
            <a:endParaRPr lang="en-US" sz="900" dirty="0"/>
          </a:p>
          <a:p>
            <a:pPr algn="ctr" indent="0" marL="0">
              <a:buNone/>
            </a:pPr>
            <a:r>
              <a:rPr lang="en-US" sz="900" dirty="0">
                <a:solidFill>
                  <a:srgbClr val="6B7280"/>
                </a:solidFill>
              </a:rPr>
              <a:t>RAG</a:t>
            </a:r>
            <a:endParaRPr lang="en-US" sz="900" dirty="0"/>
          </a:p>
        </p:txBody>
      </p:sp>
      <p:sp>
        <p:nvSpPr>
          <p:cNvPr id="28" name="Text 25"/>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548640"/>
          </a:xfrm>
          <a:prstGeom prst="rect">
            <a:avLst/>
          </a:prstGeom>
          <a:noFill/>
          <a:ln/>
        </p:spPr>
        <p:txBody>
          <a:bodyPr wrap="square"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The Elephant in the Room: Cost &amp; Scalability</a:t>
            </a:r>
            <a:endParaRPr lang="en-US" sz="2600" dirty="0"/>
          </a:p>
        </p:txBody>
      </p:sp>
      <p:sp>
        <p:nvSpPr>
          <p:cNvPr id="4" name="Text 2"/>
          <p:cNvSpPr/>
          <p:nvPr/>
        </p:nvSpPr>
        <p:spPr>
          <a:xfrm>
            <a:off x="365760" y="749808"/>
            <a:ext cx="11430000" cy="36576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Standard GraphRAG architectures trade retrieval accuracy for unsustainable indexing costs.</a:t>
            </a:r>
            <a:endParaRPr lang="en-US" sz="1400" dirty="0"/>
          </a:p>
        </p:txBody>
      </p:sp>
      <p:pic>
        <p:nvPicPr>
          <p:cNvPr id="5" name="Image 0" descr="preencoded.png">    </p:cNvPr>
          <p:cNvPicPr>
            <a:picLocks noChangeAspect="1"/>
          </p:cNvPicPr>
          <p:nvPr/>
        </p:nvPicPr>
        <p:blipFill>
          <a:blip r:embed="rId1"/>
          <a:stretch>
            <a:fillRect/>
          </a:stretch>
        </p:blipFill>
        <p:spPr>
          <a:xfrm>
            <a:off x="1371600" y="1188720"/>
            <a:ext cx="8686800" cy="4114800"/>
          </a:xfrm>
          <a:prstGeom prst="rect">
            <a:avLst/>
          </a:prstGeom>
        </p:spPr>
      </p:pic>
      <p:sp>
        <p:nvSpPr>
          <p:cNvPr id="6" name="Text 3"/>
          <p:cNvSpPr/>
          <p:nvPr/>
        </p:nvSpPr>
        <p:spPr>
          <a:xfrm>
            <a:off x="457200" y="5440680"/>
            <a:ext cx="10972800" cy="41148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The Problem: </a:t>
            </a:r>
            <a:pPr indent="0" marL="0">
              <a:buNone/>
            </a:pPr>
            <a:r>
              <a:rPr lang="en-US" sz="1300" dirty="0">
                <a:solidFill>
                  <a:srgbClr val="333333"/>
                </a:solidFill>
                <a:latin typeface="Calibri" pitchFamily="34" charset="0"/>
                <a:ea typeface="Calibri" pitchFamily="34" charset="-122"/>
                <a:cs typeface="Calibri" pitchFamily="34" charset="-120"/>
              </a:rPr>
              <a:t>Extracting billions of graph nodes using LLMs (like GPT-4) is prohibitively expensive and incredibly slow.</a:t>
            </a:r>
            <a:endParaRPr lang="en-US" sz="1300" dirty="0"/>
          </a:p>
        </p:txBody>
      </p:sp>
      <p:sp>
        <p:nvSpPr>
          <p:cNvPr id="7" name="Text 4"/>
          <p:cNvSpPr/>
          <p:nvPr/>
        </p:nvSpPr>
        <p:spPr>
          <a:xfrm>
            <a:off x="457200" y="5925312"/>
            <a:ext cx="10972800" cy="41148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The Bottleneck: </a:t>
            </a:r>
            <a:pPr indent="0" marL="0">
              <a:buNone/>
            </a:pPr>
            <a:r>
              <a:rPr lang="en-US" sz="1300" dirty="0">
                <a:solidFill>
                  <a:srgbClr val="333333"/>
                </a:solidFill>
                <a:latin typeface="Calibri" pitchFamily="34" charset="0"/>
                <a:ea typeface="Calibri" pitchFamily="34" charset="-122"/>
                <a:cs typeface="Calibri" pitchFamily="34" charset="-120"/>
              </a:rPr>
              <a:t>Traditional graph databases choke on complex traversal operations at query time as enterprise data scales into terabytes.</a:t>
            </a:r>
            <a:endParaRPr lang="en-US" sz="1300" dirty="0"/>
          </a:p>
        </p:txBody>
      </p:sp>
      <p:sp>
        <p:nvSpPr>
          <p:cNvPr id="8" name="Text 5"/>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548640"/>
          </a:xfrm>
          <a:prstGeom prst="rect">
            <a:avLst/>
          </a:prstGeom>
          <a:noFill/>
          <a:ln/>
        </p:spPr>
        <p:txBody>
          <a:bodyPr wrap="square" rtlCol="0" anchor="ctr"/>
          <a:lstStyle/>
          <a:p>
            <a:pPr indent="0" marL="0">
              <a:buNone/>
            </a:pPr>
            <a:r>
              <a:rPr lang="en-US" sz="2800" b="1" dirty="0">
                <a:solidFill>
                  <a:srgbClr val="0D1B3E"/>
                </a:solidFill>
                <a:latin typeface="Calibri" pitchFamily="34" charset="0"/>
                <a:ea typeface="Calibri" pitchFamily="34" charset="-122"/>
                <a:cs typeface="Calibri" pitchFamily="34" charset="-120"/>
              </a:rPr>
              <a:t>Our Pragmatic, Scalable Intervention</a:t>
            </a:r>
            <a:endParaRPr lang="en-US" sz="2800" dirty="0"/>
          </a:p>
        </p:txBody>
      </p:sp>
      <p:pic>
        <p:nvPicPr>
          <p:cNvPr id="4" name="Image 0" descr="preencoded.png">    </p:cNvPr>
          <p:cNvPicPr>
            <a:picLocks noChangeAspect="1"/>
          </p:cNvPicPr>
          <p:nvPr/>
        </p:nvPicPr>
        <p:blipFill>
          <a:blip r:embed="rId1"/>
          <a:stretch>
            <a:fillRect/>
          </a:stretch>
        </p:blipFill>
        <p:spPr>
          <a:xfrm>
            <a:off x="274320" y="822960"/>
            <a:ext cx="7772400" cy="4389120"/>
          </a:xfrm>
          <a:prstGeom prst="rect">
            <a:avLst/>
          </a:prstGeom>
        </p:spPr>
      </p:pic>
      <p:sp>
        <p:nvSpPr>
          <p:cNvPr id="5" name="Text 2"/>
          <p:cNvSpPr/>
          <p:nvPr/>
        </p:nvSpPr>
        <p:spPr>
          <a:xfrm>
            <a:off x="365760" y="5257800"/>
            <a:ext cx="5303520" cy="36576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1. Cost-Efficient Extraction (The SAP Method):</a:t>
            </a:r>
            <a:endParaRPr lang="en-US" sz="1300" dirty="0"/>
          </a:p>
        </p:txBody>
      </p:sp>
      <p:sp>
        <p:nvSpPr>
          <p:cNvPr id="6" name="Text 3"/>
          <p:cNvSpPr/>
          <p:nvPr/>
        </p:nvSpPr>
        <p:spPr>
          <a:xfrm>
            <a:off x="365760" y="5650992"/>
            <a:ext cx="5303520" cy="64008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We deploy classical NLP (Dependency Parsing) for knowledge extraction instead of expensive LLMs.</a:t>
            </a:r>
            <a:endParaRPr lang="en-US" sz="1200" dirty="0"/>
          </a:p>
        </p:txBody>
      </p:sp>
      <p:sp>
        <p:nvSpPr>
          <p:cNvPr id="7" name="Text 4"/>
          <p:cNvSpPr/>
          <p:nvPr/>
        </p:nvSpPr>
        <p:spPr>
          <a:xfrm>
            <a:off x="4114800" y="5257800"/>
            <a:ext cx="5029200" cy="36576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2. Hybrid Storage (The Writer Method):</a:t>
            </a:r>
            <a:endParaRPr lang="en-US" sz="1300" dirty="0"/>
          </a:p>
        </p:txBody>
      </p:sp>
      <p:sp>
        <p:nvSpPr>
          <p:cNvPr id="8" name="Text 5"/>
          <p:cNvSpPr/>
          <p:nvPr/>
        </p:nvSpPr>
        <p:spPr>
          <a:xfrm>
            <a:off x="4114800" y="5650992"/>
            <a:ext cx="5029200" cy="64008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We store graph data points as JSON in fast, existing Lucene-based search engines, preventing scaling bottlenecks.</a:t>
            </a:r>
            <a:endParaRPr lang="en-US" sz="1200" dirty="0"/>
          </a:p>
        </p:txBody>
      </p:sp>
      <p:sp>
        <p:nvSpPr>
          <p:cNvPr id="9" name="Shape 6"/>
          <p:cNvSpPr/>
          <p:nvPr/>
        </p:nvSpPr>
        <p:spPr>
          <a:xfrm>
            <a:off x="8229600" y="914400"/>
            <a:ext cx="3794760" cy="5623560"/>
          </a:xfrm>
          <a:prstGeom prst="rect">
            <a:avLst/>
          </a:prstGeom>
          <a:solidFill>
            <a:srgbClr val="FFFFFF"/>
          </a:solidFill>
          <a:ln w="12700">
            <a:solidFill>
              <a:srgbClr val="D1D5DB"/>
            </a:solidFill>
            <a:prstDash val="solid"/>
          </a:ln>
        </p:spPr>
      </p:sp>
      <p:sp>
        <p:nvSpPr>
          <p:cNvPr id="10" name="Text 7"/>
          <p:cNvSpPr/>
          <p:nvPr/>
        </p:nvSpPr>
        <p:spPr>
          <a:xfrm>
            <a:off x="8321040" y="1005840"/>
            <a:ext cx="1737360" cy="347472"/>
          </a:xfrm>
          <a:prstGeom prst="rect">
            <a:avLst/>
          </a:prstGeom>
          <a:noFill/>
          <a:ln/>
        </p:spPr>
        <p:txBody>
          <a:bodyPr wrap="square" rtlCol="0" anchor="ctr"/>
          <a:lstStyle/>
          <a:p>
            <a:pPr algn="ctr" indent="0" marL="0">
              <a:buNone/>
            </a:pPr>
            <a:r>
              <a:rPr lang="en-US" sz="1300" b="1" dirty="0">
                <a:solidFill>
                  <a:srgbClr val="0D1B3E"/>
                </a:solidFill>
                <a:latin typeface="Calibri" pitchFamily="34" charset="0"/>
                <a:ea typeface="Calibri" pitchFamily="34" charset="-122"/>
                <a:cs typeface="Calibri" pitchFamily="34" charset="-120"/>
              </a:rPr>
              <a:t>Cost</a:t>
            </a:r>
            <a:endParaRPr lang="en-US" sz="1300" dirty="0"/>
          </a:p>
        </p:txBody>
      </p:sp>
      <p:sp>
        <p:nvSpPr>
          <p:cNvPr id="11" name="Text 8"/>
          <p:cNvSpPr/>
          <p:nvPr/>
        </p:nvSpPr>
        <p:spPr>
          <a:xfrm>
            <a:off x="10058400" y="1005840"/>
            <a:ext cx="1828800" cy="347472"/>
          </a:xfrm>
          <a:prstGeom prst="rect">
            <a:avLst/>
          </a:prstGeom>
          <a:noFill/>
          <a:ln/>
        </p:spPr>
        <p:txBody>
          <a:bodyPr wrap="square" rtlCol="0" anchor="ctr"/>
          <a:lstStyle/>
          <a:p>
            <a:pPr algn="ctr" indent="0" marL="0">
              <a:buNone/>
            </a:pPr>
            <a:r>
              <a:rPr lang="en-US" sz="1300" b="1" dirty="0">
                <a:solidFill>
                  <a:srgbClr val="0D1B3E"/>
                </a:solidFill>
                <a:latin typeface="Calibri" pitchFamily="34" charset="0"/>
                <a:ea typeface="Calibri" pitchFamily="34" charset="-122"/>
                <a:cs typeface="Calibri" pitchFamily="34" charset="-120"/>
              </a:rPr>
              <a:t>Accuracy</a:t>
            </a:r>
            <a:endParaRPr lang="en-US" sz="1300" dirty="0"/>
          </a:p>
        </p:txBody>
      </p:sp>
      <p:sp>
        <p:nvSpPr>
          <p:cNvPr id="12" name="Shape 9"/>
          <p:cNvSpPr/>
          <p:nvPr/>
        </p:nvSpPr>
        <p:spPr>
          <a:xfrm>
            <a:off x="10058400" y="1371600"/>
            <a:ext cx="0" cy="4023360"/>
          </a:xfrm>
          <a:prstGeom prst="line">
            <a:avLst/>
          </a:prstGeom>
          <a:noFill/>
          <a:ln w="6350">
            <a:solidFill>
              <a:srgbClr val="D1D5DB"/>
            </a:solidFill>
            <a:prstDash val="solid"/>
          </a:ln>
        </p:spPr>
      </p:sp>
      <p:sp>
        <p:nvSpPr>
          <p:cNvPr id="13" name="Shape 10"/>
          <p:cNvSpPr/>
          <p:nvPr/>
        </p:nvSpPr>
        <p:spPr>
          <a:xfrm>
            <a:off x="8412480" y="1417320"/>
            <a:ext cx="685800" cy="2560320"/>
          </a:xfrm>
          <a:prstGeom prst="rect">
            <a:avLst/>
          </a:prstGeom>
          <a:solidFill>
            <a:srgbClr val="4A6FA5"/>
          </a:solidFill>
          <a:ln/>
        </p:spPr>
      </p:sp>
      <p:sp>
        <p:nvSpPr>
          <p:cNvPr id="14" name="Shape 11"/>
          <p:cNvSpPr/>
          <p:nvPr/>
        </p:nvSpPr>
        <p:spPr>
          <a:xfrm>
            <a:off x="9235440" y="3246120"/>
            <a:ext cx="685800" cy="731520"/>
          </a:xfrm>
          <a:prstGeom prst="rect">
            <a:avLst/>
          </a:prstGeom>
          <a:solidFill>
            <a:srgbClr val="B5621F"/>
          </a:solidFill>
          <a:ln/>
        </p:spPr>
      </p:sp>
      <p:sp>
        <p:nvSpPr>
          <p:cNvPr id="15" name="Text 12"/>
          <p:cNvSpPr/>
          <p:nvPr/>
        </p:nvSpPr>
        <p:spPr>
          <a:xfrm>
            <a:off x="8412480" y="2377440"/>
            <a:ext cx="1508760" cy="502920"/>
          </a:xfrm>
          <a:prstGeom prst="rect">
            <a:avLst/>
          </a:prstGeom>
          <a:noFill/>
          <a:ln/>
        </p:spPr>
        <p:txBody>
          <a:bodyPr wrap="square" rtlCol="0" anchor="ctr"/>
          <a:lstStyle/>
          <a:p>
            <a:pPr algn="ctr" indent="0" marL="0">
              <a:buNone/>
            </a:pPr>
            <a:r>
              <a:rPr lang="en-US" sz="1200" b="1" dirty="0">
                <a:solidFill>
                  <a:srgbClr val="0D1B3E"/>
                </a:solidFill>
                <a:latin typeface="Calibri" pitchFamily="34" charset="0"/>
                <a:ea typeface="Calibri" pitchFamily="34" charset="-122"/>
                <a:cs typeface="Calibri" pitchFamily="34" charset="-120"/>
              </a:rPr>
              <a:t>90%</a:t>
            </a:r>
            <a:endParaRPr lang="en-US" sz="1200" dirty="0"/>
          </a:p>
          <a:p>
            <a:pPr algn="ctr" indent="0" marL="0">
              <a:buNone/>
            </a:pPr>
            <a:r>
              <a:rPr lang="en-US" sz="1200" b="1" dirty="0">
                <a:solidFill>
                  <a:srgbClr val="0D1B3E"/>
                </a:solidFill>
                <a:latin typeface="Calibri" pitchFamily="34" charset="0"/>
                <a:ea typeface="Calibri" pitchFamily="34" charset="-122"/>
                <a:cs typeface="Calibri" pitchFamily="34" charset="-120"/>
              </a:rPr>
              <a:t>drop</a:t>
            </a:r>
            <a:endParaRPr lang="en-US" sz="1200" dirty="0"/>
          </a:p>
        </p:txBody>
      </p:sp>
      <p:sp>
        <p:nvSpPr>
          <p:cNvPr id="16" name="Text 13"/>
          <p:cNvSpPr/>
          <p:nvPr/>
        </p:nvSpPr>
        <p:spPr>
          <a:xfrm>
            <a:off x="8321040" y="4023360"/>
            <a:ext cx="822960" cy="411480"/>
          </a:xfrm>
          <a:prstGeom prst="rect">
            <a:avLst/>
          </a:prstGeom>
          <a:noFill/>
          <a:ln/>
        </p:spPr>
        <p:txBody>
          <a:bodyPr wrap="square" rtlCol="0" anchor="ctr"/>
          <a:lstStyle/>
          <a:p>
            <a:pPr algn="ctr" indent="0" marL="0">
              <a:buNone/>
            </a:pPr>
            <a:r>
              <a:rPr lang="en-US" sz="800" dirty="0">
                <a:solidFill>
                  <a:srgbClr val="6B7280"/>
                </a:solidFill>
              </a:rPr>
              <a:t>LLM</a:t>
            </a:r>
            <a:endParaRPr lang="en-US" sz="800" dirty="0"/>
          </a:p>
          <a:p>
            <a:pPr algn="ctr" indent="0" marL="0">
              <a:buNone/>
            </a:pPr>
            <a:r>
              <a:rPr lang="en-US" sz="800" dirty="0">
                <a:solidFill>
                  <a:srgbClr val="6B7280"/>
                </a:solidFill>
              </a:rPr>
              <a:t>Method</a:t>
            </a:r>
            <a:endParaRPr lang="en-US" sz="800" dirty="0"/>
          </a:p>
        </p:txBody>
      </p:sp>
      <p:sp>
        <p:nvSpPr>
          <p:cNvPr id="17" name="Text 14"/>
          <p:cNvSpPr/>
          <p:nvPr/>
        </p:nvSpPr>
        <p:spPr>
          <a:xfrm>
            <a:off x="9144000" y="4023360"/>
            <a:ext cx="822960" cy="411480"/>
          </a:xfrm>
          <a:prstGeom prst="rect">
            <a:avLst/>
          </a:prstGeom>
          <a:noFill/>
          <a:ln/>
        </p:spPr>
        <p:txBody>
          <a:bodyPr wrap="square" rtlCol="0" anchor="ctr"/>
          <a:lstStyle/>
          <a:p>
            <a:pPr algn="ctr" indent="0" marL="0">
              <a:buNone/>
            </a:pPr>
            <a:r>
              <a:rPr lang="en-US" sz="800" dirty="0">
                <a:solidFill>
                  <a:srgbClr val="6B7280"/>
                </a:solidFill>
              </a:rPr>
              <a:t>NLP</a:t>
            </a:r>
            <a:endParaRPr lang="en-US" sz="800" dirty="0"/>
          </a:p>
          <a:p>
            <a:pPr algn="ctr" indent="0" marL="0">
              <a:buNone/>
            </a:pPr>
            <a:r>
              <a:rPr lang="en-US" sz="800" dirty="0">
                <a:solidFill>
                  <a:srgbClr val="6B7280"/>
                </a:solidFill>
              </a:rPr>
              <a:t>Method</a:t>
            </a:r>
            <a:endParaRPr lang="en-US" sz="800" dirty="0"/>
          </a:p>
        </p:txBody>
      </p:sp>
      <p:sp>
        <p:nvSpPr>
          <p:cNvPr id="18" name="Shape 15"/>
          <p:cNvSpPr/>
          <p:nvPr/>
        </p:nvSpPr>
        <p:spPr>
          <a:xfrm>
            <a:off x="10149840" y="1417320"/>
            <a:ext cx="685800" cy="2560320"/>
          </a:xfrm>
          <a:prstGeom prst="rect">
            <a:avLst/>
          </a:prstGeom>
          <a:solidFill>
            <a:srgbClr val="B5621F"/>
          </a:solidFill>
          <a:ln/>
        </p:spPr>
      </p:sp>
      <p:sp>
        <p:nvSpPr>
          <p:cNvPr id="19" name="Shape 16"/>
          <p:cNvSpPr/>
          <p:nvPr/>
        </p:nvSpPr>
        <p:spPr>
          <a:xfrm>
            <a:off x="10972800" y="1645920"/>
            <a:ext cx="685800" cy="2331720"/>
          </a:xfrm>
          <a:prstGeom prst="rect">
            <a:avLst/>
          </a:prstGeom>
          <a:solidFill>
            <a:srgbClr val="C8783A"/>
          </a:solidFill>
          <a:ln/>
        </p:spPr>
      </p:sp>
      <p:sp>
        <p:nvSpPr>
          <p:cNvPr id="20" name="Text 17"/>
          <p:cNvSpPr/>
          <p:nvPr/>
        </p:nvSpPr>
        <p:spPr>
          <a:xfrm>
            <a:off x="10012680" y="4023360"/>
            <a:ext cx="1920240" cy="457200"/>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94% retained accuracy</a:t>
            </a:r>
            <a:endParaRPr lang="en-US" sz="900" dirty="0"/>
          </a:p>
          <a:p>
            <a:pPr algn="ctr" indent="0" marL="0">
              <a:buNone/>
            </a:pPr>
            <a:r>
              <a:rPr lang="en-US" sz="900" dirty="0">
                <a:solidFill>
                  <a:srgbClr val="6B7280"/>
                </a:solidFill>
                <a:latin typeface="Calibri" pitchFamily="34" charset="0"/>
                <a:ea typeface="Calibri" pitchFamily="34" charset="-122"/>
                <a:cs typeface="Calibri" pitchFamily="34" charset="-120"/>
              </a:rPr>
              <a:t>65.8% to 61.8%</a:t>
            </a:r>
            <a:endParaRPr lang="en-US" sz="900" dirty="0"/>
          </a:p>
        </p:txBody>
      </p:sp>
      <p:sp>
        <p:nvSpPr>
          <p:cNvPr id="21" name="Text 18"/>
          <p:cNvSpPr/>
          <p:nvPr/>
        </p:nvSpPr>
        <p:spPr>
          <a:xfrm>
            <a:off x="10058400" y="4526280"/>
            <a:ext cx="914400" cy="411480"/>
          </a:xfrm>
          <a:prstGeom prst="rect">
            <a:avLst/>
          </a:prstGeom>
          <a:noFill/>
          <a:ln/>
        </p:spPr>
        <p:txBody>
          <a:bodyPr wrap="square" rtlCol="0" anchor="ctr"/>
          <a:lstStyle/>
          <a:p>
            <a:pPr algn="ctr" indent="0" marL="0">
              <a:buNone/>
            </a:pPr>
            <a:r>
              <a:rPr lang="en-US" sz="800" dirty="0">
                <a:solidFill>
                  <a:srgbClr val="6B7280"/>
                </a:solidFill>
              </a:rPr>
              <a:t>LLM</a:t>
            </a:r>
            <a:endParaRPr lang="en-US" sz="800" dirty="0"/>
          </a:p>
          <a:p>
            <a:pPr algn="ctr" indent="0" marL="0">
              <a:buNone/>
            </a:pPr>
            <a:r>
              <a:rPr lang="en-US" sz="800" dirty="0">
                <a:solidFill>
                  <a:srgbClr val="6B7280"/>
                </a:solidFill>
              </a:rPr>
              <a:t>(GraphRAG)</a:t>
            </a:r>
            <a:endParaRPr lang="en-US" sz="800" dirty="0"/>
          </a:p>
        </p:txBody>
      </p:sp>
      <p:sp>
        <p:nvSpPr>
          <p:cNvPr id="22" name="Text 19"/>
          <p:cNvSpPr/>
          <p:nvPr/>
        </p:nvSpPr>
        <p:spPr>
          <a:xfrm>
            <a:off x="10972800" y="4526280"/>
            <a:ext cx="914400" cy="411480"/>
          </a:xfrm>
          <a:prstGeom prst="rect">
            <a:avLst/>
          </a:prstGeom>
          <a:noFill/>
          <a:ln/>
        </p:spPr>
        <p:txBody>
          <a:bodyPr wrap="square" rtlCol="0" anchor="ctr"/>
          <a:lstStyle/>
          <a:p>
            <a:pPr algn="ctr" indent="0" marL="0">
              <a:buNone/>
            </a:pPr>
            <a:r>
              <a:rPr lang="en-US" sz="800" dirty="0">
                <a:solidFill>
                  <a:srgbClr val="6B7280"/>
                </a:solidFill>
              </a:rPr>
              <a:t>NLP</a:t>
            </a:r>
            <a:endParaRPr lang="en-US" sz="800" dirty="0"/>
          </a:p>
          <a:p>
            <a:pPr algn="ctr" indent="0" marL="0">
              <a:buNone/>
            </a:pPr>
            <a:r>
              <a:rPr lang="en-US" sz="800" dirty="0">
                <a:solidFill>
                  <a:srgbClr val="6B7280"/>
                </a:solidFill>
              </a:rPr>
              <a:t>(Classical)</a:t>
            </a:r>
            <a:endParaRPr lang="en-US" sz="800" dirty="0"/>
          </a:p>
        </p:txBody>
      </p:sp>
      <p:sp>
        <p:nvSpPr>
          <p:cNvPr id="23" name="Text 20"/>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502920"/>
          </a:xfrm>
          <a:prstGeom prst="rect">
            <a:avLst/>
          </a:prstGeom>
          <a:noFill/>
          <a:ln/>
        </p:spPr>
        <p:txBody>
          <a:bodyPr wrap="square"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Blueprint: Our Target Enterprise Architecture</a:t>
            </a:r>
            <a:endParaRPr lang="en-US" sz="2600" dirty="0"/>
          </a:p>
        </p:txBody>
      </p:sp>
      <p:sp>
        <p:nvSpPr>
          <p:cNvPr id="4" name="Text 2"/>
          <p:cNvSpPr/>
          <p:nvPr/>
        </p:nvSpPr>
        <p:spPr>
          <a:xfrm>
            <a:off x="365760" y="713232"/>
            <a:ext cx="11430000" cy="457200"/>
          </a:xfrm>
          <a:prstGeom prst="rect">
            <a:avLst/>
          </a:prstGeom>
          <a:noFill/>
          <a:ln/>
        </p:spPr>
        <p:txBody>
          <a:bodyPr wrap="square" rtlCol="0" anchor="ctr"/>
          <a:lstStyle/>
          <a:p>
            <a:pPr indent="0" marL="0">
              <a:buNone/>
            </a:pPr>
            <a:r>
              <a:rPr lang="en-US" sz="1300" dirty="0">
                <a:solidFill>
                  <a:srgbClr val="444444"/>
                </a:solidFill>
                <a:latin typeface="Calibri" pitchFamily="34" charset="0"/>
                <a:ea typeface="Calibri" pitchFamily="34" charset="-122"/>
                <a:cs typeface="Calibri" pitchFamily="34" charset="-120"/>
              </a:rPr>
              <a:t>An end-to-end, production-ready pipeline that balances theoretical ideals with operational realities. Built for scale, engineered for efficiency.</a:t>
            </a:r>
            <a:endParaRPr lang="en-US" sz="1300" dirty="0"/>
          </a:p>
        </p:txBody>
      </p:sp>
      <p:pic>
        <p:nvPicPr>
          <p:cNvPr id="5" name="Image 0" descr="preencoded.png">    </p:cNvPr>
          <p:cNvPicPr>
            <a:picLocks noChangeAspect="1"/>
          </p:cNvPicPr>
          <p:nvPr/>
        </p:nvPicPr>
        <p:blipFill>
          <a:blip r:embed="rId1"/>
          <a:stretch>
            <a:fillRect/>
          </a:stretch>
        </p:blipFill>
        <p:spPr>
          <a:xfrm>
            <a:off x="274320" y="1280160"/>
            <a:ext cx="11430000" cy="5212080"/>
          </a:xfrm>
          <a:prstGeom prst="rect">
            <a:avLst/>
          </a:prstGeom>
        </p:spPr>
      </p:pic>
      <p:sp>
        <p:nvSpPr>
          <p:cNvPr id="6" name="Text 3"/>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640080"/>
          </a:xfrm>
          <a:prstGeom prst="rect">
            <a:avLst/>
          </a:prstGeom>
          <a:noFill/>
          <a:ln/>
        </p:spPr>
        <p:txBody>
          <a:bodyPr wrap="square" rtlCol="0" anchor="ctr"/>
          <a:lstStyle/>
          <a:p>
            <a:pPr indent="0" marL="0">
              <a:buNone/>
            </a:pPr>
            <a:r>
              <a:rPr lang="en-US" sz="3000" b="1" dirty="0">
                <a:solidFill>
                  <a:srgbClr val="0D1B3E"/>
                </a:solidFill>
                <a:latin typeface="Calibri" pitchFamily="34" charset="0"/>
                <a:ea typeface="Calibri" pitchFamily="34" charset="-122"/>
                <a:cs typeface="Calibri" pitchFamily="34" charset="-120"/>
              </a:rPr>
              <a:t>Strategic Business Outcomes</a:t>
            </a:r>
            <a:endParaRPr lang="en-US" sz="3000" dirty="0"/>
          </a:p>
        </p:txBody>
      </p:sp>
      <p:pic>
        <p:nvPicPr>
          <p:cNvPr id="4" name="Image 0" descr="preencoded.png">    </p:cNvPr>
          <p:cNvPicPr>
            <a:picLocks noChangeAspect="1"/>
          </p:cNvPicPr>
          <p:nvPr/>
        </p:nvPicPr>
        <p:blipFill>
          <a:blip r:embed="rId1"/>
          <a:stretch>
            <a:fillRect/>
          </a:stretch>
        </p:blipFill>
        <p:spPr>
          <a:xfrm>
            <a:off x="2743200" y="731520"/>
            <a:ext cx="6217920" cy="5303520"/>
          </a:xfrm>
          <a:prstGeom prst="rect">
            <a:avLst/>
          </a:prstGeom>
        </p:spPr>
      </p:pic>
      <p:sp>
        <p:nvSpPr>
          <p:cNvPr id="5" name="Text 2"/>
          <p:cNvSpPr/>
          <p:nvPr/>
        </p:nvSpPr>
        <p:spPr>
          <a:xfrm>
            <a:off x="182880" y="4114800"/>
            <a:ext cx="320040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Linear scaling and bounded latency. Slash resolution times by 20%+ while bypassing massive LLM compute costs during indexing.</a:t>
            </a:r>
            <a:endParaRPr lang="en-US" sz="1200" dirty="0"/>
          </a:p>
        </p:txBody>
      </p:sp>
      <p:sp>
        <p:nvSpPr>
          <p:cNvPr id="6" name="Text 3"/>
          <p:cNvSpPr/>
          <p:nvPr/>
        </p:nvSpPr>
        <p:spPr>
          <a:xfrm>
            <a:off x="8595360" y="4114800"/>
            <a:ext cx="310896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Eliminate the black box. Expose exact reasoning processes, subqueries, and transparent audit trails for every AI-generated response.</a:t>
            </a:r>
            <a:endParaRPr lang="en-US" sz="1200" dirty="0"/>
          </a:p>
        </p:txBody>
      </p:sp>
      <p:sp>
        <p:nvSpPr>
          <p:cNvPr id="7" name="Text 4"/>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1A2B52"/>
            </a:solidFill>
            <a:prstDash val="solid"/>
          </a:ln>
        </p:spPr>
      </p:sp>
      <p:sp>
        <p:nvSpPr>
          <p:cNvPr id="3" name="Text 1"/>
          <p:cNvSpPr/>
          <p:nvPr/>
        </p:nvSpPr>
        <p:spPr>
          <a:xfrm>
            <a:off x="365760" y="182880"/>
            <a:ext cx="11430000" cy="640080"/>
          </a:xfrm>
          <a:prstGeom prst="rect">
            <a:avLst/>
          </a:prstGeom>
          <a:noFill/>
          <a:ln/>
        </p:spPr>
        <p:txBody>
          <a:bodyPr wrap="square" rtlCol="0" anchor="ctr"/>
          <a:lstStyle/>
          <a:p>
            <a:pPr indent="0" marL="0">
              <a:buNone/>
            </a:pPr>
            <a:r>
              <a:rPr lang="en-US" sz="3000" b="1" dirty="0">
                <a:solidFill>
                  <a:srgbClr val="0D1B3E"/>
                </a:solidFill>
                <a:latin typeface="Calibri" pitchFamily="34" charset="0"/>
                <a:ea typeface="Calibri" pitchFamily="34" charset="-122"/>
                <a:cs typeface="Calibri" pitchFamily="34" charset="-120"/>
              </a:rPr>
              <a:t>The Ask: A 90-Day Sprint to ROI</a:t>
            </a:r>
            <a:endParaRPr lang="en-US" sz="3000" dirty="0"/>
          </a:p>
        </p:txBody>
      </p:sp>
      <p:sp>
        <p:nvSpPr>
          <p:cNvPr id="4" name="Text 2"/>
          <p:cNvSpPr/>
          <p:nvPr/>
        </p:nvSpPr>
        <p:spPr>
          <a:xfrm>
            <a:off x="365760" y="822960"/>
            <a:ext cx="11430000" cy="457200"/>
          </a:xfrm>
          <a:prstGeom prst="rect">
            <a:avLst/>
          </a:prstGeom>
          <a:noFill/>
          <a:ln/>
        </p:spPr>
        <p:txBody>
          <a:bodyPr wrap="square" rtlCol="0" anchor="ctr"/>
          <a:lstStyle/>
          <a:p>
            <a:pPr indent="0" marL="0">
              <a:buNone/>
            </a:pPr>
            <a:r>
              <a:rPr lang="en-US" sz="1500" dirty="0">
                <a:solidFill>
                  <a:srgbClr val="333333"/>
                </a:solidFill>
                <a:latin typeface="Calibri" pitchFamily="34" charset="0"/>
                <a:ea typeface="Calibri" pitchFamily="34" charset="-122"/>
                <a:cs typeface="Calibri" pitchFamily="34" charset="-120"/>
              </a:rPr>
              <a:t>The Request: Executive sponsorship and initial seed funding to build the MVP of our hybrid GraphRAG pipeline.</a:t>
            </a:r>
            <a:endParaRPr lang="en-US" sz="1500" dirty="0"/>
          </a:p>
        </p:txBody>
      </p:sp>
      <p:sp>
        <p:nvSpPr>
          <p:cNvPr id="5" name="Shape 3"/>
          <p:cNvSpPr/>
          <p:nvPr/>
        </p:nvSpPr>
        <p:spPr>
          <a:xfrm>
            <a:off x="457200" y="2834640"/>
            <a:ext cx="11155680" cy="0"/>
          </a:xfrm>
          <a:prstGeom prst="line">
            <a:avLst/>
          </a:prstGeom>
          <a:noFill/>
          <a:ln w="50800">
            <a:solidFill>
              <a:srgbClr val="0D1B3E"/>
            </a:solidFill>
            <a:prstDash val="solid"/>
          </a:ln>
        </p:spPr>
      </p:sp>
      <p:sp>
        <p:nvSpPr>
          <p:cNvPr id="6" name="Shape 4"/>
          <p:cNvSpPr/>
          <p:nvPr/>
        </p:nvSpPr>
        <p:spPr>
          <a:xfrm>
            <a:off x="1874520" y="2468880"/>
            <a:ext cx="274320" cy="365760"/>
          </a:xfrm>
          <a:prstGeom prst="rect">
            <a:avLst/>
          </a:prstGeom>
          <a:solidFill>
            <a:srgbClr val="B5621F"/>
          </a:solidFill>
          <a:ln/>
        </p:spPr>
      </p:sp>
      <p:sp>
        <p:nvSpPr>
          <p:cNvPr id="7" name="Shape 5"/>
          <p:cNvSpPr/>
          <p:nvPr/>
        </p:nvSpPr>
        <p:spPr>
          <a:xfrm>
            <a:off x="1938528" y="2834640"/>
            <a:ext cx="146304" cy="365760"/>
          </a:xfrm>
          <a:prstGeom prst="rect">
            <a:avLst/>
          </a:prstGeom>
          <a:solidFill>
            <a:srgbClr val="B5621F"/>
          </a:solidFill>
          <a:ln/>
        </p:spPr>
      </p:sp>
      <p:sp>
        <p:nvSpPr>
          <p:cNvPr id="8" name="Shape 6"/>
          <p:cNvSpPr/>
          <p:nvPr/>
        </p:nvSpPr>
        <p:spPr>
          <a:xfrm>
            <a:off x="457200" y="3291840"/>
            <a:ext cx="3474720" cy="2834640"/>
          </a:xfrm>
          <a:prstGeom prst="rect">
            <a:avLst/>
          </a:prstGeom>
          <a:solidFill>
            <a:srgbClr val="FFFFFF"/>
          </a:solidFill>
          <a:ln w="12700">
            <a:solidFill>
              <a:srgbClr val="D1D5DB"/>
            </a:solidFill>
            <a:prstDash val="solid"/>
          </a:ln>
        </p:spPr>
      </p:sp>
      <p:sp>
        <p:nvSpPr>
          <p:cNvPr id="9" name="Text 7"/>
          <p:cNvSpPr/>
          <p:nvPr/>
        </p:nvSpPr>
        <p:spPr>
          <a:xfrm>
            <a:off x="594360" y="3401568"/>
            <a:ext cx="3200400" cy="73152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Phase 1: Foundation</a:t>
            </a:r>
            <a:endParaRPr lang="en-US" sz="1400" dirty="0"/>
          </a:p>
          <a:p>
            <a:pPr indent="0" marL="0">
              <a:buNone/>
            </a:pPr>
            <a:r>
              <a:rPr lang="en-US" sz="1400" b="1" dirty="0">
                <a:solidFill>
                  <a:srgbClr val="0D1B3E"/>
                </a:solidFill>
                <a:latin typeface="Calibri" pitchFamily="34" charset="0"/>
                <a:ea typeface="Calibri" pitchFamily="34" charset="-122"/>
                <a:cs typeface="Calibri" pitchFamily="34" charset="-120"/>
              </a:rPr>
              <a:t>(Days 1-30)</a:t>
            </a:r>
            <a:endParaRPr lang="en-US" sz="1400" dirty="0"/>
          </a:p>
        </p:txBody>
      </p:sp>
      <p:sp>
        <p:nvSpPr>
          <p:cNvPr id="10" name="Text 8"/>
          <p:cNvSpPr/>
          <p:nvPr/>
        </p:nvSpPr>
        <p:spPr>
          <a:xfrm>
            <a:off x="594360" y="4206240"/>
            <a:ext cx="3200400" cy="1737360"/>
          </a:xfrm>
          <a:prstGeom prst="rect">
            <a:avLst/>
          </a:prstGeom>
          <a:noFill/>
          <a:ln/>
        </p:spPr>
        <p:txBody>
          <a:bodyPr wrap="square" rtlCol="0" anchor="ctr"/>
          <a:lstStyle/>
          <a:p>
            <a:pPr indent="0" marL="0">
              <a:buNone/>
            </a:pPr>
            <a:r>
              <a:rPr lang="en-US" sz="1300" dirty="0">
                <a:solidFill>
                  <a:srgbClr val="444444"/>
                </a:solidFill>
                <a:latin typeface="Calibri" pitchFamily="34" charset="0"/>
                <a:ea typeface="Calibri" pitchFamily="34" charset="-122"/>
                <a:cs typeface="Calibri" pitchFamily="34" charset="-120"/>
              </a:rPr>
              <a:t>Build the Dependency Parsing (NLP) extraction pipeline to ensure cost-efficiency from day one.</a:t>
            </a:r>
            <a:endParaRPr lang="en-US" sz="1300" dirty="0"/>
          </a:p>
        </p:txBody>
      </p:sp>
      <p:sp>
        <p:nvSpPr>
          <p:cNvPr id="11" name="Shape 9"/>
          <p:cNvSpPr/>
          <p:nvPr/>
        </p:nvSpPr>
        <p:spPr>
          <a:xfrm>
            <a:off x="5577840" y="2468880"/>
            <a:ext cx="274320" cy="365760"/>
          </a:xfrm>
          <a:prstGeom prst="rect">
            <a:avLst/>
          </a:prstGeom>
          <a:solidFill>
            <a:srgbClr val="B5621F"/>
          </a:solidFill>
          <a:ln/>
        </p:spPr>
      </p:sp>
      <p:sp>
        <p:nvSpPr>
          <p:cNvPr id="12" name="Shape 10"/>
          <p:cNvSpPr/>
          <p:nvPr/>
        </p:nvSpPr>
        <p:spPr>
          <a:xfrm>
            <a:off x="5641848" y="2834640"/>
            <a:ext cx="146304" cy="365760"/>
          </a:xfrm>
          <a:prstGeom prst="rect">
            <a:avLst/>
          </a:prstGeom>
          <a:solidFill>
            <a:srgbClr val="B5621F"/>
          </a:solidFill>
          <a:ln/>
        </p:spPr>
      </p:sp>
      <p:sp>
        <p:nvSpPr>
          <p:cNvPr id="13" name="Shape 11"/>
          <p:cNvSpPr/>
          <p:nvPr/>
        </p:nvSpPr>
        <p:spPr>
          <a:xfrm>
            <a:off x="4160520" y="3291840"/>
            <a:ext cx="3474720" cy="2834640"/>
          </a:xfrm>
          <a:prstGeom prst="rect">
            <a:avLst/>
          </a:prstGeom>
          <a:solidFill>
            <a:srgbClr val="FFFFFF"/>
          </a:solidFill>
          <a:ln w="12700">
            <a:solidFill>
              <a:srgbClr val="D1D5DB"/>
            </a:solidFill>
            <a:prstDash val="solid"/>
          </a:ln>
        </p:spPr>
      </p:sp>
      <p:sp>
        <p:nvSpPr>
          <p:cNvPr id="14" name="Text 12"/>
          <p:cNvSpPr/>
          <p:nvPr/>
        </p:nvSpPr>
        <p:spPr>
          <a:xfrm>
            <a:off x="4297680" y="3401568"/>
            <a:ext cx="3200400" cy="73152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Phase 2: MVP Pipeline</a:t>
            </a:r>
            <a:endParaRPr lang="en-US" sz="1400" dirty="0"/>
          </a:p>
          <a:p>
            <a:pPr indent="0" marL="0">
              <a:buNone/>
            </a:pPr>
            <a:r>
              <a:rPr lang="en-US" sz="1400" b="1" dirty="0">
                <a:solidFill>
                  <a:srgbClr val="0D1B3E"/>
                </a:solidFill>
                <a:latin typeface="Calibri" pitchFamily="34" charset="0"/>
                <a:ea typeface="Calibri" pitchFamily="34" charset="-122"/>
                <a:cs typeface="Calibri" pitchFamily="34" charset="-120"/>
              </a:rPr>
              <a:t>(Days 30-60)</a:t>
            </a:r>
            <a:endParaRPr lang="en-US" sz="1400" dirty="0"/>
          </a:p>
        </p:txBody>
      </p:sp>
      <p:sp>
        <p:nvSpPr>
          <p:cNvPr id="15" name="Text 13"/>
          <p:cNvSpPr/>
          <p:nvPr/>
        </p:nvSpPr>
        <p:spPr>
          <a:xfrm>
            <a:off x="4297680" y="4206240"/>
            <a:ext cx="3200400" cy="1737360"/>
          </a:xfrm>
          <a:prstGeom prst="rect">
            <a:avLst/>
          </a:prstGeom>
          <a:noFill/>
          <a:ln/>
        </p:spPr>
        <p:txBody>
          <a:bodyPr wrap="square" rtlCol="0" anchor="ctr"/>
          <a:lstStyle/>
          <a:p>
            <a:pPr indent="0" marL="0">
              <a:buNone/>
            </a:pPr>
            <a:r>
              <a:rPr lang="en-US" sz="1300" dirty="0">
                <a:solidFill>
                  <a:srgbClr val="444444"/>
                </a:solidFill>
                <a:latin typeface="Calibri" pitchFamily="34" charset="0"/>
                <a:ea typeface="Calibri" pitchFamily="34" charset="-122"/>
                <a:cs typeface="Calibri" pitchFamily="34" charset="-120"/>
              </a:rPr>
              <a:t>Deploy the hybrid storage and Reciprocal Rank Fusion (RRF) retrieval engine.</a:t>
            </a:r>
            <a:endParaRPr lang="en-US" sz="1300" dirty="0"/>
          </a:p>
        </p:txBody>
      </p:sp>
      <p:sp>
        <p:nvSpPr>
          <p:cNvPr id="16" name="Shape 14"/>
          <p:cNvSpPr/>
          <p:nvPr/>
        </p:nvSpPr>
        <p:spPr>
          <a:xfrm>
            <a:off x="9281160" y="2468880"/>
            <a:ext cx="274320" cy="365760"/>
          </a:xfrm>
          <a:prstGeom prst="rect">
            <a:avLst/>
          </a:prstGeom>
          <a:solidFill>
            <a:srgbClr val="B5621F"/>
          </a:solidFill>
          <a:ln/>
        </p:spPr>
      </p:sp>
      <p:sp>
        <p:nvSpPr>
          <p:cNvPr id="17" name="Shape 15"/>
          <p:cNvSpPr/>
          <p:nvPr/>
        </p:nvSpPr>
        <p:spPr>
          <a:xfrm>
            <a:off x="9345168" y="2834640"/>
            <a:ext cx="146304" cy="365760"/>
          </a:xfrm>
          <a:prstGeom prst="rect">
            <a:avLst/>
          </a:prstGeom>
          <a:solidFill>
            <a:srgbClr val="B5621F"/>
          </a:solidFill>
          <a:ln/>
        </p:spPr>
      </p:sp>
      <p:sp>
        <p:nvSpPr>
          <p:cNvPr id="18" name="Shape 16"/>
          <p:cNvSpPr/>
          <p:nvPr/>
        </p:nvSpPr>
        <p:spPr>
          <a:xfrm>
            <a:off x="7863840" y="3291840"/>
            <a:ext cx="3474720" cy="2834640"/>
          </a:xfrm>
          <a:prstGeom prst="rect">
            <a:avLst/>
          </a:prstGeom>
          <a:solidFill>
            <a:srgbClr val="FFFFFF"/>
          </a:solidFill>
          <a:ln w="12700">
            <a:solidFill>
              <a:srgbClr val="D1D5DB"/>
            </a:solidFill>
            <a:prstDash val="solid"/>
          </a:ln>
        </p:spPr>
      </p:sp>
      <p:sp>
        <p:nvSpPr>
          <p:cNvPr id="19" name="Text 17"/>
          <p:cNvSpPr/>
          <p:nvPr/>
        </p:nvSpPr>
        <p:spPr>
          <a:xfrm>
            <a:off x="8001000" y="3401568"/>
            <a:ext cx="3200400" cy="73152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Phase 3: Pilot Readout</a:t>
            </a:r>
            <a:endParaRPr lang="en-US" sz="1400" dirty="0"/>
          </a:p>
          <a:p>
            <a:pPr indent="0" marL="0">
              <a:buNone/>
            </a:pPr>
            <a:r>
              <a:rPr lang="en-US" sz="1400" b="1" dirty="0">
                <a:solidFill>
                  <a:srgbClr val="0D1B3E"/>
                </a:solidFill>
                <a:latin typeface="Calibri" pitchFamily="34" charset="0"/>
                <a:ea typeface="Calibri" pitchFamily="34" charset="-122"/>
                <a:cs typeface="Calibri" pitchFamily="34" charset="-120"/>
              </a:rPr>
              <a:t>(Days 60-90)</a:t>
            </a:r>
            <a:endParaRPr lang="en-US" sz="1400" dirty="0"/>
          </a:p>
        </p:txBody>
      </p:sp>
      <p:sp>
        <p:nvSpPr>
          <p:cNvPr id="20" name="Text 18"/>
          <p:cNvSpPr/>
          <p:nvPr/>
        </p:nvSpPr>
        <p:spPr>
          <a:xfrm>
            <a:off x="8001000" y="4206240"/>
            <a:ext cx="3200400" cy="1737360"/>
          </a:xfrm>
          <a:prstGeom prst="rect">
            <a:avLst/>
          </a:prstGeom>
          <a:noFill/>
          <a:ln/>
        </p:spPr>
        <p:txBody>
          <a:bodyPr wrap="square" rtlCol="0" anchor="ctr"/>
          <a:lstStyle/>
          <a:p>
            <a:pPr indent="0" marL="0">
              <a:buNone/>
            </a:pPr>
            <a:r>
              <a:rPr lang="en-US" sz="1300" dirty="0">
                <a:solidFill>
                  <a:srgbClr val="444444"/>
                </a:solidFill>
                <a:latin typeface="Calibri" pitchFamily="34" charset="0"/>
                <a:ea typeface="Calibri" pitchFamily="34" charset="-122"/>
                <a:cs typeface="Calibri" pitchFamily="34" charset="-120"/>
              </a:rPr>
              <a:t>Run a live pilot on our most complex legacy dataset (e.g., code migration or customer service tickets) and deliver a hard ROI readout.</a:t>
            </a:r>
            <a:endParaRPr lang="en-US" sz="1300" dirty="0"/>
          </a:p>
        </p:txBody>
      </p:sp>
      <p:sp>
        <p:nvSpPr>
          <p:cNvPr id="21" name="Text 19"/>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137160" y="137160"/>
            <a:ext cx="11868912" cy="6565392"/>
          </a:xfrm>
          <a:prstGeom prst="rect">
            <a:avLst/>
          </a:prstGeom>
          <a:ln w="25400">
            <a:solidFill>
              <a:srgbClr val="B5621F"/>
            </a:solidFill>
            <a:prstDash val="solid"/>
          </a:ln>
        </p:spPr>
      </p:sp>
      <p:pic>
        <p:nvPicPr>
          <p:cNvPr id="3" name="Image 0" descr="preencoded.png">    </p:cNvPr>
          <p:cNvPicPr>
            <a:picLocks noChangeAspect="1"/>
          </p:cNvPicPr>
          <p:nvPr/>
        </p:nvPicPr>
        <p:blipFill>
          <a:blip r:embed="rId1">
            <a:alphaModFix amt="15000"/>
          </a:blip>
          <a:stretch>
            <a:fillRect/>
          </a:stretch>
        </p:blipFill>
        <p:spPr>
          <a:xfrm>
            <a:off x="0" y="0"/>
            <a:ext cx="4572000" cy="4572000"/>
          </a:xfrm>
          <a:prstGeom prst="rect">
            <a:avLst/>
          </a:prstGeom>
        </p:spPr>
      </p:pic>
      <p:pic>
        <p:nvPicPr>
          <p:cNvPr id="4" name="Image 1" descr="preencoded.png">    </p:cNvPr>
          <p:cNvPicPr>
            <a:picLocks noChangeAspect="1"/>
          </p:cNvPicPr>
          <p:nvPr/>
        </p:nvPicPr>
        <p:blipFill>
          <a:blip r:embed="rId2">
            <a:alphaModFix amt="15000"/>
          </a:blip>
          <a:stretch>
            <a:fillRect/>
          </a:stretch>
        </p:blipFill>
        <p:spPr>
          <a:xfrm>
            <a:off x="7589520" y="2286000"/>
            <a:ext cx="4572000" cy="4572000"/>
          </a:xfrm>
          <a:prstGeom prst="rect">
            <a:avLst/>
          </a:prstGeom>
        </p:spPr>
      </p:pic>
      <p:sp>
        <p:nvSpPr>
          <p:cNvPr id="5" name="Text 1"/>
          <p:cNvSpPr/>
          <p:nvPr/>
        </p:nvSpPr>
        <p:spPr>
          <a:xfrm>
            <a:off x="914400" y="731520"/>
            <a:ext cx="10332720" cy="2011680"/>
          </a:xfrm>
          <a:prstGeom prst="rect">
            <a:avLst/>
          </a:prstGeom>
          <a:noFill/>
          <a:ln/>
        </p:spPr>
        <p:txBody>
          <a:bodyPr wrap="square" rtlCol="0" anchor="ctr"/>
          <a:lstStyle/>
          <a:p>
            <a:pPr algn="ctr" indent="0" marL="0">
              <a:buNone/>
            </a:pPr>
            <a:r>
              <a:rPr lang="en-US" sz="4000" b="1" dirty="0">
                <a:solidFill>
                  <a:srgbClr val="0D1B3E"/>
                </a:solidFill>
                <a:latin typeface="Calibri" pitchFamily="34" charset="0"/>
                <a:ea typeface="Calibri" pitchFamily="34" charset="-122"/>
                <a:cs typeface="Calibri" pitchFamily="34" charset="-120"/>
              </a:rPr>
              <a:t>The Future of Enterprise</a:t>
            </a:r>
            <a:endParaRPr lang="en-US" sz="4000" dirty="0"/>
          </a:p>
          <a:p>
            <a:pPr algn="ctr" indent="0" marL="0">
              <a:buNone/>
            </a:pPr>
            <a:r>
              <a:rPr lang="en-US" sz="4000" b="1" dirty="0">
                <a:solidFill>
                  <a:srgbClr val="0D1B3E"/>
                </a:solidFill>
                <a:latin typeface="Calibri" pitchFamily="34" charset="0"/>
                <a:ea typeface="Calibri" pitchFamily="34" charset="-122"/>
                <a:cs typeface="Calibri" pitchFamily="34" charset="-120"/>
              </a:rPr>
              <a:t>AI is Connected</a:t>
            </a:r>
            <a:endParaRPr lang="en-US" sz="4000" dirty="0"/>
          </a:p>
        </p:txBody>
      </p:sp>
      <p:sp>
        <p:nvSpPr>
          <p:cNvPr id="6" name="Text 2"/>
          <p:cNvSpPr/>
          <p:nvPr/>
        </p:nvSpPr>
        <p:spPr>
          <a:xfrm>
            <a:off x="1371600" y="2926080"/>
            <a:ext cx="9418320" cy="1645920"/>
          </a:xfrm>
          <a:prstGeom prst="rect">
            <a:avLst/>
          </a:prstGeom>
          <a:noFill/>
          <a:ln/>
        </p:spPr>
        <p:txBody>
          <a:bodyPr wrap="square" rtlCol="0" anchor="ctr"/>
          <a:lstStyle/>
          <a:p>
            <a:pPr algn="ctr" indent="0" marL="0">
              <a:buNone/>
            </a:pPr>
            <a:r>
              <a:rPr lang="en-US" sz="1600" dirty="0">
                <a:solidFill>
                  <a:srgbClr val="333333"/>
                </a:solidFill>
                <a:latin typeface="Calibri" pitchFamily="34" charset="0"/>
                <a:ea typeface="Calibri" pitchFamily="34" charset="-122"/>
                <a:cs typeface="Calibri" pitchFamily="34" charset="-120"/>
              </a:rPr>
              <a:t>Data without relationships is just noise. By shifting from static vectors to dynamic graphs, we are not just upgrading an algorithm—we are building an auditable, reasoning brain for the entire enterprise.</a:t>
            </a:r>
            <a:endParaRPr lang="en-US" sz="1600" dirty="0"/>
          </a:p>
        </p:txBody>
      </p:sp>
      <p:sp>
        <p:nvSpPr>
          <p:cNvPr id="7" name="Text 3"/>
          <p:cNvSpPr/>
          <p:nvPr/>
        </p:nvSpPr>
        <p:spPr>
          <a:xfrm>
            <a:off x="1371600" y="4754880"/>
            <a:ext cx="9418320" cy="731520"/>
          </a:xfrm>
          <a:prstGeom prst="rect">
            <a:avLst/>
          </a:prstGeom>
          <a:noFill/>
          <a:ln/>
        </p:spPr>
        <p:txBody>
          <a:bodyPr wrap="square" rtlCol="0" anchor="ctr"/>
          <a:lstStyle/>
          <a:p>
            <a:pPr algn="ctr" indent="0" marL="0">
              <a:buNone/>
            </a:pPr>
            <a:r>
              <a:rPr lang="en-US" sz="2200" b="1" dirty="0">
                <a:solidFill>
                  <a:srgbClr val="0D1B3E"/>
                </a:solidFill>
                <a:latin typeface="Calibri" pitchFamily="34" charset="0"/>
                <a:ea typeface="Calibri" pitchFamily="34" charset="-122"/>
                <a:cs typeface="Calibri" pitchFamily="34" charset="-120"/>
              </a:rPr>
              <a:t>Ready for Strategic Deployment.</a:t>
            </a:r>
            <a:endParaRPr lang="en-US" sz="2200" dirty="0"/>
          </a:p>
        </p:txBody>
      </p:sp>
      <p:sp>
        <p:nvSpPr>
          <p:cNvPr id="8" name="Text 4"/>
          <p:cNvSpPr/>
          <p:nvPr/>
        </p:nvSpPr>
        <p:spPr>
          <a:xfrm>
            <a:off x="10515600" y="6537960"/>
            <a:ext cx="1554480" cy="228600"/>
          </a:xfrm>
          <a:prstGeom prst="rect">
            <a:avLst/>
          </a:prstGeom>
          <a:noFill/>
          <a:ln/>
        </p:spPr>
        <p:txBody>
          <a:bodyPr wrap="square" rtlCol="0" anchor="ctr"/>
          <a:lstStyle/>
          <a:p>
            <a:pPr indent="0" marL="0">
              <a:buNone/>
            </a:pPr>
            <a:r>
              <a:rPr lang="en-US" sz="900" dirty="0">
                <a:solidFill>
                  <a:srgbClr val="6B7280"/>
                </a:solidFill>
              </a:rPr>
              <a:t>🔖 NotebookLM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2026-04-01T10:43:04Z</dcterms:created>
  <dcterms:modified xsi:type="dcterms:W3CDTF">2026-04-01T10:43:04Z</dcterms:modified>
</cp:coreProperties>
</file>